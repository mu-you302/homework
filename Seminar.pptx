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5"/>
  </p:notesMasterIdLst>
  <p:handoutMasterIdLst>
    <p:handoutMasterId r:id="rId19"/>
  </p:handoutMasterIdLst>
  <p:sldIdLst>
    <p:sldId id="256" r:id="rId4"/>
    <p:sldId id="1914" r:id="rId6"/>
    <p:sldId id="1915" r:id="rId7"/>
    <p:sldId id="1916" r:id="rId8"/>
    <p:sldId id="1917" r:id="rId9"/>
    <p:sldId id="1918" r:id="rId10"/>
    <p:sldId id="1919" r:id="rId11"/>
    <p:sldId id="1920" r:id="rId12"/>
    <p:sldId id="1921" r:id="rId13"/>
    <p:sldId id="1922" r:id="rId14"/>
    <p:sldId id="1923" r:id="rId15"/>
    <p:sldId id="1924" r:id="rId16"/>
    <p:sldId id="1927" r:id="rId17"/>
    <p:sldId id="391" r:id="rId18"/>
  </p:sldIdLst>
  <p:sldSz cx="9144000" cy="5143500" type="screen16x9"/>
  <p:notesSz cx="6845300" cy="9396095"/>
  <p:defaultTextStyle>
    <a:defPPr>
      <a:defRPr lang="en-US"/>
    </a:defPPr>
    <a:lvl1pPr algn="l" rtl="0" fontAlgn="base">
      <a:spcBef>
        <a:spcPct val="0"/>
      </a:spcBef>
      <a:spcAft>
        <a:spcPct val="0"/>
      </a:spcAft>
      <a:defRPr sz="2400" kern="1200">
        <a:solidFill>
          <a:schemeClr val="tx1"/>
        </a:solidFill>
        <a:latin typeface="Lucida Sans" charset="0"/>
        <a:ea typeface="MS PGothic" charset="0"/>
        <a:cs typeface="MS PGothic" charset="0"/>
      </a:defRPr>
    </a:lvl1pPr>
    <a:lvl2pPr marL="457200" algn="l" rtl="0" fontAlgn="base">
      <a:spcBef>
        <a:spcPct val="0"/>
      </a:spcBef>
      <a:spcAft>
        <a:spcPct val="0"/>
      </a:spcAft>
      <a:defRPr sz="2400" kern="1200">
        <a:solidFill>
          <a:schemeClr val="tx1"/>
        </a:solidFill>
        <a:latin typeface="Lucida Sans" charset="0"/>
        <a:ea typeface="MS PGothic" charset="0"/>
        <a:cs typeface="MS PGothic" charset="0"/>
      </a:defRPr>
    </a:lvl2pPr>
    <a:lvl3pPr marL="914400" algn="l" rtl="0" fontAlgn="base">
      <a:spcBef>
        <a:spcPct val="0"/>
      </a:spcBef>
      <a:spcAft>
        <a:spcPct val="0"/>
      </a:spcAft>
      <a:defRPr sz="2400" kern="1200">
        <a:solidFill>
          <a:schemeClr val="tx1"/>
        </a:solidFill>
        <a:latin typeface="Lucida Sans" charset="0"/>
        <a:ea typeface="MS PGothic" charset="0"/>
        <a:cs typeface="MS PGothic" charset="0"/>
      </a:defRPr>
    </a:lvl3pPr>
    <a:lvl4pPr marL="1371600" algn="l" rtl="0" fontAlgn="base">
      <a:spcBef>
        <a:spcPct val="0"/>
      </a:spcBef>
      <a:spcAft>
        <a:spcPct val="0"/>
      </a:spcAft>
      <a:defRPr sz="2400" kern="1200">
        <a:solidFill>
          <a:schemeClr val="tx1"/>
        </a:solidFill>
        <a:latin typeface="Lucida Sans" charset="0"/>
        <a:ea typeface="MS PGothic" charset="0"/>
        <a:cs typeface="MS PGothic" charset="0"/>
      </a:defRPr>
    </a:lvl4pPr>
    <a:lvl5pPr marL="1828800" algn="l" rtl="0" fontAlgn="base">
      <a:spcBef>
        <a:spcPct val="0"/>
      </a:spcBef>
      <a:spcAft>
        <a:spcPct val="0"/>
      </a:spcAft>
      <a:defRPr sz="2400" kern="1200">
        <a:solidFill>
          <a:schemeClr val="tx1"/>
        </a:solidFill>
        <a:latin typeface="Lucida Sans" charset="0"/>
        <a:ea typeface="MS PGothic" charset="0"/>
        <a:cs typeface="MS PGothic" charset="0"/>
      </a:defRPr>
    </a:lvl5pPr>
    <a:lvl6pPr marL="2286000" algn="l" defTabSz="457200" rtl="0" eaLnBrk="1" latinLnBrk="0" hangingPunct="1">
      <a:defRPr sz="2400" kern="1200">
        <a:solidFill>
          <a:schemeClr val="tx1"/>
        </a:solidFill>
        <a:latin typeface="Lucida Sans" charset="0"/>
        <a:ea typeface="MS PGothic" charset="0"/>
        <a:cs typeface="MS PGothic" charset="0"/>
      </a:defRPr>
    </a:lvl6pPr>
    <a:lvl7pPr marL="2743200" algn="l" defTabSz="457200" rtl="0" eaLnBrk="1" latinLnBrk="0" hangingPunct="1">
      <a:defRPr sz="2400" kern="1200">
        <a:solidFill>
          <a:schemeClr val="tx1"/>
        </a:solidFill>
        <a:latin typeface="Lucida Sans" charset="0"/>
        <a:ea typeface="MS PGothic" charset="0"/>
        <a:cs typeface="MS PGothic" charset="0"/>
      </a:defRPr>
    </a:lvl7pPr>
    <a:lvl8pPr marL="3200400" algn="l" defTabSz="457200" rtl="0" eaLnBrk="1" latinLnBrk="0" hangingPunct="1">
      <a:defRPr sz="2400" kern="1200">
        <a:solidFill>
          <a:schemeClr val="tx1"/>
        </a:solidFill>
        <a:latin typeface="Lucida Sans" charset="0"/>
        <a:ea typeface="MS PGothic" charset="0"/>
        <a:cs typeface="MS PGothic" charset="0"/>
      </a:defRPr>
    </a:lvl8pPr>
    <a:lvl9pPr marL="3657600" algn="l" defTabSz="457200" rtl="0" eaLnBrk="1" latinLnBrk="0" hangingPunct="1">
      <a:defRPr sz="2400" kern="1200">
        <a:solidFill>
          <a:schemeClr val="tx1"/>
        </a:solidFill>
        <a:latin typeface="Lucida Sans" charset="0"/>
        <a:ea typeface="MS PGothic" charset="0"/>
        <a:cs typeface="MS PGothic" charset="0"/>
      </a:defRPr>
    </a:lvl9pPr>
  </p:defaultTextStyle>
  <p:extLst>
    <p:ext uri="{EFAFB233-063F-42B5-8137-9DF3F51BA10A}">
      <p15:sldGuideLst xmlns:p15="http://schemas.microsoft.com/office/powerpoint/2012/main">
        <p15:guide id="1" orient="horz" pos="157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200FF"/>
    <a:srgbClr val="0000CC"/>
    <a:srgbClr val="A4001D"/>
    <a:srgbClr val="000099"/>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99" autoAdjust="0"/>
    <p:restoredTop sz="95865" autoAdjust="0"/>
  </p:normalViewPr>
  <p:slideViewPr>
    <p:cSldViewPr showGuides="1">
      <p:cViewPr varScale="1">
        <p:scale>
          <a:sx n="151" d="100"/>
          <a:sy n="151" d="100"/>
        </p:scale>
        <p:origin x="312" y="152"/>
      </p:cViewPr>
      <p:guideLst>
        <p:guide orient="horz" pos="157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2" d="100"/>
          <a:sy n="62" d="100"/>
        </p:scale>
        <p:origin x="-2224" y="-112"/>
      </p:cViewPr>
      <p:guideLst>
        <p:guide orient="horz" pos="2870"/>
        <p:guide pos="2156"/>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latin typeface="Tahoma" panose="020B0604030504040204"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latin typeface="Tahoma" panose="020B0604030504040204"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charset="0"/>
              </a:defRPr>
            </a:lvl1pPr>
          </a:lstStyle>
          <a:p>
            <a:fld id="{8A029216-D615-3945-A1F3-D96FC886DA62}" type="slidenum">
              <a:rPr lang="en-US"/>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ln>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3EB9031F-EB71-7642-8F3C-6FDC1408CB92}" type="slidenum">
              <a:rPr lang="en-US"/>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S PGothic" pitchFamily="-65" charset="-128"/>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r>
              <a:rPr lang="en-US" baseline="0" dirty="0"/>
              <a:t> Uppercase, Calibri size 60,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E74C7FEE-6B48-4643-BCFB-F13B0E13E171}" type="slidenum">
              <a:rPr lang="en-US" smtClean="0"/>
            </a:fld>
            <a:endParaRPr lang="en-US" dirty="0"/>
          </a:p>
        </p:txBody>
      </p:sp>
      <p:sp>
        <p:nvSpPr>
          <p:cNvPr id="11" name="Rectangle 10"/>
          <p:cNvSpPr/>
          <p:nvPr/>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726329"/>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rPr lang="en-US"/>
              <a:t>Click to edit Master title style</a:t>
            </a:r>
            <a:endParaRPr lang="en-US"/>
          </a:p>
        </p:txBody>
      </p:sp>
      <p:sp>
        <p:nvSpPr>
          <p:cNvPr id="57" name="Shape 57"/>
          <p:cNvSpPr>
            <a:spLocks noGrp="1"/>
          </p:cNvSpPr>
          <p:nvPr>
            <p:ph type="body" idx="1"/>
          </p:nvPr>
        </p:nvSpPr>
        <p:spPr>
          <a:prstGeom prst="rect">
            <a:avLst/>
          </a:prstGeom>
        </p:spPr>
        <p:txBody>
          <a:bodyPr/>
          <a:lstStyle>
            <a:lvl1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1pPr>
            <a:lvl2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2pPr>
            <a:lvl3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3pPr>
            <a:lvl4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4pPr>
            <a:lvl5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8" name="Shape 58"/>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Completely 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ctr">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
        <p:nvSpPr>
          <p:cNvPr id="7"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CDC23-E565-C848-9AF6-12BD09C53D9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endParaRPr lang="en-US"/>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Drag picture to placeholder or click icon to add</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2" y="1200150"/>
            <a:ext cx="7543801" cy="3429000"/>
          </a:xfrm>
        </p:spPr>
        <p:txBody>
          <a:bodyPr/>
          <a:lstStyle>
            <a:lvl1pPr marL="5715" indent="-5715">
              <a:defRPr sz="2100" baseline="0"/>
            </a:lvl1pPr>
            <a:lvl2pPr marL="303530" indent="-190500">
              <a:defRPr sz="1800" baseline="0"/>
            </a:lvl2pPr>
            <a:lvl3pPr marL="386715" indent="-171450">
              <a:defRPr sz="1500" baseline="0"/>
            </a:lvl3pPr>
            <a:lvl4pPr marL="518160" indent="-198755">
              <a:defRPr sz="1200" baseline="0"/>
            </a:lvl4pPr>
            <a:lvl5pPr marL="601345" indent="-179705">
              <a:defRPr sz="1050"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2.png"/><Relationship Id="rId13" Type="http://schemas.openxmlformats.org/officeDocument/2006/relationships/image" Target="../media/image1.emf"/><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90">
                <a:solidFill>
                  <a:srgbClr val="FFFFFF"/>
                </a:solidFill>
              </a:defRPr>
            </a:lvl1pPr>
          </a:lstStyle>
          <a:p>
            <a:fld id="{D07771B2-D7F7-364E-B6F3-F7FE93606BC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2407"/>
            <a:ext cx="8331200" cy="540068"/>
          </a:xfrm>
          <a:prstGeom prst="rect">
            <a:avLst/>
          </a:prstGeom>
        </p:spPr>
        <p:txBody>
          <a:bodyPr vert="horz" lIns="91440" tIns="45720" rIns="91440" bIns="45720" rtlCol="0" anchor="ctr">
            <a:noAutofit/>
          </a:bodyPr>
          <a:lstStyle/>
          <a:p>
            <a:r>
              <a:rPr lang="zh-CN" altLang="en-US"/>
              <a:t>单击此处编辑母版标题样式</a:t>
            </a:r>
            <a:endParaRPr lang="en-GB" dirty="0"/>
          </a:p>
        </p:txBody>
      </p:sp>
      <p:sp>
        <p:nvSpPr>
          <p:cNvPr id="3" name="Text Placeholder 2"/>
          <p:cNvSpPr>
            <a:spLocks noGrp="1"/>
          </p:cNvSpPr>
          <p:nvPr>
            <p:ph type="body" idx="1"/>
          </p:nvPr>
        </p:nvSpPr>
        <p:spPr>
          <a:xfrm>
            <a:off x="457200" y="902494"/>
            <a:ext cx="8229600" cy="370713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07771B2-D7F7-364E-B6F3-F7FE93606BCE}" type="slidenum">
              <a:rPr lang="en-US" smtClean="0"/>
            </a:fld>
            <a:endParaRPr lang="en-US"/>
          </a:p>
        </p:txBody>
      </p:sp>
      <p:pic>
        <p:nvPicPr>
          <p:cNvPr id="7" name="Picture 6"/>
          <p:cNvPicPr>
            <a:picLocks noChangeAspect="1"/>
          </p:cNvPicPr>
          <p:nvPr/>
        </p:nvPicPr>
        <p:blipFill>
          <a:blip r:embed="rId13">
            <a:alphaModFix amt="7000"/>
            <a:duotone>
              <a:prstClr val="black"/>
              <a:schemeClr val="accent2">
                <a:tint val="45000"/>
                <a:satMod val="400000"/>
              </a:schemeClr>
            </a:duotone>
            <a:lum bright="-20000" contrast="-40000"/>
          </a:blip>
          <a:stretch>
            <a:fillRect/>
          </a:stretch>
        </p:blipFill>
        <p:spPr>
          <a:xfrm>
            <a:off x="7383145" y="-4286"/>
            <a:ext cx="1830070" cy="5169694"/>
          </a:xfrm>
          <a:prstGeom prst="rect">
            <a:avLst/>
          </a:prstGeom>
        </p:spPr>
      </p:pic>
      <p:pic>
        <p:nvPicPr>
          <p:cNvPr id="12" name="Picture 11" descr="Shield-navy(rgb for online).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32531" y="4446764"/>
            <a:ext cx="356139" cy="333393"/>
          </a:xfrm>
          <a:prstGeom prst="rect">
            <a:avLst/>
          </a:prstGeom>
        </p:spPr>
      </p:pic>
      <p:sp>
        <p:nvSpPr>
          <p:cNvPr id="9"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342900" rtl="0" eaLnBrk="1" latinLnBrk="0" hangingPunct="1">
        <a:spcBef>
          <a:spcPct val="0"/>
        </a:spcBef>
        <a:buNone/>
        <a:defRPr sz="2700" u="none" strike="noStrike" kern="1200" cap="all" spc="0" normalizeH="0">
          <a:solidFill>
            <a:schemeClr val="tx1"/>
          </a:solidFill>
          <a:uFillTx/>
          <a:latin typeface="Times New Roman" panose="02020503050405090304" pitchFamily="18" charset="0"/>
          <a:ea typeface="+mj-ea"/>
          <a:cs typeface="+mj-cs"/>
        </a:defRPr>
      </a:lvl1pPr>
    </p:titleStyle>
    <p:body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5.png"/><Relationship Id="rId3" Type="http://schemas.openxmlformats.org/officeDocument/2006/relationships/tags" Target="../tags/tag2.xml"/><Relationship Id="rId2" Type="http://schemas.openxmlformats.org/officeDocument/2006/relationships/image" Target="../media/image4.pn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7.png"/><Relationship Id="rId3" Type="http://schemas.openxmlformats.org/officeDocument/2006/relationships/tags" Target="../tags/tag4.xml"/><Relationship Id="rId2" Type="http://schemas.openxmlformats.org/officeDocument/2006/relationships/image" Target="../media/image6.png"/><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9.png"/><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1.png"/><Relationship Id="rId3" Type="http://schemas.openxmlformats.org/officeDocument/2006/relationships/tags" Target="../tags/tag8.xml"/><Relationship Id="rId2" Type="http://schemas.openxmlformats.org/officeDocument/2006/relationships/image" Target="../media/image10.png"/><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2.png"/><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3.png"/><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3.xml"/><Relationship Id="rId5" Type="http://schemas.openxmlformats.org/officeDocument/2006/relationships/hyperlink" Target="http://www.xjtlu.edu.cn/en/" TargetMode="External"/><Relationship Id="rId4" Type="http://schemas.openxmlformats.org/officeDocument/2006/relationships/image" Target="../media/image16.jpeg"/><Relationship Id="rId3" Type="http://schemas.openxmlformats.org/officeDocument/2006/relationships/image" Target="../media/image15.png"/><Relationship Id="rId2" Type="http://schemas.openxmlformats.org/officeDocument/2006/relationships/image" Target="../media/image3.emf"/><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4370" y="1056005"/>
            <a:ext cx="7694930" cy="1315085"/>
          </a:xfrm>
        </p:spPr>
        <p:txBody>
          <a:bodyPr>
            <a:noAutofit/>
          </a:bodyPr>
          <a:lstStyle/>
          <a:p>
            <a:r>
              <a:rPr lang="en-US" altLang="zh-CN" sz="3200" dirty="0"/>
              <a:t>Natur</a:t>
            </a:r>
            <a:r>
              <a:rPr lang="en-US" altLang="zh-CN" sz="3200" dirty="0"/>
              <a:t>al Language Processing</a:t>
            </a:r>
            <a:br>
              <a:rPr lang="en-US" altLang="zh-CN" sz="3200" dirty="0"/>
            </a:br>
            <a:r>
              <a:rPr lang="en-US" altLang="zh-CN" sz="3200" dirty="0">
                <a:solidFill>
                  <a:srgbClr val="000044"/>
                </a:solidFill>
                <a:cs typeface="DIN-Regular"/>
                <a:sym typeface="+mn-ea"/>
              </a:rPr>
              <a:t>DTS305TC</a:t>
            </a:r>
            <a:endParaRPr lang="en-US" altLang="zh-CN" sz="3200" dirty="0"/>
          </a:p>
        </p:txBody>
      </p:sp>
      <p:pic>
        <p:nvPicPr>
          <p:cNvPr id="8" name="Picture 7"/>
          <p:cNvPicPr>
            <a:picLocks noChangeAspect="1"/>
          </p:cNvPicPr>
          <p:nvPr/>
        </p:nvPicPr>
        <p:blipFill>
          <a:blip r:embed="rId1"/>
          <a:stretch>
            <a:fillRect/>
          </a:stretch>
        </p:blipFill>
        <p:spPr>
          <a:xfrm>
            <a:off x="3822859" y="3635858"/>
            <a:ext cx="1733550" cy="370813"/>
          </a:xfrm>
          <a:prstGeom prst="rect">
            <a:avLst/>
          </a:prstGeom>
        </p:spPr>
      </p:pic>
      <p:sp>
        <p:nvSpPr>
          <p:cNvPr id="9" name="Subtitle 2"/>
          <p:cNvSpPr txBox="1"/>
          <p:nvPr/>
        </p:nvSpPr>
        <p:spPr>
          <a:xfrm>
            <a:off x="2815937" y="2370501"/>
            <a:ext cx="3600450" cy="810802"/>
          </a:xfrm>
          <a:prstGeom prst="rect">
            <a:avLst/>
          </a:prstGeom>
        </p:spPr>
        <p:txBody>
          <a:bodyPr vert="horz" lIns="51435" tIns="25718" rIns="51435" bIns="25718" rtlCol="0">
            <a:noAutofit/>
          </a:bodyPr>
          <a:lstStyle>
            <a:lvl1pPr marL="0" indent="0" algn="ctr" defTabSz="457200" rtl="0" eaLnBrk="1" latinLnBrk="0" hangingPunct="1">
              <a:spcBef>
                <a:spcPct val="20000"/>
              </a:spcBef>
              <a:buFont typeface="Arial" panose="020B060402020209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9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9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9pPr>
          </a:lstStyle>
          <a:p>
            <a:r>
              <a:rPr lang="en-US" altLang="zh-CN" sz="1350" cap="all" dirty="0" err="1">
                <a:solidFill>
                  <a:srgbClr val="000044"/>
                </a:solidFill>
                <a:cs typeface="DIN-Regular"/>
              </a:rPr>
              <a:t>Huakang</a:t>
            </a:r>
            <a:r>
              <a:rPr lang="zh-CN" altLang="en-US" sz="1350" cap="all" dirty="0">
                <a:solidFill>
                  <a:srgbClr val="000044"/>
                </a:solidFill>
                <a:cs typeface="DIN-Regular"/>
              </a:rPr>
              <a:t> </a:t>
            </a:r>
            <a:r>
              <a:rPr lang="en-US" altLang="zh-CN" sz="1350" cap="all" dirty="0">
                <a:solidFill>
                  <a:srgbClr val="000044"/>
                </a:solidFill>
                <a:cs typeface="DIN-Regular"/>
              </a:rPr>
              <a:t>Li</a:t>
            </a:r>
            <a:endParaRPr lang="en-US" altLang="zh-CN" sz="1350" cap="all" dirty="0">
              <a:solidFill>
                <a:srgbClr val="000044"/>
              </a:solidFill>
              <a:cs typeface="DIN-Regular"/>
            </a:endParaRPr>
          </a:p>
          <a:p>
            <a:r>
              <a:rPr lang="en-US" altLang="zh-CN" sz="1350" cap="all" dirty="0" err="1">
                <a:solidFill>
                  <a:srgbClr val="000044"/>
                </a:solidFill>
                <a:cs typeface="DIN-Regular"/>
              </a:rPr>
              <a:t>Huakang.li@xjtlu.edu.cn</a:t>
            </a:r>
            <a:endParaRPr lang="en-US" altLang="zh-CN" sz="1350" cap="all" dirty="0">
              <a:solidFill>
                <a:srgbClr val="000044"/>
              </a:solidFill>
              <a:cs typeface="DIN-Regular"/>
            </a:endParaRPr>
          </a:p>
          <a:p>
            <a:r>
              <a:rPr lang="en-US" altLang="zh-CN" sz="1350" cap="all" dirty="0">
                <a:solidFill>
                  <a:srgbClr val="000044"/>
                </a:solidFill>
                <a:cs typeface="DIN-Regular"/>
              </a:rPr>
              <a:t>School</a:t>
            </a:r>
            <a:r>
              <a:rPr lang="zh-CN" altLang="en-US" sz="1350" cap="all" dirty="0">
                <a:solidFill>
                  <a:srgbClr val="000044"/>
                </a:solidFill>
                <a:cs typeface="DIN-Regular"/>
              </a:rPr>
              <a:t> </a:t>
            </a:r>
            <a:r>
              <a:rPr lang="en-US" altLang="zh-CN" sz="1350" cap="all" dirty="0">
                <a:solidFill>
                  <a:srgbClr val="000044"/>
                </a:solidFill>
                <a:cs typeface="DIN-Regular"/>
              </a:rPr>
              <a:t>of</a:t>
            </a:r>
            <a:r>
              <a:rPr lang="zh-CN" altLang="en-US" sz="1350" cap="all" dirty="0">
                <a:solidFill>
                  <a:srgbClr val="000044"/>
                </a:solidFill>
                <a:cs typeface="DIN-Regular"/>
              </a:rPr>
              <a:t> </a:t>
            </a:r>
            <a:r>
              <a:rPr lang="en-US" altLang="zh-CN" sz="1350" cap="all" dirty="0">
                <a:solidFill>
                  <a:srgbClr val="000044"/>
                </a:solidFill>
                <a:cs typeface="DIN-Regular"/>
              </a:rPr>
              <a:t>AI</a:t>
            </a:r>
            <a:r>
              <a:rPr lang="zh-CN" altLang="en-US" sz="1350" cap="all" dirty="0">
                <a:solidFill>
                  <a:srgbClr val="000044"/>
                </a:solidFill>
                <a:cs typeface="DIN-Regular"/>
              </a:rPr>
              <a:t> </a:t>
            </a:r>
            <a:r>
              <a:rPr lang="en-US" altLang="zh-CN" sz="1350" cap="all" dirty="0">
                <a:solidFill>
                  <a:srgbClr val="000044"/>
                </a:solidFill>
                <a:cs typeface="DIN-Regular"/>
              </a:rPr>
              <a:t>and</a:t>
            </a:r>
            <a:r>
              <a:rPr lang="zh-CN" altLang="en-US" sz="1350" cap="all" dirty="0">
                <a:solidFill>
                  <a:srgbClr val="000044"/>
                </a:solidFill>
                <a:cs typeface="DIN-Regular"/>
              </a:rPr>
              <a:t> </a:t>
            </a:r>
            <a:r>
              <a:rPr lang="en-US" altLang="zh-CN" sz="1350" cap="all" dirty="0">
                <a:solidFill>
                  <a:srgbClr val="000044"/>
                </a:solidFill>
                <a:cs typeface="DIN-Regular"/>
              </a:rPr>
              <a:t>Advanced</a:t>
            </a:r>
            <a:r>
              <a:rPr lang="zh-CN" altLang="en-US" sz="1350" cap="all" dirty="0">
                <a:solidFill>
                  <a:srgbClr val="000044"/>
                </a:solidFill>
                <a:cs typeface="DIN-Regular"/>
              </a:rPr>
              <a:t> </a:t>
            </a:r>
            <a:r>
              <a:rPr lang="en-US" altLang="zh-CN" sz="1350" cap="all" dirty="0">
                <a:solidFill>
                  <a:srgbClr val="000044"/>
                </a:solidFill>
                <a:cs typeface="DIN-Regular"/>
              </a:rPr>
              <a:t>Computing</a:t>
            </a:r>
            <a:endParaRPr lang="en-US" sz="1350" cap="all" dirty="0">
              <a:solidFill>
                <a:srgbClr val="000044"/>
              </a:solidFill>
              <a:cs typeface="DIN-Regular"/>
            </a:endParaRPr>
          </a:p>
          <a:p>
            <a:endParaRPr lang="en-US" sz="1350" cap="all" dirty="0">
              <a:solidFill>
                <a:srgbClr val="000044"/>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20103"/>
    </mc:Choice>
    <mc:Fallback>
      <p:transition spd="slow" advTm="201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p:nvPr>
        </p:nvSpPr>
        <p:spPr/>
        <p:txBody>
          <a:bodyPr/>
          <a:p>
            <a:r>
              <a:rPr lang="en-US" altLang="zh-CN"/>
              <a:t>Group Coursewor</a:t>
            </a:r>
            <a:r>
              <a:rPr lang="en-US" altLang="zh-CN"/>
              <a:t>k</a:t>
            </a:r>
            <a:endParaRPr lang="en-US" altLang="zh-CN"/>
          </a:p>
        </p:txBody>
      </p:sp>
      <p:sp>
        <p:nvSpPr>
          <p:cNvPr id="4" name="副标题 3"/>
          <p:cNvSpPr>
            <a:spLocks noGrp="1"/>
          </p:cNvSpPr>
          <p:nvPr>
            <p:ph type="subTitle" idx="1"/>
          </p:nvPr>
        </p:nvSpPr>
        <p:spPr/>
        <p:txBody>
          <a:bodyPr/>
          <a:p>
            <a:r>
              <a:rPr lang="en-US" altLang="zh-CN"/>
              <a:t>Q&amp;A</a:t>
            </a:r>
            <a:endParaRPr lang="en-US" altLang="zh-CN"/>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important information</a:t>
            </a:r>
            <a:endParaRPr lang="en-US" altLang="zh-CN"/>
          </a:p>
        </p:txBody>
      </p:sp>
      <p:sp>
        <p:nvSpPr>
          <p:cNvPr id="4" name="内容占位符 3"/>
          <p:cNvSpPr>
            <a:spLocks noGrp="1"/>
          </p:cNvSpPr>
          <p:nvPr>
            <p:ph idx="1"/>
          </p:nvPr>
        </p:nvSpPr>
        <p:spPr/>
        <p:txBody>
          <a:bodyPr/>
          <a:p>
            <a:r>
              <a:rPr lang="zh-CN" altLang="en-US">
                <a:solidFill>
                  <a:schemeClr val="tx1"/>
                </a:solidFill>
              </a:rPr>
              <a:t>Due: 5:00 pm China time (UTC+8 Beijing) on </a:t>
            </a:r>
            <a:r>
              <a:rPr lang="zh-CN" altLang="en-US">
                <a:solidFill>
                  <a:srgbClr val="FF0000"/>
                </a:solidFill>
              </a:rPr>
              <a:t>Sat. 19th. Oct.</a:t>
            </a:r>
            <a:r>
              <a:rPr lang="zh-CN" altLang="en-US">
                <a:solidFill>
                  <a:schemeClr val="tx1"/>
                </a:solidFill>
              </a:rPr>
              <a:t> 2024</a:t>
            </a:r>
            <a:endParaRPr lang="zh-CN" altLang="en-US">
              <a:solidFill>
                <a:schemeClr val="tx1"/>
              </a:solidFill>
            </a:endParaRPr>
          </a:p>
          <a:p>
            <a:r>
              <a:rPr lang="zh-CN" altLang="en-US">
                <a:solidFill>
                  <a:schemeClr val="tx1"/>
                </a:solidFill>
              </a:rPr>
              <a:t>Weight: 40%</a:t>
            </a:r>
            <a:endParaRPr lang="zh-CN" altLang="en-US">
              <a:solidFill>
                <a:schemeClr val="tx1"/>
              </a:solidFill>
            </a:endParaRPr>
          </a:p>
          <a:p>
            <a:r>
              <a:rPr lang="zh-CN" altLang="en-US">
                <a:solidFill>
                  <a:schemeClr val="tx1"/>
                </a:solidFill>
              </a:rPr>
              <a:t>Maximum score: 100 marks (</a:t>
            </a:r>
            <a:r>
              <a:rPr lang="zh-CN" altLang="en-US">
                <a:solidFill>
                  <a:srgbClr val="FF0000"/>
                </a:solidFill>
              </a:rPr>
              <a:t>80 % group marks</a:t>
            </a:r>
            <a:r>
              <a:rPr lang="zh-CN" altLang="en-US">
                <a:solidFill>
                  <a:schemeClr val="tx1"/>
                </a:solidFill>
              </a:rPr>
              <a:t> + </a:t>
            </a:r>
            <a:r>
              <a:rPr lang="zh-CN" altLang="en-US">
                <a:solidFill>
                  <a:srgbClr val="FF0000"/>
                </a:solidFill>
              </a:rPr>
              <a:t>20 % individual marks by peer assessment</a:t>
            </a:r>
            <a:r>
              <a:rPr lang="zh-CN" altLang="en-US">
                <a:solidFill>
                  <a:schemeClr val="tx1"/>
                </a:solidFill>
              </a:rPr>
              <a:t>)</a:t>
            </a:r>
            <a:endParaRPr lang="zh-CN" altLang="en-US">
              <a:solidFill>
                <a:schemeClr val="tx1"/>
              </a:solidFill>
            </a:endParaRPr>
          </a:p>
          <a:p>
            <a:r>
              <a:rPr lang="zh-CN" altLang="en-US">
                <a:solidFill>
                  <a:schemeClr val="tx1"/>
                </a:solidFill>
              </a:rPr>
              <a:t>Groupings: Each group consists of 4-5 students. The detailed grouping table is published in the group assessment section.</a:t>
            </a:r>
            <a:endParaRPr lang="zh-CN" altLang="en-US">
              <a:solidFill>
                <a:schemeClr val="tx1"/>
              </a:solidFill>
            </a:endParaRPr>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Assessed learning outcomes</a:t>
            </a:r>
            <a:endParaRPr lang="en-US" altLang="zh-CN"/>
          </a:p>
        </p:txBody>
      </p:sp>
      <p:sp>
        <p:nvSpPr>
          <p:cNvPr id="4" name="内容占位符 3"/>
          <p:cNvSpPr>
            <a:spLocks noGrp="1"/>
          </p:cNvSpPr>
          <p:nvPr>
            <p:ph idx="1"/>
          </p:nvPr>
        </p:nvSpPr>
        <p:spPr/>
        <p:txBody>
          <a:bodyPr/>
          <a:p>
            <a:pPr algn="just"/>
            <a:r>
              <a:rPr lang="zh-CN" altLang="en-US"/>
              <a:t>A.Understand the basic concepts and techniques of Natural Language Processing.</a:t>
            </a:r>
            <a:endParaRPr lang="zh-CN" altLang="en-US"/>
          </a:p>
          <a:p>
            <a:pPr algn="just"/>
            <a:r>
              <a:rPr lang="zh-CN" altLang="en-US"/>
              <a:t>B.Apply statistical and machine learning techniques to process and analyse large-scale textual data.</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Overview</a:t>
            </a:r>
            <a:endParaRPr lang="en-US" altLang="zh-CN"/>
          </a:p>
        </p:txBody>
      </p:sp>
      <p:sp>
        <p:nvSpPr>
          <p:cNvPr id="4" name="内容占位符 3"/>
          <p:cNvSpPr>
            <a:spLocks noGrp="1"/>
          </p:cNvSpPr>
          <p:nvPr>
            <p:ph idx="1"/>
          </p:nvPr>
        </p:nvSpPr>
        <p:spPr/>
        <p:txBody>
          <a:bodyPr>
            <a:normAutofit fontScale="90000" lnSpcReduction="10000"/>
          </a:bodyPr>
          <a:p>
            <a:pPr algn="just"/>
            <a:r>
              <a:rPr lang="zh-CN" altLang="en-US"/>
              <a:t>Document clustering is an unsupervised learning task in NLP that aims to group a collection of documents into clusters based on their content similarity, without prior knowledge of the groupings. </a:t>
            </a:r>
            <a:endParaRPr lang="zh-CN" altLang="en-US"/>
          </a:p>
          <a:p>
            <a:pPr algn="just"/>
            <a:r>
              <a:rPr lang="zh-CN" altLang="en-US"/>
              <a:t>Unlike document classification, which assigns predefined categories to documents, clustering discovers the inherent groupings within the data. </a:t>
            </a:r>
            <a:endParaRPr lang="zh-CN" altLang="en-US"/>
          </a:p>
          <a:p>
            <a:pPr algn="just"/>
            <a:r>
              <a:rPr lang="zh-CN" altLang="en-US"/>
              <a:t>This task is essential for exploratory data analysis, organizing large document sets, and identifying patterns or themes that may not be immediately apparent. </a:t>
            </a:r>
            <a:endParaRPr lang="zh-CN" altLang="en-US"/>
          </a:p>
          <a:p>
            <a:pPr algn="just"/>
            <a:r>
              <a:rPr lang="zh-CN" altLang="en-US"/>
              <a:t>The key aspects of document clustering include: </a:t>
            </a:r>
            <a:r>
              <a:rPr lang="zh-CN" altLang="en-US">
                <a:solidFill>
                  <a:srgbClr val="FF0000"/>
                </a:solidFill>
              </a:rPr>
              <a:t>Text Representation, Feature Extraction, Clustering Algorithms, and Similarity Metrics</a:t>
            </a:r>
            <a:r>
              <a:rPr lang="zh-CN" altLang="en-US"/>
              <a:t>.</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latin typeface="Times New Roman Regular" panose="02020503050405090304" charset="0"/>
                <a:cs typeface="Times New Roman Regular" panose="02020503050405090304" charset="0"/>
              </a:rPr>
              <a:t>Tasks-1.Background Knowledge (10 Marks)</a:t>
            </a:r>
            <a:endParaRPr lang="en-US" altLang="zh-CN">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p:txBody>
          <a:bodyPr/>
          <a:p>
            <a:pPr algn="just"/>
            <a:r>
              <a:rPr lang="zh-CN" altLang="en-US" sz="1800"/>
              <a:t>(1)Please provide 3 real-life application scenarios that require document clustering methods. (6 Marks)</a:t>
            </a:r>
            <a:endParaRPr lang="zh-CN" altLang="en-US" sz="1800"/>
          </a:p>
          <a:p>
            <a:pPr algn="just"/>
            <a:endParaRPr lang="zh-CN" altLang="en-US" sz="1800"/>
          </a:p>
          <a:p>
            <a:pPr algn="just"/>
            <a:endParaRPr lang="zh-CN" altLang="en-US" sz="1800"/>
          </a:p>
          <a:p>
            <a:pPr algn="just"/>
            <a:endParaRPr lang="zh-CN" altLang="en-US" sz="1800"/>
          </a:p>
          <a:p>
            <a:pPr algn="just"/>
            <a:r>
              <a:rPr lang="zh-CN" altLang="en-US" sz="1800"/>
              <a:t>(2)Please analyze why document clustering methods, rather than other natural language processing methods, are the most suitable for these 3 application scenarios? (4 Marks)</a:t>
            </a:r>
            <a:endParaRPr lang="zh-CN" altLang="en-US" sz="1800"/>
          </a:p>
        </p:txBody>
      </p:sp>
      <p:sp>
        <p:nvSpPr>
          <p:cNvPr id="2" name="灯片编号占位符 1"/>
          <p:cNvSpPr>
            <a:spLocks noGrp="1"/>
          </p:cNvSpPr>
          <p:nvPr>
            <p:ph type="sldNum" sz="quarter" idx="12"/>
          </p:nvPr>
        </p:nvSpPr>
        <p:spPr/>
        <p:txBody>
          <a:bodyPr/>
          <a:p>
            <a:fld id="{D07771B2-D7F7-364E-B6F3-F7FE93606BCE}" type="slidenum">
              <a:rPr lang="en-US" smtClean="0">
                <a:latin typeface="Times New Roman Regular" panose="02020503050405090304" charset="0"/>
                <a:cs typeface="Times New Roman Regular" panose="02020503050405090304" charset="0"/>
              </a:rPr>
            </a:fld>
            <a:endParaRPr lang="en-US" smtClean="0">
              <a:latin typeface="Times New Roman Regular" panose="02020503050405090304" charset="0"/>
              <a:cs typeface="Times New Roman Regular" panose="02020503050405090304" charset="0"/>
            </a:endParaRPr>
          </a:p>
        </p:txBody>
      </p:sp>
      <p:pic>
        <p:nvPicPr>
          <p:cNvPr id="5" name="图片 4"/>
          <p:cNvPicPr>
            <a:picLocks noChangeAspect="1"/>
          </p:cNvPicPr>
          <p:nvPr>
            <p:custDataLst>
              <p:tags r:id="rId1"/>
            </p:custDataLst>
          </p:nvPr>
        </p:nvPicPr>
        <p:blipFill>
          <a:blip r:embed="rId2"/>
          <a:stretch>
            <a:fillRect/>
          </a:stretch>
        </p:blipFill>
        <p:spPr>
          <a:xfrm>
            <a:off x="2928620" y="1276350"/>
            <a:ext cx="4362450" cy="1263650"/>
          </a:xfrm>
          <a:prstGeom prst="rect">
            <a:avLst/>
          </a:prstGeom>
          <a:ln>
            <a:solidFill>
              <a:srgbClr val="FF0000"/>
            </a:solidFill>
          </a:ln>
        </p:spPr>
      </p:pic>
      <p:pic>
        <p:nvPicPr>
          <p:cNvPr id="6" name="图片 5"/>
          <p:cNvPicPr>
            <a:picLocks noChangeAspect="1"/>
          </p:cNvPicPr>
          <p:nvPr>
            <p:custDataLst>
              <p:tags r:id="rId3"/>
            </p:custDataLst>
          </p:nvPr>
        </p:nvPicPr>
        <p:blipFill>
          <a:blip r:embed="rId4"/>
          <a:stretch>
            <a:fillRect/>
          </a:stretch>
        </p:blipFill>
        <p:spPr>
          <a:xfrm>
            <a:off x="2928620" y="3125470"/>
            <a:ext cx="4269105" cy="1861820"/>
          </a:xfrm>
          <a:prstGeom prst="rect">
            <a:avLst/>
          </a:prstGeom>
          <a:ln>
            <a:solidFill>
              <a:srgbClr val="FF0000"/>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latin typeface="Times New Roman Regular" panose="02020503050405090304" charset="0"/>
                <a:cs typeface="Times New Roman Regular" panose="02020503050405090304" charset="0"/>
              </a:rPr>
              <a:t>2.Data Collection (15 Marks)</a:t>
            </a:r>
            <a:endParaRPr lang="en-US" altLang="zh-CN">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a:xfrm>
            <a:off x="457200" y="819309"/>
            <a:ext cx="8229600" cy="3707130"/>
          </a:xfrm>
        </p:spPr>
        <p:txBody>
          <a:bodyPr/>
          <a:p>
            <a:pPr algn="just"/>
            <a:r>
              <a:rPr lang="zh-CN" altLang="en-US" sz="1600"/>
              <a:t>Please collect three text datasets for each of the document clustering scenarios given in Task 1, with a requirement of </a:t>
            </a:r>
            <a:r>
              <a:rPr lang="zh-CN" altLang="en-US" sz="1600">
                <a:solidFill>
                  <a:srgbClr val="FF0000"/>
                </a:solidFill>
              </a:rPr>
              <a:t>no less than 2000 samples</a:t>
            </a:r>
            <a:r>
              <a:rPr lang="zh-CN" altLang="en-US" sz="1600"/>
              <a:t> per dataset for clustering. And provide a 100 word explanation for each dataset, including but not limited to statistical analysis of data samples, feature analysis, and other related content. (5 Marks/dataset x 3=15 Marks)</a:t>
            </a:r>
            <a:endParaRPr lang="zh-CN" altLang="en-US" sz="1600"/>
          </a:p>
        </p:txBody>
      </p:sp>
      <p:sp>
        <p:nvSpPr>
          <p:cNvPr id="2" name="灯片编号占位符 1"/>
          <p:cNvSpPr>
            <a:spLocks noGrp="1"/>
          </p:cNvSpPr>
          <p:nvPr>
            <p:ph type="sldNum" sz="quarter" idx="12"/>
          </p:nvPr>
        </p:nvSpPr>
        <p:spPr/>
        <p:txBody>
          <a:bodyPr/>
          <a:p>
            <a:fld id="{D07771B2-D7F7-364E-B6F3-F7FE93606BCE}" type="slidenum">
              <a:rPr lang="en-US" smtClean="0">
                <a:latin typeface="Times New Roman Regular" panose="02020503050405090304" charset="0"/>
                <a:cs typeface="Times New Roman Regular" panose="02020503050405090304" charset="0"/>
              </a:rPr>
            </a:fld>
            <a:endParaRPr lang="en-US" smtClean="0">
              <a:latin typeface="Times New Roman Regular" panose="02020503050405090304" charset="0"/>
              <a:cs typeface="Times New Roman Regular" panose="02020503050405090304" charset="0"/>
            </a:endParaRPr>
          </a:p>
        </p:txBody>
      </p:sp>
      <p:pic>
        <p:nvPicPr>
          <p:cNvPr id="7" name="图片 6"/>
          <p:cNvPicPr>
            <a:picLocks noChangeAspect="1"/>
          </p:cNvPicPr>
          <p:nvPr>
            <p:custDataLst>
              <p:tags r:id="rId1"/>
            </p:custDataLst>
          </p:nvPr>
        </p:nvPicPr>
        <p:blipFill>
          <a:blip r:embed="rId2"/>
          <a:stretch>
            <a:fillRect/>
          </a:stretch>
        </p:blipFill>
        <p:spPr>
          <a:xfrm>
            <a:off x="5029200" y="1962150"/>
            <a:ext cx="3497580" cy="2864485"/>
          </a:xfrm>
          <a:prstGeom prst="rect">
            <a:avLst/>
          </a:prstGeom>
          <a:ln>
            <a:solidFill>
              <a:srgbClr val="FF0000"/>
            </a:solidFill>
          </a:ln>
        </p:spPr>
      </p:pic>
      <p:pic>
        <p:nvPicPr>
          <p:cNvPr id="8" name="图片 7"/>
          <p:cNvPicPr>
            <a:picLocks noChangeAspect="1"/>
          </p:cNvPicPr>
          <p:nvPr>
            <p:custDataLst>
              <p:tags r:id="rId3"/>
            </p:custDataLst>
          </p:nvPr>
        </p:nvPicPr>
        <p:blipFill>
          <a:blip r:embed="rId4"/>
          <a:stretch>
            <a:fillRect/>
          </a:stretch>
        </p:blipFill>
        <p:spPr>
          <a:xfrm>
            <a:off x="685800" y="2038350"/>
            <a:ext cx="3816985" cy="2881630"/>
          </a:xfrm>
          <a:prstGeom prst="rect">
            <a:avLst/>
          </a:prstGeom>
          <a:ln>
            <a:solidFill>
              <a:srgbClr val="FF0000"/>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latin typeface="Times New Roman Regular" panose="02020503050405090304" charset="0"/>
                <a:cs typeface="Times New Roman Regular" panose="02020503050405090304" charset="0"/>
              </a:rPr>
              <a:t>3.Algorithm Design (20 Marks)</a:t>
            </a:r>
            <a:endParaRPr lang="en-US" altLang="zh-CN">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a:xfrm>
            <a:off x="457200" y="819309"/>
            <a:ext cx="8229600" cy="3707130"/>
          </a:xfrm>
        </p:spPr>
        <p:txBody>
          <a:bodyPr/>
          <a:p>
            <a:pPr algn="just"/>
            <a:r>
              <a:rPr lang="zh-CN" altLang="en-US" sz="1600"/>
              <a:t>(1)Please select three different document clustering algorithms for the datasets in Task 2, and provide pseudo-code for each clustering algorithm. (5 Marks/algorithm x 3=15 Marks)</a:t>
            </a:r>
            <a:endParaRPr lang="zh-CN" altLang="en-US" sz="1600"/>
          </a:p>
          <a:p>
            <a:pPr algn="just"/>
            <a:r>
              <a:rPr lang="zh-CN" altLang="en-US" sz="1600"/>
              <a:t>(2)Please compare the three algorithms in 3.(1) and analyze their advantages and disadvantages. (5 Marks)</a:t>
            </a:r>
            <a:endParaRPr lang="zh-CN" altLang="en-US" sz="1600"/>
          </a:p>
        </p:txBody>
      </p:sp>
      <p:sp>
        <p:nvSpPr>
          <p:cNvPr id="2" name="灯片编号占位符 1"/>
          <p:cNvSpPr>
            <a:spLocks noGrp="1"/>
          </p:cNvSpPr>
          <p:nvPr>
            <p:ph type="sldNum" sz="quarter" idx="12"/>
          </p:nvPr>
        </p:nvSpPr>
        <p:spPr/>
        <p:txBody>
          <a:bodyPr/>
          <a:p>
            <a:fld id="{D07771B2-D7F7-364E-B6F3-F7FE93606BCE}" type="slidenum">
              <a:rPr lang="en-US" smtClean="0">
                <a:latin typeface="Times New Roman Regular" panose="02020503050405090304" charset="0"/>
                <a:cs typeface="Times New Roman Regular" panose="02020503050405090304" charset="0"/>
              </a:rPr>
            </a:fld>
            <a:endParaRPr lang="en-US" smtClean="0">
              <a:latin typeface="Times New Roman Regular" panose="02020503050405090304" charset="0"/>
              <a:cs typeface="Times New Roman Regular" panose="02020503050405090304" charset="0"/>
            </a:endParaRPr>
          </a:p>
        </p:txBody>
      </p:sp>
      <p:sp>
        <p:nvSpPr>
          <p:cNvPr id="5" name="文本框 4"/>
          <p:cNvSpPr txBox="1"/>
          <p:nvPr/>
        </p:nvSpPr>
        <p:spPr>
          <a:xfrm>
            <a:off x="620395" y="2190750"/>
            <a:ext cx="3361055" cy="2306955"/>
          </a:xfrm>
          <a:prstGeom prst="rect">
            <a:avLst/>
          </a:prstGeom>
          <a:noFill/>
          <a:ln>
            <a:solidFill>
              <a:srgbClr val="FF0000"/>
            </a:solidFill>
          </a:ln>
        </p:spPr>
        <p:txBody>
          <a:bodyPr wrap="square" rtlCol="0" anchor="t">
            <a:spAutoFit/>
          </a:bodyPr>
          <a:p>
            <a:r>
              <a:rPr lang="zh-CN" altLang="en-US" sz="1800">
                <a:ln>
                  <a:noFill/>
                </a:ln>
                <a:latin typeface="Times New Roman Regular" panose="02020503050405090304" charset="0"/>
                <a:cs typeface="Times New Roman Regular" panose="02020503050405090304" charset="0"/>
              </a:rPr>
              <a:t>Algorithm 1: K-Means Clustering</a:t>
            </a:r>
            <a:endParaRPr lang="zh-CN" altLang="en-US" sz="1800">
              <a:ln>
                <a:noFill/>
              </a:ln>
              <a:latin typeface="Times New Roman Regular" panose="02020503050405090304" charset="0"/>
              <a:cs typeface="Times New Roman Regular" panose="02020503050405090304" charset="0"/>
            </a:endParaRPr>
          </a:p>
          <a:p>
            <a:r>
              <a:rPr lang="zh-CN" altLang="en-US" sz="1800">
                <a:ln>
                  <a:noFill/>
                </a:ln>
                <a:latin typeface="Times New Roman Regular" panose="02020503050405090304" charset="0"/>
                <a:cs typeface="Times New Roman Regular" panose="02020503050405090304" charset="0"/>
              </a:rPr>
              <a:t>K-Means is a partition-based clustering algorithm that divides the dataset into a predefined number of clusters by minimizing the distance between documents and their respective cluster centroids.</a:t>
            </a:r>
            <a:endParaRPr lang="zh-CN" altLang="en-US" sz="1800">
              <a:ln>
                <a:noFill/>
              </a:ln>
              <a:latin typeface="Times New Roman Regular" panose="02020503050405090304" charset="0"/>
              <a:cs typeface="Times New Roman Regular" panose="02020503050405090304" charset="0"/>
            </a:endParaRPr>
          </a:p>
        </p:txBody>
      </p:sp>
      <p:pic>
        <p:nvPicPr>
          <p:cNvPr id="6" name="图片 5"/>
          <p:cNvPicPr>
            <a:picLocks noChangeAspect="1"/>
          </p:cNvPicPr>
          <p:nvPr>
            <p:custDataLst>
              <p:tags r:id="rId1"/>
            </p:custDataLst>
          </p:nvPr>
        </p:nvPicPr>
        <p:blipFill>
          <a:blip r:embed="rId2"/>
          <a:stretch>
            <a:fillRect/>
          </a:stretch>
        </p:blipFill>
        <p:spPr>
          <a:xfrm>
            <a:off x="4286885" y="2266950"/>
            <a:ext cx="4399915" cy="2658745"/>
          </a:xfrm>
          <a:prstGeom prst="rect">
            <a:avLst/>
          </a:prstGeom>
        </p:spPr>
      </p:pic>
      <p:sp>
        <p:nvSpPr>
          <p:cNvPr id="9" name="文本框 8"/>
          <p:cNvSpPr txBox="1"/>
          <p:nvPr/>
        </p:nvSpPr>
        <p:spPr>
          <a:xfrm>
            <a:off x="4191000" y="1885950"/>
            <a:ext cx="4572000" cy="368300"/>
          </a:xfrm>
          <a:prstGeom prst="rect">
            <a:avLst/>
          </a:prstGeom>
          <a:noFill/>
        </p:spPr>
        <p:txBody>
          <a:bodyPr wrap="square" rtlCol="0" anchor="t">
            <a:spAutoFit/>
          </a:bodyPr>
          <a:p>
            <a:r>
              <a:rPr lang="zh-CN" altLang="en-US" sz="1800">
                <a:solidFill>
                  <a:srgbClr val="FF0000"/>
                </a:solidFill>
                <a:latin typeface="Times New Roman Regular" panose="02020503050405090304" charset="0"/>
                <a:cs typeface="Times New Roman Regular" panose="02020503050405090304" charset="0"/>
              </a:rPr>
              <a:t>Pseudo-code for K-Means Clustering:</a:t>
            </a:r>
            <a:endParaRPr lang="zh-CN" altLang="en-US" sz="1800">
              <a:solidFill>
                <a:srgbClr val="FF0000"/>
              </a:solidFill>
              <a:latin typeface="Times New Roman Regular" panose="02020503050405090304" charset="0"/>
              <a:cs typeface="Times New Roman Regular" panose="0202050305040509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latin typeface="Times New Roman Regular" panose="02020503050405090304" charset="0"/>
                <a:cs typeface="Times New Roman Regular" panose="02020503050405090304" charset="0"/>
              </a:rPr>
              <a:t>4.Algorithm Implementation (30 Marks)</a:t>
            </a:r>
            <a:endParaRPr lang="en-US" altLang="zh-CN">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a:xfrm>
            <a:off x="457200" y="819150"/>
            <a:ext cx="3557270" cy="3707130"/>
          </a:xfrm>
        </p:spPr>
        <p:txBody>
          <a:bodyPr/>
          <a:p>
            <a:pPr algn="just"/>
            <a:r>
              <a:rPr lang="zh-CN" altLang="en-US" sz="1600"/>
              <a:t>Please use Python to implement the system development for each clustering algorithm designed in Task 3. System development includes but is not limited to </a:t>
            </a:r>
            <a:r>
              <a:rPr lang="zh-CN" altLang="en-US" sz="1600">
                <a:solidFill>
                  <a:srgbClr val="FF0000"/>
                </a:solidFill>
              </a:rPr>
              <a:t>data reading (2 marks), feature processing (3 marks), clustering algorithms (3 marks), results printing (2 marks)</a:t>
            </a:r>
            <a:r>
              <a:rPr lang="zh-CN" altLang="en-US" sz="1600"/>
              <a:t>, and other parts. Please submit the Python implementation of each algorithm as a separate *.py file. Please paste the Python code of the clustering algorithm function in the report. (10 Marks/algorithm x 3 = 30 Marks)</a:t>
            </a:r>
            <a:endParaRPr lang="zh-CN" altLang="en-US" sz="1600"/>
          </a:p>
        </p:txBody>
      </p:sp>
      <p:sp>
        <p:nvSpPr>
          <p:cNvPr id="2" name="灯片编号占位符 1"/>
          <p:cNvSpPr>
            <a:spLocks noGrp="1"/>
          </p:cNvSpPr>
          <p:nvPr>
            <p:ph type="sldNum" sz="quarter" idx="12"/>
          </p:nvPr>
        </p:nvSpPr>
        <p:spPr/>
        <p:txBody>
          <a:bodyPr/>
          <a:p>
            <a:fld id="{D07771B2-D7F7-364E-B6F3-F7FE93606BCE}" type="slidenum">
              <a:rPr lang="en-US" smtClean="0">
                <a:latin typeface="Times New Roman Regular" panose="02020503050405090304" charset="0"/>
                <a:cs typeface="Times New Roman Regular" panose="02020503050405090304" charset="0"/>
              </a:rPr>
            </a:fld>
            <a:endParaRPr lang="en-US" smtClean="0">
              <a:latin typeface="Times New Roman Regular" panose="02020503050405090304" charset="0"/>
              <a:cs typeface="Times New Roman Regular" panose="02020503050405090304" charset="0"/>
            </a:endParaRPr>
          </a:p>
        </p:txBody>
      </p:sp>
      <p:pic>
        <p:nvPicPr>
          <p:cNvPr id="7" name="图片 6"/>
          <p:cNvPicPr>
            <a:picLocks noChangeAspect="1"/>
          </p:cNvPicPr>
          <p:nvPr>
            <p:custDataLst>
              <p:tags r:id="rId1"/>
            </p:custDataLst>
          </p:nvPr>
        </p:nvPicPr>
        <p:blipFill>
          <a:blip r:embed="rId2"/>
          <a:stretch>
            <a:fillRect/>
          </a:stretch>
        </p:blipFill>
        <p:spPr>
          <a:xfrm>
            <a:off x="4191000" y="895350"/>
            <a:ext cx="4536440" cy="2571750"/>
          </a:xfrm>
          <a:prstGeom prst="rect">
            <a:avLst/>
          </a:prstGeom>
          <a:ln>
            <a:solidFill>
              <a:srgbClr val="FF0000"/>
            </a:solidFill>
          </a:ln>
        </p:spPr>
      </p:pic>
      <p:sp>
        <p:nvSpPr>
          <p:cNvPr id="8" name="文本框 7"/>
          <p:cNvSpPr txBox="1"/>
          <p:nvPr/>
        </p:nvSpPr>
        <p:spPr>
          <a:xfrm>
            <a:off x="6172200" y="3609975"/>
            <a:ext cx="1653540" cy="306705"/>
          </a:xfrm>
          <a:prstGeom prst="rect">
            <a:avLst/>
          </a:prstGeom>
          <a:noFill/>
        </p:spPr>
        <p:txBody>
          <a:bodyPr wrap="square" rtlCol="0">
            <a:spAutoFit/>
          </a:bodyPr>
          <a:p>
            <a:r>
              <a:rPr lang="en-US" altLang="zh-CN" sz="1400">
                <a:latin typeface="Times New Roman Regular" panose="02020503050405090304" charset="0"/>
                <a:cs typeface="Times New Roman Regular" panose="02020503050405090304" charset="0"/>
              </a:rPr>
              <a:t>Lab7 Slide10</a:t>
            </a:r>
            <a:endParaRPr lang="en-US" altLang="zh-CN" sz="1400">
              <a:latin typeface="Times New Roman Regular" panose="02020503050405090304" charset="0"/>
              <a:cs typeface="Times New Roman Regular" panose="0202050305040509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latin typeface="Times New Roman Regular" panose="02020503050405090304" charset="0"/>
                <a:cs typeface="Times New Roman Regular" panose="02020503050405090304" charset="0"/>
              </a:rPr>
              <a:t>5.Results Analysis (20 Marks)</a:t>
            </a:r>
            <a:endParaRPr lang="en-US" altLang="zh-CN">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a:xfrm>
            <a:off x="457200" y="819150"/>
            <a:ext cx="3557270" cy="3707130"/>
          </a:xfrm>
        </p:spPr>
        <p:txBody>
          <a:bodyPr/>
          <a:p>
            <a:pPr algn="just"/>
            <a:r>
              <a:rPr lang="zh-CN" altLang="en-US" sz="1600"/>
              <a:t>(1)Please provide the clustering results of each algorithm for three different sample datasets, including precision (3 Marks), recall (3 Marks), and F1 score (4 Marks).</a:t>
            </a:r>
            <a:endParaRPr lang="zh-CN" altLang="en-US" sz="1600"/>
          </a:p>
          <a:p>
            <a:pPr algn="just"/>
            <a:r>
              <a:rPr lang="zh-CN" altLang="en-US" sz="1600"/>
              <a:t>(2)Please discuss the different performances of different clustering algorithms in precision (3 Marks), recall (3 Marks), and F1 score (4 Marks).</a:t>
            </a:r>
            <a:endParaRPr lang="zh-CN" altLang="en-US" sz="1600"/>
          </a:p>
        </p:txBody>
      </p:sp>
      <p:sp>
        <p:nvSpPr>
          <p:cNvPr id="2" name="灯片编号占位符 1"/>
          <p:cNvSpPr>
            <a:spLocks noGrp="1"/>
          </p:cNvSpPr>
          <p:nvPr>
            <p:ph type="sldNum" sz="quarter" idx="12"/>
          </p:nvPr>
        </p:nvSpPr>
        <p:spPr/>
        <p:txBody>
          <a:bodyPr/>
          <a:p>
            <a:fld id="{D07771B2-D7F7-364E-B6F3-F7FE93606BCE}" type="slidenum">
              <a:rPr lang="en-US" smtClean="0">
                <a:latin typeface="Times New Roman Regular" panose="02020503050405090304" charset="0"/>
                <a:cs typeface="Times New Roman Regular" panose="02020503050405090304" charset="0"/>
              </a:rPr>
            </a:fld>
            <a:endParaRPr lang="en-US" smtClean="0">
              <a:latin typeface="Times New Roman Regular" panose="02020503050405090304" charset="0"/>
              <a:cs typeface="Times New Roman Regular" panose="02020503050405090304" charset="0"/>
            </a:endParaRPr>
          </a:p>
        </p:txBody>
      </p:sp>
      <p:pic>
        <p:nvPicPr>
          <p:cNvPr id="5" name="图片 4"/>
          <p:cNvPicPr>
            <a:picLocks noChangeAspect="1"/>
          </p:cNvPicPr>
          <p:nvPr>
            <p:custDataLst>
              <p:tags r:id="rId1"/>
            </p:custDataLst>
          </p:nvPr>
        </p:nvPicPr>
        <p:blipFill>
          <a:blip r:embed="rId2"/>
          <a:stretch>
            <a:fillRect/>
          </a:stretch>
        </p:blipFill>
        <p:spPr>
          <a:xfrm>
            <a:off x="4572000" y="895350"/>
            <a:ext cx="4037330" cy="1334135"/>
          </a:xfrm>
          <a:prstGeom prst="rect">
            <a:avLst/>
          </a:prstGeom>
          <a:ln>
            <a:solidFill>
              <a:srgbClr val="FF0000"/>
            </a:solidFill>
          </a:ln>
        </p:spPr>
      </p:pic>
      <p:pic>
        <p:nvPicPr>
          <p:cNvPr id="6" name="图片 5"/>
          <p:cNvPicPr>
            <a:picLocks noChangeAspect="1"/>
          </p:cNvPicPr>
          <p:nvPr>
            <p:custDataLst>
              <p:tags r:id="rId3"/>
            </p:custDataLst>
          </p:nvPr>
        </p:nvPicPr>
        <p:blipFill>
          <a:blip r:embed="rId4"/>
          <a:stretch>
            <a:fillRect/>
          </a:stretch>
        </p:blipFill>
        <p:spPr>
          <a:xfrm>
            <a:off x="4572000" y="2419350"/>
            <a:ext cx="4037330" cy="2392045"/>
          </a:xfrm>
          <a:prstGeom prst="rect">
            <a:avLst/>
          </a:prstGeom>
          <a:ln>
            <a:solidFill>
              <a:srgbClr val="FF0000"/>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latin typeface="Times New Roman Regular" panose="02020503050405090304" charset="0"/>
                <a:cs typeface="Times New Roman Regular" panose="02020503050405090304" charset="0"/>
              </a:rPr>
              <a:t>6.Report Quality (5 Marks)</a:t>
            </a:r>
            <a:endParaRPr lang="en-US" altLang="zh-CN">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a:xfrm>
            <a:off x="457200" y="819150"/>
            <a:ext cx="8257540" cy="3811905"/>
          </a:xfrm>
        </p:spPr>
        <p:txBody>
          <a:bodyPr>
            <a:normAutofit/>
          </a:bodyPr>
          <a:p>
            <a:pPr algn="just"/>
            <a:r>
              <a:rPr lang="zh-CN" altLang="en-US" sz="2000"/>
              <a:t>This coursework not only assesses everyone's algorithm comprehension and implementation abilities, but also exercises your professional knowledge in terms of terminology, algorithm design expression, experimental result presentation, and the readability of function variables and function logic. Please be cautious about the quality of the report. (5 Marks)</a:t>
            </a:r>
            <a:endParaRPr lang="zh-CN" altLang="en-US" sz="2000"/>
          </a:p>
          <a:p>
            <a:pPr lvl="1" algn="just"/>
            <a:r>
              <a:rPr lang="en-US" altLang="zh-CN" sz="1800"/>
              <a:t>R</a:t>
            </a:r>
            <a:r>
              <a:rPr lang="zh-CN" altLang="en-US" sz="1800"/>
              <a:t>eport structure consistent with the requirements</a:t>
            </a:r>
            <a:endParaRPr lang="zh-CN" altLang="en-US" sz="1800"/>
          </a:p>
          <a:p>
            <a:pPr lvl="1" algn="just"/>
            <a:r>
              <a:rPr lang="en-US" sz="1800"/>
              <a:t>P</a:t>
            </a:r>
            <a:r>
              <a:rPr lang="zh-CN" altLang="en-US" sz="1800"/>
              <a:t>rimary title or secondary title</a:t>
            </a:r>
            <a:endParaRPr lang="zh-CN" altLang="en-US" sz="1800"/>
          </a:p>
          <a:p>
            <a:pPr lvl="1" algn="just"/>
            <a:r>
              <a:rPr lang="en-US" altLang="zh-CN" sz="1800"/>
              <a:t>F</a:t>
            </a:r>
            <a:r>
              <a:rPr lang="zh-CN" altLang="en-US" sz="1800"/>
              <a:t>ont of the main text consistent</a:t>
            </a:r>
            <a:endParaRPr lang="zh-CN" altLang="en-US" sz="1800"/>
          </a:p>
          <a:p>
            <a:pPr lvl="1" algn="just"/>
            <a:r>
              <a:rPr lang="en-US" altLang="zh-CN" sz="1800"/>
              <a:t>I</a:t>
            </a:r>
            <a:r>
              <a:rPr lang="zh-CN" altLang="en-US" sz="1800"/>
              <a:t>mages and tables have captions</a:t>
            </a:r>
            <a:endParaRPr lang="zh-CN" altLang="en-US" sz="1800"/>
          </a:p>
          <a:p>
            <a:pPr lvl="1" algn="just"/>
            <a:r>
              <a:rPr lang="en-US" altLang="zh-CN" sz="1800"/>
              <a:t>W</a:t>
            </a:r>
            <a:r>
              <a:rPr lang="zh-CN" altLang="en-US" sz="1800"/>
              <a:t>ord count meet the requirements</a:t>
            </a:r>
            <a:endParaRPr lang="zh-CN" altLang="en-US" sz="1800"/>
          </a:p>
        </p:txBody>
      </p:sp>
      <p:sp>
        <p:nvSpPr>
          <p:cNvPr id="2" name="灯片编号占位符 1"/>
          <p:cNvSpPr>
            <a:spLocks noGrp="1"/>
          </p:cNvSpPr>
          <p:nvPr>
            <p:ph type="sldNum" sz="quarter" idx="12"/>
          </p:nvPr>
        </p:nvSpPr>
        <p:spPr/>
        <p:txBody>
          <a:bodyPr/>
          <a:p>
            <a:fld id="{D07771B2-D7F7-364E-B6F3-F7FE93606BCE}" type="slidenum">
              <a:rPr lang="en-US" smtClean="0">
                <a:latin typeface="Times New Roman Regular" panose="02020503050405090304" charset="0"/>
                <a:cs typeface="Times New Roman Regular" panose="02020503050405090304" charset="0"/>
              </a:rPr>
            </a:fld>
            <a:endParaRPr lang="en-US" smtClean="0">
              <a:latin typeface="Times New Roman Regular" panose="02020503050405090304" charset="0"/>
              <a:cs typeface="Times New Roman Regular" panose="0202050305040509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latin typeface="Times New Roman Regular" panose="02020503050405090304" charset="0"/>
                <a:cs typeface="Times New Roman Regular" panose="02020503050405090304" charset="0"/>
              </a:rPr>
              <a:t>Submission</a:t>
            </a:r>
            <a:endParaRPr lang="en-US" altLang="zh-CN">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a:xfrm>
            <a:off x="457200" y="819150"/>
            <a:ext cx="3019425" cy="3811905"/>
          </a:xfrm>
        </p:spPr>
        <p:txBody>
          <a:bodyPr>
            <a:normAutofit lnSpcReduction="20000"/>
          </a:bodyPr>
          <a:p>
            <a:pPr algn="just"/>
            <a:r>
              <a:rPr lang="zh-CN" altLang="en-US" sz="1800"/>
              <a:t></a:t>
            </a:r>
            <a:r>
              <a:rPr lang="zh-CN" altLang="en-US" sz="1800" b="1">
                <a:latin typeface="Times New Roman Bold" panose="02020503050405090304" charset="0"/>
                <a:cs typeface="Times New Roman Bold" panose="02020503050405090304" charset="0"/>
              </a:rPr>
              <a:t>A Group_ID.pdf</a:t>
            </a:r>
            <a:r>
              <a:rPr lang="zh-CN" altLang="en-US" sz="1800"/>
              <a:t> file contains a cover letter with your group member information, and all the task report content. </a:t>
            </a:r>
            <a:endParaRPr lang="zh-CN" altLang="en-US" sz="1800"/>
          </a:p>
          <a:p>
            <a:pPr algn="just"/>
            <a:r>
              <a:rPr lang="zh-CN" altLang="en-US" sz="1800"/>
              <a:t></a:t>
            </a:r>
            <a:r>
              <a:rPr lang="zh-CN" altLang="en-US" sz="1800" b="1">
                <a:latin typeface="Times New Roman Bold" panose="02020503050405090304" charset="0"/>
                <a:cs typeface="Times New Roman Bold" panose="02020503050405090304" charset="0"/>
              </a:rPr>
              <a:t>A Group_ID.zip</a:t>
            </a:r>
            <a:r>
              <a:rPr lang="zh-CN" altLang="en-US" sz="1800"/>
              <a:t> file contains your program implementation and output files, such as dataset1.csv, dataset2.csv, dataset3.csv, algorithm1.py, algorithm2.py, algorithm3.py, precision.csv, recall.csv, F1.csv.</a:t>
            </a:r>
            <a:endParaRPr lang="zh-CN" altLang="en-US" sz="1800"/>
          </a:p>
        </p:txBody>
      </p:sp>
      <p:sp>
        <p:nvSpPr>
          <p:cNvPr id="2" name="灯片编号占位符 1"/>
          <p:cNvSpPr>
            <a:spLocks noGrp="1"/>
          </p:cNvSpPr>
          <p:nvPr>
            <p:ph type="sldNum" sz="quarter" idx="12"/>
          </p:nvPr>
        </p:nvSpPr>
        <p:spPr/>
        <p:txBody>
          <a:bodyPr/>
          <a:p>
            <a:fld id="{D07771B2-D7F7-364E-B6F3-F7FE93606BCE}" type="slidenum">
              <a:rPr lang="en-US" smtClean="0">
                <a:latin typeface="Times New Roman Regular" panose="02020503050405090304" charset="0"/>
                <a:cs typeface="Times New Roman Regular" panose="02020503050405090304" charset="0"/>
              </a:rPr>
            </a:fld>
            <a:endParaRPr lang="en-US" smtClean="0">
              <a:latin typeface="Times New Roman Regular" panose="02020503050405090304" charset="0"/>
              <a:cs typeface="Times New Roman Regular" panose="02020503050405090304" charset="0"/>
            </a:endParaRPr>
          </a:p>
        </p:txBody>
      </p:sp>
      <p:pic>
        <p:nvPicPr>
          <p:cNvPr id="5" name="图片 4"/>
          <p:cNvPicPr>
            <a:picLocks noChangeAspect="1"/>
          </p:cNvPicPr>
          <p:nvPr>
            <p:custDataLst>
              <p:tags r:id="rId1"/>
            </p:custDataLst>
          </p:nvPr>
        </p:nvPicPr>
        <p:blipFill>
          <a:blip r:embed="rId2"/>
          <a:stretch>
            <a:fillRect/>
          </a:stretch>
        </p:blipFill>
        <p:spPr>
          <a:xfrm>
            <a:off x="3581400" y="895350"/>
            <a:ext cx="5194300" cy="2844800"/>
          </a:xfrm>
          <a:prstGeom prst="rect">
            <a:avLst/>
          </a:prstGeom>
          <a:ln>
            <a:solidFill>
              <a:srgbClr val="FF0000"/>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MQ</a:t>
            </a:r>
            <a:endParaRPr lang="en-US" altLang="zh-CN"/>
          </a:p>
        </p:txBody>
      </p:sp>
      <p:pic>
        <p:nvPicPr>
          <p:cNvPr id="5" name="内容占位符 4"/>
          <p:cNvPicPr>
            <a:picLocks noChangeAspect="1"/>
          </p:cNvPicPr>
          <p:nvPr>
            <p:ph idx="1"/>
            <p:custDataLst>
              <p:tags r:id="rId1"/>
            </p:custDataLst>
          </p:nvPr>
        </p:nvPicPr>
        <p:blipFill>
          <a:blip r:embed="rId2"/>
          <a:stretch>
            <a:fillRect/>
          </a:stretch>
        </p:blipFill>
        <p:spPr>
          <a:xfrm>
            <a:off x="4572000" y="991870"/>
            <a:ext cx="3820795" cy="3707130"/>
          </a:xfrm>
          <a:prstGeom prst="rect">
            <a:avLst/>
          </a:prstGeom>
        </p:spPr>
      </p:pic>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533400" y="1200150"/>
            <a:ext cx="3706495" cy="370840"/>
          </a:xfrm>
          <a:prstGeom prst="rect">
            <a:avLst/>
          </a:prstGeom>
          <a:noFill/>
        </p:spPr>
        <p:txBody>
          <a:bodyPr wrap="square" rtlCol="0" anchor="t">
            <a:noAutofit/>
          </a:bodyPr>
          <a:p>
            <a:r>
              <a:rPr lang="zh-CN" altLang="en-US"/>
              <a:t>https://mq.xjtlu.edu.cn/</a:t>
            </a:r>
            <a:endParaRPr lang="zh-CN" altLang="en-US"/>
          </a:p>
          <a:p>
            <a:endParaRPr lang="zh-CN" altLang="en-US"/>
          </a:p>
          <a:p>
            <a:r>
              <a:rPr lang="en-US" altLang="zh-CN"/>
              <a:t>Ends on </a:t>
            </a:r>
            <a:r>
              <a:rPr lang="en-US" altLang="zh-CN">
                <a:solidFill>
                  <a:srgbClr val="FF0000"/>
                </a:solidFill>
              </a:rPr>
              <a:t>2024/10/21</a:t>
            </a:r>
            <a:endParaRPr lang="en-US" altLang="zh-CN">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b="24119"/>
          <a:stretch>
            <a:fillRect/>
          </a:stretch>
        </p:blipFill>
        <p:spPr>
          <a:xfrm>
            <a:off x="0" y="6350"/>
            <a:ext cx="9144000" cy="2514601"/>
          </a:xfrm>
          <a:prstGeom prst="rect">
            <a:avLst/>
          </a:prstGeom>
        </p:spPr>
      </p:pic>
      <p:pic>
        <p:nvPicPr>
          <p:cNvPr id="22" name="Picture 21"/>
          <p:cNvPicPr>
            <a:picLocks noChangeAspect="1"/>
          </p:cNvPicPr>
          <p:nvPr/>
        </p:nvPicPr>
        <p:blipFill>
          <a:blip r:embed="rId2"/>
          <a:stretch>
            <a:fillRect/>
          </a:stretch>
        </p:blipFill>
        <p:spPr>
          <a:xfrm>
            <a:off x="4196802" y="3970977"/>
            <a:ext cx="1317415" cy="281800"/>
          </a:xfrm>
          <a:prstGeom prst="rect">
            <a:avLst/>
          </a:prstGeom>
        </p:spPr>
      </p:pic>
      <p:sp>
        <p:nvSpPr>
          <p:cNvPr id="34" name="Rectangle 33"/>
          <p:cNvSpPr/>
          <p:nvPr/>
        </p:nvSpPr>
        <p:spPr>
          <a:xfrm>
            <a:off x="3236667" y="2234122"/>
            <a:ext cx="2662167" cy="644978"/>
          </a:xfrm>
          <a:prstGeom prst="rect">
            <a:avLst/>
          </a:prstGeom>
          <a:solidFill>
            <a:srgbClr val="0005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18" name="Title 1"/>
          <p:cNvSpPr txBox="1"/>
          <p:nvPr/>
        </p:nvSpPr>
        <p:spPr>
          <a:xfrm>
            <a:off x="2386013" y="2123817"/>
            <a:ext cx="4371975" cy="826889"/>
          </a:xfrm>
          <a:prstGeom prst="rect">
            <a:avLst/>
          </a:prstGeom>
        </p:spPr>
        <p:txBody>
          <a:bodyPr vert="horz" lIns="51435" tIns="25718" rIns="51435" bIns="25718"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375" b="1" cap="all" dirty="0">
                <a:solidFill>
                  <a:schemeClr val="bg1"/>
                </a:solidFill>
                <a:latin typeface="Calibri"/>
                <a:cs typeface="Calibri"/>
              </a:rPr>
              <a:t>THANK YOU</a:t>
            </a:r>
            <a:endParaRPr lang="en-US" sz="3375" b="1" cap="all" spc="169" dirty="0">
              <a:solidFill>
                <a:schemeClr val="bg1"/>
              </a:solidFill>
              <a:latin typeface="Calibri"/>
              <a:cs typeface="Calibri"/>
            </a:endParaRPr>
          </a:p>
        </p:txBody>
      </p:sp>
      <p:sp>
        <p:nvSpPr>
          <p:cNvPr id="25" name="Subtitle 2"/>
          <p:cNvSpPr txBox="1"/>
          <p:nvPr/>
        </p:nvSpPr>
        <p:spPr>
          <a:xfrm>
            <a:off x="3382213" y="336408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Visit us</a:t>
            </a:r>
            <a:endParaRPr lang="en-US" sz="1350" b="1" cap="all" dirty="0">
              <a:solidFill>
                <a:srgbClr val="000044"/>
              </a:solidFill>
              <a:cs typeface="DIN-Regular"/>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8217" y="3214135"/>
            <a:ext cx="553997" cy="553997"/>
          </a:xfrm>
          <a:prstGeom prst="rect">
            <a:avLst/>
          </a:prstGeom>
        </p:spPr>
      </p:pic>
      <p:sp>
        <p:nvSpPr>
          <p:cNvPr id="29" name="Rectangle 28"/>
          <p:cNvSpPr/>
          <p:nvPr/>
        </p:nvSpPr>
        <p:spPr>
          <a:xfrm>
            <a:off x="3439931"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3" name="Subtitle 2"/>
          <p:cNvSpPr txBox="1"/>
          <p:nvPr/>
        </p:nvSpPr>
        <p:spPr>
          <a:xfrm>
            <a:off x="5740581" y="3360007"/>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FOLLOW us</a:t>
            </a:r>
            <a:endParaRPr lang="en-US" sz="1350" b="1" cap="all" dirty="0">
              <a:solidFill>
                <a:srgbClr val="000044"/>
              </a:solidFill>
              <a:cs typeface="DIN-Regular"/>
            </a:endParaRPr>
          </a:p>
        </p:txBody>
      </p:sp>
      <p:sp>
        <p:nvSpPr>
          <p:cNvPr id="35" name="Rectangle 34"/>
          <p:cNvSpPr/>
          <p:nvPr/>
        </p:nvSpPr>
        <p:spPr>
          <a:xfrm>
            <a:off x="5798299"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grpSp>
        <p:nvGrpSpPr>
          <p:cNvPr id="36" name="Group 35"/>
          <p:cNvGrpSpPr/>
          <p:nvPr/>
        </p:nvGrpSpPr>
        <p:grpSpPr>
          <a:xfrm>
            <a:off x="5162170" y="3214138"/>
            <a:ext cx="583358" cy="548171"/>
            <a:chOff x="7496912" y="3906329"/>
            <a:chExt cx="1093174" cy="1027237"/>
          </a:xfrm>
        </p:grpSpPr>
        <p:pic>
          <p:nvPicPr>
            <p:cNvPr id="37" name="Picture 36"/>
            <p:cNvPicPr>
              <a:picLocks noChangeAspect="1"/>
            </p:cNvPicPr>
            <p:nvPr/>
          </p:nvPicPr>
          <p:blipFill rotWithShape="1">
            <a:blip r:embed="rId4">
              <a:extLst>
                <a:ext uri="{28A0092B-C50C-407E-A947-70E740481C1C}">
                  <a14:useLocalDpi xmlns:a14="http://schemas.microsoft.com/office/drawing/2010/main" val="0"/>
                </a:ext>
              </a:extLst>
            </a:blip>
            <a:srcRect r="51558" b="75832"/>
            <a:stretch>
              <a:fillRect/>
            </a:stretch>
          </p:blipFill>
          <p:spPr>
            <a:xfrm>
              <a:off x="7496912" y="3906329"/>
              <a:ext cx="1093174" cy="531499"/>
            </a:xfrm>
            <a:prstGeom prst="rect">
              <a:avLst/>
            </a:prstGeom>
          </p:spPr>
        </p:pic>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l="48522" t="-22" r="27371" b="76543"/>
            <a:stretch>
              <a:fillRect/>
            </a:stretch>
          </p:blipFill>
          <p:spPr>
            <a:xfrm>
              <a:off x="7505704" y="4441198"/>
              <a:ext cx="518747" cy="492368"/>
            </a:xfrm>
            <a:prstGeom prst="rect">
              <a:avLst/>
            </a:prstGeom>
          </p:spPr>
        </p:pic>
        <p:pic>
          <p:nvPicPr>
            <p:cNvPr id="40" name="Picture 39"/>
            <p:cNvPicPr>
              <a:picLocks noChangeAspect="1"/>
            </p:cNvPicPr>
            <p:nvPr/>
          </p:nvPicPr>
          <p:blipFill rotWithShape="1">
            <a:blip r:embed="rId4">
              <a:extLst>
                <a:ext uri="{28A0092B-C50C-407E-A947-70E740481C1C}">
                  <a14:useLocalDpi xmlns:a14="http://schemas.microsoft.com/office/drawing/2010/main" val="0"/>
                </a:ext>
              </a:extLst>
            </a:blip>
            <a:srcRect l="25036" t="23779" r="51266" b="51483"/>
            <a:stretch>
              <a:fillRect/>
            </a:stretch>
          </p:blipFill>
          <p:spPr>
            <a:xfrm>
              <a:off x="8078919" y="4414820"/>
              <a:ext cx="509954" cy="518746"/>
            </a:xfrm>
            <a:prstGeom prst="rect">
              <a:avLst/>
            </a:prstGeom>
          </p:spPr>
        </p:pic>
      </p:grpSp>
      <p:sp>
        <p:nvSpPr>
          <p:cNvPr id="41" name="Subtitle 2"/>
          <p:cNvSpPr txBox="1"/>
          <p:nvPr/>
        </p:nvSpPr>
        <p:spPr>
          <a:xfrm>
            <a:off x="3385249" y="354839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675" b="1" cap="all" dirty="0">
                <a:solidFill>
                  <a:srgbClr val="FFFF00"/>
                </a:solidFill>
                <a:cs typeface="DIN-Regular"/>
                <a:hlinkClick r:id="rId5"/>
              </a:rPr>
              <a:t>www.xjtlu.edu.cn</a:t>
            </a:r>
            <a:endParaRPr lang="en-US" sz="620" b="1" cap="all" dirty="0">
              <a:solidFill>
                <a:srgbClr val="FFFF00"/>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16009"/>
    </mc:Choice>
    <mc:Fallback>
      <p:transition spd="slow" advTm="16009"/>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4418</Words>
  <Application>WPS 文字</Application>
  <PresentationFormat>全屏显示(16:9)</PresentationFormat>
  <Paragraphs>115</Paragraphs>
  <Slides>14</Slides>
  <Notes>15</Notes>
  <HiddenSlides>0</HiddenSlides>
  <MMClips>1</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14</vt:i4>
      </vt:variant>
    </vt:vector>
  </HeadingPairs>
  <TitlesOfParts>
    <vt:vector size="41" baseType="lpstr">
      <vt:lpstr>Arial</vt:lpstr>
      <vt:lpstr>宋体</vt:lpstr>
      <vt:lpstr>Wingdings</vt:lpstr>
      <vt:lpstr>Lucida Sans</vt:lpstr>
      <vt:lpstr>苹方-简</vt:lpstr>
      <vt:lpstr>MS PGothic</vt:lpstr>
      <vt:lpstr>Calibri</vt:lpstr>
      <vt:lpstr>Helvetica Neue</vt:lpstr>
      <vt:lpstr>Helvetica Neue UltraLight</vt:lpstr>
      <vt:lpstr>Times New Roman</vt:lpstr>
      <vt:lpstr>Arial</vt:lpstr>
      <vt:lpstr>Times New Roman Regular</vt:lpstr>
      <vt:lpstr>MS PGothic</vt:lpstr>
      <vt:lpstr>冬青黑体简体中文</vt:lpstr>
      <vt:lpstr>Tahoma</vt:lpstr>
      <vt:lpstr>DIN-Regular</vt:lpstr>
      <vt:lpstr>Thonburi</vt:lpstr>
      <vt:lpstr>Times New Roman Bold</vt:lpstr>
      <vt:lpstr>Calibri</vt:lpstr>
      <vt:lpstr>微软雅黑</vt:lpstr>
      <vt:lpstr>汉仪旗黑</vt:lpstr>
      <vt:lpstr>宋体</vt:lpstr>
      <vt:lpstr>Arial Unicode MS</vt:lpstr>
      <vt:lpstr>汉仪书宋二KW</vt:lpstr>
      <vt:lpstr>Calibri Light</vt:lpstr>
      <vt:lpstr>Retrospect</vt:lpstr>
      <vt:lpstr>Default Theme</vt:lpstr>
      <vt:lpstr>Natural Language Processing DTS305TC</vt:lpstr>
      <vt:lpstr>Group Coursework</vt:lpstr>
      <vt:lpstr>important information</vt:lpstr>
      <vt:lpstr>Assessed learning outcomes</vt:lpstr>
      <vt:lpstr>Overview</vt:lpstr>
      <vt:lpstr>Tasks-1.Background Knowledge (10 Marks)</vt:lpstr>
      <vt:lpstr>2.Data Collection (15 Marks)</vt:lpstr>
      <vt:lpstr>3.Algorithm Design (20 Marks)</vt:lpstr>
      <vt:lpstr>4.Algorithm Implementation (30 Marks)</vt:lpstr>
      <vt:lpstr>5.Results Analysis (20 Marks)</vt:lpstr>
      <vt:lpstr>6.Report Quality (5 Marks)</vt:lpstr>
      <vt:lpstr>Submission</vt:lpstr>
      <vt:lpstr>PowerPoint 演示文稿</vt:lpstr>
      <vt:lpstr>PowerPoint 演示文稿</vt:lpstr>
    </vt:vector>
  </TitlesOfParts>
  <Company>Stanford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华康</cp:lastModifiedBy>
  <cp:revision>415</cp:revision>
  <cp:lastPrinted>2024-10-14T01:38:36Z</cp:lastPrinted>
  <dcterms:created xsi:type="dcterms:W3CDTF">2024-10-14T01:38:36Z</dcterms:created>
  <dcterms:modified xsi:type="dcterms:W3CDTF">2024-10-14T01:38:36Z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7F674F714E0CF6726805D0666F15DC9A_42</vt:lpwstr>
  </property>
  <property fmtid="{D5CDD505-2E9C-101B-9397-08002B2CF9AE}" pid="3" name="KSOProductBuildVer">
    <vt:lpwstr>2052-6.7.1.8828</vt:lpwstr>
  </property>
</Properties>
</file>