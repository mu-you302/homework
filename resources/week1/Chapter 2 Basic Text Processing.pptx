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67"/>
  </p:handoutMasterIdLst>
  <p:sldIdLst>
    <p:sldId id="256" r:id="rId4"/>
    <p:sldId id="571" r:id="rId6"/>
    <p:sldId id="631" r:id="rId7"/>
    <p:sldId id="512" r:id="rId8"/>
    <p:sldId id="405" r:id="rId9"/>
    <p:sldId id="632" r:id="rId10"/>
    <p:sldId id="406" r:id="rId11"/>
    <p:sldId id="442" r:id="rId12"/>
    <p:sldId id="511" r:id="rId13"/>
    <p:sldId id="444" r:id="rId14"/>
    <p:sldId id="408" r:id="rId15"/>
    <p:sldId id="409" r:id="rId16"/>
    <p:sldId id="514" r:id="rId17"/>
    <p:sldId id="513" r:id="rId18"/>
    <p:sldId id="412" r:id="rId19"/>
    <p:sldId id="413" r:id="rId20"/>
    <p:sldId id="415" r:id="rId21"/>
    <p:sldId id="517" r:id="rId22"/>
    <p:sldId id="419" r:id="rId23"/>
    <p:sldId id="420" r:id="rId24"/>
    <p:sldId id="421" r:id="rId25"/>
    <p:sldId id="473" r:id="rId26"/>
    <p:sldId id="474" r:id="rId27"/>
    <p:sldId id="475" r:id="rId28"/>
    <p:sldId id="518" r:id="rId29"/>
    <p:sldId id="472" r:id="rId30"/>
    <p:sldId id="633" r:id="rId31"/>
    <p:sldId id="458" r:id="rId32"/>
    <p:sldId id="483" r:id="rId33"/>
    <p:sldId id="503" r:id="rId34"/>
    <p:sldId id="477" r:id="rId35"/>
    <p:sldId id="478" r:id="rId36"/>
    <p:sldId id="479" r:id="rId37"/>
    <p:sldId id="487" r:id="rId38"/>
    <p:sldId id="480" r:id="rId39"/>
    <p:sldId id="485" r:id="rId40"/>
    <p:sldId id="486" r:id="rId41"/>
    <p:sldId id="481" r:id="rId42"/>
    <p:sldId id="519" r:id="rId43"/>
    <p:sldId id="505" r:id="rId44"/>
    <p:sldId id="506" r:id="rId45"/>
    <p:sldId id="507" r:id="rId46"/>
    <p:sldId id="493" r:id="rId47"/>
    <p:sldId id="508" r:id="rId48"/>
    <p:sldId id="488" r:id="rId49"/>
    <p:sldId id="489" r:id="rId50"/>
    <p:sldId id="490" r:id="rId51"/>
    <p:sldId id="491" r:id="rId52"/>
    <p:sldId id="492" r:id="rId53"/>
    <p:sldId id="494" r:id="rId54"/>
    <p:sldId id="497" r:id="rId55"/>
    <p:sldId id="634" r:id="rId56"/>
    <p:sldId id="520" r:id="rId57"/>
    <p:sldId id="429" r:id="rId58"/>
    <p:sldId id="430" r:id="rId59"/>
    <p:sldId id="431" r:id="rId60"/>
    <p:sldId id="432" r:id="rId61"/>
    <p:sldId id="433" r:id="rId62"/>
    <p:sldId id="509" r:id="rId63"/>
    <p:sldId id="435" r:id="rId64"/>
    <p:sldId id="500" r:id="rId65"/>
    <p:sldId id="311" r:id="rId66"/>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96" userDrawn="1">
          <p15:clr>
            <a:srgbClr val="A4A3A4"/>
          </p15:clr>
        </p15:guide>
        <p15:guide id="2" pos="2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200FF"/>
    <a:srgbClr val="3365FF"/>
    <a:srgbClr val="0166FF"/>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29" autoAdjust="0"/>
    <p:restoredTop sz="95865" autoAdjust="0"/>
  </p:normalViewPr>
  <p:slideViewPr>
    <p:cSldViewPr showGuides="1">
      <p:cViewPr varScale="1">
        <p:scale>
          <a:sx n="150" d="100"/>
          <a:sy n="150" d="100"/>
        </p:scale>
        <p:origin x="192" y="480"/>
      </p:cViewPr>
      <p:guideLst>
        <p:guide orient="horz" pos="1596"/>
        <p:guide pos="2912"/>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100" d="100"/>
        <a:sy n="100" d="100"/>
      </p:scale>
      <p:origin x="0" y="10240"/>
    </p:cViewPr>
  </p:sorterViewPr>
  <p:notesViewPr>
    <p:cSldViewPr snapToGrid="0" snapToObjects="1">
      <p:cViewPr varScale="1">
        <p:scale>
          <a:sx n="62" d="100"/>
          <a:sy n="62" d="100"/>
        </p:scale>
        <p:origin x="-2224" y="-112"/>
      </p:cViewPr>
      <p:guideLst>
        <p:guide orient="horz" pos="2915"/>
        <p:guide pos="218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0" Type="http://schemas.openxmlformats.org/officeDocument/2006/relationships/tableStyles" Target="tableStyles.xml"/><Relationship Id="rId7" Type="http://schemas.openxmlformats.org/officeDocument/2006/relationships/slide" Target="slides/slide3.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6" Type="http://schemas.openxmlformats.org/officeDocument/2006/relationships/slide" Target="slides/slide12.xml"/><Relationship Id="rId5" Type="http://schemas.openxmlformats.org/officeDocument/2006/relationships/slide" Target="slides/slide11.xml"/><Relationship Id="rId4" Type="http://schemas.openxmlformats.org/officeDocument/2006/relationships/slide" Target="slides/slide10.xml"/><Relationship Id="rId3" Type="http://schemas.openxmlformats.org/officeDocument/2006/relationships/slide" Target="slides/slide9.xml"/><Relationship Id="rId2" Type="http://schemas.openxmlformats.org/officeDocument/2006/relationships/slide" Target="slides/slide8.xml"/><Relationship Id="rId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dirty="0">
                <a:solidFill>
                  <a:srgbClr val="000000"/>
                </a:solidFill>
                <a:effectLst/>
                <a:latin typeface="Monaco" pitchFamily="2" charset="77"/>
              </a:rPr>
              <a:t>Regular expressions are used everywhere in text processing, in every standard NLP toolkit and library, every programming language, and every industrial application of NLP.  They are particularly useful for searching in text, and play a huge role in analyzing text data, in web scraping, in pattern-matching, in data formatting, and as a  preprocessing step before applying some more sophisticated algorithms.</a:t>
            </a:r>
            <a:endParaRPr lang="en-US" dirty="0">
              <a:solidFill>
                <a:srgbClr val="000000"/>
              </a:solidFill>
              <a:effectLst/>
              <a:latin typeface="Monaco" pitchFamily="2" charset="77"/>
            </a:endParaRPr>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2E64B176-3CE7-6A41-BE1E-57EEC52B0665}" type="slidenum">
              <a:rPr lang="en-US"/>
            </a:fld>
            <a:endParaRPr lang="en-US"/>
          </a:p>
        </p:txBody>
      </p:sp>
      <p:sp>
        <p:nvSpPr>
          <p:cNvPr id="70659" name="Rectangle 2"/>
          <p:cNvSpPr>
            <a:spLocks noGrp="1" noRot="1" noChangeAspect="1" noChangeArrowheads="1"/>
          </p:cNvSpPr>
          <p:nvPr>
            <p:ph type="sldImg"/>
          </p:nvPr>
        </p:nvSpPr>
        <p:spPr>
          <a:solidFill>
            <a:srgbClr val="FFFFFF"/>
          </a:solidFill>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en-US" dirty="0">
                <a:solidFill>
                  <a:srgbClr val="000000"/>
                </a:solidFill>
                <a:effectLst/>
                <a:latin typeface="Monaco" pitchFamily="2" charset="77"/>
              </a:rPr>
              <a:t>Suppose we're searching for mentions of woodchucks, the delightful small mammal also known as the groundhog. But they could appear with lower-case or upper-case w, with a final s or not, and as the synonym groundhog! Can we write a formal specification that accounts for all of these?</a:t>
            </a:r>
            <a:endParaRPr lang="en-US" dirty="0">
              <a:solidFill>
                <a:srgbClr val="000000"/>
              </a:solidFill>
              <a:effectLst/>
              <a:latin typeface="Monaco" pitchFamily="2" charset="77"/>
            </a:endParaRPr>
          </a:p>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AD123507-3658-094F-A348-B086D6EDE221}" type="slidenum">
              <a:rPr lang="en-US"/>
            </a:fld>
            <a:endParaRPr lang="en-US"/>
          </a:p>
        </p:txBody>
      </p:sp>
      <p:sp>
        <p:nvSpPr>
          <p:cNvPr id="72707" name="Rectangle 2"/>
          <p:cNvSpPr>
            <a:spLocks noGrp="1" noRot="1" noChangeAspect="1" noChangeArrowheads="1" noTextEdit="1"/>
          </p:cNvSpPr>
          <p:nvPr>
            <p:ph type="sldImg"/>
          </p:nvPr>
        </p:nvSpPr>
        <p:spPr>
          <a:solidFill>
            <a:srgbClr val="FFFFFF"/>
          </a:solidFill>
        </p:spPr>
      </p:sp>
      <p:sp>
        <p:nvSpPr>
          <p:cNvPr id="72708"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r>
              <a:rPr lang="en-US" dirty="0">
                <a:solidFill>
                  <a:srgbClr val="000000"/>
                </a:solidFill>
                <a:effectLst/>
                <a:latin typeface="Monaco" pitchFamily="2" charset="77"/>
              </a:rPr>
              <a:t>Let's start with the square brackets which mean "any one character inside these brackets."      So [</a:t>
            </a:r>
            <a:r>
              <a:rPr lang="en-US" dirty="0" err="1">
                <a:solidFill>
                  <a:srgbClr val="000000"/>
                </a:solidFill>
                <a:effectLst/>
                <a:latin typeface="Monaco" pitchFamily="2" charset="77"/>
              </a:rPr>
              <a:t>wW</a:t>
            </a:r>
            <a:r>
              <a:rPr lang="en-US" dirty="0">
                <a:solidFill>
                  <a:srgbClr val="000000"/>
                </a:solidFill>
                <a:effectLst/>
                <a:latin typeface="Monaco" pitchFamily="2" charset="77"/>
              </a:rPr>
              <a:t>] means "either lower w or upper W"  and [1234567890] means "any digit"</a:t>
            </a:r>
            <a:br>
              <a:rPr lang="en-US" dirty="0">
                <a:solidFill>
                  <a:srgbClr val="000000"/>
                </a:solidFill>
                <a:effectLst/>
                <a:latin typeface="Monaco" pitchFamily="2" charset="77"/>
              </a:rPr>
            </a:br>
            <a:endParaRPr lang="en-US" dirty="0">
              <a:solidFill>
                <a:srgbClr val="000000"/>
              </a:solidFill>
              <a:effectLst/>
              <a:latin typeface="Monaco" pitchFamily="2" charset="77"/>
            </a:endParaRPr>
          </a:p>
          <a:p>
            <a:r>
              <a:rPr lang="en-US" dirty="0">
                <a:solidFill>
                  <a:srgbClr val="000000"/>
                </a:solidFill>
                <a:effectLst/>
                <a:latin typeface="Monaco" pitchFamily="2" charset="77"/>
              </a:rPr>
              <a:t>It's a bit inefficient to write all that out, so we can use the dash or hyphen to specify a range.  So [A-Z] means "any one uppercase letter" and [0-9] means "a digit". Note in the examples on the right we're showing in blue underline the first instance of a match; if we were showing all of them, we would also show the B in Blossoms</a:t>
            </a:r>
            <a:endParaRPr lang="en-US" dirty="0">
              <a:solidFill>
                <a:srgbClr val="000000"/>
              </a:solidFill>
              <a:effectLst/>
              <a:latin typeface="Monaco" pitchFamily="2" charset="77"/>
            </a:endParaRPr>
          </a:p>
          <a:p>
            <a:pPr eaLnBrk="1" hangingPunct="1"/>
            <a:endParaRPr 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fld>
            <a:endParaRPr lang="en-US"/>
          </a:p>
        </p:txBody>
      </p:sp>
      <p:sp>
        <p:nvSpPr>
          <p:cNvPr id="74755" name="Rectangle 2"/>
          <p:cNvSpPr>
            <a:spLocks noGrp="1" noRot="1" noChangeAspect="1" noChangeArrowheads="1" noTextEdit="1"/>
          </p:cNvSpPr>
          <p:nvPr>
            <p:ph type="sldImg"/>
          </p:nvPr>
        </p:nvSpPr>
        <p:spPr>
          <a:solidFill>
            <a:srgbClr val="FFFFFF"/>
          </a:solidFill>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It's sometimes convenient to talk about characters we *don't* want to match.  Maybe we want to search for any letter that is neither uppercase S or lowercase s.  For that we use the special character carat, immediately after the open-square-bracket. So [^Ss] means "neither S nor s'.  Or [^A-Z] means "not a capital letter". Or [^.] means any 1 character that is not a period.  The carat has this negation meaning only immediately after the open-square bracket. So if use it later like in the pattern [e^] it means literally e or carat.  IN a moment we'll introduce some special characters, like the period, a special wildcard regular expression that means "any character". But inside the square brackets, it just means "period".</a:t>
            </a:r>
            <a:endParaRPr lang="en-US"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fld>
            <a:endParaRPr lang="en-US"/>
          </a:p>
        </p:txBody>
      </p:sp>
      <p:sp>
        <p:nvSpPr>
          <p:cNvPr id="74755" name="Rectangle 2"/>
          <p:cNvSpPr>
            <a:spLocks noGrp="1" noRot="1" noChangeAspect="1" noChangeArrowheads="1" noTextEdit="1"/>
          </p:cNvSpPr>
          <p:nvPr>
            <p:ph type="sldImg"/>
          </p:nvPr>
        </p:nvSpPr>
        <p:spPr>
          <a:solidFill>
            <a:srgbClr val="FFFFFF"/>
          </a:solidFill>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Finally, we can use a special character, the backslash, to make even more aliases.  So \d means "any one digit", \s means whitespace and \w means any alphanumeric (plus the underbar, slightly confusing). Using the capital letter means negated, so \D means any non-digit.</a:t>
            </a:r>
            <a:endParaRPr lang="en-US"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fld>
            <a:endParaRPr lang="en-US"/>
          </a:p>
        </p:txBody>
      </p:sp>
      <p:sp>
        <p:nvSpPr>
          <p:cNvPr id="74755" name="Rectangle 2"/>
          <p:cNvSpPr>
            <a:spLocks noGrp="1" noRot="1" noChangeAspect="1" noChangeArrowheads="1" noTextEdit="1"/>
          </p:cNvSpPr>
          <p:nvPr>
            <p:ph type="sldImg"/>
          </p:nvPr>
        </p:nvSpPr>
        <p:spPr>
          <a:solidFill>
            <a:srgbClr val="FFFFFF"/>
          </a:solidFill>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Another useful tool is the pipe symbol, the vertical bar, sometimes called just "or".  It's used when we want to choose between two strings.  So the square brackets choose between individual characters, but the pipe chooses between strings of characters.  So this disjunction means "either the string groundhog or the string woodchuck".  If we did want to </a:t>
            </a:r>
            <a:r>
              <a:rPr lang="en-US" b="0" dirty="0" err="1"/>
              <a:t>speciy</a:t>
            </a:r>
            <a:r>
              <a:rPr lang="en-US" b="0" dirty="0"/>
              <a:t> disjunctions of single letters we could use either the square brackets or the pipe.  And we can combine both like in this pattern that finds lower or </a:t>
            </a:r>
            <a:r>
              <a:rPr lang="en-US" b="0" dirty="0" err="1"/>
              <a:t>iupper</a:t>
            </a:r>
            <a:r>
              <a:rPr lang="en-US" b="0" dirty="0"/>
              <a:t> case, groundhog or woodchuck.</a:t>
            </a:r>
            <a:endParaRPr lang="en-US"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8DFDE8B-28E4-4047-85D4-57A6728EBAFF}" type="slidenum">
              <a:rPr lang="en-US"/>
            </a:fld>
            <a:endParaRPr lang="en-US"/>
          </a:p>
        </p:txBody>
      </p:sp>
      <p:sp>
        <p:nvSpPr>
          <p:cNvPr id="76803" name="Rectangle 2"/>
          <p:cNvSpPr>
            <a:spLocks noGrp="1" noRot="1" noChangeAspect="1" noChangeArrowheads="1" noTextEdit="1"/>
          </p:cNvSpPr>
          <p:nvPr>
            <p:ph type="sldImg"/>
          </p:nvPr>
        </p:nvSpPr>
        <p:spPr>
          <a:solidFill>
            <a:srgbClr val="FFFFFF"/>
          </a:solidFill>
        </p:spPr>
      </p:sp>
      <p:sp>
        <p:nvSpPr>
          <p:cNvPr id="76804"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The period is a wildcard, it matches any character.  So </a:t>
            </a:r>
            <a:r>
              <a:rPr lang="en-US" b="0" dirty="0" err="1"/>
              <a:t>beg.n</a:t>
            </a:r>
            <a:r>
              <a:rPr lang="en-US" b="0" dirty="0"/>
              <a:t> matches any of these. The question mark is used for an optional prior character. So s? means with or without the s. So this pattern will match both woodchuck and woodchucks. The two Kleene operators, * and +, named after Stephen Kleene.  So o* means 0 or more </a:t>
            </a:r>
            <a:r>
              <a:rPr lang="en-US" b="0" dirty="0" err="1"/>
              <a:t>os</a:t>
            </a:r>
            <a:r>
              <a:rPr lang="en-US" b="0" dirty="0"/>
              <a:t>.  So we have the initial t, followed by zero or o's. So t Is the initial t followed by zero o's, to is the initial t followed by 1 o, and so on.  Kleene + is a slight modification, it just means 1 or more of the prior character. So this pattern matches a 1 followed by one or more o's.  </a:t>
            </a:r>
            <a:endParaRPr lang="en-US" b="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1B422F39-6D47-7E4A-B2A9-7EB2D50CD805}" type="slidenum">
              <a:rPr lang="en-US"/>
            </a:fld>
            <a:endParaRPr lang="en-US"/>
          </a:p>
        </p:txBody>
      </p:sp>
      <p:sp>
        <p:nvSpPr>
          <p:cNvPr id="78851" name="Rectangle 2"/>
          <p:cNvSpPr>
            <a:spLocks noGrp="1" noRot="1" noChangeAspect="1" noChangeArrowheads="1" noTextEdit="1"/>
          </p:cNvSpPr>
          <p:nvPr>
            <p:ph type="sldImg"/>
          </p:nvPr>
        </p:nvSpPr>
        <p:spPr>
          <a:solidFill>
            <a:srgbClr val="FFFFFF"/>
          </a:solidFill>
        </p:spPr>
      </p:sp>
      <p:sp>
        <p:nvSpPr>
          <p:cNvPr id="78852"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1" dirty="0"/>
              <a:t>And finally, two special characters that are about lines: The carat matches the start of the line, and the $ matches the end of the line.  So carat [A-Z] means "a capital letter at the start of a line" (the carat has different meanings depending on placement;  if we put the carat inside the square brackets, instead of meaning start, it means negation).  Finally, we saw that dot means any character, so how do we refer to a literal period?  By using the backslash command.  Backlash period means a literally period.  So \.$ matches a period at the end of a line.  While just .$ matches anything at the end of </a:t>
            </a:r>
            <a:r>
              <a:rPr lang="en-US" b="1" dirty="0" err="1"/>
              <a:t>ht</a:t>
            </a:r>
            <a:r>
              <a:rPr lang="en-US" b="1" dirty="0"/>
              <a:t> </a:t>
            </a:r>
            <a:r>
              <a:rPr lang="en-US" b="1" dirty="0" err="1"/>
              <a:t>eline</a:t>
            </a:r>
            <a:endParaRPr lang="en-US"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E0D70C18-464E-3545-9CA1-FC88A632BD18}" type="slidenum">
              <a:rPr lang="en-US"/>
            </a:fld>
            <a:endParaRPr lang="en-US"/>
          </a:p>
        </p:txBody>
      </p:sp>
      <p:sp>
        <p:nvSpPr>
          <p:cNvPr id="82947" name="Rectangle 2"/>
          <p:cNvSpPr>
            <a:spLocks noGrp="1" noRot="1" noChangeAspect="1" noChangeArrowheads="1"/>
          </p:cNvSpPr>
          <p:nvPr>
            <p:ph type="sldImg"/>
          </p:nvPr>
        </p:nvSpPr>
        <p:spPr>
          <a:solidFill>
            <a:srgbClr val="FFFFFF"/>
          </a:solidFill>
        </p:spPr>
      </p:sp>
      <p:sp>
        <p:nvSpPr>
          <p:cNvPr id="829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F82BD90-5842-9D48-A685-621D2A4C3779}" type="slidenum">
              <a:rPr lang="en-US"/>
            </a:fld>
            <a:endParaRPr lang="en-US"/>
          </a:p>
        </p:txBody>
      </p:sp>
      <p:sp>
        <p:nvSpPr>
          <p:cNvPr id="84995" name="Rectangle 2"/>
          <p:cNvSpPr>
            <a:spLocks noGrp="1" noRot="1" noChangeAspect="1" noChangeArrowheads="1"/>
          </p:cNvSpPr>
          <p:nvPr>
            <p:ph type="sldImg"/>
          </p:nvPr>
        </p:nvSpPr>
        <p:spPr>
          <a:solidFill>
            <a:srgbClr val="FFFFFF"/>
          </a:solidFill>
        </p:spPr>
      </p:sp>
      <p:sp>
        <p:nvSpPr>
          <p:cNvPr id="849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A0149E1A-5C54-D64B-9E9D-5A113A6AF7E6}" type="slidenum">
              <a:rPr lang="en-US"/>
            </a:fld>
            <a:endParaRPr lang="en-US"/>
          </a:p>
        </p:txBody>
      </p:sp>
      <p:sp>
        <p:nvSpPr>
          <p:cNvPr id="87043" name="Rectangle 2"/>
          <p:cNvSpPr>
            <a:spLocks noGrp="1" noRot="1" noChangeAspect="1" noChangeArrowheads="1"/>
          </p:cNvSpPr>
          <p:nvPr>
            <p:ph type="sldImg"/>
          </p:nvPr>
        </p:nvSpPr>
        <p:spPr>
          <a:solidFill>
            <a:srgbClr val="FFFFFF"/>
          </a:solidFill>
        </p:spPr>
      </p:sp>
      <p:sp>
        <p:nvSpPr>
          <p:cNvPr id="870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It turns out in natural language processing we are constantly dealing with these kinds of errors. So reducing</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AA652608-6990-6E43-AA5F-49A5045801F2}" type="slidenum">
              <a:rPr lang="en-US"/>
            </a:fld>
            <a:endParaRPr lang="en-US"/>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dirty="0"/>
              <a:t>Let's start by asking how many words are in just one sentence? Here's a sentence: </a:t>
            </a:r>
            <a:r>
              <a:rPr lang="en-US" sz="1200" dirty="0"/>
              <a:t>"I do uh main- mainly business data processing". How many words are in that sentence? It's a complicated question.  Is "uh" a word? What about the cutoff "main" the first time I started to say "mainly". We call things like "main" here a fragment, and we call "uh" and "um" filled pauses. So for certain applications, like speech applications, we might want to be counting these.  Or how about "cat" and "cats" in this Dr. Seuss sentence?   It will help to introduce the distinction between "lemma" and "wordform". Two words are the same lemma if they have the same stem, the same part of speech, the same sense.  Whereas wordform is the exact surface form of the word, with all its inflections or endings.  So if we're counting lemmas, "cat" and "cats" count as the same lemma.  If we're counting wordforms, "cat" and "cats" are different.</a:t>
            </a:r>
            <a:endParaRPr lang="en-US" sz="1200" dirty="0"/>
          </a:p>
          <a:p>
            <a:endParaRPr lang="en-US" dirty="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ABE383AF-40C9-E847-ACCB-98F997084513}" type="slidenum">
              <a:rPr lang="en-US"/>
            </a:fld>
            <a:endParaRPr lang="en-US"/>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p:spPr>
        <p:txBody>
          <a:bodyPr/>
          <a:lstStyle/>
          <a:p>
            <a:r>
              <a:rPr lang="en-US" dirty="0"/>
              <a:t>Let's look at a part of another sentence. How many words are in this sentence?  Pause the video and count for yourself. Again, it depends how you count. We could count word types, the number of unique words that occur in the sentence.  By that count we only count "the" once, even though it appears twice.  Word tokens we're counting every word token on the page, so the two "</a:t>
            </a:r>
            <a:r>
              <a:rPr lang="en-US" dirty="0" err="1"/>
              <a:t>the"s</a:t>
            </a:r>
            <a:r>
              <a:rPr lang="en-US" dirty="0"/>
              <a:t> count twice.  And what about San Francisco?  One word or two?  And how about "they and their". Different  wordforms, same lemma. Again, it depends on our goals, and it's important to make that clear whenever you report word counts</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ABE383AF-40C9-E847-ACCB-98F997084513}" type="slidenum">
              <a:rPr lang="en-US"/>
            </a:fld>
            <a:endParaRPr lang="en-US"/>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p:spPr>
        <p:txBody>
          <a:bodyPr/>
          <a:lstStyle/>
          <a:p>
            <a:r>
              <a:rPr lang="en-US" dirty="0"/>
              <a:t>In general, we'll refer to the number of tokens with capital N. And we'll use capital V to mean the vocabulary, the set of all words.  So the cardinality of V is the size of vocabulary, the number of word types. although sometimes for simplification, we'll just use capital V to mean the vocabulary size when it's not ambiguous. There's a relationship between these two in running text, called Heaps Law or </a:t>
            </a:r>
            <a:r>
              <a:rPr lang="en-US" dirty="0" err="1"/>
              <a:t>Herdan's</a:t>
            </a:r>
            <a:r>
              <a:rPr lang="en-US" dirty="0"/>
              <a:t> Law, which is that the size of the vocabulary grows with </a:t>
            </a:r>
            <a:r>
              <a:rPr lang="en-US" dirty="0" err="1"/>
              <a:t>spmething</a:t>
            </a:r>
            <a:r>
              <a:rPr lang="en-US" dirty="0"/>
              <a:t> over the square root of the number of word tokens.  So a large corpus of N words tokens, you can expect to see N to the .7 word types.  Here are the numbers for some common corpora,… </a:t>
            </a:r>
            <a:r>
              <a:rPr kumimoji="1" lang="en-US" sz="1200" kern="1200" dirty="0">
                <a:solidFill>
                  <a:schemeClr val="tx1"/>
                </a:solidFill>
                <a:effectLst/>
                <a:latin typeface="Arial" panose="020B0604020202090204" pitchFamily="34" charset="0"/>
                <a:ea typeface="MS PGothic" pitchFamily="-65" charset="-128"/>
                <a:cs typeface="MS PGothic" pitchFamily="-65" charset="-128"/>
              </a:rPr>
              <a:t>The switchboard corpus of phone conversations has 2.4 million word tokens. And there's 20,000 word types in those 2.4</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millions words. Shakespeare has just under a million word tokens. Shakespeare is</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quite a small corpus. He wrote, 800,000 words in his lifetime. And in that less</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than a million words, he actually used 31,000 distinct words. So he had a very,</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very broad vocabulary famously. And if you look at a very huge corpus, the Google</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N-grams corpus that has a trillion different tokens, a very large number of</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words, there's. Thirteen million types, so how many words are there in English? Well,</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if you look at conversation, 20,000 different words. If you look at</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Shakespeare, 30,000 words. And if you combine the two, probably somewhere, not</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quite the sum of the two, but some larger number. But if you look at the Google</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engrams, we have thirteen million. And of course, some of those are probably </a:t>
            </a:r>
            <a:r>
              <a:rPr kumimoji="1" lang="en-US" sz="1200" kern="1200" dirty="0" err="1">
                <a:solidFill>
                  <a:schemeClr val="tx1"/>
                </a:solidFill>
                <a:effectLst/>
                <a:latin typeface="Arial" panose="020B0604020202090204" pitchFamily="34" charset="0"/>
                <a:ea typeface="MS PGothic" pitchFamily="-65" charset="-128"/>
                <a:cs typeface="MS PGothic" pitchFamily="-65" charset="-128"/>
              </a:rPr>
              <a:t>urls</a:t>
            </a:r>
            <a:r>
              <a:rPr kumimoji="1" lang="en-US" sz="1200" kern="1200" dirty="0">
                <a:solidFill>
                  <a:schemeClr val="tx1"/>
                </a:solidFill>
                <a:effectLst/>
                <a:latin typeface="Arial" panose="020B0604020202090204" pitchFamily="34" charset="0"/>
                <a:ea typeface="MS PGothic" pitchFamily="-65" charset="-128"/>
                <a:cs typeface="MS PGothic" pitchFamily="-65" charset="-128"/>
              </a:rPr>
              <a:t>,</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and. And email addresses, but even if you eliminate all of those, the number of</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r>
              <a:rPr kumimoji="1" lang="en-US" sz="1200" kern="1200" dirty="0">
                <a:solidFill>
                  <a:schemeClr val="tx1"/>
                </a:solidFill>
                <a:effectLst/>
                <a:latin typeface="Arial" panose="020B0604020202090204" pitchFamily="34" charset="0"/>
                <a:ea typeface="MS PGothic" pitchFamily="-65" charset="-128"/>
                <a:cs typeface="MS PGothic" pitchFamily="-65" charset="-128"/>
              </a:rPr>
              <a:t>words in a language is very large, maybe there's a million words of English.</a:t>
            </a:r>
            <a:endParaRPr kumimoji="1" lang="en-US" sz="1200" kern="1200" dirty="0">
              <a:solidFill>
                <a:schemeClr val="tx1"/>
              </a:solidFill>
              <a:effectLst/>
              <a:latin typeface="Arial" panose="020B0604020202090204" pitchFamily="34" charset="0"/>
              <a:ea typeface="MS PGothic" pitchFamily="-65" charset="-128"/>
              <a:cs typeface="MS PGothic" pitchFamily="-65" charset="-128"/>
            </a:endParaRPr>
          </a:p>
          <a:p>
            <a:endParaRPr lang="en-US" dirty="0"/>
          </a:p>
          <a:p>
            <a:endParaRPr lang="en-US" dirty="0"/>
          </a:p>
          <a:p>
            <a:endParaRPr lang="en-US" dirty="0"/>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did these corpora come from?  …. These characteristics of a text influence properties of the text.</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what language is the text in?  As we'll see when we get to talking about word tokenization, what counts as a word can be different in different languages.</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need to make sure you consider all those properties of a text when you are using it for processing purposes.  And there are even more properties of corpora that it's important to consider.  Who collected this corpus? </a:t>
            </a:r>
            <a:endParaRPr lang="en-US" dirty="0"/>
          </a:p>
          <a:p>
            <a:r>
              <a:rPr lang="en-US" dirty="0"/>
              <a:t>Whenever you build a corpus, you should be documenting these decisions in a datasheet for the corpus.</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D4E9F685-F098-8E4C-B6D8-D94BDE4D6D6B}" type="slidenum">
              <a:rPr lang="en-US"/>
            </a:fld>
            <a:endParaRPr lang="en-US"/>
          </a:p>
        </p:txBody>
      </p:sp>
      <p:sp>
        <p:nvSpPr>
          <p:cNvPr id="21507" name="Rectangle 2"/>
          <p:cNvSpPr>
            <a:spLocks noGrp="1" noRot="1" noChangeAspect="1" noChangeArrowheads="1"/>
          </p:cNvSpPr>
          <p:nvPr>
            <p:ph type="sldImg"/>
          </p:nvPr>
        </p:nvSpPr>
        <p:spPr>
          <a:solidFill>
            <a:srgbClr val="FFFFFF"/>
          </a:solidFill>
        </p:spPr>
      </p:sp>
      <p:sp>
        <p:nvSpPr>
          <p:cNvPr id="2150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introduce some simple Unix tools for text processing, starting with the UNIX "tr" command for space-based word tokenization. Our goal will be to take a text file and output word tokens and their frequencies.</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tokenization in most real situations isn't as simple as I've suggested with the simple UNIX tools.</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most standard tokenization programs for English or languages with similar writing systems need to deal with each of these issues. Here's a simple python tokenizer in the Natural Language Toolkit that has little regular expressions for dealing with </a:t>
            </a:r>
            <a:r>
              <a:rPr lang="en-US" dirty="0" err="1"/>
              <a:t>hypthens</a:t>
            </a:r>
            <a:r>
              <a:rPr lang="en-US" dirty="0"/>
              <a:t>, and currency, and whatnot</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wait, what about all the languages that don't have spaces! </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01B9DA1-D091-A64A-A0FC-8E8CCCAFB71C}" type="slidenum">
              <a:rPr lang="en-US"/>
            </a:fld>
            <a:endParaRPr lang="en-US"/>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BE32076-AB54-DD42-AB81-EE05460AD3D3}" type="slidenum">
              <a:rPr lang="en-US"/>
            </a:fld>
            <a:endParaRPr lang="en-US"/>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874D6FAE-BAB2-4B44-B9CF-68A8BE4C6FBA}" type="slidenum">
              <a:rPr lang="en-US"/>
            </a:fld>
            <a:endParaRPr lang="en-US"/>
          </a:p>
        </p:txBody>
      </p:sp>
      <p:sp>
        <p:nvSpPr>
          <p:cNvPr id="60419" name="Rectangle 2"/>
          <p:cNvSpPr>
            <a:spLocks noGrp="1" noRot="1" noChangeAspect="1" noChangeArrowheads="1"/>
          </p:cNvSpPr>
          <p:nvPr>
            <p:ph type="sldImg"/>
          </p:nvPr>
        </p:nvSpPr>
        <p:spPr>
          <a:solidFill>
            <a:srgbClr val="FFFFFF"/>
          </a:solidFill>
        </p:spPr>
      </p:sp>
      <p:sp>
        <p:nvSpPr>
          <p:cNvPr id="60420"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11" name="Rectangle 10"/>
          <p:cNvSpPr/>
          <p:nvPr userDrawn="1"/>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200150"/>
            <a:ext cx="7543801" cy="3429000"/>
          </a:xfrm>
        </p:spPr>
        <p:txBody>
          <a:bodyPr/>
          <a:lstStyle>
            <a:lvl1pPr marL="8255" indent="-8255">
              <a:defRPr sz="2800" baseline="0"/>
            </a:lvl1pPr>
            <a:lvl2pPr marL="405130" indent="-254000">
              <a:defRPr sz="2400" baseline="0"/>
            </a:lvl2pPr>
            <a:lvl3pPr marL="516255" indent="-228600">
              <a:defRPr sz="2000" baseline="0"/>
            </a:lvl3pPr>
            <a:lvl4pPr marL="690880" indent="-265430">
              <a:defRPr sz="1600" baseline="0"/>
            </a:lvl4pPr>
            <a:lvl5pPr marL="802005" indent="-240030">
              <a:defRPr sz="140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60419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8" y="548640"/>
            <a:ext cx="5009393" cy="394335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a:xfrm>
            <a:off x="349135" y="4844840"/>
            <a:ext cx="1963883" cy="273844"/>
          </a:xfrm>
        </p:spPr>
        <p:txBody>
          <a:bodyPr/>
          <a:lstStyle>
            <a:lvl1pPr algn="l">
              <a:defRPr/>
            </a:lvl1pPr>
          </a:lstStyle>
          <a:p>
            <a:fld id="{240CDC23-E565-C848-9AF6-12BD09C53D91}" type="datetimeFigureOut">
              <a:rPr lang="en-US" smtClean="0"/>
            </a:fld>
            <a:endParaRPr lang="en-US"/>
          </a:p>
        </p:txBody>
      </p:sp>
      <p:sp>
        <p:nvSpPr>
          <p:cNvPr id="6" name="Footer Placeholder 5"/>
          <p:cNvSpPr>
            <a:spLocks noGrp="1"/>
          </p:cNvSpPr>
          <p:nvPr>
            <p:ph type="ftr" sz="quarter" idx="11"/>
          </p:nvPr>
        </p:nvSpPr>
        <p:spPr>
          <a:xfrm>
            <a:off x="3600450" y="4844840"/>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r>
              <a:rPr lang="en-US" dirty="0" err="1"/>
              <a:t>sss</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Slides adapted from Jure </a:t>
            </a:r>
            <a:r>
              <a:rPr lang="en-US" dirty="0" err="1"/>
              <a:t>Leskovec</a:t>
            </a:r>
            <a:endParaRPr lang="en-US" sz="600" dirty="0"/>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showMasterSp="0">
  <p:cSld name="1_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24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675"/>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p:spPr>
        <p:txBody>
          <a:bodyPr/>
          <a:lstStyle>
            <a:lvl1pPr>
              <a:defRPr/>
            </a:lvl1pPr>
          </a:lstStyle>
          <a:p>
            <a:pPr>
              <a:defRPr/>
            </a:pPr>
            <a:endParaRPr lang="en-US"/>
          </a:p>
        </p:txBody>
      </p:sp>
      <p:sp>
        <p:nvSpPr>
          <p:cNvPr id="9" name="Rectangle 7"/>
          <p:cNvSpPr>
            <a:spLocks noGrp="1" noChangeArrowheads="1"/>
          </p:cNvSpPr>
          <p:nvPr>
            <p:ph type="sldNum" sz="quarter" idx="12"/>
          </p:nvPr>
        </p:nvSpPr>
        <p:spPr/>
        <p:txBody>
          <a:bodyPr/>
          <a:lstStyle>
            <a:lvl1pPr>
              <a:defRPr/>
            </a:lvl1pPr>
          </a:lstStyle>
          <a:p>
            <a:fld id="{231C68C3-6089-F349-9232-42643877B0CF}" type="slidenum">
              <a:rPr lang="en-US"/>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E943D734-B240-FB4D-AF6E-6869FD669100}" type="slidenum">
              <a:rPr lang="en-US"/>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200150"/>
            <a:ext cx="7543801" cy="3429000"/>
          </a:xfrm>
        </p:spPr>
        <p:txBody>
          <a:bodyPr/>
          <a:lstStyle>
            <a:lvl1pPr marL="8255" indent="-8255">
              <a:defRPr sz="2800" baseline="0"/>
            </a:lvl1pPr>
            <a:lvl2pPr marL="405130" indent="-254000">
              <a:defRPr sz="2400" baseline="0"/>
            </a:lvl2pPr>
            <a:lvl3pPr marL="516255" indent="-228600">
              <a:defRPr sz="2000" baseline="0"/>
            </a:lvl3pPr>
            <a:lvl4pPr marL="690880" indent="-265430">
              <a:defRPr sz="1600" baseline="0"/>
            </a:lvl4pPr>
            <a:lvl5pPr marL="802005" indent="-240030">
              <a:defRPr sz="140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3.xml"/><Relationship Id="rId3" Type="http://schemas.openxmlformats.org/officeDocument/2006/relationships/image" Target="../media/image7.png"/><Relationship Id="rId2" Type="http://schemas.openxmlformats.org/officeDocument/2006/relationships/tags" Target="../tags/tag3.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image" Target="../media/image9.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3.xml"/><Relationship Id="rId1" Type="http://schemas.openxmlformats.org/officeDocument/2006/relationships/image" Target="../media/image10.emf"/></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3.xml"/><Relationship Id="rId2" Type="http://schemas.openxmlformats.org/officeDocument/2006/relationships/image" Target="../media/image11.png"/><Relationship Id="rId1" Type="http://schemas.openxmlformats.org/officeDocument/2006/relationships/tags" Target="../tags/tag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2.png"/><Relationship Id="rId1" Type="http://schemas.openxmlformats.org/officeDocument/2006/relationships/tags" Target="../tags/tag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3.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4.emf"/></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5.emf"/><Relationship Id="rId1" Type="http://schemas.openxmlformats.org/officeDocument/2006/relationships/image" Target="../media/image14.emf"/></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6.emf"/><Relationship Id="rId1" Type="http://schemas.openxmlformats.org/officeDocument/2006/relationships/image" Target="../media/image15.emf"/></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7.emf"/><Relationship Id="rId1" Type="http://schemas.openxmlformats.org/officeDocument/2006/relationships/image" Target="../media/image16.e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8.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9.e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3.emf"/><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550334"/>
            <a:ext cx="5829300" cy="1753082"/>
          </a:xfrm>
        </p:spPr>
        <p:txBody>
          <a:bodyPr>
            <a:noAutofit/>
          </a:bodyPr>
          <a:lstStyle/>
          <a:p>
            <a:r>
              <a:rPr lang="en-US" altLang="zh-CN" sz="4050" b="1" dirty="0">
                <a:solidFill>
                  <a:srgbClr val="000044"/>
                </a:solidFill>
                <a:cs typeface="DIN-Bold"/>
              </a:rPr>
              <a:t>Word </a:t>
            </a:r>
            <a:br>
              <a:rPr lang="en-US" altLang="zh-CN" sz="4050" b="1" dirty="0">
                <a:solidFill>
                  <a:srgbClr val="000044"/>
                </a:solidFill>
                <a:cs typeface="DIN-Bold"/>
              </a:rPr>
            </a:br>
            <a:r>
              <a:rPr lang="en-US" altLang="zh-CN" sz="4050" b="1" dirty="0">
                <a:solidFill>
                  <a:srgbClr val="000044"/>
                </a:solidFill>
                <a:cs typeface="DIN-Bold"/>
              </a:rPr>
              <a:t>Processing</a:t>
            </a:r>
            <a:endParaRPr lang="en-US" sz="4050" b="1" spc="225" dirty="0">
              <a:solidFill>
                <a:srgbClr val="000044"/>
              </a:solidFill>
              <a:latin typeface="+mn-lt"/>
              <a:cs typeface="Arial" panose="020B0604020202090204"/>
            </a:endParaRPr>
          </a:p>
        </p:txBody>
      </p:sp>
      <p:pic>
        <p:nvPicPr>
          <p:cNvPr id="8" name="Picture 7"/>
          <p:cNvPicPr>
            <a:picLocks noChangeAspect="1"/>
          </p:cNvPicPr>
          <p:nvPr/>
        </p:nvPicPr>
        <p:blipFill>
          <a:blip r:embed="rId1"/>
          <a:stretch>
            <a:fillRect/>
          </a:stretch>
        </p:blipFill>
        <p:spPr>
          <a:xfrm>
            <a:off x="3573145" y="3990559"/>
            <a:ext cx="2311400" cy="494417"/>
          </a:xfrm>
          <a:prstGeom prst="rect">
            <a:avLst/>
          </a:prstGeom>
        </p:spPr>
      </p:pic>
      <p:sp>
        <p:nvSpPr>
          <p:cNvPr id="9" name="Subtitle 2"/>
          <p:cNvSpPr txBox="1"/>
          <p:nvPr/>
        </p:nvSpPr>
        <p:spPr>
          <a:xfrm>
            <a:off x="2230583" y="2303416"/>
            <a:ext cx="4800600" cy="1081069"/>
          </a:xfrm>
          <a:prstGeom prst="rect">
            <a:avLst/>
          </a:prstGeom>
        </p:spPr>
        <p:txBody>
          <a:bodyPr vert="horz" lIns="68580" tIns="34290" rIns="68580" bIns="34290"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800" cap="all" dirty="0">
                <a:solidFill>
                  <a:srgbClr val="000044"/>
                </a:solidFill>
                <a:cs typeface="DIN-Regular"/>
              </a:rPr>
              <a:t>DTS305TC</a:t>
            </a:r>
            <a:endParaRPr lang="en-US" altLang="zh-CN" sz="1800" cap="all" dirty="0">
              <a:solidFill>
                <a:srgbClr val="000044"/>
              </a:solidFill>
              <a:cs typeface="DIN-Regular"/>
            </a:endParaRPr>
          </a:p>
          <a:p>
            <a:r>
              <a:rPr lang="en-US" altLang="zh-CN" sz="1800" cap="all" dirty="0" err="1">
                <a:solidFill>
                  <a:srgbClr val="000044"/>
                </a:solidFill>
                <a:cs typeface="DIN-Regular"/>
              </a:rPr>
              <a:t>Huakang</a:t>
            </a:r>
            <a:r>
              <a:rPr lang="zh-CN" altLang="en-US" sz="1800" cap="all" dirty="0">
                <a:solidFill>
                  <a:srgbClr val="000044"/>
                </a:solidFill>
                <a:cs typeface="DIN-Regular"/>
              </a:rPr>
              <a:t> </a:t>
            </a:r>
            <a:r>
              <a:rPr lang="en-US" altLang="zh-CN" sz="1800" cap="all" dirty="0">
                <a:solidFill>
                  <a:srgbClr val="000044"/>
                </a:solidFill>
                <a:cs typeface="DIN-Regular"/>
              </a:rPr>
              <a:t>Li</a:t>
            </a:r>
            <a:endParaRPr lang="en-US" altLang="zh-CN" sz="1800" cap="all" dirty="0">
              <a:solidFill>
                <a:srgbClr val="000044"/>
              </a:solidFill>
              <a:cs typeface="DIN-Regular"/>
            </a:endParaRPr>
          </a:p>
          <a:p>
            <a:r>
              <a:rPr lang="en-US" altLang="zh-CN" sz="1800" cap="all" dirty="0" err="1">
                <a:solidFill>
                  <a:srgbClr val="000044"/>
                </a:solidFill>
                <a:cs typeface="DIN-Regular"/>
              </a:rPr>
              <a:t>Huakang.li@xjtlu.edu.cn</a:t>
            </a:r>
            <a:endParaRPr lang="en-US" altLang="zh-CN" sz="1800" cap="all" dirty="0">
              <a:solidFill>
                <a:srgbClr val="000044"/>
              </a:solidFill>
              <a:cs typeface="DIN-Regular"/>
            </a:endParaRPr>
          </a:p>
          <a:p>
            <a:r>
              <a:rPr lang="en-US" altLang="zh-CN" sz="1800" cap="all" dirty="0">
                <a:solidFill>
                  <a:srgbClr val="000044"/>
                </a:solidFill>
                <a:cs typeface="DIN-Regular"/>
              </a:rPr>
              <a:t>School</a:t>
            </a:r>
            <a:r>
              <a:rPr lang="zh-CN" altLang="en-US" sz="1800" cap="all" dirty="0">
                <a:solidFill>
                  <a:srgbClr val="000044"/>
                </a:solidFill>
                <a:cs typeface="DIN-Regular"/>
              </a:rPr>
              <a:t> </a:t>
            </a:r>
            <a:r>
              <a:rPr lang="en-US" altLang="zh-CN" sz="1800" cap="all" dirty="0">
                <a:solidFill>
                  <a:srgbClr val="000044"/>
                </a:solidFill>
                <a:cs typeface="DIN-Regular"/>
              </a:rPr>
              <a:t>of</a:t>
            </a:r>
            <a:r>
              <a:rPr lang="zh-CN" altLang="en-US" sz="1800" cap="all" dirty="0">
                <a:solidFill>
                  <a:srgbClr val="000044"/>
                </a:solidFill>
                <a:cs typeface="DIN-Regular"/>
              </a:rPr>
              <a:t> </a:t>
            </a:r>
            <a:r>
              <a:rPr lang="en-US" altLang="zh-CN" sz="1800" cap="all" dirty="0">
                <a:solidFill>
                  <a:srgbClr val="000044"/>
                </a:solidFill>
                <a:cs typeface="DIN-Regular"/>
              </a:rPr>
              <a:t>AI</a:t>
            </a:r>
            <a:r>
              <a:rPr lang="zh-CN" altLang="en-US" sz="1800" cap="all" dirty="0">
                <a:solidFill>
                  <a:srgbClr val="000044"/>
                </a:solidFill>
                <a:cs typeface="DIN-Regular"/>
              </a:rPr>
              <a:t> </a:t>
            </a:r>
            <a:r>
              <a:rPr lang="en-US" altLang="zh-CN" sz="1800" cap="all" dirty="0">
                <a:solidFill>
                  <a:srgbClr val="000044"/>
                </a:solidFill>
                <a:cs typeface="DIN-Regular"/>
              </a:rPr>
              <a:t>and</a:t>
            </a:r>
            <a:r>
              <a:rPr lang="zh-CN" altLang="en-US" sz="1800" cap="all" dirty="0">
                <a:solidFill>
                  <a:srgbClr val="000044"/>
                </a:solidFill>
                <a:cs typeface="DIN-Regular"/>
              </a:rPr>
              <a:t> </a:t>
            </a:r>
            <a:r>
              <a:rPr lang="en-US" altLang="zh-CN" sz="1800" cap="all" dirty="0">
                <a:solidFill>
                  <a:srgbClr val="000044"/>
                </a:solidFill>
                <a:cs typeface="DIN-Regular"/>
              </a:rPr>
              <a:t>Advanced</a:t>
            </a:r>
            <a:r>
              <a:rPr lang="zh-CN" altLang="en-US" sz="1800" cap="all" dirty="0">
                <a:solidFill>
                  <a:srgbClr val="000044"/>
                </a:solidFill>
                <a:cs typeface="DIN-Regular"/>
              </a:rPr>
              <a:t> </a:t>
            </a:r>
            <a:r>
              <a:rPr lang="en-US" altLang="zh-CN" sz="1800" cap="all" dirty="0">
                <a:solidFill>
                  <a:srgbClr val="000044"/>
                </a:solidFill>
                <a:cs typeface="DIN-Regular"/>
              </a:rPr>
              <a:t>Computing</a:t>
            </a:r>
            <a:endParaRPr lang="en-US" sz="1800" cap="all" dirty="0">
              <a:solidFill>
                <a:srgbClr val="000044"/>
              </a:solidFill>
              <a:cs typeface="DIN-Regular"/>
            </a:endParaRPr>
          </a:p>
          <a:p>
            <a:endParaRPr lang="en-US" sz="180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chapter 2</a:t>
            </a:r>
            <a:endParaRPr lang="en-US" altLang="zh-CN"/>
          </a:p>
        </p:txBody>
      </p:sp>
      <p:sp>
        <p:nvSpPr>
          <p:cNvPr id="3" name="副标题 2"/>
          <p:cNvSpPr>
            <a:spLocks noGrp="1"/>
          </p:cNvSpPr>
          <p:nvPr>
            <p:ph type="subTitle" idx="1"/>
          </p:nvPr>
        </p:nvSpPr>
        <p:spPr/>
        <p:txBody>
          <a:bodyPr>
            <a:normAutofit/>
          </a:bodyPr>
          <a:p>
            <a:r>
              <a:rPr lang="en-US" altLang="zh-CN" cap="all" dirty="0">
                <a:solidFill>
                  <a:srgbClr val="000044"/>
                </a:solidFill>
                <a:cs typeface="DIN-Regular"/>
                <a:sym typeface="+mn-ea"/>
              </a:rPr>
              <a:t>Regular Expressions</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How to find what you really want</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4800600" y="971550"/>
            <a:ext cx="3796665" cy="386270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457200" y="971550"/>
            <a:ext cx="3950335" cy="38715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Content Placeholder 2"/>
          <p:cNvSpPr>
            <a:spLocks noGrp="1"/>
          </p:cNvSpPr>
          <p:nvPr>
            <p:ph idx="1"/>
          </p:nvPr>
        </p:nvSpPr>
        <p:spPr>
          <a:xfrm>
            <a:off x="533400" y="857250"/>
            <a:ext cx="7543801" cy="3429000"/>
          </a:xfrm>
        </p:spPr>
        <p:txBody>
          <a:bodyPr>
            <a:normAutofit/>
          </a:bodyPr>
          <a:lstStyle/>
          <a:p>
            <a:pPr lvl="1"/>
            <a:r>
              <a:rPr lang="en-US" dirty="0"/>
              <a:t>Part of every text processing task</a:t>
            </a:r>
            <a:endParaRPr lang="en-US" dirty="0"/>
          </a:p>
          <a:p>
            <a:pPr lvl="2"/>
            <a:r>
              <a:rPr lang="en-US" dirty="0"/>
              <a:t>Not a general NLP solution (for that we use large NLP systems we will see in later lectures)</a:t>
            </a:r>
            <a:endParaRPr lang="en-US" dirty="0"/>
          </a:p>
          <a:p>
            <a:pPr lvl="2"/>
            <a:r>
              <a:rPr lang="en-US" dirty="0"/>
              <a:t>But very useful as part of those systems (e.g., for pre-processing or text formatting)</a:t>
            </a:r>
            <a:endParaRPr lang="en-US" dirty="0"/>
          </a:p>
          <a:p>
            <a:pPr lvl="1"/>
            <a:r>
              <a:rPr lang="en-US" dirty="0"/>
              <a:t>Necessary for data analysis of text data</a:t>
            </a:r>
            <a:endParaRPr lang="en-US" dirty="0"/>
          </a:p>
          <a:p>
            <a:pPr lvl="1"/>
            <a:r>
              <a:rPr lang="en-US" dirty="0"/>
              <a:t>A widely used tool in industry and academics</a:t>
            </a:r>
            <a:endParaRPr lang="en-US" dirty="0"/>
          </a:p>
        </p:txBody>
      </p:sp>
      <p:sp>
        <p:nvSpPr>
          <p:cNvPr id="90114" name="Title 1"/>
          <p:cNvSpPr>
            <a:spLocks noGrp="1"/>
          </p:cNvSpPr>
          <p:nvPr>
            <p:ph type="title"/>
          </p:nvPr>
        </p:nvSpPr>
        <p:spPr>
          <a:xfrm>
            <a:off x="466090" y="120015"/>
            <a:ext cx="8526145" cy="680085"/>
          </a:xfrm>
        </p:spPr>
        <p:txBody>
          <a:bodyPr>
            <a:noAutofit/>
          </a:bodyPr>
          <a:lstStyle/>
          <a:p>
            <a:r>
              <a:rPr lang="en-US" dirty="0">
                <a:latin typeface="Times New Roman Regular" panose="02020503050405090304" charset="0"/>
                <a:cs typeface="Times New Roman Regular" panose="02020503050405090304" charset="0"/>
              </a:rPr>
              <a:t>Regular expressions are used</a:t>
            </a:r>
            <a:r>
              <a:rPr lang="zh-CN" altLang="en-US" dirty="0">
                <a:latin typeface="Times New Roman Regular" panose="02020503050405090304" charset="0"/>
                <a:cs typeface="Times New Roman Regular" panose="02020503050405090304" charset="0"/>
              </a:rPr>
              <a:t> </a:t>
            </a:r>
            <a:r>
              <a:rPr lang="en-US" dirty="0">
                <a:latin typeface="Times New Roman Regular" panose="02020503050405090304" charset="0"/>
                <a:cs typeface="Times New Roman Regular" panose="02020503050405090304" charset="0"/>
              </a:rPr>
              <a:t>everywhere</a:t>
            </a:r>
            <a:endParaRPr lang="en-US" dirty="0">
              <a:latin typeface="Times New Roman Regular" panose="02020503050405090304" charset="0"/>
              <a:cs typeface="Times New Roman Regular" panose="02020503050405090304" charset="0"/>
            </a:endParaRPr>
          </a:p>
        </p:txBody>
      </p:sp>
      <p:sp>
        <p:nvSpPr>
          <p:cNvPr id="90118" name="Slide Number Placeholder 5"/>
          <p:cNvSpPr>
            <a:spLocks noGrp="1"/>
          </p:cNvSpPr>
          <p:nvPr>
            <p:ph type="sldNum" sz="quarter" idx="4294967295"/>
          </p:nvPr>
        </p:nvSpPr>
        <p:spPr>
          <a:xfrm>
            <a:off x="8159750" y="4845050"/>
            <a:ext cx="984250" cy="273050"/>
          </a:xfrm>
          <a:noFill/>
        </p:spPr>
        <p:txBody>
          <a:bodyPr/>
          <a:lstStyle/>
          <a:p>
            <a:fld id="{BB8C8334-E00B-3A45-A77B-332115BBC150}"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81000" y="971549"/>
            <a:ext cx="8534400" cy="3804597"/>
          </a:xfrm>
        </p:spPr>
        <p:txBody>
          <a:bodyPr>
            <a:normAutofit/>
          </a:bodyPr>
          <a:lstStyle/>
          <a:p>
            <a:pPr eaLnBrk="1" hangingPunct="1"/>
            <a:r>
              <a:rPr lang="en-US" sz="2000" dirty="0"/>
              <a:t>A formal language for specifying text strings</a:t>
            </a:r>
            <a:endParaRPr lang="en-US" sz="2000" dirty="0"/>
          </a:p>
          <a:p>
            <a:pPr eaLnBrk="1" hangingPunct="1"/>
            <a:r>
              <a:rPr lang="en-US" sz="2000" dirty="0"/>
              <a:t>How can we search for mentions of these cute animals in text?</a:t>
            </a:r>
            <a:endParaRPr lang="en-US" sz="2000" dirty="0"/>
          </a:p>
          <a:p>
            <a:pPr eaLnBrk="1" hangingPunct="1"/>
            <a:endParaRPr lang="en-US" sz="1000" dirty="0"/>
          </a:p>
          <a:p>
            <a:pPr marL="457200" lvl="1" indent="0" eaLnBrk="1" hangingPunct="1">
              <a:buNone/>
            </a:pPr>
            <a:endParaRPr lang="en-US" sz="2000" dirty="0"/>
          </a:p>
          <a:p>
            <a:pPr eaLnBrk="1" hangingPunct="1"/>
            <a:endParaRPr lang="en-US" sz="2000" dirty="0"/>
          </a:p>
        </p:txBody>
      </p:sp>
      <p:sp>
        <p:nvSpPr>
          <p:cNvPr id="69634" name="Rectangle 2"/>
          <p:cNvSpPr>
            <a:spLocks noGrp="1" noChangeArrowheads="1"/>
          </p:cNvSpPr>
          <p:nvPr>
            <p:ph type="title"/>
          </p:nvPr>
        </p:nvSpPr>
        <p:spPr>
          <a:xfrm>
            <a:off x="381000" y="224367"/>
            <a:ext cx="7543800" cy="680397"/>
          </a:xfrm>
        </p:spPr>
        <p:txBody>
          <a:bodyPr/>
          <a:lstStyle/>
          <a:p>
            <a:pPr eaLnBrk="1" hangingPunct="1"/>
            <a:r>
              <a:rPr lang="en-US" dirty="0"/>
              <a:t>Regular expressions</a:t>
            </a:r>
            <a:endParaRPr lang="en-US" dirty="0"/>
          </a:p>
        </p:txBody>
      </p:sp>
      <p:pic>
        <p:nvPicPr>
          <p:cNvPr id="2" name="Picture 1" descr="220px-Groundhog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1962150"/>
            <a:ext cx="2698750" cy="2024380"/>
          </a:xfrm>
          <a:prstGeom prst="rect">
            <a:avLst/>
          </a:prstGeom>
        </p:spPr>
      </p:pic>
      <p:pic>
        <p:nvPicPr>
          <p:cNvPr id="5" name="图片 4" descr="/Users/huakanglee/Library/Containers/com.kingsoft.wpsoffice.mac/Data/tmp/picturecompress_20240910225525/output_1.pngoutput_1"/>
          <p:cNvPicPr>
            <a:picLocks noChangeAspect="1"/>
          </p:cNvPicPr>
          <p:nvPr>
            <p:custDataLst>
              <p:tags r:id="rId2"/>
            </p:custDataLst>
          </p:nvPr>
        </p:nvPicPr>
        <p:blipFill>
          <a:blip r:embed="rId3"/>
          <a:stretch>
            <a:fillRect/>
          </a:stretch>
        </p:blipFill>
        <p:spPr>
          <a:xfrm>
            <a:off x="5093970" y="1731645"/>
            <a:ext cx="3821430" cy="3044190"/>
          </a:xfrm>
          <a:prstGeom prst="rect">
            <a:avLst/>
          </a:prstGeom>
        </p:spPr>
      </p:pic>
      <p:sp>
        <p:nvSpPr>
          <p:cNvPr id="6" name="文本框 5"/>
          <p:cNvSpPr txBox="1"/>
          <p:nvPr/>
        </p:nvSpPr>
        <p:spPr>
          <a:xfrm>
            <a:off x="3276600" y="1962150"/>
            <a:ext cx="1878330" cy="1938020"/>
          </a:xfrm>
          <a:prstGeom prst="rect">
            <a:avLst/>
          </a:prstGeom>
          <a:noFill/>
        </p:spPr>
        <p:txBody>
          <a:bodyPr wrap="square" rtlCol="0" anchor="t">
            <a:spAutoFit/>
          </a:bodyPr>
          <a:p>
            <a:r>
              <a:rPr lang="zh-CN" altLang="en-US" sz="2000">
                <a:solidFill>
                  <a:srgbClr val="FF0000"/>
                </a:solidFill>
                <a:latin typeface="Times New Roman Regular" panose="02020503050405090304" charset="0"/>
                <a:cs typeface="Times New Roman Regular" panose="02020503050405090304" charset="0"/>
              </a:rPr>
              <a:t>woodchuck</a:t>
            </a:r>
            <a:endParaRPr lang="zh-CN" altLang="en-US" sz="2000">
              <a:solidFill>
                <a:srgbClr val="FF0000"/>
              </a:solidFill>
              <a:latin typeface="Times New Roman Regular" panose="02020503050405090304" charset="0"/>
              <a:cs typeface="Times New Roman Regular" panose="02020503050405090304" charset="0"/>
            </a:endParaRPr>
          </a:p>
          <a:p>
            <a:r>
              <a:rPr lang="zh-CN" altLang="en-US" sz="2000">
                <a:latin typeface="Times New Roman Regular" panose="02020503050405090304" charset="0"/>
                <a:cs typeface="Times New Roman Regular" panose="02020503050405090304" charset="0"/>
              </a:rPr>
              <a:t>woodchucks</a:t>
            </a:r>
            <a:endParaRPr lang="zh-CN" altLang="en-US" sz="2000">
              <a:latin typeface="Times New Roman Regular" panose="02020503050405090304" charset="0"/>
              <a:cs typeface="Times New Roman Regular" panose="02020503050405090304" charset="0"/>
            </a:endParaRPr>
          </a:p>
          <a:p>
            <a:r>
              <a:rPr lang="zh-CN" altLang="en-US" sz="2000">
                <a:latin typeface="Times New Roman Regular" panose="02020503050405090304" charset="0"/>
                <a:cs typeface="Times New Roman Regular" panose="02020503050405090304" charset="0"/>
              </a:rPr>
              <a:t>Woodchuck</a:t>
            </a:r>
            <a:endParaRPr lang="zh-CN" altLang="en-US" sz="2000">
              <a:latin typeface="Times New Roman Regular" panose="02020503050405090304" charset="0"/>
              <a:cs typeface="Times New Roman Regular" panose="02020503050405090304" charset="0"/>
            </a:endParaRPr>
          </a:p>
          <a:p>
            <a:r>
              <a:rPr lang="zh-CN" altLang="en-US" sz="2000">
                <a:latin typeface="Times New Roman Regular" panose="02020503050405090304" charset="0"/>
                <a:cs typeface="Times New Roman Regular" panose="02020503050405090304" charset="0"/>
              </a:rPr>
              <a:t>Woodchucks</a:t>
            </a:r>
            <a:endParaRPr lang="zh-CN" altLang="en-US" sz="2000">
              <a:latin typeface="Times New Roman Regular" panose="02020503050405090304" charset="0"/>
              <a:cs typeface="Times New Roman Regular" panose="02020503050405090304" charset="0"/>
            </a:endParaRPr>
          </a:p>
          <a:p>
            <a:r>
              <a:rPr lang="zh-CN" altLang="en-US" sz="2000">
                <a:latin typeface="Times New Roman Regular" panose="02020503050405090304" charset="0"/>
                <a:cs typeface="Times New Roman Regular" panose="02020503050405090304" charset="0"/>
              </a:rPr>
              <a:t>Groundhog</a:t>
            </a:r>
            <a:endParaRPr lang="zh-CN" altLang="en-US" sz="2000">
              <a:latin typeface="Times New Roman Regular" panose="02020503050405090304" charset="0"/>
              <a:cs typeface="Times New Roman Regular" panose="02020503050405090304" charset="0"/>
            </a:endParaRPr>
          </a:p>
          <a:p>
            <a:r>
              <a:rPr lang="zh-CN" altLang="en-US" sz="2000">
                <a:latin typeface="Times New Roman Regular" panose="02020503050405090304" charset="0"/>
                <a:cs typeface="Times New Roman Regular" panose="02020503050405090304" charset="0"/>
              </a:rPr>
              <a:t>groundhogs</a:t>
            </a:r>
            <a:endParaRPr lang="zh-CN" altLang="en-US" sz="2000">
              <a:latin typeface="Times New Roman Regular" panose="02020503050405090304" charset="0"/>
              <a:cs typeface="Times New Roman Regular" panose="0202050305040509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533400" y="857250"/>
            <a:ext cx="7543801" cy="3429000"/>
          </a:xfrm>
        </p:spPr>
        <p:txBody>
          <a:bodyPr>
            <a:normAutofit fontScale="50000"/>
          </a:bodyPr>
          <a:p>
            <a:r>
              <a:rPr lang="zh-CN" altLang="en-US"/>
              <a:t>import re</a:t>
            </a:r>
            <a:endParaRPr lang="zh-CN" altLang="en-US"/>
          </a:p>
          <a:p>
            <a:endParaRPr lang="zh-CN" altLang="en-US"/>
          </a:p>
          <a:p>
            <a:r>
              <a:rPr lang="zh-CN" altLang="en-US"/>
              <a:t># 待匹配的字符串</a:t>
            </a:r>
            <a:endParaRPr lang="zh-CN" altLang="en-US"/>
          </a:p>
          <a:p>
            <a:r>
              <a:rPr lang="zh-CN" altLang="en-US"/>
              <a:t>text = "I have 12 apples and 33 oranges. begin"</a:t>
            </a:r>
            <a:endParaRPr lang="zh-CN" altLang="en-US"/>
          </a:p>
          <a:p>
            <a:endParaRPr lang="zh-CN" altLang="en-US"/>
          </a:p>
          <a:p>
            <a:r>
              <a:rPr lang="zh-CN" altLang="en-US"/>
              <a:t># 正则表达式</a:t>
            </a:r>
            <a:endParaRPr lang="zh-CN" altLang="en-US"/>
          </a:p>
          <a:p>
            <a:r>
              <a:rPr lang="zh-CN" altLang="en-US"/>
              <a:t>pattern = re.compile(r'beg.n')</a:t>
            </a:r>
            <a:endParaRPr lang="zh-CN" altLang="en-US"/>
          </a:p>
          <a:p>
            <a:endParaRPr lang="zh-CN" altLang="en-US"/>
          </a:p>
          <a:p>
            <a:r>
              <a:rPr lang="zh-CN" altLang="en-US"/>
              <a:t># 执行匹配</a:t>
            </a:r>
            <a:endParaRPr lang="zh-CN" altLang="en-US"/>
          </a:p>
          <a:p>
            <a:r>
              <a:rPr lang="zh-CN" altLang="en-US"/>
              <a:t>matches = pattern.findall(text)</a:t>
            </a:r>
            <a:endParaRPr lang="zh-CN" altLang="en-US"/>
          </a:p>
          <a:p>
            <a:r>
              <a:rPr lang="zh-CN" altLang="en-US"/>
              <a:t>print(matches)</a:t>
            </a:r>
            <a:endParaRPr lang="zh-CN" altLang="en-US"/>
          </a:p>
        </p:txBody>
      </p:sp>
      <p:sp>
        <p:nvSpPr>
          <p:cNvPr id="3" name="标题 2"/>
          <p:cNvSpPr>
            <a:spLocks noGrp="1"/>
          </p:cNvSpPr>
          <p:nvPr>
            <p:ph type="title"/>
          </p:nvPr>
        </p:nvSpPr>
        <p:spPr/>
        <p:txBody>
          <a:bodyPr/>
          <a:p>
            <a:r>
              <a:rPr lang="en-US" altLang="zh-CN"/>
              <a:t>demo python code</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idx="1"/>
          </p:nvPr>
        </p:nvSpPr>
        <p:spPr>
          <a:xfrm>
            <a:off x="457200" y="971551"/>
            <a:ext cx="7786688" cy="3810000"/>
          </a:xfrm>
        </p:spPr>
        <p:txBody>
          <a:bodyPr>
            <a:normAutofit/>
          </a:bodyPr>
          <a:lstStyle/>
          <a:p>
            <a:pPr eaLnBrk="1" hangingPunct="1"/>
            <a:r>
              <a:rPr lang="en-US" sz="2000" dirty="0"/>
              <a:t>Letters inside square brackets []</a:t>
            </a:r>
            <a:endParaRPr lang="en-US" sz="2000" dirty="0"/>
          </a:p>
          <a:p>
            <a:pPr eaLnBrk="1" hangingPunct="1"/>
            <a:endParaRPr lang="en-US" sz="1200" dirty="0"/>
          </a:p>
          <a:p>
            <a:pPr marL="0" indent="0" eaLnBrk="1" hangingPunct="1">
              <a:buNone/>
            </a:pPr>
            <a:endParaRPr lang="en-US" sz="2400" dirty="0"/>
          </a:p>
          <a:p>
            <a:pPr marL="0" indent="0" eaLnBrk="1" hangingPunct="1">
              <a:buNone/>
            </a:pPr>
            <a:endParaRPr lang="en-US" sz="2400" dirty="0"/>
          </a:p>
          <a:p>
            <a:r>
              <a:rPr lang="en-US" sz="2000" dirty="0"/>
              <a:t>Ranges using the dash </a:t>
            </a:r>
            <a:r>
              <a:rPr lang="en-US" sz="2000" dirty="0">
                <a:solidFill>
                  <a:srgbClr val="CC0000"/>
                </a:solidFill>
              </a:rPr>
              <a:t>[A-Z]</a:t>
            </a:r>
            <a:endParaRPr lang="en-US" sz="2000" dirty="0">
              <a:solidFill>
                <a:srgbClr val="CC0000"/>
              </a:solidFill>
            </a:endParaRPr>
          </a:p>
          <a:p>
            <a:pPr eaLnBrk="1" hangingPunct="1"/>
            <a:endParaRPr lang="en-US" sz="2400" dirty="0"/>
          </a:p>
          <a:p>
            <a:pPr marL="0" indent="0" eaLnBrk="1" hangingPunct="1">
              <a:buNone/>
            </a:pPr>
            <a:r>
              <a:rPr lang="en-US" sz="2400" dirty="0">
                <a:solidFill>
                  <a:srgbClr val="CC0000"/>
                </a:solidFill>
              </a:rPr>
              <a:t>		</a:t>
            </a:r>
            <a:endParaRPr lang="en-US" sz="2400" dirty="0">
              <a:solidFill>
                <a:srgbClr val="CC0000"/>
              </a:solidFill>
            </a:endParaRPr>
          </a:p>
          <a:p>
            <a:pPr eaLnBrk="1" hangingPunct="1"/>
            <a:endParaRPr lang="en-US" sz="2400" b="1" dirty="0">
              <a:solidFill>
                <a:srgbClr val="CC0000"/>
              </a:solidFill>
            </a:endParaRPr>
          </a:p>
        </p:txBody>
      </p:sp>
      <p:sp>
        <p:nvSpPr>
          <p:cNvPr id="71682" name="Rectangle 2"/>
          <p:cNvSpPr>
            <a:spLocks noGrp="1" noChangeArrowheads="1"/>
          </p:cNvSpPr>
          <p:nvPr>
            <p:ph type="title"/>
          </p:nvPr>
        </p:nvSpPr>
        <p:spPr>
          <a:xfrm>
            <a:off x="609600" y="214953"/>
            <a:ext cx="7543800" cy="604197"/>
          </a:xfrm>
        </p:spPr>
        <p:txBody>
          <a:bodyPr/>
          <a:lstStyle/>
          <a:p>
            <a:pPr eaLnBrk="1" hangingPunct="1"/>
            <a:r>
              <a:rPr lang="en-US" dirty="0"/>
              <a:t>Regular Expressions: Disjunctions</a:t>
            </a:r>
            <a:endParaRPr lang="en-US" dirty="0"/>
          </a:p>
        </p:txBody>
      </p:sp>
      <p:graphicFrame>
        <p:nvGraphicFramePr>
          <p:cNvPr id="2" name="Table 1"/>
          <p:cNvGraphicFramePr>
            <a:graphicFrameLocks noGrp="1"/>
          </p:cNvGraphicFramePr>
          <p:nvPr/>
        </p:nvGraphicFramePr>
        <p:xfrm>
          <a:off x="1219200" y="1352551"/>
          <a:ext cx="6096000" cy="1097280"/>
        </p:xfrm>
        <a:graphic>
          <a:graphicData uri="http://schemas.openxmlformats.org/drawingml/2006/table">
            <a:tbl>
              <a:tblPr firstRow="1" bandRow="1">
                <a:tableStyleId>{5C22544A-7EE6-4342-B048-85BDC9FD1C3A}</a:tableStyleId>
              </a:tblPr>
              <a:tblGrid>
                <a:gridCol w="3048000"/>
                <a:gridCol w="3048000"/>
              </a:tblGrid>
              <a:tr h="304800">
                <a:tc>
                  <a:txBody>
                    <a:bodyPr/>
                    <a:lstStyle/>
                    <a:p>
                      <a:r>
                        <a:rPr lang="en-US" sz="1600" dirty="0">
                          <a:solidFill>
                            <a:schemeClr val="tx1"/>
                          </a:solidFill>
                        </a:rPr>
                        <a:t>Pattern</a:t>
                      </a:r>
                      <a:endParaRPr lang="en-US" sz="1600" dirty="0">
                        <a:solidFill>
                          <a:schemeClr val="tx1"/>
                        </a:solidFill>
                      </a:endParaRPr>
                    </a:p>
                  </a:txBody>
                  <a:tcPr/>
                </a:tc>
                <a:tc>
                  <a:txBody>
                    <a:bodyPr/>
                    <a:lstStyle/>
                    <a:p>
                      <a:r>
                        <a:rPr lang="en-US" sz="1600" dirty="0">
                          <a:solidFill>
                            <a:schemeClr val="tx1"/>
                          </a:solidFill>
                        </a:rPr>
                        <a:t>Matches</a:t>
                      </a:r>
                      <a:endParaRPr lang="en-US" sz="1600" dirty="0">
                        <a:solidFill>
                          <a:schemeClr val="tx1"/>
                        </a:solidFill>
                      </a:endParaRPr>
                    </a:p>
                  </a:txBody>
                  <a:tcPr/>
                </a:tc>
              </a:tr>
              <a:tr h="304800">
                <a:tc>
                  <a:txBody>
                    <a:bodyPr/>
                    <a:lstStyle/>
                    <a:p>
                      <a:r>
                        <a:rPr lang="en-US" sz="1600" dirty="0">
                          <a:solidFill>
                            <a:srgbClr val="CC0000"/>
                          </a:solidFill>
                          <a:latin typeface="Courier"/>
                          <a:cs typeface="Courier"/>
                        </a:rPr>
                        <a:t>[</a:t>
                      </a:r>
                      <a:r>
                        <a:rPr lang="en-US" sz="1600" dirty="0" err="1">
                          <a:solidFill>
                            <a:srgbClr val="CC0000"/>
                          </a:solidFill>
                          <a:latin typeface="Courier"/>
                          <a:cs typeface="Courier"/>
                        </a:rPr>
                        <a:t>wW</a:t>
                      </a:r>
                      <a:r>
                        <a:rPr lang="en-US" sz="1600" dirty="0">
                          <a:solidFill>
                            <a:srgbClr val="CC0000"/>
                          </a:solidFill>
                          <a:latin typeface="Courier"/>
                          <a:cs typeface="Courier"/>
                        </a:rPr>
                        <a:t>]</a:t>
                      </a:r>
                      <a:r>
                        <a:rPr lang="en-US" sz="1600" dirty="0" err="1">
                          <a:solidFill>
                            <a:srgbClr val="CC0000"/>
                          </a:solidFill>
                          <a:latin typeface="Courier"/>
                          <a:cs typeface="Courier"/>
                        </a:rPr>
                        <a:t>oodchuck</a:t>
                      </a:r>
                      <a:endParaRPr lang="en-US" sz="1600" dirty="0" err="1">
                        <a:solidFill>
                          <a:srgbClr val="CC0000"/>
                        </a:solidFill>
                        <a:latin typeface="Courier"/>
                        <a:cs typeface="Courier"/>
                      </a:endParaRPr>
                    </a:p>
                  </a:txBody>
                  <a:tcPr/>
                </a:tc>
                <a:tc>
                  <a:txBody>
                    <a:bodyPr/>
                    <a:lstStyle/>
                    <a:p>
                      <a:r>
                        <a:rPr lang="en-US" sz="1600" dirty="0"/>
                        <a:t>Woodchuck,</a:t>
                      </a:r>
                      <a:r>
                        <a:rPr lang="en-US" sz="1600" baseline="0" dirty="0"/>
                        <a:t> woodchuck</a:t>
                      </a:r>
                      <a:endParaRPr lang="en-US" sz="1600" baseline="0" dirty="0"/>
                    </a:p>
                  </a:txBody>
                  <a:tcPr/>
                </a:tc>
              </a:tr>
              <a:tr h="304800">
                <a:tc>
                  <a:txBody>
                    <a:bodyPr/>
                    <a:lstStyle/>
                    <a:p>
                      <a:r>
                        <a:rPr lang="en-US" sz="1600" dirty="0">
                          <a:solidFill>
                            <a:srgbClr val="CC0000"/>
                          </a:solidFill>
                          <a:latin typeface="Courier"/>
                          <a:cs typeface="Courier"/>
                        </a:rPr>
                        <a:t>[1234567890]	</a:t>
                      </a:r>
                      <a:endParaRPr lang="en-US" sz="1600" dirty="0">
                        <a:solidFill>
                          <a:srgbClr val="CC0000"/>
                        </a:solidFill>
                        <a:latin typeface="Courier"/>
                        <a:cs typeface="Courier"/>
                      </a:endParaRPr>
                    </a:p>
                  </a:txBody>
                  <a:tcPr/>
                </a:tc>
                <a:tc>
                  <a:txBody>
                    <a:bodyPr/>
                    <a:lstStyle/>
                    <a:p>
                      <a:r>
                        <a:rPr lang="en-US" sz="1600" dirty="0"/>
                        <a:t>Any one digit</a:t>
                      </a:r>
                      <a:endParaRPr lang="en-US" sz="1600" dirty="0"/>
                    </a:p>
                  </a:txBody>
                  <a:tcPr/>
                </a:tc>
              </a:tr>
            </a:tbl>
          </a:graphicData>
        </a:graphic>
      </p:graphicFrame>
      <p:graphicFrame>
        <p:nvGraphicFramePr>
          <p:cNvPr id="6" name="Table 5"/>
          <p:cNvGraphicFramePr>
            <a:graphicFrameLocks noGrp="1"/>
          </p:cNvGraphicFramePr>
          <p:nvPr/>
        </p:nvGraphicFramePr>
        <p:xfrm>
          <a:off x="838200" y="2891791"/>
          <a:ext cx="8000999" cy="1463040"/>
        </p:xfrm>
        <a:graphic>
          <a:graphicData uri="http://schemas.openxmlformats.org/drawingml/2006/table">
            <a:tbl>
              <a:tblPr firstRow="1" bandRow="1">
                <a:tableStyleId>{5C22544A-7EE6-4342-B048-85BDC9FD1C3A}</a:tableStyleId>
              </a:tblPr>
              <a:tblGrid>
                <a:gridCol w="1306285"/>
                <a:gridCol w="2122715"/>
                <a:gridCol w="4571999"/>
              </a:tblGrid>
              <a:tr h="365760">
                <a:tc>
                  <a:txBody>
                    <a:bodyPr/>
                    <a:lstStyle/>
                    <a:p>
                      <a:r>
                        <a:rPr lang="en-US" sz="1600" dirty="0">
                          <a:solidFill>
                            <a:schemeClr val="tx1"/>
                          </a:solidFill>
                        </a:rPr>
                        <a:t>Pattern</a:t>
                      </a:r>
                      <a:endParaRPr lang="en-US" sz="1600" dirty="0">
                        <a:solidFill>
                          <a:schemeClr val="tx1"/>
                        </a:solidFill>
                      </a:endParaRPr>
                    </a:p>
                  </a:txBody>
                  <a:tcPr/>
                </a:tc>
                <a:tc>
                  <a:txBody>
                    <a:bodyPr/>
                    <a:lstStyle/>
                    <a:p>
                      <a:r>
                        <a:rPr lang="en-US" sz="1600" dirty="0">
                          <a:solidFill>
                            <a:schemeClr val="tx1"/>
                          </a:solidFill>
                        </a:rPr>
                        <a:t>Matches</a:t>
                      </a:r>
                      <a:endParaRPr lang="en-US" sz="1600" dirty="0">
                        <a:solidFill>
                          <a:schemeClr val="tx1"/>
                        </a:solidFill>
                      </a:endParaRPr>
                    </a:p>
                  </a:txBody>
                  <a:tcPr/>
                </a:tc>
                <a:tc>
                  <a:txBody>
                    <a:bodyPr/>
                    <a:lstStyle/>
                    <a:p>
                      <a:endParaRPr lang="en-US" sz="1600" dirty="0">
                        <a:solidFill>
                          <a:schemeClr val="tx1"/>
                        </a:solidFill>
                      </a:endParaRPr>
                    </a:p>
                  </a:txBody>
                  <a:tcPr/>
                </a:tc>
              </a:tr>
              <a:tr h="307546">
                <a:tc>
                  <a:txBody>
                    <a:bodyPr/>
                    <a:lstStyle/>
                    <a:p>
                      <a:r>
                        <a:rPr lang="en-US" sz="1600" dirty="0">
                          <a:solidFill>
                            <a:srgbClr val="CC0000"/>
                          </a:solidFill>
                          <a:latin typeface="Courier"/>
                          <a:cs typeface="Courier"/>
                        </a:rPr>
                        <a:t>[A-Z]</a:t>
                      </a:r>
                      <a:endParaRPr lang="en-US" sz="1600" dirty="0">
                        <a:solidFill>
                          <a:srgbClr val="CC0000"/>
                        </a:solidFill>
                        <a:latin typeface="Courier"/>
                        <a:cs typeface="Courier"/>
                      </a:endParaRPr>
                    </a:p>
                  </a:txBody>
                  <a:tcPr/>
                </a:tc>
                <a:tc>
                  <a:txBody>
                    <a:bodyPr/>
                    <a:lstStyle/>
                    <a:p>
                      <a:r>
                        <a:rPr lang="en-US" sz="1600" dirty="0"/>
                        <a:t>An upper case letter</a:t>
                      </a:r>
                      <a:endParaRPr lang="en-US" sz="1600" dirty="0"/>
                    </a:p>
                  </a:txBody>
                  <a:tcPr/>
                </a:tc>
                <a:tc>
                  <a:txBody>
                    <a:bodyPr/>
                    <a:lstStyle/>
                    <a:p>
                      <a:r>
                        <a:rPr lang="en-US" sz="1600" u="sng" dirty="0">
                          <a:solidFill>
                            <a:srgbClr val="3366FF"/>
                          </a:solidFill>
                          <a:latin typeface="Courier"/>
                          <a:cs typeface="Courier"/>
                        </a:rPr>
                        <a:t>D</a:t>
                      </a:r>
                      <a:r>
                        <a:rPr lang="en-US" sz="1600" dirty="0">
                          <a:latin typeface="Courier"/>
                          <a:cs typeface="Courier"/>
                        </a:rPr>
                        <a:t>renched Blossoms</a:t>
                      </a:r>
                      <a:endParaRPr lang="en-US" sz="1600" dirty="0">
                        <a:latin typeface="Courier"/>
                        <a:cs typeface="Courier"/>
                      </a:endParaRPr>
                    </a:p>
                  </a:txBody>
                  <a:tcPr/>
                </a:tc>
              </a:tr>
              <a:tr h="307546">
                <a:tc>
                  <a:txBody>
                    <a:bodyPr/>
                    <a:lstStyle/>
                    <a:p>
                      <a:r>
                        <a:rPr lang="en-US" sz="1600" dirty="0">
                          <a:solidFill>
                            <a:srgbClr val="CC0000"/>
                          </a:solidFill>
                          <a:latin typeface="Courier"/>
                          <a:cs typeface="Courier"/>
                        </a:rPr>
                        <a:t>[a-z]</a:t>
                      </a:r>
                      <a:endParaRPr lang="en-US" sz="1600" dirty="0">
                        <a:solidFill>
                          <a:srgbClr val="CC0000"/>
                        </a:solidFill>
                        <a:latin typeface="Courier"/>
                        <a:cs typeface="Courier"/>
                      </a:endParaRPr>
                    </a:p>
                  </a:txBody>
                  <a:tcPr/>
                </a:tc>
                <a:tc>
                  <a:txBody>
                    <a:bodyPr/>
                    <a:lstStyle/>
                    <a:p>
                      <a:r>
                        <a:rPr lang="en-US" sz="1600" dirty="0"/>
                        <a:t>A lower case letter</a:t>
                      </a:r>
                      <a:endParaRPr lang="en-US" sz="1600" dirty="0"/>
                    </a:p>
                  </a:txBody>
                  <a:tcPr/>
                </a:tc>
                <a:tc>
                  <a:txBody>
                    <a:bodyPr/>
                    <a:lstStyle/>
                    <a:p>
                      <a:r>
                        <a:rPr lang="en-US" sz="1600" u="sng" dirty="0">
                          <a:solidFill>
                            <a:srgbClr val="3366FF"/>
                          </a:solidFill>
                          <a:latin typeface="Courier"/>
                          <a:cs typeface="Courier"/>
                        </a:rPr>
                        <a:t>m</a:t>
                      </a:r>
                      <a:r>
                        <a:rPr lang="en-US" sz="1600" dirty="0">
                          <a:latin typeface="Courier"/>
                          <a:cs typeface="Courier"/>
                        </a:rPr>
                        <a:t>y beans were impatient</a:t>
                      </a:r>
                      <a:endParaRPr lang="en-US" sz="1600" dirty="0">
                        <a:latin typeface="Courier"/>
                        <a:cs typeface="Courier"/>
                      </a:endParaRPr>
                    </a:p>
                  </a:txBody>
                  <a:tcPr/>
                </a:tc>
              </a:tr>
              <a:tr h="307546">
                <a:tc>
                  <a:txBody>
                    <a:bodyPr/>
                    <a:lstStyle/>
                    <a:p>
                      <a:r>
                        <a:rPr lang="en-US" sz="1600" dirty="0">
                          <a:solidFill>
                            <a:srgbClr val="CC0000"/>
                          </a:solidFill>
                          <a:latin typeface="Courier"/>
                          <a:cs typeface="Courier"/>
                        </a:rPr>
                        <a:t>[0-9]</a:t>
                      </a:r>
                      <a:endParaRPr lang="en-US" sz="1600" dirty="0">
                        <a:solidFill>
                          <a:srgbClr val="CC0000"/>
                        </a:solidFill>
                        <a:latin typeface="Courier"/>
                        <a:cs typeface="Courier"/>
                      </a:endParaRPr>
                    </a:p>
                  </a:txBody>
                  <a:tcPr/>
                </a:tc>
                <a:tc>
                  <a:txBody>
                    <a:bodyPr/>
                    <a:lstStyle/>
                    <a:p>
                      <a:r>
                        <a:rPr lang="en-US" sz="1600" dirty="0"/>
                        <a:t>A single</a:t>
                      </a:r>
                      <a:r>
                        <a:rPr lang="en-US" sz="1600" baseline="0" dirty="0"/>
                        <a:t> digit</a:t>
                      </a:r>
                      <a:endParaRPr lang="en-US" sz="1600" baseline="0" dirty="0"/>
                    </a:p>
                  </a:txBody>
                  <a:tcPr/>
                </a:tc>
                <a:tc>
                  <a:txBody>
                    <a:bodyPr/>
                    <a:lstStyle/>
                    <a:p>
                      <a:r>
                        <a:rPr lang="en-US" sz="1600" dirty="0">
                          <a:latin typeface="Courier"/>
                          <a:cs typeface="Courier"/>
                        </a:rPr>
                        <a:t>Chapter </a:t>
                      </a:r>
                      <a:r>
                        <a:rPr lang="en-US" sz="1600" u="sng" dirty="0">
                          <a:solidFill>
                            <a:srgbClr val="3366FF"/>
                          </a:solidFill>
                          <a:latin typeface="Courier"/>
                          <a:cs typeface="Courier"/>
                        </a:rPr>
                        <a:t>1</a:t>
                      </a:r>
                      <a:r>
                        <a:rPr lang="en-US" sz="1600" dirty="0">
                          <a:latin typeface="Courier"/>
                          <a:cs typeface="Courier"/>
                        </a:rPr>
                        <a:t>: Down the Rabbit Hole</a:t>
                      </a:r>
                      <a:endParaRPr lang="en-US" sz="1600" dirty="0">
                        <a:latin typeface="Courier"/>
                        <a:cs typeface="Courier"/>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609600" y="895350"/>
            <a:ext cx="7620000" cy="4190999"/>
          </a:xfrm>
        </p:spPr>
        <p:txBody>
          <a:bodyPr/>
          <a:lstStyle/>
          <a:p>
            <a:pPr eaLnBrk="1" hangingPunct="1"/>
            <a:r>
              <a:rPr lang="en-US" sz="2400" dirty="0">
                <a:solidFill>
                  <a:srgbClr val="000000"/>
                </a:solidFill>
              </a:rPr>
              <a:t>Carat as first character in [] negates the list</a:t>
            </a:r>
            <a:endParaRPr lang="en-US" sz="2400" dirty="0">
              <a:solidFill>
                <a:srgbClr val="CC0000"/>
              </a:solidFill>
            </a:endParaRPr>
          </a:p>
          <a:p>
            <a:pPr lvl="1"/>
            <a:r>
              <a:rPr lang="en-US" sz="1800" dirty="0"/>
              <a:t>Note: Carat means negation only when it's first in []</a:t>
            </a:r>
            <a:endParaRPr lang="en-US" sz="1800" dirty="0"/>
          </a:p>
          <a:p>
            <a:pPr lvl="1"/>
            <a:r>
              <a:rPr lang="en-US" sz="1800" dirty="0"/>
              <a:t>Special characters (., *, +, ?) lose their special meaning inside []</a:t>
            </a:r>
            <a:endParaRPr lang="en-US" sz="1800" dirty="0"/>
          </a:p>
          <a:p>
            <a:pPr eaLnBrk="1" hangingPunct="1"/>
            <a:endParaRPr lang="en-US" sz="1800" dirty="0"/>
          </a:p>
        </p:txBody>
      </p:sp>
      <p:sp>
        <p:nvSpPr>
          <p:cNvPr id="73730" name="Rectangle 2"/>
          <p:cNvSpPr>
            <a:spLocks noGrp="1" noChangeArrowheads="1"/>
          </p:cNvSpPr>
          <p:nvPr>
            <p:ph type="title"/>
          </p:nvPr>
        </p:nvSpPr>
        <p:spPr>
          <a:xfrm>
            <a:off x="457835" y="152400"/>
            <a:ext cx="8686165" cy="742950"/>
          </a:xfrm>
        </p:spPr>
        <p:txBody>
          <a:bodyPr/>
          <a:lstStyle/>
          <a:p>
            <a:pPr eaLnBrk="1" hangingPunct="1"/>
            <a:r>
              <a:rPr lang="en-US" sz="2400" dirty="0"/>
              <a:t>Regular Expressions: Negation in Disjunction</a:t>
            </a:r>
            <a:endParaRPr lang="en-US" sz="2400" dirty="0"/>
          </a:p>
        </p:txBody>
      </p:sp>
      <p:graphicFrame>
        <p:nvGraphicFramePr>
          <p:cNvPr id="8" name="Table 7"/>
          <p:cNvGraphicFramePr>
            <a:graphicFrameLocks noGrp="1"/>
          </p:cNvGraphicFramePr>
          <p:nvPr/>
        </p:nvGraphicFramePr>
        <p:xfrm>
          <a:off x="533400" y="2190750"/>
          <a:ext cx="8382000" cy="1981200"/>
        </p:xfrm>
        <a:graphic>
          <a:graphicData uri="http://schemas.openxmlformats.org/drawingml/2006/table">
            <a:tbl>
              <a:tblPr firstRow="1" bandRow="1">
                <a:tableStyleId>{5C22544A-7EE6-4342-B048-85BDC9FD1C3A}</a:tableStyleId>
              </a:tblPr>
              <a:tblGrid>
                <a:gridCol w="1219200"/>
                <a:gridCol w="2819400"/>
                <a:gridCol w="4343400"/>
              </a:tblGrid>
              <a:tr h="370840">
                <a:tc>
                  <a:txBody>
                    <a:bodyPr/>
                    <a:lstStyle/>
                    <a:p>
                      <a:r>
                        <a:rPr lang="en-US" sz="1800" dirty="0">
                          <a:solidFill>
                            <a:schemeClr val="tx1"/>
                          </a:solidFill>
                          <a:latin typeface="Times New Roman Regular" panose="02020503050405090304" charset="0"/>
                          <a:cs typeface="Times New Roman Regular" panose="02020503050405090304" charset="0"/>
                        </a:rPr>
                        <a:t>Pattern</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Matches</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Examples</a:t>
                      </a:r>
                      <a:endParaRPr lang="en-US" sz="1800" dirty="0">
                        <a:solidFill>
                          <a:schemeClr val="tx1"/>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[^A-Z]</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Not</a:t>
                      </a:r>
                      <a:r>
                        <a:rPr lang="en-US" sz="1800" baseline="0" dirty="0">
                          <a:latin typeface="Times New Roman Regular" panose="02020503050405090304" charset="0"/>
                          <a:cs typeface="Times New Roman Regular" panose="02020503050405090304" charset="0"/>
                        </a:rPr>
                        <a:t> an </a:t>
                      </a:r>
                      <a:r>
                        <a:rPr lang="en-US" sz="1800" dirty="0">
                          <a:latin typeface="Times New Roman Regular" panose="02020503050405090304" charset="0"/>
                          <a:cs typeface="Times New Roman Regular" panose="02020503050405090304" charset="0"/>
                        </a:rPr>
                        <a:t>upper case letter</a:t>
                      </a:r>
                      <a:endParaRPr lang="en-US" sz="1800" dirty="0">
                        <a:latin typeface="Times New Roman Regular" panose="02020503050405090304" charset="0"/>
                        <a:cs typeface="Times New Roman Regular" panose="02020503050405090304" charset="0"/>
                      </a:endParaRPr>
                    </a:p>
                  </a:txBody>
                  <a:tcPr/>
                </a:tc>
                <a:tc>
                  <a:txBody>
                    <a:bodyPr/>
                    <a:lstStyle/>
                    <a:p>
                      <a:r>
                        <a:rPr lang="en-US" sz="1800" dirty="0" err="1">
                          <a:latin typeface="Times New Roman Regular" panose="02020503050405090304" charset="0"/>
                          <a:cs typeface="Times New Roman Regular" panose="02020503050405090304" charset="0"/>
                        </a:rPr>
                        <a:t>O</a:t>
                      </a:r>
                      <a:r>
                        <a:rPr lang="en-US" sz="1800" u="sng" dirty="0" err="1">
                          <a:solidFill>
                            <a:srgbClr val="3366FF"/>
                          </a:solidFill>
                          <a:latin typeface="Times New Roman Regular" panose="02020503050405090304" charset="0"/>
                          <a:cs typeface="Times New Roman Regular" panose="02020503050405090304" charset="0"/>
                        </a:rPr>
                        <a:t>y</a:t>
                      </a:r>
                      <a:r>
                        <a:rPr lang="en-US" sz="1800" dirty="0" err="1">
                          <a:latin typeface="Times New Roman Regular" panose="02020503050405090304" charset="0"/>
                          <a:cs typeface="Times New Roman Regular" panose="02020503050405090304" charset="0"/>
                        </a:rPr>
                        <a:t>fn</a:t>
                      </a:r>
                      <a:r>
                        <a:rPr lang="en-US" sz="1800" dirty="0">
                          <a:latin typeface="Times New Roman Regular" panose="02020503050405090304" charset="0"/>
                          <a:cs typeface="Times New Roman Regular" panose="02020503050405090304" charset="0"/>
                        </a:rPr>
                        <a:t> </a:t>
                      </a:r>
                      <a:r>
                        <a:rPr lang="en-US" sz="1800" dirty="0" err="1">
                          <a:latin typeface="Times New Roman Regular" panose="02020503050405090304" charset="0"/>
                          <a:cs typeface="Times New Roman Regular" panose="02020503050405090304" charset="0"/>
                        </a:rPr>
                        <a:t>pripetchik</a:t>
                      </a:r>
                      <a:endParaRPr lang="en-US" sz="1800" dirty="0" err="1">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[^Ss]</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000000"/>
                          </a:solidFill>
                          <a:latin typeface="Times New Roman Regular" panose="02020503050405090304" charset="0"/>
                          <a:cs typeface="Times New Roman Regular" panose="02020503050405090304" charset="0"/>
                        </a:rPr>
                        <a:t>Neither ‘S’ nor ‘s’</a:t>
                      </a:r>
                      <a:endParaRPr lang="en-US" sz="1800" dirty="0">
                        <a:solidFill>
                          <a:srgbClr val="000000"/>
                        </a:solidFill>
                        <a:latin typeface="Times New Roman Regular" panose="02020503050405090304" charset="0"/>
                        <a:cs typeface="Times New Roman Regular" panose="02020503050405090304" charset="0"/>
                      </a:endParaRPr>
                    </a:p>
                  </a:txBody>
                  <a:tcPr/>
                </a:tc>
                <a:tc>
                  <a:txBody>
                    <a:bodyPr/>
                    <a:lstStyle/>
                    <a:p>
                      <a:r>
                        <a:rPr lang="en-US" sz="1800" u="sng" dirty="0">
                          <a:solidFill>
                            <a:srgbClr val="3366FF"/>
                          </a:solidFill>
                          <a:latin typeface="Times New Roman Regular" panose="02020503050405090304" charset="0"/>
                          <a:cs typeface="Times New Roman Regular" panose="02020503050405090304" charset="0"/>
                        </a:rPr>
                        <a:t>I</a:t>
                      </a:r>
                      <a:r>
                        <a:rPr lang="en-US" sz="1800" u="none" dirty="0">
                          <a:solidFill>
                            <a:srgbClr val="000000"/>
                          </a:solidFill>
                          <a:latin typeface="Times New Roman Regular" panose="02020503050405090304" charset="0"/>
                          <a:cs typeface="Times New Roman Regular" panose="02020503050405090304" charset="0"/>
                        </a:rPr>
                        <a:t> have no exquisite reason”</a:t>
                      </a:r>
                      <a:endParaRPr lang="en-US" sz="1800" u="none" dirty="0">
                        <a:solidFill>
                          <a:srgbClr val="000000"/>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000000"/>
                          </a:solidFill>
                          <a:latin typeface="Times New Roman Regular" panose="02020503050405090304" charset="0"/>
                          <a:cs typeface="Times New Roman Regular" panose="02020503050405090304" charset="0"/>
                        </a:rPr>
                        <a:t>Not a period</a:t>
                      </a:r>
                      <a:endParaRPr lang="en-US" sz="1800" dirty="0">
                        <a:solidFill>
                          <a:srgbClr val="000000"/>
                        </a:solidFill>
                        <a:latin typeface="Times New Roman Regular" panose="02020503050405090304" charset="0"/>
                        <a:cs typeface="Times New Roman Regular" panose="02020503050405090304" charset="0"/>
                      </a:endParaRPr>
                    </a:p>
                  </a:txBody>
                  <a:tcPr/>
                </a:tc>
                <a:tc>
                  <a:txBody>
                    <a:bodyPr/>
                    <a:lstStyle/>
                    <a:p>
                      <a:r>
                        <a:rPr lang="en-US" sz="1800" u="sng" dirty="0">
                          <a:solidFill>
                            <a:srgbClr val="3366FF"/>
                          </a:solidFill>
                          <a:latin typeface="Times New Roman Regular" panose="02020503050405090304" charset="0"/>
                          <a:cs typeface="Times New Roman Regular" panose="02020503050405090304" charset="0"/>
                        </a:rPr>
                        <a:t>O</a:t>
                      </a:r>
                      <a:r>
                        <a:rPr lang="en-US" sz="1800" u="none" dirty="0">
                          <a:solidFill>
                            <a:srgbClr val="000000"/>
                          </a:solidFill>
                          <a:latin typeface="Times New Roman Regular" panose="02020503050405090304" charset="0"/>
                          <a:cs typeface="Times New Roman Regular" panose="02020503050405090304" charset="0"/>
                        </a:rPr>
                        <a:t>ur resident Djinn</a:t>
                      </a:r>
                      <a:endParaRPr lang="en-US" sz="1800" u="none" dirty="0">
                        <a:solidFill>
                          <a:srgbClr val="000000"/>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[e^]</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Either e or ^</a:t>
                      </a:r>
                      <a:endParaRPr lang="en-US" sz="1800" dirty="0">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Look up </a:t>
                      </a:r>
                      <a:r>
                        <a:rPr lang="en-US" sz="1800" u="sng" dirty="0">
                          <a:solidFill>
                            <a:srgbClr val="3366FF"/>
                          </a:solidFill>
                          <a:latin typeface="Times New Roman Regular" panose="02020503050405090304" charset="0"/>
                          <a:cs typeface="Times New Roman Regular" panose="02020503050405090304" charset="0"/>
                        </a:rPr>
                        <a:t>^</a:t>
                      </a:r>
                      <a:r>
                        <a:rPr lang="en-US" sz="1800" dirty="0">
                          <a:latin typeface="Times New Roman Regular" panose="02020503050405090304" charset="0"/>
                          <a:cs typeface="Times New Roman Regular" panose="02020503050405090304" charset="0"/>
                        </a:rPr>
                        <a:t> now</a:t>
                      </a:r>
                      <a:endParaRPr lang="en-US" sz="1800" dirty="0">
                        <a:latin typeface="Times New Roman Regular" panose="02020503050405090304" charset="0"/>
                        <a:cs typeface="Times New Roman Regular" panose="02020503050405090304" charset="0"/>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3400" y="152400"/>
            <a:ext cx="8610600" cy="742950"/>
          </a:xfrm>
        </p:spPr>
        <p:txBody>
          <a:bodyPr/>
          <a:lstStyle/>
          <a:p>
            <a:pPr eaLnBrk="1" hangingPunct="1"/>
            <a:r>
              <a:rPr lang="en-US" dirty="0"/>
              <a:t>Regular Expressions: Convenient aliases</a:t>
            </a:r>
            <a:endParaRPr lang="en-US" dirty="0"/>
          </a:p>
        </p:txBody>
      </p:sp>
      <p:graphicFrame>
        <p:nvGraphicFramePr>
          <p:cNvPr id="8" name="Table 7"/>
          <p:cNvGraphicFramePr>
            <a:graphicFrameLocks noGrp="1"/>
          </p:cNvGraphicFramePr>
          <p:nvPr/>
        </p:nvGraphicFramePr>
        <p:xfrm>
          <a:off x="381000" y="1215049"/>
          <a:ext cx="8381999" cy="2773680"/>
        </p:xfrm>
        <a:graphic>
          <a:graphicData uri="http://schemas.openxmlformats.org/drawingml/2006/table">
            <a:tbl>
              <a:tblPr firstRow="1" bandRow="1">
                <a:tableStyleId>{5C22544A-7EE6-4342-B048-85BDC9FD1C3A}</a:tableStyleId>
              </a:tblPr>
              <a:tblGrid>
                <a:gridCol w="1143000"/>
                <a:gridCol w="2133600"/>
                <a:gridCol w="2819400"/>
                <a:gridCol w="2285999"/>
              </a:tblGrid>
              <a:tr h="370840">
                <a:tc>
                  <a:txBody>
                    <a:bodyPr/>
                    <a:lstStyle/>
                    <a:p>
                      <a:r>
                        <a:rPr lang="en-US" sz="1800" dirty="0">
                          <a:solidFill>
                            <a:schemeClr val="tx1"/>
                          </a:solidFill>
                          <a:latin typeface="Times New Roman Regular" panose="02020503050405090304" charset="0"/>
                          <a:cs typeface="Times New Roman Regular" panose="02020503050405090304" charset="0"/>
                        </a:rPr>
                        <a:t>Pattern</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Expansion</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Matches</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Examples</a:t>
                      </a:r>
                      <a:endParaRPr lang="en-US" sz="1800" dirty="0">
                        <a:solidFill>
                          <a:schemeClr val="tx1"/>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\d</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CC0000"/>
                          </a:solidFill>
                          <a:latin typeface="Times New Roman Regular" panose="02020503050405090304" charset="0"/>
                          <a:cs typeface="Times New Roman Regular" panose="02020503050405090304" charset="0"/>
                        </a:rPr>
                        <a:t>[0-9]</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Any digit</a:t>
                      </a:r>
                      <a:endParaRPr lang="en-US" sz="1800" dirty="0">
                        <a:latin typeface="Times New Roman Regular" panose="02020503050405090304" charset="0"/>
                        <a:cs typeface="Times New Roman Regular" panose="02020503050405090304" charset="0"/>
                      </a:endParaRPr>
                    </a:p>
                  </a:txBody>
                  <a:tcPr/>
                </a:tc>
                <a:tc>
                  <a:txBody>
                    <a:bodyPr/>
                    <a:lstStyle/>
                    <a:p>
                      <a:r>
                        <a:rPr lang="en-US" sz="1800" dirty="0" err="1">
                          <a:latin typeface="Times New Roman Regular" panose="02020503050405090304" charset="0"/>
                          <a:cs typeface="Times New Roman Regular" panose="02020503050405090304" charset="0"/>
                        </a:rPr>
                        <a:t>Fahreneit</a:t>
                      </a:r>
                      <a:r>
                        <a:rPr lang="en-US" sz="1800" dirty="0">
                          <a:latin typeface="Times New Roman Regular" panose="02020503050405090304" charset="0"/>
                          <a:cs typeface="Times New Roman Regular" panose="02020503050405090304" charset="0"/>
                        </a:rPr>
                        <a:t> </a:t>
                      </a:r>
                      <a:r>
                        <a:rPr lang="en-US" sz="1800" u="sng" dirty="0">
                          <a:solidFill>
                            <a:srgbClr val="3366FF"/>
                          </a:solidFill>
                          <a:latin typeface="Times New Roman Regular" panose="02020503050405090304" charset="0"/>
                          <a:cs typeface="Times New Roman Regular" panose="02020503050405090304" charset="0"/>
                        </a:rPr>
                        <a:t>4</a:t>
                      </a:r>
                      <a:r>
                        <a:rPr lang="en-US" sz="1800" dirty="0">
                          <a:latin typeface="Times New Roman Regular" panose="02020503050405090304" charset="0"/>
                          <a:cs typeface="Times New Roman Regular" panose="02020503050405090304" charset="0"/>
                        </a:rPr>
                        <a:t>51</a:t>
                      </a:r>
                      <a:endParaRPr lang="en-US" sz="1800" dirty="0">
                        <a:latin typeface="Times New Roman Regular" panose="02020503050405090304" charset="0"/>
                        <a:cs typeface="Times New Roman Regular" panose="02020503050405090304" charset="0"/>
                      </a:endParaRPr>
                    </a:p>
                  </a:txBody>
                  <a:tcPr/>
                </a:tc>
              </a:tr>
              <a:tr h="0">
                <a:tc>
                  <a:txBody>
                    <a:bodyPr/>
                    <a:lstStyle/>
                    <a:p>
                      <a:r>
                        <a:rPr lang="en-US" sz="1800" dirty="0">
                          <a:solidFill>
                            <a:srgbClr val="CC0000"/>
                          </a:solidFill>
                          <a:latin typeface="Times New Roman Regular" panose="02020503050405090304" charset="0"/>
                          <a:cs typeface="Times New Roman Regular" panose="02020503050405090304" charset="0"/>
                        </a:rPr>
                        <a:t>\D	</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[^0-9]</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000000"/>
                          </a:solidFill>
                          <a:latin typeface="Times New Roman Regular" panose="02020503050405090304" charset="0"/>
                          <a:cs typeface="Times New Roman Regular" panose="02020503050405090304" charset="0"/>
                        </a:rPr>
                        <a:t>Any non-digit</a:t>
                      </a:r>
                      <a:endParaRPr lang="en-US" sz="1800" dirty="0">
                        <a:solidFill>
                          <a:srgbClr val="000000"/>
                        </a:solidFill>
                        <a:latin typeface="Times New Roman Regular" panose="02020503050405090304" charset="0"/>
                        <a:cs typeface="Times New Roman Regular" panose="02020503050405090304" charset="0"/>
                      </a:endParaRPr>
                    </a:p>
                  </a:txBody>
                  <a:tcPr/>
                </a:tc>
                <a:tc>
                  <a:txBody>
                    <a:bodyPr/>
                    <a:lstStyle/>
                    <a:p>
                      <a:r>
                        <a:rPr lang="en-US" sz="1800" b="0" u="sng" dirty="0">
                          <a:solidFill>
                            <a:srgbClr val="3366FF"/>
                          </a:solidFill>
                          <a:latin typeface="Times New Roman Regular" panose="02020503050405090304" charset="0"/>
                          <a:cs typeface="Times New Roman Regular" panose="02020503050405090304" charset="0"/>
                        </a:rPr>
                        <a:t>B</a:t>
                      </a:r>
                      <a:r>
                        <a:rPr lang="en-US" sz="1800" u="none" dirty="0">
                          <a:solidFill>
                            <a:srgbClr val="000000"/>
                          </a:solidFill>
                          <a:latin typeface="Times New Roman Regular" panose="02020503050405090304" charset="0"/>
                          <a:cs typeface="Times New Roman Regular" panose="02020503050405090304" charset="0"/>
                        </a:rPr>
                        <a:t>lue Moon</a:t>
                      </a:r>
                      <a:endParaRPr lang="en-US" sz="1800" u="none" dirty="0">
                        <a:solidFill>
                          <a:srgbClr val="000000"/>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\w</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[a-ZA-Z0-9_]</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Any alphanumeric or _</a:t>
                      </a:r>
                      <a:endParaRPr lang="en-US" sz="1800" dirty="0">
                        <a:latin typeface="Times New Roman Regular" panose="02020503050405090304" charset="0"/>
                        <a:cs typeface="Times New Roman Regular" panose="02020503050405090304" charset="0"/>
                      </a:endParaRPr>
                    </a:p>
                  </a:txBody>
                  <a:tcPr/>
                </a:tc>
                <a:tc>
                  <a:txBody>
                    <a:bodyPr/>
                    <a:lstStyle/>
                    <a:p>
                      <a:r>
                        <a:rPr lang="en-US" sz="1800" b="0" u="sng" dirty="0" err="1">
                          <a:solidFill>
                            <a:srgbClr val="3366FF"/>
                          </a:solidFill>
                          <a:latin typeface="Times New Roman Regular" panose="02020503050405090304" charset="0"/>
                          <a:cs typeface="Times New Roman Regular" panose="02020503050405090304" charset="0"/>
                        </a:rPr>
                        <a:t>D</a:t>
                      </a:r>
                      <a:r>
                        <a:rPr lang="en-US" sz="1800" b="0" u="none" dirty="0" err="1">
                          <a:solidFill>
                            <a:srgbClr val="000000"/>
                          </a:solidFill>
                          <a:latin typeface="Times New Roman Regular" panose="02020503050405090304" charset="0"/>
                          <a:cs typeface="Times New Roman Regular" panose="02020503050405090304" charset="0"/>
                        </a:rPr>
                        <a:t>aiyu</a:t>
                      </a:r>
                      <a:endParaRPr lang="en-US" sz="1800" b="0" u="none" dirty="0" err="1">
                        <a:solidFill>
                          <a:srgbClr val="000000"/>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\W</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[^\w]</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Not alphanumeric or _</a:t>
                      </a:r>
                      <a:endParaRPr lang="en-US" sz="1800" dirty="0">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Look</a:t>
                      </a:r>
                      <a:r>
                        <a:rPr lang="en-US" sz="1800" b="0" u="sng" dirty="0">
                          <a:solidFill>
                            <a:srgbClr val="3366FF"/>
                          </a:solidFill>
                          <a:latin typeface="Times New Roman Regular" panose="02020503050405090304" charset="0"/>
                          <a:cs typeface="Times New Roman Regular" panose="02020503050405090304" charset="0"/>
                        </a:rPr>
                        <a:t>!</a:t>
                      </a:r>
                      <a:endParaRPr lang="en-US" sz="1800" b="0" u="sng" dirty="0">
                        <a:solidFill>
                          <a:srgbClr val="3366FF"/>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\s</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 \r\t\n\f]</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Whitespace (space, tab)</a:t>
                      </a:r>
                      <a:endParaRPr lang="en-US" sz="1800" dirty="0">
                        <a:latin typeface="Times New Roman Regular" panose="02020503050405090304" charset="0"/>
                        <a:cs typeface="Times New Roman Regular" panose="02020503050405090304" charset="0"/>
                      </a:endParaRPr>
                    </a:p>
                  </a:txBody>
                  <a:tcPr/>
                </a:tc>
                <a:tc>
                  <a:txBody>
                    <a:bodyPr/>
                    <a:lstStyle/>
                    <a:p>
                      <a:r>
                        <a:rPr lang="en-US" sz="1800" dirty="0" err="1">
                          <a:latin typeface="Times New Roman Regular" panose="02020503050405090304" charset="0"/>
                          <a:cs typeface="Times New Roman Regular" panose="02020503050405090304" charset="0"/>
                        </a:rPr>
                        <a:t>Look</a:t>
                      </a:r>
                      <a:r>
                        <a:rPr lang="en-US" sz="1800" dirty="0" err="1">
                          <a:solidFill>
                            <a:srgbClr val="3365FF"/>
                          </a:solidFill>
                          <a:latin typeface="Times New Roman Regular" panose="02020503050405090304" charset="0"/>
                          <a:cs typeface="Times New Roman Regular" panose="02020503050405090304" charset="0"/>
                        </a:rPr>
                        <a:t>␣</a:t>
                      </a:r>
                      <a:r>
                        <a:rPr lang="en-US" sz="1800" dirty="0" err="1">
                          <a:latin typeface="Times New Roman Regular" panose="02020503050405090304" charset="0"/>
                          <a:cs typeface="Times New Roman Regular" panose="02020503050405090304" charset="0"/>
                        </a:rPr>
                        <a:t>up</a:t>
                      </a:r>
                      <a:endParaRPr lang="en-US" sz="1800" dirty="0" err="1">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\S</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[^\s]</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Not whitespace</a:t>
                      </a:r>
                      <a:endParaRPr lang="en-US" sz="1800" dirty="0">
                        <a:latin typeface="Times New Roman Regular" panose="02020503050405090304" charset="0"/>
                        <a:cs typeface="Times New Roman Regular" panose="02020503050405090304" charset="0"/>
                      </a:endParaRPr>
                    </a:p>
                  </a:txBody>
                  <a:tcPr/>
                </a:tc>
                <a:tc>
                  <a:txBody>
                    <a:bodyPr/>
                    <a:lstStyle/>
                    <a:p>
                      <a:r>
                        <a:rPr lang="en-US" sz="1800" b="0" u="sng" dirty="0">
                          <a:solidFill>
                            <a:srgbClr val="3366FF"/>
                          </a:solidFill>
                          <a:latin typeface="Times New Roman Regular" panose="02020503050405090304" charset="0"/>
                          <a:cs typeface="Times New Roman Regular" panose="02020503050405090304" charset="0"/>
                        </a:rPr>
                        <a:t>L</a:t>
                      </a:r>
                      <a:r>
                        <a:rPr lang="en-US" sz="1800" dirty="0">
                          <a:latin typeface="Times New Roman Regular" panose="02020503050405090304" charset="0"/>
                          <a:cs typeface="Times New Roman Regular" panose="02020503050405090304" charset="0"/>
                        </a:rPr>
                        <a:t>ook up</a:t>
                      </a:r>
                      <a:endParaRPr lang="en-US" sz="1800" dirty="0">
                        <a:latin typeface="Times New Roman Regular" panose="02020503050405090304" charset="0"/>
                        <a:cs typeface="Times New Roman Regular" panose="02020503050405090304" charset="0"/>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609600" y="1047750"/>
            <a:ext cx="7620000" cy="4114799"/>
          </a:xfrm>
        </p:spPr>
        <p:txBody>
          <a:bodyPr/>
          <a:lstStyle/>
          <a:p>
            <a:pPr eaLnBrk="1" hangingPunct="1"/>
            <a:r>
              <a:rPr lang="en-US" sz="2000" dirty="0">
                <a:solidFill>
                  <a:srgbClr val="000000"/>
                </a:solidFill>
              </a:rPr>
              <a:t>Groundhog is another name for woodchuck</a:t>
            </a:r>
            <a:r>
              <a:rPr lang="en-US" sz="2000" dirty="0"/>
              <a:t>!</a:t>
            </a:r>
            <a:endParaRPr lang="en-US" sz="2000" dirty="0"/>
          </a:p>
          <a:p>
            <a:pPr eaLnBrk="1" hangingPunct="1"/>
            <a:r>
              <a:rPr lang="en-US" sz="2000" dirty="0"/>
              <a:t>The pipe symbol | for disjunction</a:t>
            </a:r>
            <a:endParaRPr lang="en-US" sz="2000" dirty="0"/>
          </a:p>
          <a:p>
            <a:pPr eaLnBrk="1" hangingPunct="1"/>
            <a:endParaRPr lang="en-US" sz="2000" dirty="0">
              <a:solidFill>
                <a:srgbClr val="CC0000"/>
              </a:solidFill>
            </a:endParaRPr>
          </a:p>
        </p:txBody>
      </p:sp>
      <p:graphicFrame>
        <p:nvGraphicFramePr>
          <p:cNvPr id="8" name="Table 7"/>
          <p:cNvGraphicFramePr>
            <a:graphicFrameLocks noGrp="1"/>
          </p:cNvGraphicFramePr>
          <p:nvPr/>
        </p:nvGraphicFramePr>
        <p:xfrm>
          <a:off x="381000" y="2190750"/>
          <a:ext cx="5638800" cy="1981200"/>
        </p:xfrm>
        <a:graphic>
          <a:graphicData uri="http://schemas.openxmlformats.org/drawingml/2006/table">
            <a:tbl>
              <a:tblPr firstRow="1" bandRow="1">
                <a:tableStyleId>{5C22544A-7EE6-4342-B048-85BDC9FD1C3A}</a:tableStyleId>
              </a:tblPr>
              <a:tblGrid>
                <a:gridCol w="3886200"/>
                <a:gridCol w="1752600"/>
              </a:tblGrid>
              <a:tr h="396240">
                <a:tc>
                  <a:txBody>
                    <a:bodyPr/>
                    <a:lstStyle/>
                    <a:p>
                      <a:r>
                        <a:rPr lang="en-US" sz="1800" dirty="0">
                          <a:solidFill>
                            <a:schemeClr val="tx1"/>
                          </a:solidFill>
                          <a:latin typeface="Times New Roman Regular" panose="02020503050405090304" charset="0"/>
                          <a:cs typeface="Times New Roman Regular" panose="02020503050405090304" charset="0"/>
                        </a:rPr>
                        <a:t>Pattern</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Matches</a:t>
                      </a:r>
                      <a:endParaRPr lang="en-US" sz="1800" dirty="0">
                        <a:solidFill>
                          <a:schemeClr val="tx1"/>
                        </a:solidFill>
                        <a:latin typeface="Times New Roman Regular" panose="02020503050405090304" charset="0"/>
                        <a:cs typeface="Times New Roman Regular" panose="02020503050405090304" charset="0"/>
                      </a:endParaRPr>
                    </a:p>
                  </a:txBody>
                  <a:tcPr/>
                </a:tc>
              </a:tr>
              <a:tr h="370840">
                <a:tc>
                  <a:txBody>
                    <a:bodyPr/>
                    <a:lstStyle/>
                    <a:p>
                      <a:r>
                        <a:rPr lang="en-US" sz="1800" dirty="0" err="1">
                          <a:solidFill>
                            <a:srgbClr val="CC0000"/>
                          </a:solidFill>
                          <a:latin typeface="Times New Roman Regular" panose="02020503050405090304" charset="0"/>
                          <a:cs typeface="Times New Roman Regular" panose="02020503050405090304" charset="0"/>
                        </a:rPr>
                        <a:t>groundhog</a:t>
                      </a:r>
                      <a:r>
                        <a:rPr lang="en-US" sz="1800" b="1" dirty="0" err="1">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woodchuck</a:t>
                      </a:r>
                      <a:endParaRPr lang="en-US" sz="1800" dirty="0" err="1">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woodchuck</a:t>
                      </a:r>
                      <a:endParaRPr lang="en-US" sz="1800" dirty="0">
                        <a:latin typeface="Times New Roman Regular" panose="02020503050405090304" charset="0"/>
                        <a:cs typeface="Times New Roman Regular" panose="02020503050405090304" charset="0"/>
                      </a:endParaRPr>
                    </a:p>
                  </a:txBody>
                  <a:tcPr/>
                </a:tc>
              </a:tr>
              <a:tr h="370840">
                <a:tc>
                  <a:txBody>
                    <a:bodyPr/>
                    <a:lstStyle/>
                    <a:p>
                      <a:r>
                        <a:rPr lang="en-US" sz="1800" dirty="0" err="1">
                          <a:solidFill>
                            <a:srgbClr val="CC0000"/>
                          </a:solidFill>
                          <a:latin typeface="Times New Roman Regular" panose="02020503050405090304" charset="0"/>
                          <a:cs typeface="Times New Roman Regular" panose="02020503050405090304" charset="0"/>
                        </a:rPr>
                        <a:t>yours</a:t>
                      </a:r>
                      <a:r>
                        <a:rPr lang="en-US" sz="1800" b="1" dirty="0" err="1">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mine</a:t>
                      </a:r>
                      <a:endParaRPr lang="en-US" sz="1800" dirty="0" err="1">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000000"/>
                          </a:solidFill>
                          <a:latin typeface="Times New Roman Regular" panose="02020503050405090304" charset="0"/>
                          <a:cs typeface="Times New Roman Regular" panose="02020503050405090304" charset="0"/>
                        </a:rPr>
                        <a:t>yours</a:t>
                      </a:r>
                      <a:endParaRPr lang="en-US" sz="1800" dirty="0">
                        <a:solidFill>
                          <a:srgbClr val="000000"/>
                        </a:solidFill>
                        <a:latin typeface="Times New Roman Regular" panose="02020503050405090304" charset="0"/>
                        <a:cs typeface="Times New Roman Regular" panose="02020503050405090304" charset="0"/>
                      </a:endParaRPr>
                    </a:p>
                  </a:txBody>
                  <a:tcPr/>
                </a:tc>
              </a:tr>
              <a:tr h="370840">
                <a:tc>
                  <a:txBody>
                    <a:bodyPr/>
                    <a:lstStyle/>
                    <a:p>
                      <a:r>
                        <a:rPr lang="en-US" sz="1800" dirty="0" err="1">
                          <a:solidFill>
                            <a:srgbClr val="CC0000"/>
                          </a:solidFill>
                          <a:latin typeface="Times New Roman Regular" panose="02020503050405090304" charset="0"/>
                          <a:cs typeface="Times New Roman Regular" panose="02020503050405090304" charset="0"/>
                        </a:rPr>
                        <a:t>a</a:t>
                      </a:r>
                      <a:r>
                        <a:rPr lang="en-US" sz="1800" b="1" dirty="0" err="1">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b</a:t>
                      </a:r>
                      <a:r>
                        <a:rPr lang="en-US" sz="1800" b="1" dirty="0" err="1">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c</a:t>
                      </a:r>
                      <a:endParaRPr lang="en-US" sz="1800" dirty="0" err="1">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 </a:t>
                      </a:r>
                      <a:r>
                        <a:rPr lang="en-US" sz="1800" dirty="0">
                          <a:solidFill>
                            <a:srgbClr val="FF0000"/>
                          </a:solidFill>
                          <a:latin typeface="Times New Roman Regular" panose="02020503050405090304" charset="0"/>
                          <a:cs typeface="Times New Roman Regular" panose="02020503050405090304" charset="0"/>
                        </a:rPr>
                        <a:t>[</a:t>
                      </a:r>
                      <a:r>
                        <a:rPr lang="en-US" sz="1800" dirty="0" err="1">
                          <a:solidFill>
                            <a:srgbClr val="FF0000"/>
                          </a:solidFill>
                          <a:latin typeface="Times New Roman Regular" panose="02020503050405090304" charset="0"/>
                          <a:cs typeface="Times New Roman Regular" panose="02020503050405090304" charset="0"/>
                        </a:rPr>
                        <a:t>abc</a:t>
                      </a:r>
                      <a:r>
                        <a:rPr lang="en-US" sz="1800" dirty="0">
                          <a:solidFill>
                            <a:srgbClr val="FF0000"/>
                          </a:solidFill>
                          <a:latin typeface="Times New Roman Regular" panose="02020503050405090304" charset="0"/>
                          <a:cs typeface="Times New Roman Regular" panose="02020503050405090304" charset="0"/>
                        </a:rPr>
                        <a:t>]</a:t>
                      </a:r>
                      <a:endParaRPr lang="en-US" sz="1800" dirty="0">
                        <a:solidFill>
                          <a:srgbClr val="FF0000"/>
                        </a:solidFill>
                        <a:latin typeface="Times New Roman Regular" panose="02020503050405090304" charset="0"/>
                        <a:cs typeface="Times New Roman Regular" panose="02020503050405090304" charset="0"/>
                      </a:endParaRP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gG</a:t>
                      </a:r>
                      <a:r>
                        <a:rPr lang="en-US" sz="1800" dirty="0">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roundhog</a:t>
                      </a:r>
                      <a:r>
                        <a:rPr lang="en-US" sz="1800" b="1" dirty="0">
                          <a:solidFill>
                            <a:srgbClr val="CC0000"/>
                          </a:solidFill>
                          <a:latin typeface="Times New Roman Regular" panose="02020503050405090304" charset="0"/>
                          <a:cs typeface="Times New Roman Regular" panose="02020503050405090304" charset="0"/>
                        </a:rPr>
                        <a:t>|</a:t>
                      </a:r>
                      <a:r>
                        <a:rPr lang="en-US" sz="1800" dirty="0">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Ww</a:t>
                      </a:r>
                      <a:r>
                        <a:rPr lang="en-US" sz="1800" dirty="0">
                          <a:solidFill>
                            <a:srgbClr val="CC0000"/>
                          </a:solidFill>
                          <a:latin typeface="Times New Roman Regular" panose="02020503050405090304" charset="0"/>
                          <a:cs typeface="Times New Roman Regular" panose="02020503050405090304" charset="0"/>
                        </a:rPr>
                        <a:t>]</a:t>
                      </a:r>
                      <a:r>
                        <a:rPr lang="en-US" sz="1800" dirty="0" err="1">
                          <a:solidFill>
                            <a:srgbClr val="CC0000"/>
                          </a:solidFill>
                          <a:latin typeface="Times New Roman Regular" panose="02020503050405090304" charset="0"/>
                          <a:cs typeface="Times New Roman Regular" panose="02020503050405090304" charset="0"/>
                        </a:rPr>
                        <a:t>oodchuck</a:t>
                      </a:r>
                      <a:endParaRPr lang="en-US" sz="1800" dirty="0" err="1">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Woodchuck</a:t>
                      </a:r>
                      <a:endParaRPr lang="en-US" sz="1800" dirty="0">
                        <a:solidFill>
                          <a:srgbClr val="FF0000"/>
                        </a:solidFill>
                        <a:latin typeface="Times New Roman Regular" panose="02020503050405090304" charset="0"/>
                        <a:cs typeface="Times New Roman Regular" panose="02020503050405090304" charset="0"/>
                      </a:endParaRPr>
                    </a:p>
                  </a:txBody>
                  <a:tcPr/>
                </a:tc>
              </a:tr>
            </a:tbl>
          </a:graphicData>
        </a:graphic>
      </p:graphicFrame>
      <p:pic>
        <p:nvPicPr>
          <p:cNvPr id="7" name="Picture 6" descr="220px-Groundhog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67671" y="2190749"/>
            <a:ext cx="2749991" cy="2062493"/>
          </a:xfrm>
          <a:prstGeom prst="rect">
            <a:avLst/>
          </a:prstGeom>
        </p:spPr>
      </p:pic>
      <p:sp>
        <p:nvSpPr>
          <p:cNvPr id="6" name="Rectangle 2"/>
          <p:cNvSpPr txBox="1">
            <a:spLocks noChangeArrowheads="1"/>
          </p:cNvSpPr>
          <p:nvPr/>
        </p:nvSpPr>
        <p:spPr>
          <a:xfrm>
            <a:off x="533400" y="152400"/>
            <a:ext cx="8610600" cy="742950"/>
          </a:xfrm>
          <a:prstGeom prst="rect">
            <a:avLst/>
          </a:prstGeom>
        </p:spPr>
        <p:txBody>
          <a:bodyPr vert="horz" lIns="91440" tIns="45720" rIns="91440" bIns="45720" rtlCol="0" anchor="ctr">
            <a:noAutofit/>
          </a:bodyPr>
          <a:lst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charset="0"/>
                <a:ea typeface="+mj-ea"/>
                <a:cs typeface="+mj-cs"/>
              </a:defRPr>
            </a:lvl1pPr>
          </a:lstStyle>
          <a:p>
            <a:pPr fontAlgn="auto">
              <a:spcAft>
                <a:spcPts val="0"/>
              </a:spcAft>
            </a:pPr>
            <a:r>
              <a:rPr lang="en-US" dirty="0"/>
              <a:t>Regular Expressions: </a:t>
            </a:r>
            <a:r>
              <a:rPr lang="en-US" altLang="zh-CN" dirty="0"/>
              <a:t>More Disjunction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89255" y="120015"/>
            <a:ext cx="8580120" cy="680085"/>
          </a:xfrm>
        </p:spPr>
        <p:txBody>
          <a:bodyPr>
            <a:noAutofit/>
          </a:bodyPr>
          <a:lstStyle/>
          <a:p>
            <a:r>
              <a:rPr lang="en-US" dirty="0">
                <a:latin typeface="Times New Roman Regular" panose="02020503050405090304" charset="0"/>
                <a:cs typeface="Times New Roman Regular" panose="02020503050405090304" charset="0"/>
              </a:rPr>
              <a:t>Wildcards, optionality, repetition: </a:t>
            </a:r>
            <a:r>
              <a:rPr lang="en-US" dirty="0">
                <a:solidFill>
                  <a:srgbClr val="CC0000"/>
                </a:solidFill>
                <a:latin typeface="Times New Roman Regular" panose="02020503050405090304" charset="0"/>
                <a:cs typeface="Times New Roman Regular" panose="02020503050405090304" charset="0"/>
              </a:rPr>
              <a:t>. ?</a:t>
            </a:r>
            <a:r>
              <a:rPr lang="en-US" dirty="0">
                <a:latin typeface="Times New Roman Regular" panose="02020503050405090304" charset="0"/>
                <a:cs typeface="Times New Roman Regular" panose="02020503050405090304" charset="0"/>
              </a:rPr>
              <a:t> </a:t>
            </a:r>
            <a:r>
              <a:rPr lang="en-US" dirty="0">
                <a:solidFill>
                  <a:srgbClr val="CC0000"/>
                </a:solidFill>
                <a:latin typeface="Times New Roman Regular" panose="02020503050405090304" charset="0"/>
                <a:cs typeface="Times New Roman Regular" panose="02020503050405090304" charset="0"/>
              </a:rPr>
              <a:t>* +</a:t>
            </a:r>
            <a:endParaRPr lang="en-US" dirty="0">
              <a:latin typeface="Times New Roman Regular" panose="02020503050405090304" charset="0"/>
              <a:cs typeface="Times New Roman Regular" panose="02020503050405090304" charset="0"/>
            </a:endParaRPr>
          </a:p>
        </p:txBody>
      </p:sp>
      <p:sp>
        <p:nvSpPr>
          <p:cNvPr id="75780" name="Rectangle 4"/>
          <p:cNvSpPr>
            <a:spLocks noChangeArrowheads="1"/>
          </p:cNvSpPr>
          <p:nvPr/>
        </p:nvSpPr>
        <p:spPr bwMode="auto">
          <a:xfrm>
            <a:off x="1588" y="2445544"/>
            <a:ext cx="9144000" cy="461665"/>
          </a:xfrm>
          <a:prstGeom prst="rect">
            <a:avLst/>
          </a:prstGeom>
          <a:noFill/>
          <a:ln w="9525">
            <a:noFill/>
            <a:miter lim="800000"/>
          </a:ln>
        </p:spPr>
        <p:txBody>
          <a:bodyPr>
            <a:spAutoFit/>
          </a:bodyPr>
          <a:lstStyle/>
          <a:p>
            <a:endParaRPr lang="en-US"/>
          </a:p>
        </p:txBody>
      </p:sp>
      <p:sp>
        <p:nvSpPr>
          <p:cNvPr id="75783" name="Rectangle 10"/>
          <p:cNvSpPr>
            <a:spLocks noChangeArrowheads="1"/>
          </p:cNvSpPr>
          <p:nvPr/>
        </p:nvSpPr>
        <p:spPr bwMode="auto">
          <a:xfrm>
            <a:off x="1219200" y="3714750"/>
            <a:ext cx="7010400" cy="1085850"/>
          </a:xfrm>
          <a:prstGeom prst="rect">
            <a:avLst/>
          </a:prstGeom>
          <a:noFill/>
          <a:ln w="9525">
            <a:noFill/>
            <a:miter lim="800000"/>
          </a:ln>
        </p:spPr>
        <p:txBody>
          <a:bodyPr lIns="92075" tIns="46038" rIns="92075" bIns="46038"/>
          <a:lstStyle/>
          <a:p>
            <a:pPr marL="342900" indent="-342900">
              <a:spcBef>
                <a:spcPct val="20000"/>
              </a:spcBef>
              <a:buClr>
                <a:schemeClr val="tx2"/>
              </a:buClr>
              <a:buSzPct val="95000"/>
              <a:buFont typeface="Wingdings" panose="05000000000000000000" pitchFamily="2" charset="2"/>
              <a:buNone/>
            </a:pPr>
            <a:endParaRPr lang="en-US" sz="2400" b="1" dirty="0">
              <a:solidFill>
                <a:srgbClr val="CC0000"/>
              </a:solidFill>
              <a:latin typeface="Courier New" panose="02070409020205090404"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15835" y="1098550"/>
            <a:ext cx="1579245" cy="2248535"/>
          </a:xfrm>
          <a:prstGeom prst="rect">
            <a:avLst/>
          </a:prstGeom>
        </p:spPr>
      </p:pic>
      <p:sp>
        <p:nvSpPr>
          <p:cNvPr id="3" name="TextBox 2"/>
          <p:cNvSpPr txBox="1"/>
          <p:nvPr/>
        </p:nvSpPr>
        <p:spPr>
          <a:xfrm>
            <a:off x="7269417" y="3438733"/>
            <a:ext cx="1649730" cy="337185"/>
          </a:xfrm>
          <a:prstGeom prst="rect">
            <a:avLst/>
          </a:prstGeom>
          <a:noFill/>
        </p:spPr>
        <p:txBody>
          <a:bodyPr wrap="none" rtlCol="0">
            <a:spAutoFit/>
          </a:bodyPr>
          <a:lstStyle/>
          <a:p>
            <a:r>
              <a:rPr lang="en-US" sz="1600" dirty="0">
                <a:latin typeface="Times New Roman Regular" panose="02020503050405090304" charset="0"/>
                <a:cs typeface="Times New Roman Regular" panose="02020503050405090304" charset="0"/>
              </a:rPr>
              <a:t>Stephen C </a:t>
            </a:r>
            <a:r>
              <a:rPr lang="en-US" sz="1600" dirty="0" err="1">
                <a:latin typeface="Times New Roman Regular" panose="02020503050405090304" charset="0"/>
                <a:cs typeface="Times New Roman Regular" panose="02020503050405090304" charset="0"/>
              </a:rPr>
              <a:t>Kleene</a:t>
            </a:r>
            <a:endParaRPr lang="en-US" sz="1600" dirty="0" err="1">
              <a:latin typeface="Times New Roman Regular" panose="02020503050405090304" charset="0"/>
              <a:cs typeface="Times New Roman Regular" panose="02020503050405090304" charset="0"/>
            </a:endParaRPr>
          </a:p>
        </p:txBody>
      </p:sp>
      <p:graphicFrame>
        <p:nvGraphicFramePr>
          <p:cNvPr id="14" name="Table 13"/>
          <p:cNvGraphicFramePr>
            <a:graphicFrameLocks noGrp="1"/>
          </p:cNvGraphicFramePr>
          <p:nvPr/>
        </p:nvGraphicFramePr>
        <p:xfrm>
          <a:off x="304800" y="1073150"/>
          <a:ext cx="6858000" cy="2418080"/>
        </p:xfrm>
        <a:graphic>
          <a:graphicData uri="http://schemas.openxmlformats.org/drawingml/2006/table">
            <a:tbl>
              <a:tblPr firstRow="1" bandRow="1">
                <a:tableStyleId>{5C22544A-7EE6-4342-B048-85BDC9FD1C3A}</a:tableStyleId>
              </a:tblPr>
              <a:tblGrid>
                <a:gridCol w="1905000"/>
                <a:gridCol w="2216785"/>
                <a:gridCol w="2736215"/>
              </a:tblGrid>
              <a:tr h="396240">
                <a:tc>
                  <a:txBody>
                    <a:bodyPr/>
                    <a:lstStyle/>
                    <a:p>
                      <a:r>
                        <a:rPr lang="en-US" sz="1800" dirty="0">
                          <a:solidFill>
                            <a:schemeClr val="tx1"/>
                          </a:solidFill>
                          <a:latin typeface="Times New Roman Regular" panose="02020503050405090304" charset="0"/>
                          <a:cs typeface="Times New Roman Regular" panose="02020503050405090304" charset="0"/>
                        </a:rPr>
                        <a:t>Pattern</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Matches</a:t>
                      </a:r>
                      <a:endParaRPr lang="en-US" sz="1800" dirty="0">
                        <a:solidFill>
                          <a:schemeClr val="tx1"/>
                        </a:solidFill>
                        <a:latin typeface="Times New Roman Regular" panose="02020503050405090304" charset="0"/>
                        <a:cs typeface="Times New Roman Regular" panose="02020503050405090304" charset="0"/>
                      </a:endParaRPr>
                    </a:p>
                  </a:txBody>
                  <a:tcPr/>
                </a:tc>
                <a:tc>
                  <a:txBody>
                    <a:bodyPr/>
                    <a:lstStyle/>
                    <a:p>
                      <a:r>
                        <a:rPr lang="en-US" sz="1800" dirty="0">
                          <a:solidFill>
                            <a:schemeClr val="tx1"/>
                          </a:solidFill>
                          <a:latin typeface="Times New Roman Regular" panose="02020503050405090304" charset="0"/>
                          <a:cs typeface="Times New Roman Regular" panose="02020503050405090304" charset="0"/>
                        </a:rPr>
                        <a:t>Examples</a:t>
                      </a:r>
                      <a:endParaRPr lang="en-US" sz="1800" dirty="0">
                        <a:solidFill>
                          <a:schemeClr val="tx1"/>
                        </a:solidFill>
                        <a:latin typeface="Times New Roman Regular" panose="02020503050405090304" charset="0"/>
                        <a:cs typeface="Times New Roman Regular" panose="02020503050405090304" charset="0"/>
                      </a:endParaRP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err="1">
                          <a:solidFill>
                            <a:srgbClr val="CC0000"/>
                          </a:solidFill>
                          <a:latin typeface="Times New Roman Regular" panose="02020503050405090304" charset="0"/>
                          <a:cs typeface="Times New Roman Regular" panose="02020503050405090304" charset="0"/>
                        </a:rPr>
                        <a:t>beg.n</a:t>
                      </a:r>
                      <a:endParaRPr lang="en-US" sz="1800" dirty="0" err="1">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Any char</a:t>
                      </a:r>
                      <a:endParaRPr lang="en-US" sz="1800" dirty="0">
                        <a:latin typeface="Times New Roman Regular" panose="02020503050405090304" charset="0"/>
                        <a:cs typeface="Times New Roman Regular" panose="0202050305040509030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u="sng" dirty="0">
                          <a:solidFill>
                            <a:srgbClr val="0200FF"/>
                          </a:solidFill>
                          <a:latin typeface="Times New Roman Regular" panose="02020503050405090304" charset="0"/>
                          <a:cs typeface="Times New Roman Regular" panose="02020503050405090304" charset="0"/>
                        </a:rPr>
                        <a:t>begin</a:t>
                      </a:r>
                      <a:r>
                        <a:rPr lang="en-US" sz="1800" u="none" dirty="0">
                          <a:solidFill>
                            <a:srgbClr val="0200FF"/>
                          </a:solidFill>
                          <a:latin typeface="Times New Roman Regular" panose="02020503050405090304" charset="0"/>
                          <a:cs typeface="Times New Roman Regular" panose="02020503050405090304" charset="0"/>
                        </a:rPr>
                        <a:t>   </a:t>
                      </a:r>
                      <a:r>
                        <a:rPr lang="en-US" sz="1800" u="sng" baseline="0" dirty="0">
                          <a:solidFill>
                            <a:srgbClr val="0200FF"/>
                          </a:solidFill>
                          <a:latin typeface="Times New Roman Regular" panose="02020503050405090304" charset="0"/>
                          <a:cs typeface="Times New Roman Regular" panose="02020503050405090304" charset="0"/>
                        </a:rPr>
                        <a:t>begun beg3n</a:t>
                      </a:r>
                      <a:r>
                        <a:rPr lang="en-US" sz="1800" u="none" baseline="0" dirty="0">
                          <a:solidFill>
                            <a:srgbClr val="0200FF"/>
                          </a:solidFill>
                          <a:latin typeface="Times New Roman Regular" panose="02020503050405090304" charset="0"/>
                          <a:cs typeface="Times New Roman Regular" panose="02020503050405090304" charset="0"/>
                        </a:rPr>
                        <a:t>  </a:t>
                      </a:r>
                      <a:r>
                        <a:rPr lang="en-US" sz="1800" u="sng" baseline="0" dirty="0">
                          <a:solidFill>
                            <a:srgbClr val="0200FF"/>
                          </a:solidFill>
                          <a:latin typeface="Times New Roman Regular" panose="02020503050405090304" charset="0"/>
                          <a:cs typeface="Times New Roman Regular" panose="02020503050405090304" charset="0"/>
                        </a:rPr>
                        <a:t>beg n</a:t>
                      </a:r>
                      <a:endParaRPr lang="en-US" sz="1800" u="sng" baseline="0" dirty="0">
                        <a:solidFill>
                          <a:srgbClr val="0200FF"/>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woodchucks?</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latin typeface="Times New Roman Regular" panose="02020503050405090304" charset="0"/>
                          <a:cs typeface="Times New Roman Regular" panose="02020503050405090304" charset="0"/>
                        </a:rPr>
                        <a:t>Optional s</a:t>
                      </a:r>
                      <a:endParaRPr lang="en-US" sz="1800" dirty="0">
                        <a:latin typeface="Times New Roman Regular" panose="02020503050405090304" charset="0"/>
                        <a:cs typeface="Times New Roman Regular" panose="02020503050405090304" charset="0"/>
                      </a:endParaRPr>
                    </a:p>
                  </a:txBody>
                  <a:tcPr/>
                </a:tc>
                <a:tc>
                  <a:txBody>
                    <a:bodyPr/>
                    <a:lstStyle/>
                    <a:p>
                      <a:r>
                        <a:rPr lang="en-US" sz="1800" u="sng" dirty="0">
                          <a:solidFill>
                            <a:srgbClr val="0200FF"/>
                          </a:solidFill>
                          <a:latin typeface="Times New Roman Regular" panose="02020503050405090304" charset="0"/>
                          <a:cs typeface="Times New Roman Regular" panose="02020503050405090304" charset="0"/>
                        </a:rPr>
                        <a:t>woodchuck woodchucks</a:t>
                      </a:r>
                      <a:endParaRPr lang="en-US" sz="1800" u="sng" dirty="0">
                        <a:solidFill>
                          <a:srgbClr val="0200FF"/>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to*</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r>
                        <a:rPr lang="en-US" sz="1800" dirty="0">
                          <a:solidFill>
                            <a:srgbClr val="000000"/>
                          </a:solidFill>
                          <a:latin typeface="Times New Roman Regular" panose="02020503050405090304" charset="0"/>
                          <a:cs typeface="Times New Roman Regular" panose="02020503050405090304" charset="0"/>
                        </a:rPr>
                        <a:t>0 or more of previous char</a:t>
                      </a:r>
                      <a:endParaRPr lang="en-US" sz="1800" dirty="0">
                        <a:solidFill>
                          <a:srgbClr val="000000"/>
                        </a:solidFill>
                        <a:latin typeface="Times New Roman Regular" panose="02020503050405090304" charset="0"/>
                        <a:cs typeface="Times New Roman Regular" panose="0202050305040509030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u="sng" dirty="0">
                          <a:solidFill>
                            <a:srgbClr val="0200FF"/>
                          </a:solidFill>
                          <a:latin typeface="Times New Roman Regular" panose="02020503050405090304" charset="0"/>
                          <a:cs typeface="Times New Roman Regular" panose="02020503050405090304" charset="0"/>
                        </a:rPr>
                        <a:t>t</a:t>
                      </a:r>
                      <a:r>
                        <a:rPr lang="en-US" sz="1800" u="none" dirty="0">
                          <a:solidFill>
                            <a:srgbClr val="0200FF"/>
                          </a:solidFill>
                          <a:latin typeface="Times New Roman Regular" panose="02020503050405090304" charset="0"/>
                          <a:cs typeface="Times New Roman Regular" panose="02020503050405090304" charset="0"/>
                        </a:rPr>
                        <a:t> </a:t>
                      </a:r>
                      <a:r>
                        <a:rPr lang="en-US" sz="1800" u="sng" dirty="0">
                          <a:solidFill>
                            <a:srgbClr val="0200FF"/>
                          </a:solidFill>
                          <a:latin typeface="Times New Roman Regular" panose="02020503050405090304" charset="0"/>
                          <a:cs typeface="Times New Roman Regular" panose="02020503050405090304" charset="0"/>
                        </a:rPr>
                        <a:t>to</a:t>
                      </a:r>
                      <a:r>
                        <a:rPr lang="en-US" sz="1800" u="none" dirty="0">
                          <a:solidFill>
                            <a:srgbClr val="0200FF"/>
                          </a:solidFill>
                          <a:latin typeface="Times New Roman Regular" panose="02020503050405090304" charset="0"/>
                          <a:cs typeface="Times New Roman Regular" panose="02020503050405090304" charset="0"/>
                        </a:rPr>
                        <a:t> </a:t>
                      </a:r>
                      <a:r>
                        <a:rPr lang="en-US" sz="1800" u="sng" dirty="0">
                          <a:solidFill>
                            <a:srgbClr val="0200FF"/>
                          </a:solidFill>
                          <a:latin typeface="Times New Roman Regular" panose="02020503050405090304" charset="0"/>
                          <a:cs typeface="Times New Roman Regular" panose="02020503050405090304" charset="0"/>
                        </a:rPr>
                        <a:t>too</a:t>
                      </a:r>
                      <a:r>
                        <a:rPr lang="en-US" sz="1800" u="none" dirty="0">
                          <a:solidFill>
                            <a:srgbClr val="0200FF"/>
                          </a:solidFill>
                          <a:latin typeface="Times New Roman Regular" panose="02020503050405090304" charset="0"/>
                          <a:cs typeface="Times New Roman Regular" panose="02020503050405090304" charset="0"/>
                        </a:rPr>
                        <a:t> </a:t>
                      </a:r>
                      <a:r>
                        <a:rPr lang="en-US" sz="1800" u="sng" dirty="0" err="1">
                          <a:solidFill>
                            <a:srgbClr val="0200FF"/>
                          </a:solidFill>
                          <a:latin typeface="Times New Roman Regular" panose="02020503050405090304" charset="0"/>
                          <a:cs typeface="Times New Roman Regular" panose="02020503050405090304" charset="0"/>
                        </a:rPr>
                        <a:t>tooo</a:t>
                      </a:r>
                      <a:endParaRPr lang="en-US" sz="1800" u="sng" dirty="0" err="1">
                        <a:solidFill>
                          <a:srgbClr val="0200FF"/>
                        </a:solidFill>
                        <a:latin typeface="Times New Roman Regular" panose="02020503050405090304" charset="0"/>
                        <a:cs typeface="Times New Roman Regular" panose="02020503050405090304" charset="0"/>
                      </a:endParaRPr>
                    </a:p>
                  </a:txBody>
                  <a:tcPr/>
                </a:tc>
              </a:tr>
              <a:tr h="370840">
                <a:tc>
                  <a:txBody>
                    <a:bodyPr/>
                    <a:lstStyle/>
                    <a:p>
                      <a:r>
                        <a:rPr lang="en-US" sz="1800" dirty="0">
                          <a:solidFill>
                            <a:srgbClr val="CC0000"/>
                          </a:solidFill>
                          <a:latin typeface="Times New Roman Regular" panose="02020503050405090304" charset="0"/>
                          <a:cs typeface="Times New Roman Regular" panose="02020503050405090304" charset="0"/>
                        </a:rPr>
                        <a:t>to+</a:t>
                      </a:r>
                      <a:endParaRPr lang="en-US" sz="1800" dirty="0">
                        <a:solidFill>
                          <a:srgbClr val="CC0000"/>
                        </a:solidFill>
                        <a:latin typeface="Times New Roman Regular" panose="02020503050405090304" charset="0"/>
                        <a:cs typeface="Times New Roman Regular" panose="0202050305040509030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a:solidFill>
                            <a:srgbClr val="000000"/>
                          </a:solidFill>
                          <a:latin typeface="Times New Roman Regular" panose="02020503050405090304" charset="0"/>
                          <a:cs typeface="Times New Roman Regular" panose="02020503050405090304" charset="0"/>
                        </a:rPr>
                        <a:t>1 or more of previous char</a:t>
                      </a:r>
                      <a:endParaRPr lang="en-US" sz="1800" dirty="0">
                        <a:solidFill>
                          <a:srgbClr val="000000"/>
                        </a:solidFill>
                        <a:latin typeface="Times New Roman Regular" panose="02020503050405090304" charset="0"/>
                        <a:cs typeface="Times New Roman Regular" panose="0202050305040509030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u="sng" dirty="0">
                          <a:solidFill>
                            <a:srgbClr val="0200FF"/>
                          </a:solidFill>
                          <a:latin typeface="Times New Roman Regular" panose="02020503050405090304" charset="0"/>
                          <a:cs typeface="Times New Roman Regular" panose="02020503050405090304" charset="0"/>
                        </a:rPr>
                        <a:t>to</a:t>
                      </a:r>
                      <a:r>
                        <a:rPr lang="en-US" sz="1800" u="none" dirty="0">
                          <a:solidFill>
                            <a:srgbClr val="0200FF"/>
                          </a:solidFill>
                          <a:latin typeface="Times New Roman Regular" panose="02020503050405090304" charset="0"/>
                          <a:cs typeface="Times New Roman Regular" panose="02020503050405090304" charset="0"/>
                        </a:rPr>
                        <a:t> t</a:t>
                      </a:r>
                      <a:r>
                        <a:rPr lang="en-US" sz="1800" u="sng" dirty="0">
                          <a:solidFill>
                            <a:srgbClr val="0200FF"/>
                          </a:solidFill>
                          <a:latin typeface="Times New Roman Regular" panose="02020503050405090304" charset="0"/>
                          <a:cs typeface="Times New Roman Regular" panose="02020503050405090304" charset="0"/>
                        </a:rPr>
                        <a:t>oo</a:t>
                      </a:r>
                      <a:r>
                        <a:rPr lang="en-US" sz="1800" u="none" dirty="0">
                          <a:solidFill>
                            <a:srgbClr val="0200FF"/>
                          </a:solidFill>
                          <a:latin typeface="Times New Roman Regular" panose="02020503050405090304" charset="0"/>
                          <a:cs typeface="Times New Roman Regular" panose="02020503050405090304" charset="0"/>
                        </a:rPr>
                        <a:t> </a:t>
                      </a:r>
                      <a:r>
                        <a:rPr lang="en-US" sz="1800" u="none" dirty="0" err="1">
                          <a:solidFill>
                            <a:srgbClr val="0200FF"/>
                          </a:solidFill>
                          <a:latin typeface="Times New Roman Regular" panose="02020503050405090304" charset="0"/>
                          <a:cs typeface="Times New Roman Regular" panose="02020503050405090304" charset="0"/>
                        </a:rPr>
                        <a:t>t</a:t>
                      </a:r>
                      <a:r>
                        <a:rPr lang="en-US" sz="1800" u="sng" dirty="0" err="1">
                          <a:solidFill>
                            <a:srgbClr val="0200FF"/>
                          </a:solidFill>
                          <a:latin typeface="Times New Roman Regular" panose="02020503050405090304" charset="0"/>
                          <a:cs typeface="Times New Roman Regular" panose="02020503050405090304" charset="0"/>
                        </a:rPr>
                        <a:t>ooo</a:t>
                      </a:r>
                      <a:r>
                        <a:rPr lang="en-US" sz="1800" u="none" dirty="0">
                          <a:solidFill>
                            <a:srgbClr val="0200FF"/>
                          </a:solidFill>
                          <a:latin typeface="Times New Roman Regular" panose="02020503050405090304" charset="0"/>
                          <a:cs typeface="Times New Roman Regular" panose="02020503050405090304" charset="0"/>
                        </a:rPr>
                        <a:t> </a:t>
                      </a:r>
                      <a:r>
                        <a:rPr lang="en-US" sz="1800" u="none" dirty="0" err="1">
                          <a:solidFill>
                            <a:srgbClr val="0200FF"/>
                          </a:solidFill>
                          <a:latin typeface="Times New Roman Regular" panose="02020503050405090304" charset="0"/>
                          <a:cs typeface="Times New Roman Regular" panose="02020503050405090304" charset="0"/>
                        </a:rPr>
                        <a:t>t</a:t>
                      </a:r>
                      <a:r>
                        <a:rPr lang="en-US" sz="1800" u="sng" dirty="0" err="1">
                          <a:solidFill>
                            <a:srgbClr val="0200FF"/>
                          </a:solidFill>
                          <a:latin typeface="Times New Roman Regular" panose="02020503050405090304" charset="0"/>
                          <a:cs typeface="Times New Roman Regular" panose="02020503050405090304" charset="0"/>
                        </a:rPr>
                        <a:t>oooo</a:t>
                      </a:r>
                      <a:endParaRPr lang="en-US" sz="1800" u="sng" dirty="0" err="1">
                        <a:solidFill>
                          <a:srgbClr val="0200FF"/>
                        </a:solidFill>
                        <a:latin typeface="Times New Roman Regular" panose="02020503050405090304" charset="0"/>
                        <a:cs typeface="Times New Roman Regular" panose="02020503050405090304" charset="0"/>
                      </a:endParaRPr>
                    </a:p>
                  </a:txBody>
                  <a:tcPr/>
                </a:tc>
              </a:tr>
            </a:tbl>
          </a:graphicData>
        </a:graphic>
      </p:graphicFrame>
      <p:sp>
        <p:nvSpPr>
          <p:cNvPr id="4" name="TextBox 3"/>
          <p:cNvSpPr txBox="1"/>
          <p:nvPr/>
        </p:nvSpPr>
        <p:spPr>
          <a:xfrm>
            <a:off x="7162800" y="3764280"/>
            <a:ext cx="1761490" cy="306705"/>
          </a:xfrm>
          <a:prstGeom prst="rect">
            <a:avLst/>
          </a:prstGeom>
          <a:noFill/>
        </p:spPr>
        <p:txBody>
          <a:bodyPr wrap="square" rtlCol="0">
            <a:spAutoFit/>
          </a:bodyPr>
          <a:lstStyle/>
          <a:p>
            <a:r>
              <a:rPr lang="en-US" sz="1400" dirty="0" err="1">
                <a:latin typeface="+mn-lt"/>
              </a:rPr>
              <a:t>Kleene</a:t>
            </a:r>
            <a:r>
              <a:rPr lang="en-US" sz="1400" dirty="0">
                <a:latin typeface="+mn-lt"/>
              </a:rPr>
              <a:t> *,   </a:t>
            </a:r>
            <a:r>
              <a:rPr lang="en-US" sz="1400" dirty="0" err="1">
                <a:latin typeface="+mn-lt"/>
              </a:rPr>
              <a:t>Kleene</a:t>
            </a:r>
            <a:r>
              <a:rPr lang="en-US" sz="1400" dirty="0">
                <a:latin typeface="+mn-lt"/>
              </a:rPr>
              <a:t> +   </a:t>
            </a:r>
            <a:endParaRPr lang="en-US" sz="1400" dirty="0">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822960" y="119702"/>
            <a:ext cx="7543800" cy="680397"/>
          </a:xfrm>
        </p:spPr>
        <p:txBody>
          <a:bodyPr/>
          <a:lstStyle/>
          <a:p>
            <a:pPr eaLnBrk="1" hangingPunct="1"/>
            <a:r>
              <a:rPr lang="en-US" dirty="0"/>
              <a:t>Regular Expressions: Anchors  </a:t>
            </a:r>
            <a:r>
              <a:rPr lang="en-US" dirty="0">
                <a:solidFill>
                  <a:srgbClr val="FF0000"/>
                </a:solidFill>
              </a:rPr>
              <a:t>^   $</a:t>
            </a:r>
            <a:endParaRPr lang="en-US" dirty="0">
              <a:solidFill>
                <a:srgbClr val="FF0000"/>
              </a:solidFill>
            </a:endParaRPr>
          </a:p>
        </p:txBody>
      </p:sp>
      <p:graphicFrame>
        <p:nvGraphicFramePr>
          <p:cNvPr id="6" name="Table 5"/>
          <p:cNvGraphicFramePr>
            <a:graphicFrameLocks noGrp="1"/>
          </p:cNvGraphicFramePr>
          <p:nvPr/>
        </p:nvGraphicFramePr>
        <p:xfrm>
          <a:off x="1143000" y="1047750"/>
          <a:ext cx="4953000" cy="2286000"/>
        </p:xfrm>
        <a:graphic>
          <a:graphicData uri="http://schemas.openxmlformats.org/drawingml/2006/table">
            <a:tbl>
              <a:tblPr firstRow="1" bandRow="1">
                <a:tableStyleId>{5C22544A-7EE6-4342-B048-85BDC9FD1C3A}</a:tableStyleId>
              </a:tblPr>
              <a:tblGrid>
                <a:gridCol w="1981200"/>
                <a:gridCol w="2971800"/>
              </a:tblGrid>
              <a:tr h="396240">
                <a:tc>
                  <a:txBody>
                    <a:bodyPr/>
                    <a:lstStyle/>
                    <a:p>
                      <a:r>
                        <a:rPr lang="en-US" sz="2000" dirty="0">
                          <a:solidFill>
                            <a:schemeClr val="tx1"/>
                          </a:solidFill>
                        </a:rPr>
                        <a:t>Pattern</a:t>
                      </a:r>
                      <a:endParaRPr lang="en-US" sz="2000" dirty="0">
                        <a:solidFill>
                          <a:schemeClr val="tx1"/>
                        </a:solidFill>
                      </a:endParaRPr>
                    </a:p>
                  </a:txBody>
                  <a:tcPr/>
                </a:tc>
                <a:tc>
                  <a:txBody>
                    <a:bodyPr/>
                    <a:lstStyle/>
                    <a:p>
                      <a:r>
                        <a:rPr lang="en-US" sz="2000" dirty="0">
                          <a:solidFill>
                            <a:schemeClr val="tx1"/>
                          </a:solidFill>
                        </a:rPr>
                        <a:t>Matches</a:t>
                      </a:r>
                      <a:endParaRPr lang="en-US" sz="2000" dirty="0">
                        <a:solidFill>
                          <a:schemeClr val="tx1"/>
                        </a:solidFill>
                      </a:endParaRPr>
                    </a:p>
                  </a:txBody>
                  <a:tcPr/>
                </a:tc>
              </a:tr>
              <a:tr h="370840">
                <a:tc>
                  <a:txBody>
                    <a:bodyPr/>
                    <a:lstStyle/>
                    <a:p>
                      <a:r>
                        <a:rPr lang="en-US" sz="2000" dirty="0">
                          <a:solidFill>
                            <a:srgbClr val="CC3300"/>
                          </a:solidFill>
                          <a:latin typeface="Courier"/>
                          <a:cs typeface="Courier"/>
                        </a:rPr>
                        <a:t>^</a:t>
                      </a:r>
                      <a:r>
                        <a:rPr lang="en-US" sz="2000" dirty="0">
                          <a:latin typeface="Courier"/>
                          <a:cs typeface="Courier"/>
                        </a:rPr>
                        <a:t>[A-Z] </a:t>
                      </a:r>
                      <a:endParaRPr lang="en-US" sz="2000" dirty="0"/>
                    </a:p>
                  </a:txBody>
                  <a:tcPr/>
                </a:tc>
                <a:tc>
                  <a:txBody>
                    <a:bodyPr/>
                    <a:lstStyle/>
                    <a:p>
                      <a:r>
                        <a:rPr lang="en-US" sz="2000" u="sng" dirty="0">
                          <a:solidFill>
                            <a:srgbClr val="0000FF"/>
                          </a:solidFill>
                          <a:latin typeface="Courier"/>
                          <a:cs typeface="Courier"/>
                        </a:rPr>
                        <a:t>P</a:t>
                      </a:r>
                      <a:r>
                        <a:rPr lang="en-US" sz="2000" u="none" dirty="0">
                          <a:solidFill>
                            <a:srgbClr val="000000"/>
                          </a:solidFill>
                          <a:latin typeface="Courier"/>
                          <a:cs typeface="Courier"/>
                        </a:rPr>
                        <a:t>alo</a:t>
                      </a:r>
                      <a:r>
                        <a:rPr lang="en-US" sz="2000" u="none" baseline="0" dirty="0">
                          <a:solidFill>
                            <a:srgbClr val="000000"/>
                          </a:solidFill>
                          <a:latin typeface="Courier"/>
                          <a:cs typeface="Courier"/>
                        </a:rPr>
                        <a:t> Alto</a:t>
                      </a:r>
                      <a:endParaRPr lang="en-US" sz="2000" u="none" dirty="0">
                        <a:solidFill>
                          <a:srgbClr val="000000"/>
                        </a:solidFill>
                        <a:latin typeface="Courier"/>
                        <a:cs typeface="Courier"/>
                      </a:endParaRPr>
                    </a:p>
                  </a:txBody>
                  <a:tcPr/>
                </a:tc>
              </a:tr>
              <a:tr h="370840">
                <a:tc>
                  <a:txBody>
                    <a:bodyPr/>
                    <a:lstStyle/>
                    <a:p>
                      <a:r>
                        <a:rPr lang="en-US" sz="2000" dirty="0">
                          <a:solidFill>
                            <a:srgbClr val="CC3300"/>
                          </a:solidFill>
                          <a:latin typeface="Courier"/>
                          <a:cs typeface="Courier"/>
                        </a:rPr>
                        <a:t>^</a:t>
                      </a:r>
                      <a:r>
                        <a:rPr lang="en-US" sz="2000" dirty="0">
                          <a:latin typeface="Courier"/>
                          <a:cs typeface="Courier"/>
                        </a:rPr>
                        <a:t>[^A-</a:t>
                      </a:r>
                      <a:r>
                        <a:rPr lang="en-US" sz="2000" dirty="0" err="1">
                          <a:latin typeface="Courier"/>
                          <a:cs typeface="Courier"/>
                        </a:rPr>
                        <a:t>Za</a:t>
                      </a:r>
                      <a:r>
                        <a:rPr lang="en-US" sz="2000" dirty="0">
                          <a:latin typeface="Courier"/>
                          <a:cs typeface="Courier"/>
                        </a:rPr>
                        <a:t>-z]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000" u="sng" dirty="0">
                          <a:solidFill>
                            <a:srgbClr val="3366FF"/>
                          </a:solidFill>
                          <a:latin typeface="Courier"/>
                          <a:cs typeface="Courier"/>
                        </a:rPr>
                        <a:t>1</a:t>
                      </a:r>
                      <a:r>
                        <a:rPr lang="en-US" sz="2000" u="none" baseline="0" dirty="0">
                          <a:solidFill>
                            <a:srgbClr val="3366FF"/>
                          </a:solidFill>
                          <a:latin typeface="Courier"/>
                          <a:cs typeface="Courier"/>
                        </a:rPr>
                        <a:t>    </a:t>
                      </a:r>
                      <a:r>
                        <a:rPr lang="en-US" sz="2000" u="sng" baseline="0" dirty="0">
                          <a:solidFill>
                            <a:srgbClr val="3366FF"/>
                          </a:solidFill>
                          <a:latin typeface="Courier"/>
                          <a:cs typeface="Courier"/>
                        </a:rPr>
                        <a:t>“</a:t>
                      </a:r>
                      <a:r>
                        <a:rPr lang="en-US" sz="2000" u="none" baseline="0" dirty="0">
                          <a:solidFill>
                            <a:srgbClr val="000000"/>
                          </a:solidFill>
                          <a:latin typeface="Courier"/>
                          <a:cs typeface="Courier"/>
                        </a:rPr>
                        <a:t>Hello”</a:t>
                      </a:r>
                      <a:endParaRPr lang="en-US" sz="2000" u="none" dirty="0">
                        <a:solidFill>
                          <a:srgbClr val="000000"/>
                        </a:solidFill>
                        <a:latin typeface="Courier"/>
                        <a:cs typeface="Courier"/>
                      </a:endParaRPr>
                    </a:p>
                  </a:txBody>
                  <a:tcPr/>
                </a:tc>
              </a:tr>
              <a:tr h="370840">
                <a:tc>
                  <a:txBody>
                    <a:bodyPr/>
                    <a:lstStyle/>
                    <a:p>
                      <a:r>
                        <a:rPr lang="en-US" sz="2000" dirty="0">
                          <a:latin typeface="Courier"/>
                          <a:cs typeface="Courier"/>
                          <a:sym typeface="Wingdings" panose="05000000000000000000" pitchFamily="2" charset="2"/>
                        </a:rPr>
                        <a:t>\.</a:t>
                      </a:r>
                      <a:r>
                        <a:rPr lang="en-US" sz="2000" dirty="0">
                          <a:solidFill>
                            <a:srgbClr val="CC3300"/>
                          </a:solidFill>
                          <a:latin typeface="Courier"/>
                          <a:cs typeface="Courier"/>
                          <a:sym typeface="Wingdings" panose="05000000000000000000" pitchFamily="2" charset="2"/>
                        </a:rPr>
                        <a:t>$</a:t>
                      </a:r>
                      <a:r>
                        <a:rPr lang="en-US" sz="2000" dirty="0">
                          <a:latin typeface="Courier"/>
                          <a:cs typeface="Courier"/>
                          <a:sym typeface="Wingdings" panose="05000000000000000000" pitchFamily="2" charset="2"/>
                        </a:rPr>
                        <a:t>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000" u="none" dirty="0">
                          <a:solidFill>
                            <a:schemeClr val="tx1"/>
                          </a:solidFill>
                          <a:latin typeface="Courier"/>
                          <a:cs typeface="Courier"/>
                        </a:rPr>
                        <a:t>The end</a:t>
                      </a:r>
                      <a:r>
                        <a:rPr lang="en-US" sz="2000" u="sng" dirty="0">
                          <a:solidFill>
                            <a:srgbClr val="3366FF"/>
                          </a:solidFill>
                          <a:latin typeface="Courier"/>
                          <a:cs typeface="Courier"/>
                        </a:rPr>
                        <a:t>.</a:t>
                      </a:r>
                      <a:endParaRPr lang="en-US" sz="2000" u="none" dirty="0">
                        <a:solidFill>
                          <a:srgbClr val="000000"/>
                        </a:solidFill>
                        <a:latin typeface="Courier"/>
                        <a:cs typeface="Courier"/>
                      </a:endParaRPr>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000" dirty="0">
                          <a:latin typeface="Courier"/>
                          <a:cs typeface="Courier"/>
                          <a:sym typeface="Wingdings" panose="05000000000000000000" pitchFamily="2" charset="2"/>
                        </a:rPr>
                        <a:t>.</a:t>
                      </a:r>
                      <a:r>
                        <a:rPr lang="en-US" sz="2000" dirty="0">
                          <a:solidFill>
                            <a:srgbClr val="CC3300"/>
                          </a:solidFill>
                          <a:latin typeface="Courier"/>
                          <a:cs typeface="Courier"/>
                          <a:sym typeface="Wingdings" panose="05000000000000000000" pitchFamily="2" charset="2"/>
                        </a:rPr>
                        <a:t>$</a:t>
                      </a:r>
                      <a:r>
                        <a:rPr lang="en-US" sz="2000" dirty="0">
                          <a:latin typeface="Courier"/>
                          <a:cs typeface="Courier"/>
                          <a:sym typeface="Wingdings" panose="05000000000000000000" pitchFamily="2" charset="2"/>
                        </a:rPr>
                        <a:t>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2000" u="none" dirty="0">
                          <a:solidFill>
                            <a:schemeClr val="tx1"/>
                          </a:solidFill>
                          <a:latin typeface="Courier"/>
                          <a:cs typeface="Courier"/>
                        </a:rPr>
                        <a:t>The end</a:t>
                      </a:r>
                      <a:r>
                        <a:rPr lang="en-US" sz="2000" u="sng" dirty="0">
                          <a:solidFill>
                            <a:srgbClr val="3366FF"/>
                          </a:solidFill>
                          <a:latin typeface="Courier"/>
                          <a:cs typeface="Courier"/>
                        </a:rPr>
                        <a:t>?</a:t>
                      </a:r>
                      <a:r>
                        <a:rPr lang="en-US" sz="2000" u="none" baseline="0" dirty="0">
                          <a:solidFill>
                            <a:srgbClr val="3366FF"/>
                          </a:solidFill>
                          <a:latin typeface="Courier"/>
                          <a:cs typeface="Courier"/>
                        </a:rPr>
                        <a:t>  </a:t>
                      </a:r>
                      <a:r>
                        <a:rPr lang="en-US" sz="2000" u="none" dirty="0">
                          <a:solidFill>
                            <a:schemeClr val="tx1"/>
                          </a:solidFill>
                          <a:latin typeface="Courier"/>
                          <a:cs typeface="Courier"/>
                        </a:rPr>
                        <a:t>The end</a:t>
                      </a:r>
                      <a:r>
                        <a:rPr lang="en-US" sz="2000" u="sng" dirty="0">
                          <a:solidFill>
                            <a:srgbClr val="3366FF"/>
                          </a:solidFill>
                          <a:latin typeface="Courier"/>
                          <a:cs typeface="Courier"/>
                        </a:rPr>
                        <a:t>!</a:t>
                      </a:r>
                      <a:endParaRPr lang="en-US" sz="2000" u="none" dirty="0">
                        <a:solidFill>
                          <a:srgbClr val="000000"/>
                        </a:solidFill>
                        <a:latin typeface="Courier"/>
                        <a:cs typeface="Courier"/>
                      </a:endParaRPr>
                    </a:p>
                    <a:p>
                      <a:pPr marL="0" marR="0" indent="0" algn="l" defTabSz="457200" rtl="0" eaLnBrk="1" fontAlgn="auto" latinLnBrk="0" hangingPunct="1">
                        <a:lnSpc>
                          <a:spcPct val="100000"/>
                        </a:lnSpc>
                        <a:spcBef>
                          <a:spcPts val="0"/>
                        </a:spcBef>
                        <a:spcAft>
                          <a:spcPts val="0"/>
                        </a:spcAft>
                        <a:buClrTx/>
                        <a:buSzTx/>
                        <a:buFontTx/>
                        <a:buNone/>
                        <a:defRPr/>
                      </a:pPr>
                      <a:endParaRPr lang="en-US" sz="2000" u="none" dirty="0">
                        <a:solidFill>
                          <a:srgbClr val="000000"/>
                        </a:solidFill>
                        <a:latin typeface="Courier"/>
                        <a:cs typeface="Courier"/>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Content Placeholder 2"/>
          <p:cNvSpPr>
            <a:spLocks noGrp="1"/>
          </p:cNvSpPr>
          <p:nvPr>
            <p:ph idx="1"/>
          </p:nvPr>
        </p:nvSpPr>
        <p:spPr>
          <a:xfrm>
            <a:off x="457200" y="842757"/>
            <a:ext cx="7924800" cy="4002606"/>
          </a:xfrm>
        </p:spPr>
        <p:txBody>
          <a:bodyPr>
            <a:noAutofit/>
          </a:bodyPr>
          <a:lstStyle/>
          <a:p>
            <a:pPr lvl="1"/>
            <a:r>
              <a:rPr lang="en-US" sz="1800" dirty="0"/>
              <a:t>Regex and Python both use backslash "</a:t>
            </a:r>
            <a:r>
              <a:rPr lang="en-US" sz="1800" dirty="0"/>
              <a:t>\" for special characters. You must type extra backslashes!</a:t>
            </a:r>
            <a:endParaRPr lang="en-US" sz="1800" dirty="0"/>
          </a:p>
          <a:p>
            <a:pPr lvl="2"/>
            <a:r>
              <a:rPr lang="en-US" sz="1800" dirty="0"/>
              <a:t>"\\d+"  to search for 1 or more digits</a:t>
            </a:r>
            <a:endParaRPr lang="en-US" sz="1800" dirty="0"/>
          </a:p>
          <a:p>
            <a:pPr lvl="2"/>
            <a:r>
              <a:rPr lang="en-US" sz="1800" dirty="0"/>
              <a:t>"\n" in Python means the "newline" character, not a "slash" followed by an "n". Need </a:t>
            </a:r>
            <a:r>
              <a:rPr lang="en-US" sz="1800" dirty="0"/>
              <a:t>"\\n" for two characters.</a:t>
            </a:r>
            <a:endParaRPr lang="en-US" sz="1800" dirty="0"/>
          </a:p>
          <a:p>
            <a:pPr lvl="1"/>
            <a:r>
              <a:rPr lang="en-US" sz="1800" dirty="0"/>
              <a:t>Instead: use Python's </a:t>
            </a:r>
            <a:r>
              <a:rPr lang="en-US" sz="1800" b="1" dirty="0"/>
              <a:t>raw string notation </a:t>
            </a:r>
            <a:r>
              <a:rPr lang="en-US" sz="1800" dirty="0"/>
              <a:t>for regex:</a:t>
            </a:r>
            <a:endParaRPr lang="en-US" sz="1800" dirty="0"/>
          </a:p>
          <a:p>
            <a:pPr lvl="2"/>
            <a:r>
              <a:rPr lang="en-US" sz="1800" dirty="0"/>
              <a:t>r"[</a:t>
            </a:r>
            <a:r>
              <a:rPr lang="en-US" sz="1800" dirty="0" err="1"/>
              <a:t>tT</a:t>
            </a:r>
            <a:r>
              <a:rPr lang="en-US" sz="1800" dirty="0"/>
              <a:t>]he"</a:t>
            </a:r>
            <a:endParaRPr lang="en-US" sz="1800" dirty="0"/>
          </a:p>
          <a:p>
            <a:pPr lvl="2"/>
            <a:r>
              <a:rPr lang="en-US" sz="1800" dirty="0"/>
              <a:t>r"\d+" matches one or more digits</a:t>
            </a:r>
            <a:endParaRPr lang="en-US" sz="1800" dirty="0"/>
          </a:p>
          <a:p>
            <a:pPr lvl="3"/>
            <a:r>
              <a:rPr lang="en-US" sz="1800" dirty="0"/>
              <a:t>instead of </a:t>
            </a:r>
            <a:r>
              <a:rPr lang="en-US" sz="1800" dirty="0"/>
              <a:t>"\\d+"</a:t>
            </a:r>
            <a:endParaRPr lang="en-US" sz="1800" dirty="0"/>
          </a:p>
          <a:p>
            <a:pPr lvl="2"/>
            <a:endParaRPr lang="en-US" sz="1800" dirty="0"/>
          </a:p>
          <a:p>
            <a:pPr lvl="2"/>
            <a:endParaRPr lang="en-US" sz="1800" dirty="0"/>
          </a:p>
        </p:txBody>
      </p:sp>
      <p:sp>
        <p:nvSpPr>
          <p:cNvPr id="90114" name="Title 1"/>
          <p:cNvSpPr>
            <a:spLocks noGrp="1"/>
          </p:cNvSpPr>
          <p:nvPr>
            <p:ph type="title"/>
          </p:nvPr>
        </p:nvSpPr>
        <p:spPr>
          <a:xfrm>
            <a:off x="382270" y="120015"/>
            <a:ext cx="8380730" cy="680085"/>
          </a:xfrm>
        </p:spPr>
        <p:txBody>
          <a:bodyPr>
            <a:noAutofit/>
          </a:bodyPr>
          <a:lstStyle/>
          <a:p>
            <a:r>
              <a:rPr lang="en-US" dirty="0"/>
              <a:t>A note about Python regular expressions</a:t>
            </a:r>
            <a:endParaRPr lang="en-US" dirty="0"/>
          </a:p>
        </p:txBody>
      </p:sp>
      <p:sp>
        <p:nvSpPr>
          <p:cNvPr id="90118" name="Slide Number Placeholder 5"/>
          <p:cNvSpPr>
            <a:spLocks noGrp="1"/>
          </p:cNvSpPr>
          <p:nvPr>
            <p:ph type="sldNum" sz="quarter" idx="4294967295"/>
          </p:nvPr>
        </p:nvSpPr>
        <p:spPr>
          <a:xfrm>
            <a:off x="8159750" y="4845050"/>
            <a:ext cx="984250" cy="273050"/>
          </a:xfrm>
          <a:noFill/>
        </p:spPr>
        <p:txBody>
          <a:bodyPr/>
          <a:lstStyle/>
          <a:p>
            <a:fld id="{BB8C8334-E00B-3A45-A77B-332115BBC150}" type="slidenum">
              <a:rPr lang="en-US"/>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idx="1"/>
          </p:nvPr>
        </p:nvSpPr>
        <p:spPr>
          <a:xfrm>
            <a:off x="685800" y="819150"/>
            <a:ext cx="7543801" cy="4052248"/>
          </a:xfrm>
        </p:spPr>
        <p:txBody>
          <a:bodyPr>
            <a:normAutofit/>
          </a:bodyPr>
          <a:lstStyle/>
          <a:p>
            <a:pPr eaLnBrk="1" hangingPunct="1"/>
            <a:r>
              <a:rPr lang="en-US" sz="2000" dirty="0"/>
              <a:t>Find me all instances of the word “the” in a text.</a:t>
            </a:r>
            <a:endParaRPr lang="en-US" sz="2000" dirty="0"/>
          </a:p>
          <a:p>
            <a:pPr eaLnBrk="1" hangingPunct="1"/>
            <a:endParaRPr lang="en-US" sz="2000" dirty="0"/>
          </a:p>
          <a:p>
            <a:pPr marL="457200" lvl="1" indent="0" eaLnBrk="1" hangingPunct="1">
              <a:buNone/>
            </a:pPr>
            <a:r>
              <a:rPr lang="en-US" sz="2000" dirty="0">
                <a:solidFill>
                  <a:srgbClr val="A50021"/>
                </a:solidFill>
                <a:latin typeface="Courier"/>
                <a:cs typeface="Courier"/>
              </a:rPr>
              <a:t>the</a:t>
            </a:r>
            <a:endParaRPr lang="en-US" sz="2000" dirty="0">
              <a:solidFill>
                <a:srgbClr val="A50021"/>
              </a:solidFill>
              <a:latin typeface="Courier"/>
              <a:cs typeface="Courier"/>
            </a:endParaRPr>
          </a:p>
          <a:p>
            <a:pPr marL="800100" lvl="2" indent="0" eaLnBrk="1" hangingPunct="1">
              <a:buNone/>
            </a:pPr>
            <a:r>
              <a:rPr lang="en-US" dirty="0">
                <a:solidFill>
                  <a:srgbClr val="000000"/>
                </a:solidFill>
                <a:latin typeface="Calibri"/>
                <a:cs typeface="Calibri"/>
              </a:rPr>
              <a:t>Misses capitalized examples</a:t>
            </a:r>
            <a:endParaRPr lang="en-US" dirty="0">
              <a:solidFill>
                <a:srgbClr val="000000"/>
              </a:solidFill>
              <a:latin typeface="Calibri"/>
              <a:cs typeface="Calibri"/>
            </a:endParaRPr>
          </a:p>
          <a:p>
            <a:pPr marL="800100" lvl="2" indent="0" eaLnBrk="1" hangingPunct="1">
              <a:buNone/>
            </a:pPr>
            <a:endParaRPr lang="en-US" dirty="0">
              <a:solidFill>
                <a:srgbClr val="000000"/>
              </a:solidFill>
              <a:latin typeface="Calibri"/>
              <a:cs typeface="Calibri"/>
            </a:endParaRPr>
          </a:p>
          <a:p>
            <a:pPr marL="457200" lvl="1" indent="0" eaLnBrk="1" hangingPunct="1">
              <a:buNone/>
            </a:pPr>
            <a:r>
              <a:rPr lang="en-US" sz="2000" dirty="0">
                <a:solidFill>
                  <a:srgbClr val="009900"/>
                </a:solidFill>
                <a:latin typeface="Courier"/>
                <a:cs typeface="Courier"/>
              </a:rPr>
              <a:t>[</a:t>
            </a:r>
            <a:r>
              <a:rPr lang="en-US" sz="2000" dirty="0" err="1">
                <a:solidFill>
                  <a:srgbClr val="009900"/>
                </a:solidFill>
                <a:latin typeface="Courier"/>
                <a:cs typeface="Courier"/>
              </a:rPr>
              <a:t>tT</a:t>
            </a:r>
            <a:r>
              <a:rPr lang="en-US" sz="2000" dirty="0">
                <a:solidFill>
                  <a:srgbClr val="009900"/>
                </a:solidFill>
                <a:latin typeface="Courier"/>
                <a:cs typeface="Courier"/>
              </a:rPr>
              <a:t>]he</a:t>
            </a:r>
            <a:endParaRPr lang="en-US" sz="2000" dirty="0">
              <a:solidFill>
                <a:srgbClr val="009900"/>
              </a:solidFill>
              <a:latin typeface="Courier"/>
              <a:cs typeface="Courier"/>
            </a:endParaRPr>
          </a:p>
          <a:p>
            <a:pPr marL="800100" lvl="2" indent="0" eaLnBrk="1" hangingPunct="1">
              <a:buNone/>
            </a:pPr>
            <a:r>
              <a:rPr lang="en-US" dirty="0">
                <a:latin typeface="Calibri"/>
                <a:cs typeface="Calibri"/>
              </a:rPr>
              <a:t>Incorrectly returns </a:t>
            </a:r>
            <a:r>
              <a:rPr lang="en-US" dirty="0">
                <a:latin typeface="Courier"/>
                <a:cs typeface="Courier"/>
              </a:rPr>
              <a:t>other</a:t>
            </a:r>
            <a:r>
              <a:rPr lang="en-US" dirty="0">
                <a:latin typeface="Calibri"/>
                <a:cs typeface="Calibri"/>
              </a:rPr>
              <a:t> or </a:t>
            </a:r>
            <a:r>
              <a:rPr lang="en-US" dirty="0">
                <a:latin typeface="Courier"/>
                <a:cs typeface="Calibri"/>
              </a:rPr>
              <a:t>T</a:t>
            </a:r>
            <a:r>
              <a:rPr lang="en-US" dirty="0">
                <a:latin typeface="Courier"/>
                <a:cs typeface="Courier"/>
              </a:rPr>
              <a:t>heology</a:t>
            </a:r>
            <a:endParaRPr lang="en-US" dirty="0">
              <a:latin typeface="Courier"/>
              <a:cs typeface="Courier"/>
            </a:endParaRPr>
          </a:p>
          <a:p>
            <a:pPr marL="800100" lvl="2" indent="0" eaLnBrk="1" hangingPunct="1">
              <a:buNone/>
            </a:pPr>
            <a:endParaRPr lang="en-US" dirty="0">
              <a:latin typeface="Courier"/>
              <a:cs typeface="Courier"/>
            </a:endParaRPr>
          </a:p>
          <a:p>
            <a:pPr marL="457200" lvl="1" indent="0" eaLnBrk="1" hangingPunct="1">
              <a:buNone/>
            </a:pPr>
            <a:r>
              <a:rPr lang="en-US" sz="2000" dirty="0">
                <a:solidFill>
                  <a:srgbClr val="0066FF"/>
                </a:solidFill>
                <a:latin typeface="Courier"/>
                <a:cs typeface="Courier"/>
              </a:rPr>
              <a:t>\W</a:t>
            </a:r>
            <a:r>
              <a:rPr lang="en-US" sz="2000" dirty="0">
                <a:solidFill>
                  <a:srgbClr val="CC3300"/>
                </a:solidFill>
                <a:latin typeface="Courier"/>
                <a:cs typeface="Courier"/>
              </a:rPr>
              <a:t>[</a:t>
            </a:r>
            <a:r>
              <a:rPr lang="en-US" sz="2000" dirty="0" err="1">
                <a:solidFill>
                  <a:srgbClr val="CC3300"/>
                </a:solidFill>
                <a:latin typeface="Courier"/>
                <a:cs typeface="Courier"/>
              </a:rPr>
              <a:t>tT</a:t>
            </a:r>
            <a:r>
              <a:rPr lang="en-US" sz="2000" dirty="0">
                <a:solidFill>
                  <a:srgbClr val="CC3300"/>
                </a:solidFill>
                <a:latin typeface="Courier"/>
                <a:cs typeface="Courier"/>
              </a:rPr>
              <a:t>]</a:t>
            </a:r>
            <a:r>
              <a:rPr lang="en-US" sz="2000" dirty="0">
                <a:latin typeface="Courier"/>
                <a:cs typeface="Courier"/>
              </a:rPr>
              <a:t>he</a:t>
            </a:r>
            <a:r>
              <a:rPr lang="en-US" sz="2000" dirty="0">
                <a:solidFill>
                  <a:srgbClr val="0066FF"/>
                </a:solidFill>
                <a:latin typeface="Courier"/>
                <a:cs typeface="Courier"/>
              </a:rPr>
              <a:t>\W</a:t>
            </a:r>
            <a:endParaRPr lang="en-US" sz="2000" dirty="0">
              <a:solidFill>
                <a:srgbClr val="0066FF"/>
              </a:solidFill>
              <a:latin typeface="Courier"/>
              <a:cs typeface="Courier"/>
            </a:endParaRPr>
          </a:p>
        </p:txBody>
      </p:sp>
      <p:sp>
        <p:nvSpPr>
          <p:cNvPr id="81922" name="Rectangle 2"/>
          <p:cNvSpPr>
            <a:spLocks noGrp="1" noChangeArrowheads="1"/>
          </p:cNvSpPr>
          <p:nvPr>
            <p:ph type="title"/>
          </p:nvPr>
        </p:nvSpPr>
        <p:spPr>
          <a:xfrm>
            <a:off x="451485" y="120015"/>
            <a:ext cx="7915275" cy="680085"/>
          </a:xfrm>
        </p:spPr>
        <p:txBody>
          <a:bodyPr/>
          <a:lstStyle/>
          <a:p>
            <a:pPr eaLnBrk="1" hangingPunct="1"/>
            <a:r>
              <a:rPr lang="en-US" dirty="0"/>
              <a:t>The iterative process of writing regex's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3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52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52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523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52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a:xfrm>
            <a:off x="762001" y="819150"/>
            <a:ext cx="7330440" cy="4095750"/>
          </a:xfrm>
        </p:spPr>
        <p:txBody>
          <a:bodyPr>
            <a:normAutofit/>
          </a:bodyPr>
          <a:lstStyle/>
          <a:p>
            <a:pPr marL="0" indent="0" eaLnBrk="1" hangingPunct="1">
              <a:buNone/>
            </a:pPr>
            <a:r>
              <a:rPr lang="en-US" sz="2000" dirty="0"/>
              <a:t>The process we just went through was based on </a:t>
            </a:r>
            <a:r>
              <a:rPr lang="en-US" sz="2000" dirty="0">
                <a:solidFill>
                  <a:srgbClr val="A50021"/>
                </a:solidFill>
              </a:rPr>
              <a:t>fixing two kinds of errors:</a:t>
            </a:r>
            <a:endParaRPr lang="en-US" sz="2000" dirty="0">
              <a:solidFill>
                <a:srgbClr val="A50021"/>
              </a:solidFill>
            </a:endParaRPr>
          </a:p>
          <a:p>
            <a:pPr marL="287655" lvl="2" indent="0" eaLnBrk="1" hangingPunct="1">
              <a:buNone/>
            </a:pPr>
            <a:endParaRPr lang="en-US" dirty="0">
              <a:solidFill>
                <a:srgbClr val="A50021"/>
              </a:solidFill>
            </a:endParaRPr>
          </a:p>
          <a:p>
            <a:pPr marL="608330" lvl="1" indent="-457200" eaLnBrk="1" hangingPunct="1">
              <a:buFont typeface="+mj-lt"/>
              <a:buAutoNum type="arabicPeriod"/>
            </a:pPr>
            <a:r>
              <a:rPr lang="en-US" sz="2000" dirty="0"/>
              <a:t>Not matching things that we should have matched (The)</a:t>
            </a:r>
            <a:endParaRPr lang="en-US" sz="2000" dirty="0"/>
          </a:p>
          <a:p>
            <a:pPr marL="288290" lvl="2" indent="0" eaLnBrk="1" hangingPunct="1">
              <a:buNone/>
            </a:pPr>
            <a:r>
              <a:rPr lang="en-US" b="1" dirty="0">
                <a:solidFill>
                  <a:srgbClr val="A50021"/>
                </a:solidFill>
              </a:rPr>
              <a:t>False negatives</a:t>
            </a:r>
            <a:endParaRPr lang="en-US" b="1" dirty="0">
              <a:solidFill>
                <a:srgbClr val="A50021"/>
              </a:solidFill>
            </a:endParaRPr>
          </a:p>
          <a:p>
            <a:pPr marL="288290" lvl="2" indent="0" eaLnBrk="1" hangingPunct="1">
              <a:buNone/>
            </a:pPr>
            <a:endParaRPr lang="en-US" b="1" dirty="0">
              <a:solidFill>
                <a:srgbClr val="A50021"/>
              </a:solidFill>
            </a:endParaRPr>
          </a:p>
          <a:p>
            <a:pPr marL="608330" lvl="1" indent="-457200" eaLnBrk="1" hangingPunct="1">
              <a:buFont typeface="+mj-lt"/>
              <a:buAutoNum type="arabicPeriod"/>
            </a:pPr>
            <a:r>
              <a:rPr lang="en-US" sz="2000" dirty="0"/>
              <a:t>Matching strings that we should not have matched (</a:t>
            </a:r>
            <a:r>
              <a:rPr lang="en-US" sz="2000" dirty="0">
                <a:solidFill>
                  <a:srgbClr val="A50021"/>
                </a:solidFill>
              </a:rPr>
              <a:t>the</a:t>
            </a:r>
            <a:r>
              <a:rPr lang="en-US" sz="2000" dirty="0"/>
              <a:t>re, </a:t>
            </a:r>
            <a:r>
              <a:rPr lang="en-US" sz="2000" dirty="0">
                <a:solidFill>
                  <a:srgbClr val="A50021"/>
                </a:solidFill>
              </a:rPr>
              <a:t>the</a:t>
            </a:r>
            <a:r>
              <a:rPr lang="en-US" sz="2000" dirty="0"/>
              <a:t>n, o</a:t>
            </a:r>
            <a:r>
              <a:rPr lang="en-US" sz="2000" dirty="0">
                <a:solidFill>
                  <a:srgbClr val="A50021"/>
                </a:solidFill>
              </a:rPr>
              <a:t>the</a:t>
            </a:r>
            <a:r>
              <a:rPr lang="en-US" sz="2000" dirty="0"/>
              <a:t>r)</a:t>
            </a:r>
            <a:endParaRPr lang="en-US" sz="2000" dirty="0"/>
          </a:p>
          <a:p>
            <a:pPr marL="288290" lvl="2" indent="0" eaLnBrk="1" hangingPunct="1">
              <a:buNone/>
            </a:pPr>
            <a:r>
              <a:rPr lang="en-US" b="1" dirty="0">
                <a:solidFill>
                  <a:srgbClr val="A50021"/>
                </a:solidFill>
              </a:rPr>
              <a:t>False positives</a:t>
            </a:r>
            <a:endParaRPr lang="en-US" b="1" dirty="0">
              <a:solidFill>
                <a:srgbClr val="A50021"/>
              </a:solidFill>
            </a:endParaRPr>
          </a:p>
        </p:txBody>
      </p:sp>
      <p:sp>
        <p:nvSpPr>
          <p:cNvPr id="83970" name="Rectangle 2"/>
          <p:cNvSpPr>
            <a:spLocks noGrp="1" noChangeArrowheads="1"/>
          </p:cNvSpPr>
          <p:nvPr>
            <p:ph type="title"/>
          </p:nvPr>
        </p:nvSpPr>
        <p:spPr>
          <a:xfrm>
            <a:off x="822960" y="119702"/>
            <a:ext cx="7543800" cy="680397"/>
          </a:xfrm>
        </p:spPr>
        <p:txBody>
          <a:bodyPr/>
          <a:lstStyle/>
          <a:p>
            <a:pPr eaLnBrk="1" hangingPunct="1"/>
            <a:r>
              <a:rPr lang="en-US" dirty="0"/>
              <a:t>False positives and false negatives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a:xfrm>
            <a:off x="822960" y="895350"/>
            <a:ext cx="8016240" cy="3429000"/>
          </a:xfrm>
        </p:spPr>
        <p:txBody>
          <a:bodyPr/>
          <a:lstStyle/>
          <a:p>
            <a:pPr marL="0" indent="0">
              <a:buNone/>
            </a:pPr>
            <a:r>
              <a:rPr lang="en-US" sz="2000" dirty="0"/>
              <a:t>In NLP we are always dealing with these kinds of errors.</a:t>
            </a:r>
            <a:endParaRPr lang="en-US" sz="2000" dirty="0"/>
          </a:p>
          <a:p>
            <a:pPr marL="0" indent="0">
              <a:lnSpc>
                <a:spcPct val="100000"/>
              </a:lnSpc>
              <a:buNone/>
            </a:pPr>
            <a:r>
              <a:rPr lang="en-US" sz="2000" dirty="0"/>
              <a:t>Reducing the error rate for an application often involves two antagonistic efforts: </a:t>
            </a:r>
            <a:endParaRPr lang="en-US" sz="2000" dirty="0"/>
          </a:p>
          <a:p>
            <a:pPr lvl="1"/>
            <a:r>
              <a:rPr lang="en-US" sz="1800" dirty="0">
                <a:solidFill>
                  <a:srgbClr val="008000"/>
                </a:solidFill>
              </a:rPr>
              <a:t>Increasing coverage (or </a:t>
            </a:r>
            <a:r>
              <a:rPr lang="en-US" sz="1800" i="1" dirty="0">
                <a:solidFill>
                  <a:srgbClr val="008000"/>
                </a:solidFill>
              </a:rPr>
              <a:t>recall</a:t>
            </a:r>
            <a:r>
              <a:rPr lang="en-US" sz="1800" dirty="0">
                <a:solidFill>
                  <a:srgbClr val="008000"/>
                </a:solidFill>
              </a:rPr>
              <a:t>) </a:t>
            </a:r>
            <a:r>
              <a:rPr lang="en-US" sz="1800" dirty="0"/>
              <a:t>(minimizing false negatives).</a:t>
            </a:r>
            <a:endParaRPr lang="en-US" sz="1800" dirty="0"/>
          </a:p>
          <a:p>
            <a:pPr lvl="1"/>
            <a:r>
              <a:rPr lang="en-US" sz="1800" dirty="0">
                <a:solidFill>
                  <a:srgbClr val="008000"/>
                </a:solidFill>
              </a:rPr>
              <a:t>Increasing accuracy (or </a:t>
            </a:r>
            <a:r>
              <a:rPr lang="en-US" sz="1800" i="1" dirty="0">
                <a:solidFill>
                  <a:srgbClr val="008000"/>
                </a:solidFill>
              </a:rPr>
              <a:t>precision</a:t>
            </a:r>
            <a:r>
              <a:rPr lang="en-US" sz="1800" dirty="0">
                <a:solidFill>
                  <a:srgbClr val="008000"/>
                </a:solidFill>
              </a:rPr>
              <a:t>) </a:t>
            </a:r>
            <a:r>
              <a:rPr lang="en-US" sz="1800" dirty="0"/>
              <a:t>(minimizing false positives)</a:t>
            </a:r>
            <a:endParaRPr lang="en-US" sz="1800" dirty="0"/>
          </a:p>
        </p:txBody>
      </p:sp>
      <p:sp>
        <p:nvSpPr>
          <p:cNvPr id="86018" name="Rectangle 2"/>
          <p:cNvSpPr>
            <a:spLocks noGrp="1" noChangeArrowheads="1"/>
          </p:cNvSpPr>
          <p:nvPr>
            <p:ph type="title"/>
          </p:nvPr>
        </p:nvSpPr>
        <p:spPr>
          <a:xfrm>
            <a:off x="822960" y="119702"/>
            <a:ext cx="7543800" cy="680397"/>
          </a:xfrm>
        </p:spPr>
        <p:txBody>
          <a:bodyPr/>
          <a:lstStyle/>
          <a:p>
            <a:r>
              <a:rPr lang="en-US" dirty="0"/>
              <a:t>Characterizing work on NLP</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Content Placeholder 2"/>
          <p:cNvSpPr>
            <a:spLocks noGrp="1"/>
          </p:cNvSpPr>
          <p:nvPr>
            <p:ph idx="1"/>
          </p:nvPr>
        </p:nvSpPr>
        <p:spPr>
          <a:xfrm>
            <a:off x="533400" y="1200150"/>
            <a:ext cx="7543801" cy="3200400"/>
          </a:xfrm>
        </p:spPr>
        <p:txBody>
          <a:bodyPr>
            <a:normAutofit/>
          </a:bodyPr>
          <a:lstStyle/>
          <a:p>
            <a:pPr marL="151130" lvl="1" indent="0">
              <a:buNone/>
            </a:pPr>
            <a:r>
              <a:rPr lang="en-US" sz="2800" dirty="0"/>
              <a:t>Widely used in both academics and industry</a:t>
            </a:r>
            <a:endParaRPr lang="en-US" sz="2800" dirty="0"/>
          </a:p>
          <a:p>
            <a:pPr marL="151130" lvl="1" indent="0">
              <a:buNone/>
            </a:pPr>
            <a:endParaRPr lang="en-US" sz="1400" dirty="0"/>
          </a:p>
          <a:p>
            <a:pPr marL="744855" lvl="2" indent="-457200">
              <a:buFont typeface="+mj-lt"/>
              <a:buAutoNum type="arabicPeriod"/>
            </a:pPr>
            <a:r>
              <a:rPr lang="en-US" sz="2400" dirty="0"/>
              <a:t>Part of most text processing tasks, even for big neural language model pipelines</a:t>
            </a:r>
            <a:endParaRPr lang="en-US" sz="2400" dirty="0"/>
          </a:p>
          <a:p>
            <a:pPr lvl="3"/>
            <a:r>
              <a:rPr lang="en-US" sz="2400" dirty="0"/>
              <a:t>including text formatting and pre-processing</a:t>
            </a:r>
            <a:endParaRPr lang="en-US" sz="2400" dirty="0"/>
          </a:p>
          <a:p>
            <a:pPr lvl="3"/>
            <a:endParaRPr lang="en-US" sz="900" dirty="0"/>
          </a:p>
          <a:p>
            <a:pPr marL="744855" lvl="2" indent="-457200">
              <a:buFont typeface="+mj-lt"/>
              <a:buAutoNum type="arabicPeriod"/>
            </a:pPr>
            <a:r>
              <a:rPr lang="en-US" sz="2400" dirty="0"/>
              <a:t>Very useful for data analysis of any text data</a:t>
            </a:r>
            <a:endParaRPr lang="en-US" sz="2400" dirty="0"/>
          </a:p>
        </p:txBody>
      </p:sp>
      <p:sp>
        <p:nvSpPr>
          <p:cNvPr id="90114" name="Title 1"/>
          <p:cNvSpPr>
            <a:spLocks noGrp="1"/>
          </p:cNvSpPr>
          <p:nvPr>
            <p:ph type="title"/>
          </p:nvPr>
        </p:nvSpPr>
        <p:spPr>
          <a:xfrm>
            <a:off x="207010" y="120015"/>
            <a:ext cx="8854440" cy="680085"/>
          </a:xfrm>
        </p:spPr>
        <p:txBody>
          <a:bodyPr>
            <a:noAutofit/>
          </a:bodyPr>
          <a:lstStyle/>
          <a:p>
            <a:r>
              <a:rPr lang="en-US" sz="2400" dirty="0"/>
              <a:t>Regular expressions play a surprisingly large role</a:t>
            </a:r>
            <a:endParaRPr lang="en-US" sz="2400" dirty="0"/>
          </a:p>
        </p:txBody>
      </p:sp>
      <p:sp>
        <p:nvSpPr>
          <p:cNvPr id="90118" name="Slide Number Placeholder 5"/>
          <p:cNvSpPr>
            <a:spLocks noGrp="1"/>
          </p:cNvSpPr>
          <p:nvPr>
            <p:ph type="sldNum" sz="quarter" idx="4294967295"/>
          </p:nvPr>
        </p:nvSpPr>
        <p:spPr>
          <a:xfrm>
            <a:off x="8159750" y="4845050"/>
            <a:ext cx="984250" cy="273050"/>
          </a:xfrm>
          <a:noFill/>
        </p:spPr>
        <p:txBody>
          <a:bodyPr/>
          <a:lstStyle/>
          <a:p>
            <a:fld id="{BB8C8334-E00B-3A45-A77B-332115BBC150}" type="slidenum">
              <a:rPr lang="en-US"/>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657350" y="1271515"/>
            <a:ext cx="5829300" cy="1753082"/>
          </a:xfrm>
        </p:spPr>
        <p:txBody>
          <a:bodyPr>
            <a:noAutofit/>
          </a:bodyPr>
          <a:lstStyle/>
          <a:p>
            <a:r>
              <a:rPr lang="en-US" altLang="zh-CN" sz="4800" cap="all" dirty="0">
                <a:solidFill>
                  <a:srgbClr val="000044"/>
                </a:solidFill>
                <a:cs typeface="DIN-Regular"/>
              </a:rPr>
              <a:t>Word</a:t>
            </a:r>
            <a:r>
              <a:rPr lang="zh-CN" altLang="en-US" sz="4800" cap="all" dirty="0">
                <a:solidFill>
                  <a:srgbClr val="000044"/>
                </a:solidFill>
                <a:cs typeface="DIN-Regular"/>
              </a:rPr>
              <a:t> </a:t>
            </a:r>
            <a:r>
              <a:rPr lang="en-US" altLang="zh-CN" sz="4800" cap="all" dirty="0">
                <a:solidFill>
                  <a:srgbClr val="000044"/>
                </a:solidFill>
                <a:cs typeface="DIN-Regular"/>
              </a:rPr>
              <a:t>and Corpora</a:t>
            </a:r>
            <a:endParaRPr lang="en-US" altLang="zh-CN" sz="4800" cap="all" dirty="0">
              <a:solidFill>
                <a:srgbClr val="000044"/>
              </a:solidFill>
              <a:cs typeface="DIN-Regular"/>
            </a:endParaRPr>
          </a:p>
        </p:txBody>
      </p:sp>
      <p:pic>
        <p:nvPicPr>
          <p:cNvPr id="7" name="Picture 6"/>
          <p:cNvPicPr>
            <a:picLocks noChangeAspect="1"/>
          </p:cNvPicPr>
          <p:nvPr/>
        </p:nvPicPr>
        <p:blipFill>
          <a:blip r:embed="rId1"/>
          <a:stretch>
            <a:fillRect/>
          </a:stretch>
        </p:blipFill>
        <p:spPr>
          <a:xfrm>
            <a:off x="3314595" y="3959889"/>
            <a:ext cx="2517130"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647700" y="895350"/>
            <a:ext cx="7543801" cy="3429000"/>
          </a:xfrm>
        </p:spPr>
        <p:txBody>
          <a:bodyPr>
            <a:normAutofit/>
          </a:bodyPr>
          <a:lstStyle/>
          <a:p>
            <a:r>
              <a:rPr lang="en-US" sz="2400" dirty="0"/>
              <a:t>"I do uh main- mainly business data processing"</a:t>
            </a:r>
            <a:endParaRPr lang="en-US" sz="2400" dirty="0"/>
          </a:p>
          <a:p>
            <a:pPr lvl="1"/>
            <a:r>
              <a:rPr lang="en-US" sz="2000" dirty="0"/>
              <a:t>Fragments, filled pauses</a:t>
            </a:r>
            <a:endParaRPr lang="en-US" sz="2000" dirty="0"/>
          </a:p>
          <a:p>
            <a:r>
              <a:rPr lang="en-US" sz="2400" dirty="0"/>
              <a:t>"Seuss’s </a:t>
            </a:r>
            <a:r>
              <a:rPr lang="en-US" sz="2400" dirty="0">
                <a:solidFill>
                  <a:srgbClr val="FF0000"/>
                </a:solidFill>
              </a:rPr>
              <a:t>cat </a:t>
            </a:r>
            <a:r>
              <a:rPr lang="en-US" sz="2400" dirty="0"/>
              <a:t>in the hat is different from other</a:t>
            </a:r>
            <a:r>
              <a:rPr lang="en-US" sz="2400" dirty="0">
                <a:solidFill>
                  <a:srgbClr val="FF0000"/>
                </a:solidFill>
              </a:rPr>
              <a:t> cats!" </a:t>
            </a:r>
            <a:endParaRPr lang="en-US" sz="2400" dirty="0"/>
          </a:p>
          <a:p>
            <a:pPr lvl="1"/>
            <a:r>
              <a:rPr lang="en-US" sz="2000" b="1" dirty="0"/>
              <a:t>Lemma</a:t>
            </a:r>
            <a:r>
              <a:rPr lang="en-US" sz="2000" dirty="0"/>
              <a:t>: same stem, part of speech, rough word sense</a:t>
            </a:r>
            <a:endParaRPr lang="en-US" sz="2000" dirty="0"/>
          </a:p>
          <a:p>
            <a:pPr lvl="2"/>
            <a:r>
              <a:rPr lang="en-US" dirty="0">
                <a:solidFill>
                  <a:srgbClr val="FF0000"/>
                </a:solidFill>
              </a:rPr>
              <a:t>cat </a:t>
            </a:r>
            <a:r>
              <a:rPr lang="en-US" dirty="0"/>
              <a:t>and </a:t>
            </a:r>
            <a:r>
              <a:rPr lang="en-US" dirty="0">
                <a:solidFill>
                  <a:srgbClr val="FF0000"/>
                </a:solidFill>
              </a:rPr>
              <a:t>cats </a:t>
            </a:r>
            <a:r>
              <a:rPr lang="en-US" dirty="0"/>
              <a:t>= same lemma</a:t>
            </a:r>
            <a:endParaRPr lang="en-US" dirty="0"/>
          </a:p>
          <a:p>
            <a:pPr lvl="1"/>
            <a:r>
              <a:rPr lang="en-US" sz="2000" b="1" dirty="0" err="1"/>
              <a:t>Wordform</a:t>
            </a:r>
            <a:r>
              <a:rPr lang="en-US" sz="2000" dirty="0"/>
              <a:t>: the full inflected surface form</a:t>
            </a:r>
            <a:endParaRPr lang="en-US" sz="2000" dirty="0"/>
          </a:p>
          <a:p>
            <a:pPr lvl="2"/>
            <a:r>
              <a:rPr lang="en-US" dirty="0">
                <a:solidFill>
                  <a:srgbClr val="FF0000"/>
                </a:solidFill>
              </a:rPr>
              <a:t>cat </a:t>
            </a:r>
            <a:r>
              <a:rPr lang="en-US" dirty="0"/>
              <a:t>and </a:t>
            </a:r>
            <a:r>
              <a:rPr lang="en-US" dirty="0">
                <a:solidFill>
                  <a:srgbClr val="FF0000"/>
                </a:solidFill>
              </a:rPr>
              <a:t>cats </a:t>
            </a:r>
            <a:r>
              <a:rPr lang="en-US" dirty="0"/>
              <a:t>= different </a:t>
            </a:r>
            <a:r>
              <a:rPr lang="en-US" dirty="0" err="1"/>
              <a:t>wordforms</a:t>
            </a:r>
            <a:endParaRPr lang="en-US" dirty="0" err="1"/>
          </a:p>
        </p:txBody>
      </p:sp>
      <p:sp>
        <p:nvSpPr>
          <p:cNvPr id="22530" name="Rectangle 2"/>
          <p:cNvSpPr>
            <a:spLocks noGrp="1" noChangeArrowheads="1"/>
          </p:cNvSpPr>
          <p:nvPr>
            <p:ph type="title"/>
          </p:nvPr>
        </p:nvSpPr>
        <p:spPr>
          <a:xfrm>
            <a:off x="472440" y="120015"/>
            <a:ext cx="7894320" cy="680085"/>
          </a:xfrm>
        </p:spPr>
        <p:txBody>
          <a:bodyPr/>
          <a:lstStyle/>
          <a:p>
            <a:r>
              <a:rPr lang="en-US" dirty="0"/>
              <a:t>How many words in a sentence?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53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04520" y="895350"/>
            <a:ext cx="7670800" cy="3543300"/>
          </a:xfrm>
        </p:spPr>
        <p:txBody>
          <a:bodyPr>
            <a:normAutofit/>
          </a:bodyPr>
          <a:lstStyle/>
          <a:p>
            <a:pPr marL="0" indent="0">
              <a:buNone/>
            </a:pPr>
            <a:r>
              <a:rPr lang="en-US" sz="2000" dirty="0">
                <a:solidFill>
                  <a:srgbClr val="FF0000"/>
                </a:solidFill>
              </a:rPr>
              <a:t>they lay back on the San Francisco grass and looked at </a:t>
            </a:r>
            <a:r>
              <a:rPr lang="en-US" sz="2000" dirty="0">
                <a:solidFill>
                  <a:srgbClr val="00B0F0"/>
                </a:solidFill>
              </a:rPr>
              <a:t>the</a:t>
            </a:r>
            <a:r>
              <a:rPr lang="en-US" sz="2000" dirty="0">
                <a:solidFill>
                  <a:srgbClr val="FF0000"/>
                </a:solidFill>
              </a:rPr>
              <a:t> stars </a:t>
            </a:r>
            <a:r>
              <a:rPr lang="en-US" sz="2000" dirty="0">
                <a:solidFill>
                  <a:srgbClr val="00B0F0"/>
                </a:solidFill>
              </a:rPr>
              <a:t>and</a:t>
            </a:r>
            <a:r>
              <a:rPr lang="en-US" sz="2000" dirty="0">
                <a:solidFill>
                  <a:srgbClr val="FF0000"/>
                </a:solidFill>
              </a:rPr>
              <a:t> their</a:t>
            </a:r>
            <a:endParaRPr lang="en-US" sz="2000" dirty="0">
              <a:solidFill>
                <a:srgbClr val="FF0000"/>
              </a:solidFill>
            </a:endParaRPr>
          </a:p>
          <a:p>
            <a:endParaRPr lang="en-US" sz="2400" dirty="0">
              <a:solidFill>
                <a:srgbClr val="FF0000"/>
              </a:solidFill>
            </a:endParaRPr>
          </a:p>
          <a:p>
            <a:r>
              <a:rPr lang="en-US" sz="2400" b="1" dirty="0">
                <a:solidFill>
                  <a:srgbClr val="000000"/>
                </a:solidFill>
              </a:rPr>
              <a:t>Type</a:t>
            </a:r>
            <a:r>
              <a:rPr lang="en-US" sz="2400" dirty="0">
                <a:solidFill>
                  <a:srgbClr val="000000"/>
                </a:solidFill>
              </a:rPr>
              <a:t>: an element of the vocabulary.</a:t>
            </a:r>
            <a:endParaRPr lang="en-US" sz="2400" b="1" dirty="0">
              <a:solidFill>
                <a:srgbClr val="000000"/>
              </a:solidFill>
            </a:endParaRPr>
          </a:p>
          <a:p>
            <a:r>
              <a:rPr lang="en-US" sz="2400" b="1" dirty="0">
                <a:solidFill>
                  <a:srgbClr val="000000"/>
                </a:solidFill>
              </a:rPr>
              <a:t>Token</a:t>
            </a:r>
            <a:r>
              <a:rPr lang="en-US" sz="2400" dirty="0">
                <a:solidFill>
                  <a:srgbClr val="000000"/>
                </a:solidFill>
              </a:rPr>
              <a:t>: an instance of that type in running text.</a:t>
            </a:r>
            <a:endParaRPr lang="en-US" sz="2400" dirty="0">
              <a:solidFill>
                <a:srgbClr val="000000"/>
              </a:solidFill>
            </a:endParaRPr>
          </a:p>
          <a:p>
            <a:r>
              <a:rPr lang="en-US" sz="2400" dirty="0"/>
              <a:t>How many?</a:t>
            </a:r>
            <a:endParaRPr lang="en-US" sz="2400" dirty="0"/>
          </a:p>
          <a:p>
            <a:pPr lvl="1"/>
            <a:r>
              <a:rPr lang="en-US" sz="2000" dirty="0"/>
              <a:t>15 tokens (or 14)</a:t>
            </a:r>
            <a:endParaRPr lang="en-US" sz="2000" dirty="0"/>
          </a:p>
          <a:p>
            <a:pPr lvl="1"/>
            <a:r>
              <a:rPr lang="en-US" sz="2000" dirty="0"/>
              <a:t>13 types (or 12) (or 11?)</a:t>
            </a:r>
            <a:endParaRPr lang="en-US" sz="2000" dirty="0"/>
          </a:p>
        </p:txBody>
      </p:sp>
      <p:sp>
        <p:nvSpPr>
          <p:cNvPr id="24578" name="Rectangle 2"/>
          <p:cNvSpPr>
            <a:spLocks noGrp="1" noChangeArrowheads="1"/>
          </p:cNvSpPr>
          <p:nvPr>
            <p:ph type="title"/>
          </p:nvPr>
        </p:nvSpPr>
        <p:spPr>
          <a:xfrm>
            <a:off x="822960" y="119702"/>
            <a:ext cx="7543800" cy="680397"/>
          </a:xfrm>
        </p:spPr>
        <p:txBody>
          <a:bodyPr/>
          <a:lstStyle/>
          <a:p>
            <a:r>
              <a:rPr lang="en-US" dirty="0"/>
              <a:t>How many words in a sentence?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579">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7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57200" y="895350"/>
            <a:ext cx="8458200" cy="4419600"/>
          </a:xfrm>
        </p:spPr>
        <p:txBody>
          <a:bodyPr/>
          <a:lstStyle/>
          <a:p>
            <a:pPr marL="0" indent="0">
              <a:buNone/>
            </a:pPr>
            <a:r>
              <a:rPr lang="en-US" sz="2000" b="1" i="1" dirty="0"/>
              <a:t>N</a:t>
            </a:r>
            <a:r>
              <a:rPr lang="en-US" sz="2000" dirty="0"/>
              <a:t> = number of tokens</a:t>
            </a:r>
            <a:endParaRPr lang="en-US" sz="2000" dirty="0"/>
          </a:p>
          <a:p>
            <a:pPr marL="0" indent="0">
              <a:buNone/>
            </a:pPr>
            <a:r>
              <a:rPr lang="en-US" sz="2000" b="1" i="1" dirty="0"/>
              <a:t>V</a:t>
            </a:r>
            <a:r>
              <a:rPr lang="en-US" sz="2000" dirty="0"/>
              <a:t> = vocabulary = set of types, </a:t>
            </a:r>
            <a:r>
              <a:rPr lang="en-US" sz="2000" b="1" dirty="0"/>
              <a:t>|</a:t>
            </a:r>
            <a:r>
              <a:rPr lang="en-US" sz="2000" b="1" i="1" dirty="0"/>
              <a:t>V </a:t>
            </a:r>
            <a:r>
              <a:rPr lang="en-US" sz="2000" b="1" dirty="0"/>
              <a:t>|</a:t>
            </a:r>
            <a:r>
              <a:rPr lang="en-US" sz="2000" i="1" dirty="0"/>
              <a:t> </a:t>
            </a:r>
            <a:r>
              <a:rPr lang="en-US" sz="2000" dirty="0"/>
              <a:t>is size of vocabulary</a:t>
            </a:r>
            <a:endParaRPr lang="en-US" sz="2000" dirty="0"/>
          </a:p>
          <a:p>
            <a:pPr marL="0" indent="0">
              <a:buNone/>
            </a:pPr>
            <a:r>
              <a:rPr lang="en-US" sz="1800" dirty="0"/>
              <a:t>Heaps Law = </a:t>
            </a:r>
            <a:r>
              <a:rPr lang="en-US" sz="1800" dirty="0" err="1"/>
              <a:t>Herdan's</a:t>
            </a:r>
            <a:r>
              <a:rPr lang="en-US" sz="1800" dirty="0"/>
              <a:t> Law =                                 where often .67 &lt; β &lt; .75</a:t>
            </a:r>
            <a:endParaRPr lang="en-US" sz="1800" dirty="0"/>
          </a:p>
          <a:p>
            <a:pPr marL="0" indent="0">
              <a:buNone/>
            </a:pPr>
            <a:r>
              <a:rPr lang="en-US" sz="1800" dirty="0"/>
              <a:t>i.e., vocabulary size grows with &gt; square root of the number of word tokens</a:t>
            </a: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
        <p:nvSpPr>
          <p:cNvPr id="24578" name="Rectangle 2"/>
          <p:cNvSpPr>
            <a:spLocks noGrp="1" noChangeArrowheads="1"/>
          </p:cNvSpPr>
          <p:nvPr>
            <p:ph type="title"/>
          </p:nvPr>
        </p:nvSpPr>
        <p:spPr>
          <a:xfrm>
            <a:off x="822960" y="119702"/>
            <a:ext cx="7543800" cy="680397"/>
          </a:xfrm>
        </p:spPr>
        <p:txBody>
          <a:bodyPr/>
          <a:lstStyle/>
          <a:p>
            <a:r>
              <a:rPr lang="en-US" dirty="0"/>
              <a:t>How many words in a corpus?</a:t>
            </a:r>
            <a:endParaRPr lang="en-US" dirty="0"/>
          </a:p>
        </p:txBody>
      </p:sp>
      <p:graphicFrame>
        <p:nvGraphicFramePr>
          <p:cNvPr id="2" name="Table 1"/>
          <p:cNvGraphicFramePr>
            <a:graphicFrameLocks noGrp="1"/>
          </p:cNvGraphicFramePr>
          <p:nvPr/>
        </p:nvGraphicFramePr>
        <p:xfrm>
          <a:off x="609600" y="2419350"/>
          <a:ext cx="7848600" cy="1981200"/>
        </p:xfrm>
        <a:graphic>
          <a:graphicData uri="http://schemas.openxmlformats.org/drawingml/2006/table">
            <a:tbl>
              <a:tblPr firstRow="1" bandRow="1">
                <a:tableStyleId>{5C22544A-7EE6-4342-B048-85BDC9FD1C3A}</a:tableStyleId>
              </a:tblPr>
              <a:tblGrid>
                <a:gridCol w="3810000"/>
                <a:gridCol w="1676400"/>
                <a:gridCol w="2362200"/>
              </a:tblGrid>
              <a:tr h="370840">
                <a:tc>
                  <a:txBody>
                    <a:bodyPr/>
                    <a:lstStyle/>
                    <a:p>
                      <a:endParaRPr lang="en-US" sz="1800" dirty="0">
                        <a:solidFill>
                          <a:schemeClr val="tx1"/>
                        </a:solidFill>
                      </a:endParaRPr>
                    </a:p>
                  </a:txBody>
                  <a:tcPr/>
                </a:tc>
                <a:tc>
                  <a:txBody>
                    <a:bodyPr/>
                    <a:lstStyle/>
                    <a:p>
                      <a:r>
                        <a:rPr lang="en-US" sz="1800" dirty="0">
                          <a:solidFill>
                            <a:schemeClr val="tx1"/>
                          </a:solidFill>
                        </a:rPr>
                        <a:t>Tokens = N</a:t>
                      </a:r>
                      <a:endParaRPr lang="en-US" sz="1800" dirty="0">
                        <a:solidFill>
                          <a:schemeClr val="tx1"/>
                        </a:solidFill>
                      </a:endParaRPr>
                    </a:p>
                  </a:txBody>
                  <a:tcPr/>
                </a:tc>
                <a:tc>
                  <a:txBody>
                    <a:bodyPr/>
                    <a:lstStyle/>
                    <a:p>
                      <a:r>
                        <a:rPr lang="en-US" sz="1800" dirty="0">
                          <a:solidFill>
                            <a:schemeClr val="tx1"/>
                          </a:solidFill>
                        </a:rPr>
                        <a:t>Types = |V|</a:t>
                      </a:r>
                      <a:endParaRPr lang="en-US" sz="1800" dirty="0">
                        <a:solidFill>
                          <a:schemeClr val="tx1"/>
                        </a:solidFill>
                      </a:endParaRPr>
                    </a:p>
                  </a:txBody>
                  <a:tcPr/>
                </a:tc>
              </a:tr>
              <a:tr h="370840">
                <a:tc>
                  <a:txBody>
                    <a:bodyPr/>
                    <a:lstStyle/>
                    <a:p>
                      <a:r>
                        <a:rPr lang="en-US" sz="1800" dirty="0"/>
                        <a:t>Switchboard phone</a:t>
                      </a:r>
                      <a:r>
                        <a:rPr lang="en-US" sz="1800" baseline="0" dirty="0"/>
                        <a:t> conversations</a:t>
                      </a:r>
                      <a:endParaRPr lang="en-US" sz="1800" baseline="0" dirty="0"/>
                    </a:p>
                  </a:txBody>
                  <a:tcPr/>
                </a:tc>
                <a:tc>
                  <a:txBody>
                    <a:bodyPr/>
                    <a:lstStyle/>
                    <a:p>
                      <a:r>
                        <a:rPr lang="en-US" sz="1800" dirty="0"/>
                        <a:t>2.4 million</a:t>
                      </a:r>
                      <a:endParaRPr lang="en-US" sz="1800" dirty="0"/>
                    </a:p>
                  </a:txBody>
                  <a:tcPr/>
                </a:tc>
                <a:tc>
                  <a:txBody>
                    <a:bodyPr/>
                    <a:lstStyle/>
                    <a:p>
                      <a:r>
                        <a:rPr lang="en-US" sz="1800" dirty="0"/>
                        <a:t>20</a:t>
                      </a:r>
                      <a:r>
                        <a:rPr lang="en-US" sz="1800" baseline="0" dirty="0"/>
                        <a:t> thousand</a:t>
                      </a:r>
                      <a:endParaRPr lang="en-US" sz="1800" baseline="0" dirty="0"/>
                    </a:p>
                  </a:txBody>
                  <a:tcPr/>
                </a:tc>
              </a:tr>
              <a:tr h="370840">
                <a:tc>
                  <a:txBody>
                    <a:bodyPr/>
                    <a:lstStyle/>
                    <a:p>
                      <a:r>
                        <a:rPr lang="en-US" sz="1800" dirty="0"/>
                        <a:t>Shakespeare</a:t>
                      </a:r>
                      <a:endParaRPr lang="en-US" sz="1800" dirty="0"/>
                    </a:p>
                  </a:txBody>
                  <a:tcPr/>
                </a:tc>
                <a:tc>
                  <a:txBody>
                    <a:bodyPr/>
                    <a:lstStyle/>
                    <a:p>
                      <a:r>
                        <a:rPr lang="en-US" sz="1800" dirty="0"/>
                        <a:t>884,000</a:t>
                      </a:r>
                      <a:endParaRPr lang="en-US" sz="1800" dirty="0"/>
                    </a:p>
                  </a:txBody>
                  <a:tcPr/>
                </a:tc>
                <a:tc>
                  <a:txBody>
                    <a:bodyPr/>
                    <a:lstStyle/>
                    <a:p>
                      <a:r>
                        <a:rPr lang="en-US" sz="1800" dirty="0"/>
                        <a:t>31</a:t>
                      </a:r>
                      <a:r>
                        <a:rPr lang="en-US" sz="1800" baseline="0" dirty="0"/>
                        <a:t> thousand</a:t>
                      </a:r>
                      <a:endParaRPr lang="en-US" sz="1800" baseline="0" dirty="0"/>
                    </a:p>
                  </a:txBody>
                  <a:tcPr/>
                </a:tc>
              </a:tr>
              <a:tr h="370840">
                <a:tc>
                  <a:txBody>
                    <a:bodyPr/>
                    <a:lstStyle/>
                    <a:p>
                      <a:r>
                        <a:rPr lang="en-US" sz="1800" dirty="0"/>
                        <a:t>COCA</a:t>
                      </a:r>
                      <a:endParaRPr lang="en-US" sz="1800" dirty="0"/>
                    </a:p>
                  </a:txBody>
                  <a:tcPr/>
                </a:tc>
                <a:tc>
                  <a:txBody>
                    <a:bodyPr/>
                    <a:lstStyle/>
                    <a:p>
                      <a:r>
                        <a:rPr lang="en-US" sz="1800" dirty="0"/>
                        <a:t>440 million</a:t>
                      </a:r>
                      <a:endParaRPr lang="en-US" sz="1800" dirty="0"/>
                    </a:p>
                  </a:txBody>
                  <a:tcPr/>
                </a:tc>
                <a:tc>
                  <a:txBody>
                    <a:bodyPr/>
                    <a:lstStyle/>
                    <a:p>
                      <a:r>
                        <a:rPr lang="en-US" sz="1800" dirty="0"/>
                        <a:t>2 million</a:t>
                      </a:r>
                      <a:endParaRPr lang="en-US" sz="1800" dirty="0"/>
                    </a:p>
                  </a:txBody>
                  <a:tcPr/>
                </a:tc>
              </a:tr>
              <a:tr h="370840">
                <a:tc>
                  <a:txBody>
                    <a:bodyPr/>
                    <a:lstStyle/>
                    <a:p>
                      <a:r>
                        <a:rPr lang="en-US" sz="1800" dirty="0"/>
                        <a:t>Google N-grams</a:t>
                      </a:r>
                      <a:endParaRPr lang="en-US" sz="1800" dirty="0"/>
                    </a:p>
                  </a:txBody>
                  <a:tcPr/>
                </a:tc>
                <a:tc>
                  <a:txBody>
                    <a:bodyPr/>
                    <a:lstStyle/>
                    <a:p>
                      <a:r>
                        <a:rPr lang="en-US" sz="1800" dirty="0"/>
                        <a:t>1 trillion</a:t>
                      </a:r>
                      <a:endParaRPr lang="en-US" sz="1800" dirty="0"/>
                    </a:p>
                  </a:txBody>
                  <a:tcPr/>
                </a:tc>
                <a:tc>
                  <a:txBody>
                    <a:bodyPr/>
                    <a:lstStyle/>
                    <a:p>
                      <a:r>
                        <a:rPr lang="en-US" sz="1800" dirty="0"/>
                        <a:t>13+ million</a:t>
                      </a:r>
                      <a:endParaRPr lang="en-US" sz="1800" dirty="0"/>
                    </a:p>
                  </a:txBody>
                  <a:tcPr/>
                </a:tc>
              </a:tr>
            </a:tbl>
          </a:graphicData>
        </a:graphic>
      </p:graphicFrame>
      <p:pic>
        <p:nvPicPr>
          <p:cNvPr id="5" name="Picture 4"/>
          <p:cNvPicPr>
            <a:picLocks noChangeAspect="1"/>
          </p:cNvPicPr>
          <p:nvPr/>
        </p:nvPicPr>
        <p:blipFill>
          <a:blip r:embed="rId1"/>
          <a:stretch>
            <a:fillRect/>
          </a:stretch>
        </p:blipFill>
        <p:spPr>
          <a:xfrm>
            <a:off x="3429000" y="1657350"/>
            <a:ext cx="1332230" cy="351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7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00100"/>
            <a:ext cx="7543801" cy="3429000"/>
          </a:xfrm>
        </p:spPr>
        <p:txBody>
          <a:bodyPr>
            <a:normAutofit/>
          </a:bodyPr>
          <a:lstStyle/>
          <a:p>
            <a:pPr marL="0" indent="0">
              <a:buNone/>
            </a:pPr>
            <a:r>
              <a:rPr lang="en-US" sz="2400" dirty="0"/>
              <a:t>Words don't appear out of nowhere! </a:t>
            </a:r>
            <a:endParaRPr lang="en-US" sz="2400" dirty="0"/>
          </a:p>
          <a:p>
            <a:pPr marL="0" indent="0">
              <a:buNone/>
            </a:pPr>
            <a:r>
              <a:rPr lang="en-US" sz="2400" dirty="0"/>
              <a:t>A text is produced by </a:t>
            </a:r>
            <a:endParaRPr lang="en-US" sz="2400" dirty="0"/>
          </a:p>
          <a:p>
            <a:pPr marL="462280" indent="-225425">
              <a:buFont typeface="Arial" panose="020B0604020202090204" pitchFamily="34" charset="0"/>
              <a:buChar char="•"/>
            </a:pPr>
            <a:r>
              <a:rPr lang="en-US" sz="2400" dirty="0"/>
              <a:t>a specific writer(s), </a:t>
            </a:r>
            <a:endParaRPr lang="en-US" sz="2400" dirty="0"/>
          </a:p>
          <a:p>
            <a:pPr marL="462280" indent="-225425">
              <a:buFont typeface="Arial" panose="020B0604020202090204" pitchFamily="34" charset="0"/>
              <a:buChar char="•"/>
            </a:pPr>
            <a:r>
              <a:rPr lang="en-US" sz="2400" dirty="0"/>
              <a:t>at a specific time, </a:t>
            </a:r>
            <a:endParaRPr lang="en-US" sz="2400" dirty="0"/>
          </a:p>
          <a:p>
            <a:pPr marL="462280" indent="-225425">
              <a:buFont typeface="Arial" panose="020B0604020202090204" pitchFamily="34" charset="0"/>
              <a:buChar char="•"/>
            </a:pPr>
            <a:r>
              <a:rPr lang="en-US" sz="2400" dirty="0"/>
              <a:t>in a specific variety,</a:t>
            </a:r>
            <a:endParaRPr lang="en-US" sz="2400" dirty="0"/>
          </a:p>
          <a:p>
            <a:pPr marL="462280" indent="-225425">
              <a:buFont typeface="Arial" panose="020B0604020202090204" pitchFamily="34" charset="0"/>
              <a:buChar char="•"/>
            </a:pPr>
            <a:r>
              <a:rPr lang="en-US" sz="2400" dirty="0"/>
              <a:t>of a specific language, </a:t>
            </a:r>
            <a:endParaRPr lang="en-US" sz="2400" dirty="0"/>
          </a:p>
          <a:p>
            <a:pPr marL="462280" indent="-225425">
              <a:buFont typeface="Arial" panose="020B0604020202090204" pitchFamily="34" charset="0"/>
              <a:buChar char="•"/>
            </a:pPr>
            <a:r>
              <a:rPr lang="en-US" sz="2400" dirty="0"/>
              <a:t>for a specific function.</a:t>
            </a:r>
            <a:endParaRPr lang="en-US" sz="2400" dirty="0"/>
          </a:p>
        </p:txBody>
      </p:sp>
      <p:sp>
        <p:nvSpPr>
          <p:cNvPr id="2" name="Title 1"/>
          <p:cNvSpPr>
            <a:spLocks noGrp="1"/>
          </p:cNvSpPr>
          <p:nvPr>
            <p:ph type="title"/>
          </p:nvPr>
        </p:nvSpPr>
        <p:spPr>
          <a:xfrm>
            <a:off x="822960" y="119702"/>
            <a:ext cx="7543800" cy="680397"/>
          </a:xfrm>
        </p:spPr>
        <p:txBody>
          <a:bodyPr/>
          <a:lstStyle/>
          <a:p>
            <a:r>
              <a:rPr lang="en-US" dirty="0"/>
              <a:t>Corpora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95350"/>
            <a:ext cx="8001000" cy="4095750"/>
          </a:xfrm>
        </p:spPr>
        <p:txBody>
          <a:bodyPr>
            <a:normAutofit/>
          </a:bodyPr>
          <a:lstStyle/>
          <a:p>
            <a:pPr lvl="1"/>
            <a:r>
              <a:rPr lang="en-US" sz="2000" b="1" i="1" dirty="0">
                <a:latin typeface="Times New Roman Bold Italic" panose="02020503050405090304" charset="0"/>
                <a:cs typeface="Times New Roman Bold Italic" panose="02020503050405090304" charset="0"/>
              </a:rPr>
              <a:t>Language: 7097 languages in the world</a:t>
            </a:r>
            <a:endParaRPr lang="en-US" sz="2000" b="1" i="1" dirty="0">
              <a:latin typeface="Times New Roman Bold Italic" panose="02020503050405090304" charset="0"/>
              <a:cs typeface="Times New Roman Bold Italic" panose="02020503050405090304" charset="0"/>
            </a:endParaRPr>
          </a:p>
          <a:p>
            <a:pPr lvl="1"/>
            <a:r>
              <a:rPr lang="en-US" sz="2000" b="1" i="1" dirty="0">
                <a:latin typeface="Times New Roman Bold Italic" panose="02020503050405090304" charset="0"/>
                <a:cs typeface="Times New Roman Bold Italic" panose="02020503050405090304" charset="0"/>
              </a:rPr>
              <a:t>Variety, like African American Language varieties.</a:t>
            </a:r>
            <a:endParaRPr lang="en-US" sz="2000" b="1" i="1" dirty="0">
              <a:latin typeface="Times New Roman Bold Italic" panose="02020503050405090304" charset="0"/>
              <a:cs typeface="Times New Roman Bold Italic" panose="02020503050405090304" charset="0"/>
            </a:endParaRPr>
          </a:p>
          <a:p>
            <a:pPr lvl="2"/>
            <a:r>
              <a:rPr lang="en-US" sz="1800" b="1" i="1" dirty="0">
                <a:latin typeface="Times New Roman Bold Italic" panose="02020503050405090304" charset="0"/>
                <a:cs typeface="Times New Roman Bold Italic" panose="02020503050405090304" charset="0"/>
              </a:rPr>
              <a:t>AAE Twitter posts might include forms like "</a:t>
            </a:r>
            <a:r>
              <a:rPr lang="en-US" sz="1800" b="1" i="1" dirty="0" err="1">
                <a:latin typeface="Times New Roman Bold Italic" panose="02020503050405090304" charset="0"/>
                <a:cs typeface="Times New Roman Bold Italic" panose="02020503050405090304" charset="0"/>
              </a:rPr>
              <a:t>iont</a:t>
            </a:r>
            <a:r>
              <a:rPr lang="en-US" sz="1800" b="1" i="1" dirty="0">
                <a:latin typeface="Times New Roman Bold Italic" panose="02020503050405090304" charset="0"/>
                <a:cs typeface="Times New Roman Bold Italic" panose="02020503050405090304" charset="0"/>
              </a:rPr>
              <a:t>" (I don't)</a:t>
            </a:r>
            <a:endParaRPr lang="en-US" sz="1800" b="1" i="1" dirty="0">
              <a:latin typeface="Times New Roman Bold Italic" panose="02020503050405090304" charset="0"/>
              <a:cs typeface="Times New Roman Bold Italic" panose="02020503050405090304" charset="0"/>
            </a:endParaRPr>
          </a:p>
          <a:p>
            <a:pPr lvl="1"/>
            <a:r>
              <a:rPr lang="en-US" sz="2000" b="1" i="1" dirty="0">
                <a:latin typeface="Times New Roman Bold Italic" panose="02020503050405090304" charset="0"/>
                <a:cs typeface="Times New Roman Bold Italic" panose="02020503050405090304" charset="0"/>
              </a:rPr>
              <a:t>Code switching, e.g., Spanish/English, Hindi/English:</a:t>
            </a:r>
            <a:endParaRPr lang="en-US" sz="2000" b="1" i="1" dirty="0">
              <a:latin typeface="Times New Roman Bold Italic" panose="02020503050405090304" charset="0"/>
              <a:cs typeface="Times New Roman Bold Italic" panose="02020503050405090304" charset="0"/>
            </a:endParaRPr>
          </a:p>
          <a:p>
            <a:pPr marL="262255" lvl="2" indent="0">
              <a:buNone/>
            </a:pPr>
            <a:r>
              <a:rPr lang="en-US" sz="1400" b="1" i="1" dirty="0">
                <a:latin typeface="Times New Roman Bold Italic" panose="02020503050405090304" charset="0"/>
                <a:cs typeface="Times New Roman Bold Italic" panose="02020503050405090304" charset="0"/>
              </a:rPr>
              <a:t>	S/E: Por </a:t>
            </a:r>
            <a:r>
              <a:rPr lang="en-US" sz="1400" b="1" i="1" dirty="0" err="1">
                <a:latin typeface="Times New Roman Bold Italic" panose="02020503050405090304" charset="0"/>
                <a:cs typeface="Times New Roman Bold Italic" panose="02020503050405090304" charset="0"/>
              </a:rPr>
              <a:t>primera</a:t>
            </a:r>
            <a:r>
              <a:rPr lang="en-US" sz="1400" b="1" i="1" dirty="0">
                <a:latin typeface="Times New Roman Bold Italic" panose="02020503050405090304" charset="0"/>
                <a:cs typeface="Times New Roman Bold Italic" panose="02020503050405090304" charset="0"/>
              </a:rPr>
              <a:t> </a:t>
            </a:r>
            <a:r>
              <a:rPr lang="en-US" sz="1400" b="1" i="1" dirty="0" err="1">
                <a:latin typeface="Times New Roman Bold Italic" panose="02020503050405090304" charset="0"/>
                <a:cs typeface="Times New Roman Bold Italic" panose="02020503050405090304" charset="0"/>
              </a:rPr>
              <a:t>vez</a:t>
            </a:r>
            <a:r>
              <a:rPr lang="en-US" sz="1400" b="1" i="1" dirty="0">
                <a:latin typeface="Times New Roman Bold Italic" panose="02020503050405090304" charset="0"/>
                <a:cs typeface="Times New Roman Bold Italic" panose="02020503050405090304" charset="0"/>
              </a:rPr>
              <a:t> </a:t>
            </a:r>
            <a:r>
              <a:rPr lang="en-US" sz="1400" b="1" i="1" dirty="0" err="1">
                <a:latin typeface="Times New Roman Bold Italic" panose="02020503050405090304" charset="0"/>
                <a:cs typeface="Times New Roman Bold Italic" panose="02020503050405090304" charset="0"/>
              </a:rPr>
              <a:t>veo</a:t>
            </a:r>
            <a:r>
              <a:rPr lang="en-US" sz="1400" b="1" i="1" dirty="0">
                <a:latin typeface="Times New Roman Bold Italic" panose="02020503050405090304" charset="0"/>
                <a:cs typeface="Times New Roman Bold Italic" panose="02020503050405090304" charset="0"/>
              </a:rPr>
              <a:t> a @username actually being hateful! It was beautiful:) </a:t>
            </a:r>
            <a:endParaRPr lang="en-US" sz="1400" b="1" i="1" dirty="0">
              <a:latin typeface="Times New Roman Bold Italic" panose="02020503050405090304" charset="0"/>
              <a:cs typeface="Times New Roman Bold Italic" panose="02020503050405090304" charset="0"/>
            </a:endParaRPr>
          </a:p>
          <a:p>
            <a:pPr marL="262255" lvl="2" indent="0">
              <a:buNone/>
            </a:pPr>
            <a:r>
              <a:rPr lang="en-US" sz="1400" b="1" i="1" dirty="0">
                <a:latin typeface="Times New Roman Bold Italic" panose="02020503050405090304" charset="0"/>
                <a:cs typeface="Times New Roman Bold Italic" panose="02020503050405090304" charset="0"/>
              </a:rPr>
              <a:t>	   [For the first time I get to see @username actually being hateful! it was beautiful:) ] </a:t>
            </a:r>
            <a:endParaRPr lang="en-US" sz="1400" b="1" i="1" dirty="0">
              <a:latin typeface="Times New Roman Bold Italic" panose="02020503050405090304" charset="0"/>
              <a:cs typeface="Times New Roman Bold Italic" panose="02020503050405090304" charset="0"/>
            </a:endParaRPr>
          </a:p>
          <a:p>
            <a:pPr marL="262255" lvl="2" indent="0">
              <a:buNone/>
            </a:pPr>
            <a:r>
              <a:rPr lang="en-US" sz="1400" b="1" i="1" dirty="0">
                <a:latin typeface="Times New Roman Bold Italic" panose="02020503050405090304" charset="0"/>
                <a:cs typeface="Times New Roman Bold Italic" panose="02020503050405090304" charset="0"/>
              </a:rPr>
              <a:t>	H/E: dost </a:t>
            </a:r>
            <a:r>
              <a:rPr lang="en-US" sz="1400" b="1" i="1" dirty="0" err="1">
                <a:latin typeface="Times New Roman Bold Italic" panose="02020503050405090304" charset="0"/>
                <a:cs typeface="Times New Roman Bold Italic" panose="02020503050405090304" charset="0"/>
              </a:rPr>
              <a:t>tha</a:t>
            </a:r>
            <a:r>
              <a:rPr lang="en-US" sz="1400" b="1" i="1" dirty="0">
                <a:latin typeface="Times New Roman Bold Italic" panose="02020503050405090304" charset="0"/>
                <a:cs typeface="Times New Roman Bold Italic" panose="02020503050405090304" charset="0"/>
              </a:rPr>
              <a:t> or ra- </a:t>
            </a:r>
            <a:r>
              <a:rPr lang="en-US" sz="1400" b="1" i="1" dirty="0" err="1">
                <a:latin typeface="Times New Roman Bold Italic" panose="02020503050405090304" charset="0"/>
                <a:cs typeface="Times New Roman Bold Italic" panose="02020503050405090304" charset="0"/>
              </a:rPr>
              <a:t>hega</a:t>
            </a:r>
            <a:r>
              <a:rPr lang="en-US" sz="1400" b="1" i="1" dirty="0">
                <a:latin typeface="Times New Roman Bold Italic" panose="02020503050405090304" charset="0"/>
                <a:cs typeface="Times New Roman Bold Italic" panose="02020503050405090304" charset="0"/>
              </a:rPr>
              <a:t> ... </a:t>
            </a:r>
            <a:r>
              <a:rPr lang="en-US" sz="1400" b="1" i="1" dirty="0" err="1">
                <a:latin typeface="Times New Roman Bold Italic" panose="02020503050405090304" charset="0"/>
                <a:cs typeface="Times New Roman Bold Italic" panose="02020503050405090304" charset="0"/>
              </a:rPr>
              <a:t>dont</a:t>
            </a:r>
            <a:r>
              <a:rPr lang="en-US" sz="1400" b="1" i="1" dirty="0">
                <a:latin typeface="Times New Roman Bold Italic" panose="02020503050405090304" charset="0"/>
                <a:cs typeface="Times New Roman Bold Italic" panose="02020503050405090304" charset="0"/>
              </a:rPr>
              <a:t> </a:t>
            </a:r>
            <a:r>
              <a:rPr lang="en-US" sz="1400" b="1" i="1" dirty="0" err="1">
                <a:latin typeface="Times New Roman Bold Italic" panose="02020503050405090304" charset="0"/>
                <a:cs typeface="Times New Roman Bold Italic" panose="02020503050405090304" charset="0"/>
              </a:rPr>
              <a:t>wory</a:t>
            </a:r>
            <a:r>
              <a:rPr lang="en-US" sz="1400" b="1" i="1" dirty="0">
                <a:latin typeface="Times New Roman Bold Italic" panose="02020503050405090304" charset="0"/>
                <a:cs typeface="Times New Roman Bold Italic" panose="02020503050405090304" charset="0"/>
              </a:rPr>
              <a:t> ... but </a:t>
            </a:r>
            <a:r>
              <a:rPr lang="en-US" sz="1400" b="1" i="1" dirty="0" err="1">
                <a:latin typeface="Times New Roman Bold Italic" panose="02020503050405090304" charset="0"/>
                <a:cs typeface="Times New Roman Bold Italic" panose="02020503050405090304" charset="0"/>
              </a:rPr>
              <a:t>dherya</a:t>
            </a:r>
            <a:r>
              <a:rPr lang="en-US" sz="1400" b="1" i="1" dirty="0">
                <a:latin typeface="Times New Roman Bold Italic" panose="02020503050405090304" charset="0"/>
                <a:cs typeface="Times New Roman Bold Italic" panose="02020503050405090304" charset="0"/>
              </a:rPr>
              <a:t> </a:t>
            </a:r>
            <a:r>
              <a:rPr lang="en-US" sz="1400" b="1" i="1" dirty="0" err="1">
                <a:latin typeface="Times New Roman Bold Italic" panose="02020503050405090304" charset="0"/>
                <a:cs typeface="Times New Roman Bold Italic" panose="02020503050405090304" charset="0"/>
              </a:rPr>
              <a:t>rakhe</a:t>
            </a:r>
            <a:r>
              <a:rPr lang="en-US" sz="1400" b="1" i="1" dirty="0">
                <a:latin typeface="Times New Roman Bold Italic" panose="02020503050405090304" charset="0"/>
                <a:cs typeface="Times New Roman Bold Italic" panose="02020503050405090304" charset="0"/>
              </a:rPr>
              <a:t> </a:t>
            </a:r>
            <a:endParaRPr lang="en-US" sz="1400" b="1" i="1" dirty="0">
              <a:latin typeface="Times New Roman Bold Italic" panose="02020503050405090304" charset="0"/>
              <a:cs typeface="Times New Roman Bold Italic" panose="02020503050405090304" charset="0"/>
            </a:endParaRPr>
          </a:p>
          <a:p>
            <a:pPr marL="262255" lvl="2" indent="0">
              <a:buNone/>
            </a:pPr>
            <a:r>
              <a:rPr lang="en-US" sz="1400" b="1" i="1" dirty="0">
                <a:latin typeface="Times New Roman Bold Italic" panose="02020503050405090304" charset="0"/>
                <a:cs typeface="Times New Roman Bold Italic" panose="02020503050405090304" charset="0"/>
              </a:rPr>
              <a:t>	   [“he was and will remain a friend ... don’t worry ... but have faith”] </a:t>
            </a:r>
            <a:endParaRPr lang="en-US" sz="1400" b="1" i="1" dirty="0">
              <a:latin typeface="Times New Roman Bold Italic" panose="02020503050405090304" charset="0"/>
              <a:cs typeface="Times New Roman Bold Italic" panose="02020503050405090304" charset="0"/>
            </a:endParaRPr>
          </a:p>
          <a:p>
            <a:pPr marL="436880" lvl="1" indent="-285750"/>
            <a:r>
              <a:rPr lang="en-US" sz="2000" b="1" i="1" dirty="0">
                <a:latin typeface="Times New Roman Bold Italic" panose="02020503050405090304" charset="0"/>
                <a:cs typeface="Times New Roman Bold Italic" panose="02020503050405090304" charset="0"/>
              </a:rPr>
              <a:t>Genre: newswire, fiction, scientific articles, Wikipedia</a:t>
            </a:r>
            <a:endParaRPr lang="en-US" sz="2000" b="1" i="1" dirty="0">
              <a:latin typeface="Times New Roman Bold Italic" panose="02020503050405090304" charset="0"/>
              <a:cs typeface="Times New Roman Bold Italic" panose="02020503050405090304" charset="0"/>
            </a:endParaRPr>
          </a:p>
          <a:p>
            <a:pPr marL="436880" lvl="1" indent="-285750"/>
            <a:r>
              <a:rPr lang="en-US" sz="2000" b="1" i="1" dirty="0">
                <a:latin typeface="Times New Roman Bold Italic" panose="02020503050405090304" charset="0"/>
                <a:cs typeface="Times New Roman Bold Italic" panose="02020503050405090304" charset="0"/>
              </a:rPr>
              <a:t>Author Demographics: writer's age, gender, ethnicity, SES </a:t>
            </a:r>
            <a:endParaRPr lang="en-US" sz="2000" b="1" i="1" dirty="0">
              <a:latin typeface="Times New Roman Bold Italic" panose="02020503050405090304" charset="0"/>
              <a:cs typeface="Times New Roman Bold Italic" panose="02020503050405090304" charset="0"/>
            </a:endParaRPr>
          </a:p>
        </p:txBody>
      </p:sp>
      <p:sp>
        <p:nvSpPr>
          <p:cNvPr id="2" name="Title 1"/>
          <p:cNvSpPr>
            <a:spLocks noGrp="1"/>
          </p:cNvSpPr>
          <p:nvPr>
            <p:ph type="title"/>
          </p:nvPr>
        </p:nvSpPr>
        <p:spPr>
          <a:xfrm>
            <a:off x="822960" y="119702"/>
            <a:ext cx="7543800" cy="680397"/>
          </a:xfrm>
        </p:spPr>
        <p:txBody>
          <a:bodyPr/>
          <a:lstStyle/>
          <a:p>
            <a:r>
              <a:rPr lang="en-US" dirty="0"/>
              <a:t>Corpora vary along dimension like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657339"/>
            <a:ext cx="8244840" cy="3363606"/>
          </a:xfrm>
        </p:spPr>
        <p:txBody>
          <a:bodyPr/>
          <a:lstStyle/>
          <a:p>
            <a:pPr marL="0" indent="0">
              <a:buNone/>
            </a:pPr>
            <a:r>
              <a:rPr lang="en-US" sz="2400" b="1" dirty="0"/>
              <a:t>Motivation</a:t>
            </a:r>
            <a:r>
              <a:rPr lang="en-US" sz="2400" dirty="0"/>
              <a:t>: </a:t>
            </a:r>
            <a:endParaRPr lang="en-US" sz="2400" dirty="0"/>
          </a:p>
          <a:p>
            <a:pPr marL="405130" indent="-225425">
              <a:lnSpc>
                <a:spcPct val="80000"/>
              </a:lnSpc>
              <a:spcBef>
                <a:spcPts val="600"/>
              </a:spcBef>
              <a:buFont typeface="Arial" panose="020B0604020202090204" pitchFamily="34" charset="0"/>
              <a:buChar char="•"/>
            </a:pPr>
            <a:r>
              <a:rPr lang="en-US" sz="2000" dirty="0"/>
              <a:t>Why was the corpus collected?</a:t>
            </a:r>
            <a:endParaRPr lang="en-US" sz="2000" dirty="0"/>
          </a:p>
          <a:p>
            <a:pPr marL="405130" indent="-225425">
              <a:lnSpc>
                <a:spcPct val="80000"/>
              </a:lnSpc>
              <a:spcBef>
                <a:spcPts val="600"/>
              </a:spcBef>
              <a:buFont typeface="Arial" panose="020B0604020202090204" pitchFamily="34" charset="0"/>
              <a:buChar char="•"/>
            </a:pPr>
            <a:r>
              <a:rPr lang="en-US" sz="2000" dirty="0"/>
              <a:t>By whom? </a:t>
            </a:r>
            <a:endParaRPr lang="en-US" sz="2000" dirty="0"/>
          </a:p>
          <a:p>
            <a:pPr marL="405130" indent="-225425">
              <a:lnSpc>
                <a:spcPct val="80000"/>
              </a:lnSpc>
              <a:spcBef>
                <a:spcPts val="600"/>
              </a:spcBef>
              <a:buFont typeface="Arial" panose="020B0604020202090204" pitchFamily="34" charset="0"/>
              <a:buChar char="•"/>
            </a:pPr>
            <a:r>
              <a:rPr lang="en-US" sz="2000" dirty="0"/>
              <a:t>Who funded it? </a:t>
            </a:r>
            <a:endParaRPr lang="en-US" sz="2000" dirty="0"/>
          </a:p>
          <a:p>
            <a:pPr marL="0" indent="0">
              <a:buNone/>
            </a:pPr>
            <a:r>
              <a:rPr lang="en-US" sz="2400" b="1" dirty="0"/>
              <a:t>Situation</a:t>
            </a:r>
            <a:r>
              <a:rPr lang="en-US" sz="2400" dirty="0"/>
              <a:t>: </a:t>
            </a:r>
            <a:r>
              <a:rPr lang="en-US" sz="2000" dirty="0"/>
              <a:t>In what situation was the text written?</a:t>
            </a:r>
            <a:endParaRPr lang="en-US" sz="2000" dirty="0"/>
          </a:p>
          <a:p>
            <a:pPr marL="0" indent="0">
              <a:buNone/>
            </a:pPr>
            <a:r>
              <a:rPr lang="en-US" sz="2400" b="1" dirty="0"/>
              <a:t>Collection process</a:t>
            </a:r>
            <a:r>
              <a:rPr lang="en-US" sz="2400" dirty="0"/>
              <a:t>: </a:t>
            </a:r>
            <a:r>
              <a:rPr lang="en-US" sz="2000" dirty="0"/>
              <a:t>If it is a subsample how was it sampled? Was there consent? Pre-processing?</a:t>
            </a:r>
            <a:endParaRPr lang="en-US" sz="2000" dirty="0"/>
          </a:p>
          <a:p>
            <a:r>
              <a:rPr lang="en-US" sz="2000" dirty="0"/>
              <a:t>  +</a:t>
            </a:r>
            <a:r>
              <a:rPr lang="en-US" sz="2000" b="1" dirty="0"/>
              <a:t>Annotation process, language variety, demographics, etc.</a:t>
            </a:r>
            <a:endParaRPr lang="en-US" sz="2000" dirty="0"/>
          </a:p>
          <a:p>
            <a:endParaRPr lang="en-US" sz="2400" dirty="0"/>
          </a:p>
          <a:p>
            <a:endParaRPr lang="en-US" sz="2400" dirty="0"/>
          </a:p>
        </p:txBody>
      </p:sp>
      <p:sp>
        <p:nvSpPr>
          <p:cNvPr id="2" name="Title 1"/>
          <p:cNvSpPr>
            <a:spLocks noGrp="1"/>
          </p:cNvSpPr>
          <p:nvPr>
            <p:ph type="title"/>
          </p:nvPr>
        </p:nvSpPr>
        <p:spPr>
          <a:xfrm>
            <a:off x="800100" y="361950"/>
            <a:ext cx="7962900" cy="680397"/>
          </a:xfrm>
        </p:spPr>
        <p:txBody>
          <a:bodyPr/>
          <a:lstStyle/>
          <a:p>
            <a:r>
              <a:rPr lang="en-US" dirty="0"/>
              <a:t>Corpus </a:t>
            </a:r>
            <a:r>
              <a:rPr lang="en-US" b="1" dirty="0"/>
              <a:t>datasheets</a:t>
            </a:r>
            <a:endParaRPr lang="en-US" b="1" dirty="0"/>
          </a:p>
        </p:txBody>
      </p:sp>
      <p:sp>
        <p:nvSpPr>
          <p:cNvPr id="4" name="TextBox 3"/>
          <p:cNvSpPr txBox="1"/>
          <p:nvPr/>
        </p:nvSpPr>
        <p:spPr>
          <a:xfrm>
            <a:off x="1371600" y="1042347"/>
            <a:ext cx="7348487" cy="461665"/>
          </a:xfrm>
          <a:prstGeom prst="rect">
            <a:avLst/>
          </a:prstGeom>
          <a:noFill/>
        </p:spPr>
        <p:txBody>
          <a:bodyPr wrap="none" rtlCol="0">
            <a:spAutoFit/>
          </a:bodyPr>
          <a:lstStyle/>
          <a:p>
            <a:r>
              <a:rPr lang="en-US" dirty="0" err="1">
                <a:solidFill>
                  <a:srgbClr val="0070C0"/>
                </a:solidFill>
              </a:rPr>
              <a:t>Gebru</a:t>
            </a:r>
            <a:r>
              <a:rPr lang="en-US" dirty="0">
                <a:solidFill>
                  <a:srgbClr val="0070C0"/>
                </a:solidFill>
              </a:rPr>
              <a:t> et al (2020), Bender and Friedman (2018)</a:t>
            </a:r>
            <a:endParaRPr lang="en-US" dirty="0">
              <a:solidFill>
                <a:srgbClr val="0070C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657350" y="1271515"/>
            <a:ext cx="5829300" cy="1753082"/>
          </a:xfrm>
        </p:spPr>
        <p:txBody>
          <a:bodyPr>
            <a:noAutofit/>
          </a:bodyPr>
          <a:lstStyle/>
          <a:p>
            <a:r>
              <a:rPr lang="en-US" altLang="zh-CN" sz="4800" cap="all" dirty="0">
                <a:solidFill>
                  <a:srgbClr val="000044"/>
                </a:solidFill>
                <a:cs typeface="DIN-Regular"/>
              </a:rPr>
              <a:t>Word</a:t>
            </a:r>
            <a:r>
              <a:rPr lang="zh-CN" altLang="en-US" sz="4800" cap="all" dirty="0">
                <a:solidFill>
                  <a:srgbClr val="000044"/>
                </a:solidFill>
                <a:cs typeface="DIN-Regular"/>
              </a:rPr>
              <a:t> </a:t>
            </a:r>
            <a:r>
              <a:rPr lang="en-US" altLang="zh-CN" sz="4800" cap="all" dirty="0">
                <a:solidFill>
                  <a:srgbClr val="000044"/>
                </a:solidFill>
                <a:cs typeface="DIN-Regular"/>
              </a:rPr>
              <a:t>tokenization</a:t>
            </a:r>
            <a:endParaRPr lang="en-US" altLang="zh-CN" sz="4800" cap="all" dirty="0">
              <a:solidFill>
                <a:srgbClr val="000044"/>
              </a:solidFill>
              <a:cs typeface="DIN-Regular"/>
            </a:endParaRPr>
          </a:p>
        </p:txBody>
      </p:sp>
      <p:pic>
        <p:nvPicPr>
          <p:cNvPr id="7" name="Picture 6"/>
          <p:cNvPicPr>
            <a:picLocks noChangeAspect="1"/>
          </p:cNvPicPr>
          <p:nvPr/>
        </p:nvPicPr>
        <p:blipFill>
          <a:blip r:embed="rId1"/>
          <a:stretch>
            <a:fillRect/>
          </a:stretch>
        </p:blipFill>
        <p:spPr>
          <a:xfrm>
            <a:off x="3314595" y="3959889"/>
            <a:ext cx="2517130"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914400" y="1047750"/>
            <a:ext cx="7772400" cy="3200400"/>
          </a:xfrm>
        </p:spPr>
        <p:txBody>
          <a:bodyPr/>
          <a:lstStyle/>
          <a:p>
            <a:pPr>
              <a:lnSpc>
                <a:spcPct val="90000"/>
              </a:lnSpc>
            </a:pPr>
            <a:r>
              <a:rPr lang="en-US" dirty="0"/>
              <a:t>Every NLP task requires text normalization: </a:t>
            </a:r>
            <a:endParaRPr lang="en-US" dirty="0"/>
          </a:p>
          <a:p>
            <a:pPr marL="914400" lvl="1" indent="-457200">
              <a:lnSpc>
                <a:spcPct val="90000"/>
              </a:lnSpc>
              <a:buFont typeface="+mj-lt"/>
              <a:buAutoNum type="arabicPeriod"/>
            </a:pPr>
            <a:r>
              <a:rPr lang="en-US" dirty="0"/>
              <a:t>Tokenizing (segmenting) words</a:t>
            </a:r>
            <a:endParaRPr lang="en-US" dirty="0"/>
          </a:p>
          <a:p>
            <a:pPr marL="914400" lvl="1" indent="-457200">
              <a:lnSpc>
                <a:spcPct val="90000"/>
              </a:lnSpc>
              <a:buFont typeface="+mj-lt"/>
              <a:buAutoNum type="arabicPeriod"/>
            </a:pPr>
            <a:r>
              <a:rPr lang="en-US" dirty="0"/>
              <a:t>Normalizing word formats</a:t>
            </a:r>
            <a:endParaRPr lang="en-US" dirty="0"/>
          </a:p>
          <a:p>
            <a:pPr marL="914400" lvl="1" indent="-457200">
              <a:lnSpc>
                <a:spcPct val="90000"/>
              </a:lnSpc>
              <a:buFont typeface="+mj-lt"/>
              <a:buAutoNum type="arabicPeriod"/>
            </a:pPr>
            <a:r>
              <a:rPr lang="en-US" dirty="0"/>
              <a:t>Segmenting sentences</a:t>
            </a:r>
            <a:endParaRPr lang="en-US" sz="1800" b="1" dirty="0"/>
          </a:p>
          <a:p>
            <a:pPr>
              <a:lnSpc>
                <a:spcPct val="90000"/>
              </a:lnSpc>
            </a:pPr>
            <a:endParaRPr lang="en-US" sz="1600" b="1" dirty="0"/>
          </a:p>
          <a:p>
            <a:pPr>
              <a:lnSpc>
                <a:spcPct val="90000"/>
              </a:lnSpc>
            </a:pPr>
            <a:endParaRPr lang="en-US" sz="1600" b="1" dirty="0"/>
          </a:p>
        </p:txBody>
      </p:sp>
      <p:sp>
        <p:nvSpPr>
          <p:cNvPr id="20482" name="Rectangle 2"/>
          <p:cNvSpPr>
            <a:spLocks noGrp="1" noChangeArrowheads="1"/>
          </p:cNvSpPr>
          <p:nvPr>
            <p:ph type="title"/>
          </p:nvPr>
        </p:nvSpPr>
        <p:spPr>
          <a:xfrm>
            <a:off x="914400" y="16914"/>
            <a:ext cx="8534400" cy="857250"/>
          </a:xfrm>
        </p:spPr>
        <p:txBody>
          <a:bodyPr/>
          <a:lstStyle/>
          <a:p>
            <a:r>
              <a:rPr lang="en-US" dirty="0"/>
              <a:t>Text Normalization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533400" y="857250"/>
            <a:ext cx="2886710" cy="3429000"/>
          </a:xfrm>
        </p:spPr>
        <p:txBody>
          <a:bodyPr>
            <a:noAutofit/>
          </a:bodyPr>
          <a:p>
            <a:r>
              <a:rPr lang="zh-CN" altLang="en-US" sz="1600"/>
              <a:t>from collections import Counter</a:t>
            </a:r>
            <a:endParaRPr lang="zh-CN" altLang="en-US" sz="1600"/>
          </a:p>
          <a:p>
            <a:r>
              <a:rPr lang="zh-CN" altLang="en-US" sz="1600"/>
              <a:t>import re</a:t>
            </a:r>
            <a:endParaRPr lang="zh-CN" altLang="en-US" sz="1600"/>
          </a:p>
          <a:p>
            <a:endParaRPr lang="zh-CN" altLang="en-US" sz="1600"/>
          </a:p>
          <a:p>
            <a:r>
              <a:rPr lang="zh-CN" altLang="en-US" sz="1600"/>
              <a:t># </a:t>
            </a:r>
            <a:r>
              <a:rPr lang="en-US" altLang="zh-CN" sz="1600"/>
              <a:t>sample of the corpus</a:t>
            </a:r>
            <a:endParaRPr lang="zh-CN" altLang="en-US" sz="1600"/>
          </a:p>
          <a:p>
            <a:r>
              <a:rPr lang="zh-CN" altLang="en-US" sz="1600"/>
              <a:t>corpus = [</a:t>
            </a:r>
            <a:endParaRPr lang="zh-CN" altLang="en-US" sz="1600"/>
          </a:p>
          <a:p>
            <a:r>
              <a:rPr lang="zh-CN" altLang="en-US" sz="1600"/>
              <a:t>    'The cat sat on the mat',</a:t>
            </a:r>
            <a:endParaRPr lang="zh-CN" altLang="en-US" sz="1600"/>
          </a:p>
          <a:p>
            <a:r>
              <a:rPr lang="zh-CN" altLang="en-US" sz="1600"/>
              <a:t>    'The dog ate my homework',</a:t>
            </a:r>
            <a:endParaRPr lang="zh-CN" altLang="en-US" sz="1600"/>
          </a:p>
          <a:p>
            <a:r>
              <a:rPr lang="zh-CN" altLang="en-US" sz="1600"/>
              <a:t>    'The cat ate the dog',</a:t>
            </a:r>
            <a:endParaRPr lang="zh-CN" altLang="en-US" sz="1600"/>
          </a:p>
          <a:p>
            <a:r>
              <a:rPr lang="zh-CN" altLang="en-US" sz="1600"/>
              <a:t>    'The dog had a bone',</a:t>
            </a:r>
            <a:endParaRPr lang="zh-CN" altLang="en-US" sz="1600"/>
          </a:p>
          <a:p>
            <a:r>
              <a:rPr lang="zh-CN" altLang="en-US" sz="1600"/>
              <a:t>    'The cat had a ball'</a:t>
            </a:r>
            <a:endParaRPr lang="zh-CN" altLang="en-US" sz="1600"/>
          </a:p>
          <a:p>
            <a:r>
              <a:rPr lang="zh-CN" altLang="en-US" sz="1600"/>
              <a:t>]</a:t>
            </a:r>
            <a:endParaRPr lang="zh-CN" altLang="en-US" sz="1600"/>
          </a:p>
          <a:p>
            <a:pPr marL="0" indent="0">
              <a:buNone/>
            </a:pPr>
            <a:endParaRPr lang="zh-CN" altLang="en-US" sz="1600"/>
          </a:p>
        </p:txBody>
      </p:sp>
      <p:sp>
        <p:nvSpPr>
          <p:cNvPr id="3" name="标题 2"/>
          <p:cNvSpPr>
            <a:spLocks noGrp="1"/>
          </p:cNvSpPr>
          <p:nvPr>
            <p:ph type="title"/>
          </p:nvPr>
        </p:nvSpPr>
        <p:spPr/>
        <p:txBody>
          <a:bodyPr/>
          <a:p>
            <a:r>
              <a:rPr lang="en-US" altLang="zh-CN"/>
              <a:t>python </a:t>
            </a:r>
            <a:r>
              <a:rPr lang="en-US" altLang="zh-CN"/>
              <a:t>demo</a:t>
            </a:r>
            <a:endParaRPr lang="en-US" altLang="zh-CN"/>
          </a:p>
        </p:txBody>
      </p:sp>
      <p:sp>
        <p:nvSpPr>
          <p:cNvPr id="4" name="文本框 3"/>
          <p:cNvSpPr txBox="1"/>
          <p:nvPr/>
        </p:nvSpPr>
        <p:spPr>
          <a:xfrm>
            <a:off x="4038600" y="666750"/>
            <a:ext cx="4885055" cy="3969385"/>
          </a:xfrm>
          <a:prstGeom prst="rect">
            <a:avLst/>
          </a:prstGeom>
          <a:noFill/>
        </p:spPr>
        <p:txBody>
          <a:bodyPr wrap="square" rtlCol="0" anchor="t">
            <a:spAutoFit/>
          </a:bodyPr>
          <a:p>
            <a:r>
              <a:rPr lang="zh-CN" altLang="en-US" sz="1400">
                <a:sym typeface="+mn-ea"/>
              </a:rPr>
              <a:t># </a:t>
            </a:r>
            <a:r>
              <a:rPr lang="en-US" altLang="zh-CN" sz="1400">
                <a:sym typeface="+mn-ea"/>
              </a:rPr>
              <a:t>define a fuction to split the document</a:t>
            </a:r>
            <a:endParaRPr lang="zh-CN" altLang="en-US" sz="1400"/>
          </a:p>
          <a:p>
            <a:r>
              <a:rPr lang="zh-CN" altLang="en-US" sz="1400">
                <a:sym typeface="+mn-ea"/>
              </a:rPr>
              <a:t>def tokenize(text):</a:t>
            </a:r>
            <a:endParaRPr lang="zh-CN" altLang="en-US" sz="1400"/>
          </a:p>
          <a:p>
            <a:r>
              <a:rPr lang="zh-CN" altLang="en-US" sz="1400">
                <a:sym typeface="+mn-ea"/>
              </a:rPr>
              <a:t>    #</a:t>
            </a:r>
            <a:r>
              <a:rPr lang="en-US" altLang="zh-CN" sz="1400">
                <a:sym typeface="+mn-ea"/>
              </a:rPr>
              <a:t>convert to lowercase letter</a:t>
            </a:r>
            <a:endParaRPr lang="zh-CN" altLang="en-US" sz="1400">
              <a:sym typeface="+mn-ea"/>
            </a:endParaRPr>
          </a:p>
          <a:p>
            <a:r>
              <a:rPr lang="zh-CN" altLang="en-US" sz="1400">
                <a:sym typeface="+mn-ea"/>
              </a:rPr>
              <a:t>    text = text.lower()</a:t>
            </a:r>
            <a:endParaRPr lang="zh-CN" altLang="en-US" sz="1400"/>
          </a:p>
          <a:p>
            <a:r>
              <a:rPr lang="zh-CN" altLang="en-US" sz="1400">
                <a:sym typeface="+mn-ea"/>
              </a:rPr>
              <a:t>    tokens = re.findall(r'\b[a-z]+\b', text)</a:t>
            </a:r>
            <a:endParaRPr lang="zh-CN" altLang="en-US" sz="1400"/>
          </a:p>
          <a:p>
            <a:r>
              <a:rPr lang="zh-CN" altLang="en-US" sz="1400">
                <a:sym typeface="+mn-ea"/>
              </a:rPr>
              <a:t>    return tokens</a:t>
            </a:r>
            <a:endParaRPr lang="zh-CN" altLang="en-US" sz="1400"/>
          </a:p>
          <a:p>
            <a:endParaRPr lang="zh-CN" altLang="en-US" sz="1400"/>
          </a:p>
          <a:p>
            <a:r>
              <a:rPr lang="zh-CN" altLang="en-US" sz="1400">
                <a:sym typeface="+mn-ea"/>
              </a:rPr>
              <a:t># </a:t>
            </a:r>
            <a:r>
              <a:rPr lang="en-US" altLang="zh-CN" sz="1400">
                <a:sym typeface="+mn-ea"/>
              </a:rPr>
              <a:t>create a new variable to restore the word frequency</a:t>
            </a:r>
            <a:endParaRPr lang="zh-CN" altLang="en-US" sz="1400"/>
          </a:p>
          <a:p>
            <a:r>
              <a:rPr lang="zh-CN" altLang="en-US" sz="1400">
                <a:sym typeface="+mn-ea"/>
              </a:rPr>
              <a:t>tf = Counter()</a:t>
            </a:r>
            <a:endParaRPr lang="zh-CN" altLang="en-US" sz="1400"/>
          </a:p>
          <a:p>
            <a:endParaRPr lang="zh-CN" altLang="en-US" sz="1400"/>
          </a:p>
          <a:p>
            <a:r>
              <a:rPr lang="zh-CN" altLang="en-US" sz="1400">
                <a:sym typeface="+mn-ea"/>
              </a:rPr>
              <a:t># traversal</a:t>
            </a:r>
            <a:r>
              <a:rPr lang="en-US" altLang="zh-CN" sz="1400">
                <a:sym typeface="+mn-ea"/>
              </a:rPr>
              <a:t> each corpus</a:t>
            </a:r>
            <a:endParaRPr lang="zh-CN" altLang="en-US" sz="1400">
              <a:sym typeface="+mn-ea"/>
            </a:endParaRPr>
          </a:p>
          <a:p>
            <a:r>
              <a:rPr lang="zh-CN" altLang="en-US" sz="1400">
                <a:sym typeface="+mn-ea"/>
              </a:rPr>
              <a:t>for doc in corpus:</a:t>
            </a:r>
            <a:endParaRPr lang="zh-CN" altLang="en-US" sz="1400"/>
          </a:p>
          <a:p>
            <a:r>
              <a:rPr lang="zh-CN" altLang="en-US" sz="1400">
                <a:sym typeface="+mn-ea"/>
              </a:rPr>
              <a:t>    tokens = tokenize(doc)</a:t>
            </a:r>
            <a:endParaRPr lang="zh-CN" altLang="en-US" sz="1400"/>
          </a:p>
          <a:p>
            <a:r>
              <a:rPr lang="zh-CN" altLang="en-US" sz="1400">
                <a:sym typeface="+mn-ea"/>
              </a:rPr>
              <a:t>    tf.update(tokens)</a:t>
            </a:r>
            <a:endParaRPr lang="zh-CN" altLang="en-US" sz="1400"/>
          </a:p>
          <a:p>
            <a:endParaRPr lang="zh-CN" altLang="en-US" sz="1400"/>
          </a:p>
          <a:p>
            <a:r>
              <a:rPr lang="zh-CN" altLang="en-US" sz="1400">
                <a:sym typeface="+mn-ea"/>
              </a:rPr>
              <a:t># </a:t>
            </a:r>
            <a:r>
              <a:rPr lang="en-US" altLang="zh-CN" sz="1400">
                <a:sym typeface="+mn-ea"/>
              </a:rPr>
              <a:t>print each word frequency</a:t>
            </a:r>
            <a:endParaRPr lang="zh-CN" altLang="en-US" sz="1400"/>
          </a:p>
          <a:p>
            <a:r>
              <a:rPr lang="zh-CN" altLang="en-US" sz="1400">
                <a:sym typeface="+mn-ea"/>
              </a:rPr>
              <a:t>for word, freq in tf.items():</a:t>
            </a:r>
            <a:endParaRPr lang="zh-CN" altLang="en-US" sz="1400"/>
          </a:p>
          <a:p>
            <a:r>
              <a:rPr lang="zh-CN" altLang="en-US" sz="1400">
                <a:sym typeface="+mn-ea"/>
              </a:rPr>
              <a:t>    print(f"{word}: {freq}")</a:t>
            </a:r>
            <a:endParaRPr lang="zh-CN" altLang="en-US" sz="140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609600" y="971550"/>
            <a:ext cx="8168640" cy="3657600"/>
          </a:xfrm>
        </p:spPr>
        <p:txBody>
          <a:bodyPr>
            <a:normAutofit/>
          </a:bodyPr>
          <a:lstStyle/>
          <a:p>
            <a:r>
              <a:rPr lang="en-US" sz="2000" dirty="0"/>
              <a:t>A very simple way to tokenize</a:t>
            </a:r>
            <a:endParaRPr lang="en-US" sz="2000" dirty="0"/>
          </a:p>
          <a:p>
            <a:pPr lvl="1"/>
            <a:r>
              <a:rPr lang="en-US" sz="1800" dirty="0"/>
              <a:t>For languages that use space characters between words</a:t>
            </a:r>
            <a:endParaRPr lang="en-US" sz="1800" dirty="0"/>
          </a:p>
          <a:p>
            <a:pPr lvl="2"/>
            <a:r>
              <a:rPr lang="en-US" sz="1600" dirty="0"/>
              <a:t>Arabic, Cyrillic, Greek, Latin, etc., based writing systems</a:t>
            </a:r>
            <a:endParaRPr lang="en-US" sz="1600" dirty="0"/>
          </a:p>
          <a:p>
            <a:pPr lvl="1"/>
            <a:r>
              <a:rPr lang="en-US" sz="1800" dirty="0"/>
              <a:t>Segment off a token between instances of spaces</a:t>
            </a:r>
            <a:endParaRPr lang="en-US" sz="1800" dirty="0"/>
          </a:p>
          <a:p>
            <a:r>
              <a:rPr lang="en-US" sz="2000" dirty="0"/>
              <a:t>Unix tools for space-based tokenization</a:t>
            </a:r>
            <a:endParaRPr lang="en-US" sz="2000" dirty="0"/>
          </a:p>
          <a:p>
            <a:pPr lvl="1"/>
            <a:r>
              <a:rPr lang="en-US" sz="1800" dirty="0"/>
              <a:t>The "tr" command</a:t>
            </a:r>
            <a:endParaRPr lang="en-US" sz="1800" dirty="0"/>
          </a:p>
          <a:p>
            <a:pPr lvl="1"/>
            <a:r>
              <a:rPr lang="en-US" sz="1800" dirty="0"/>
              <a:t>Inspired by Ken Church's UNIX for Poets</a:t>
            </a:r>
            <a:endParaRPr lang="en-US" sz="1800" dirty="0"/>
          </a:p>
          <a:p>
            <a:pPr lvl="1"/>
            <a:r>
              <a:rPr lang="en-US" sz="1800" dirty="0"/>
              <a:t>Given a text file, output the word tokens and their frequencies </a:t>
            </a:r>
            <a:r>
              <a:rPr lang="zh-CN" altLang="en-US" sz="1800" dirty="0"/>
              <a:t>（</a:t>
            </a:r>
            <a:r>
              <a:rPr lang="en-US" altLang="zh-CN" sz="1800" dirty="0"/>
              <a:t>TF</a:t>
            </a:r>
            <a:r>
              <a:rPr lang="zh-CN" altLang="en-US" sz="1800" dirty="0"/>
              <a:t>）</a:t>
            </a:r>
            <a:endParaRPr lang="en-US" sz="1800" dirty="0"/>
          </a:p>
          <a:p>
            <a:pPr marL="0" indent="0">
              <a:buNone/>
            </a:pPr>
            <a:endParaRPr lang="en-US" sz="1800" dirty="0"/>
          </a:p>
        </p:txBody>
      </p:sp>
      <p:sp>
        <p:nvSpPr>
          <p:cNvPr id="2" name="Title 1"/>
          <p:cNvSpPr>
            <a:spLocks noGrp="1"/>
          </p:cNvSpPr>
          <p:nvPr>
            <p:ph type="title"/>
          </p:nvPr>
        </p:nvSpPr>
        <p:spPr>
          <a:xfrm>
            <a:off x="822960" y="119702"/>
            <a:ext cx="7543800" cy="680397"/>
          </a:xfrm>
        </p:spPr>
        <p:txBody>
          <a:bodyPr/>
          <a:lstStyle/>
          <a:p>
            <a:r>
              <a:rPr lang="en-US" dirty="0"/>
              <a:t>Space-based tokenization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52475"/>
            <a:ext cx="8534400" cy="3790950"/>
          </a:xfrm>
        </p:spPr>
        <p:txBody>
          <a:bodyPr/>
          <a:lstStyle/>
          <a:p>
            <a:r>
              <a:rPr lang="en-US" sz="2400" dirty="0"/>
              <a:t>(Inspired by Ken Church’s UNIX for Poets.)</a:t>
            </a:r>
            <a:endParaRPr lang="en-US" sz="2400" dirty="0"/>
          </a:p>
          <a:p>
            <a:r>
              <a:rPr lang="en-US" sz="2400" dirty="0"/>
              <a:t>Given a text file, output the word tokens and their frequencies</a:t>
            </a:r>
            <a:endParaRPr lang="en-US" sz="2400" dirty="0"/>
          </a:p>
          <a:p>
            <a:pPr marL="0" indent="0">
              <a:buNone/>
            </a:pPr>
            <a:r>
              <a:rPr lang="fr-FR" sz="1800" dirty="0"/>
              <a:t>tr -</a:t>
            </a:r>
            <a:r>
              <a:rPr lang="fr-FR" sz="1800" dirty="0" err="1"/>
              <a:t>sc</a:t>
            </a:r>
            <a:r>
              <a:rPr lang="fr-FR" sz="1800" dirty="0"/>
              <a:t> ’A-</a:t>
            </a:r>
            <a:r>
              <a:rPr lang="fr-FR" sz="1800" dirty="0" err="1"/>
              <a:t>Za</a:t>
            </a:r>
            <a:r>
              <a:rPr lang="fr-FR" sz="1800" dirty="0"/>
              <a:t>-z’ ’\n’ &lt; </a:t>
            </a:r>
            <a:r>
              <a:rPr lang="fr-FR" sz="1800" dirty="0" err="1"/>
              <a:t>shakes.txt</a:t>
            </a:r>
            <a:r>
              <a:rPr lang="fr-FR" sz="1800" dirty="0"/>
              <a:t> </a:t>
            </a:r>
            <a:endParaRPr lang="fr-FR" sz="1800" dirty="0"/>
          </a:p>
          <a:p>
            <a:pPr marL="0" indent="0">
              <a:buNone/>
            </a:pPr>
            <a:r>
              <a:rPr lang="fr-FR" sz="1800" dirty="0"/>
              <a:t>     | </a:t>
            </a:r>
            <a:r>
              <a:rPr lang="en-US" sz="1800" dirty="0"/>
              <a:t>sort </a:t>
            </a:r>
            <a:endParaRPr lang="en-US" sz="1800" dirty="0"/>
          </a:p>
          <a:p>
            <a:pPr marL="0" indent="0">
              <a:buNone/>
            </a:pPr>
            <a:r>
              <a:rPr lang="en-US" sz="1800" dirty="0"/>
              <a:t>     | </a:t>
            </a:r>
            <a:r>
              <a:rPr lang="en-US" sz="1800" dirty="0" err="1"/>
              <a:t>uniq</a:t>
            </a:r>
            <a:r>
              <a:rPr lang="en-US" sz="1800" dirty="0"/>
              <a:t> –c </a:t>
            </a:r>
            <a:endParaRPr lang="en-US" sz="1800" dirty="0"/>
          </a:p>
          <a:p>
            <a:pPr marL="0" indent="0">
              <a:buNone/>
            </a:pPr>
            <a:endParaRPr lang="en-US" sz="1200" dirty="0"/>
          </a:p>
          <a:p>
            <a:pPr marL="0" indent="0">
              <a:buNone/>
            </a:pPr>
            <a:r>
              <a:rPr lang="it-IT" sz="1000" dirty="0"/>
              <a:t> </a:t>
            </a:r>
            <a:r>
              <a:rPr lang="en-US" sz="1000" dirty="0"/>
              <a:t>   </a:t>
            </a:r>
            <a:endParaRPr lang="en-US" sz="1000" dirty="0"/>
          </a:p>
        </p:txBody>
      </p:sp>
      <p:sp>
        <p:nvSpPr>
          <p:cNvPr id="2" name="Title 1"/>
          <p:cNvSpPr>
            <a:spLocks noGrp="1"/>
          </p:cNvSpPr>
          <p:nvPr>
            <p:ph type="title"/>
          </p:nvPr>
        </p:nvSpPr>
        <p:spPr>
          <a:xfrm>
            <a:off x="685800" y="133037"/>
            <a:ext cx="7543800" cy="680397"/>
          </a:xfrm>
        </p:spPr>
        <p:txBody>
          <a:bodyPr/>
          <a:lstStyle/>
          <a:p>
            <a:r>
              <a:rPr lang="en-US" dirty="0"/>
              <a:t>Simple Tokenization in UNIX</a:t>
            </a:r>
            <a:endParaRPr lang="en-US" dirty="0"/>
          </a:p>
        </p:txBody>
      </p:sp>
      <p:sp>
        <p:nvSpPr>
          <p:cNvPr id="5" name="TextBox 4"/>
          <p:cNvSpPr txBox="1"/>
          <p:nvPr/>
        </p:nvSpPr>
        <p:spPr>
          <a:xfrm>
            <a:off x="3059430" y="2876312"/>
            <a:ext cx="1154320" cy="1600438"/>
          </a:xfrm>
          <a:prstGeom prst="rect">
            <a:avLst/>
          </a:prstGeom>
          <a:noFill/>
        </p:spPr>
        <p:txBody>
          <a:bodyPr wrap="none" rtlCol="0">
            <a:spAutoFit/>
          </a:bodyPr>
          <a:lstStyle/>
          <a:p>
            <a:pPr marL="0" indent="0">
              <a:buNone/>
            </a:pPr>
            <a:r>
              <a:rPr lang="it-IT" sz="1400" dirty="0">
                <a:latin typeface="Courier"/>
                <a:cs typeface="Courier"/>
              </a:rPr>
              <a:t>25 Aaron</a:t>
            </a:r>
            <a:endParaRPr lang="it-IT" sz="1400" dirty="0">
              <a:latin typeface="Courier"/>
              <a:cs typeface="Courier"/>
            </a:endParaRPr>
          </a:p>
          <a:p>
            <a:pPr marL="0" indent="0">
              <a:buNone/>
            </a:pPr>
            <a:r>
              <a:rPr lang="it-IT" sz="1400" dirty="0">
                <a:latin typeface="Courier"/>
                <a:cs typeface="Courier"/>
              </a:rPr>
              <a:t> 6 Abate</a:t>
            </a:r>
            <a:endParaRPr lang="it-IT" sz="1400" dirty="0">
              <a:latin typeface="Courier"/>
              <a:cs typeface="Courier"/>
            </a:endParaRPr>
          </a:p>
          <a:p>
            <a:pPr marL="0" indent="0">
              <a:buNone/>
            </a:pPr>
            <a:r>
              <a:rPr lang="it-IT" sz="1400" dirty="0">
                <a:latin typeface="Courier"/>
                <a:cs typeface="Courier"/>
              </a:rPr>
              <a:t> 1 </a:t>
            </a:r>
            <a:r>
              <a:rPr lang="it-IT" sz="1400" dirty="0" err="1">
                <a:latin typeface="Courier"/>
                <a:cs typeface="Courier"/>
              </a:rPr>
              <a:t>Abates</a:t>
            </a:r>
            <a:endParaRPr lang="it-IT" sz="1400" dirty="0">
              <a:latin typeface="Courier"/>
              <a:cs typeface="Courier"/>
            </a:endParaRPr>
          </a:p>
          <a:p>
            <a:pPr marL="0" indent="0">
              <a:buNone/>
            </a:pPr>
            <a:r>
              <a:rPr lang="it-IT" sz="1400" dirty="0">
                <a:latin typeface="Courier"/>
                <a:cs typeface="Courier"/>
              </a:rPr>
              <a:t> 5 </a:t>
            </a:r>
            <a:r>
              <a:rPr lang="it-IT" sz="1400" dirty="0" err="1">
                <a:latin typeface="Courier"/>
                <a:cs typeface="Courier"/>
              </a:rPr>
              <a:t>Abbess</a:t>
            </a:r>
            <a:endParaRPr lang="it-IT" sz="1400" dirty="0">
              <a:latin typeface="Courier"/>
              <a:cs typeface="Courier"/>
            </a:endParaRPr>
          </a:p>
          <a:p>
            <a:pPr marL="0" indent="0">
              <a:buNone/>
            </a:pPr>
            <a:r>
              <a:rPr lang="it-IT" sz="1400" dirty="0">
                <a:latin typeface="Courier"/>
                <a:cs typeface="Courier"/>
              </a:rPr>
              <a:t> 6 Abbey</a:t>
            </a:r>
            <a:endParaRPr lang="it-IT" sz="1400" dirty="0">
              <a:latin typeface="Courier"/>
              <a:cs typeface="Courier"/>
            </a:endParaRPr>
          </a:p>
          <a:p>
            <a:pPr marL="0" indent="0">
              <a:buNone/>
            </a:pPr>
            <a:r>
              <a:rPr lang="it-IT" sz="1400" dirty="0">
                <a:latin typeface="Courier"/>
                <a:cs typeface="Courier"/>
              </a:rPr>
              <a:t> 3 Abbot</a:t>
            </a:r>
            <a:endParaRPr lang="en-US" sz="1400" dirty="0">
              <a:latin typeface="+mn-lt"/>
            </a:endParaRPr>
          </a:p>
          <a:p>
            <a:pPr marL="0" indent="0">
              <a:buNone/>
            </a:pPr>
            <a:r>
              <a:rPr lang="en-US" sz="1400" dirty="0">
                <a:latin typeface="+mn-lt"/>
                <a:cs typeface="Courier"/>
              </a:rPr>
              <a:t>....   …</a:t>
            </a:r>
            <a:endParaRPr lang="en-US" sz="1400" dirty="0">
              <a:latin typeface="Courier"/>
              <a:cs typeface="Courier"/>
            </a:endParaRPr>
          </a:p>
        </p:txBody>
      </p:sp>
      <p:sp>
        <p:nvSpPr>
          <p:cNvPr id="6" name="Rectangle 5"/>
          <p:cNvSpPr/>
          <p:nvPr/>
        </p:nvSpPr>
        <p:spPr bwMode="auto">
          <a:xfrm>
            <a:off x="3505200" y="1609090"/>
            <a:ext cx="3429000" cy="3048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1600" dirty="0">
                <a:latin typeface="Lucida Sans" charset="0"/>
              </a:rPr>
              <a:t>Change all non-alpha </a:t>
            </a:r>
            <a:r>
              <a:rPr kumimoji="0" lang="en-US" sz="1600" b="0" i="0" u="none" strike="noStrike" cap="none" normalizeH="0" baseline="0" dirty="0">
                <a:ln>
                  <a:noFill/>
                </a:ln>
                <a:solidFill>
                  <a:schemeClr val="tx1"/>
                </a:solidFill>
                <a:effectLst/>
                <a:latin typeface="Lucida Sans" charset="0"/>
              </a:rPr>
              <a:t>to</a:t>
            </a:r>
            <a:r>
              <a:rPr kumimoji="0" lang="en-US" sz="1600" b="0" i="0" u="none" strike="noStrike" cap="none" normalizeH="0" dirty="0">
                <a:ln>
                  <a:noFill/>
                </a:ln>
                <a:solidFill>
                  <a:schemeClr val="tx1"/>
                </a:solidFill>
                <a:effectLst/>
                <a:latin typeface="Lucida Sans" charset="0"/>
              </a:rPr>
              <a:t> newlines</a:t>
            </a:r>
            <a:endParaRPr kumimoji="0" lang="en-US" sz="1600" b="0" i="0" u="none" strike="noStrike" cap="none" normalizeH="0" baseline="0" dirty="0">
              <a:ln>
                <a:noFill/>
              </a:ln>
              <a:solidFill>
                <a:schemeClr val="tx1"/>
              </a:solidFill>
              <a:effectLst/>
              <a:latin typeface="Lucida Sans" charset="0"/>
            </a:endParaRPr>
          </a:p>
        </p:txBody>
      </p:sp>
      <p:sp>
        <p:nvSpPr>
          <p:cNvPr id="7" name="Rectangle 6"/>
          <p:cNvSpPr/>
          <p:nvPr/>
        </p:nvSpPr>
        <p:spPr bwMode="auto">
          <a:xfrm>
            <a:off x="1981200" y="1962150"/>
            <a:ext cx="2743200" cy="3048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1400" dirty="0">
                <a:latin typeface="Lucida Sans" charset="0"/>
              </a:rPr>
              <a:t>Sort in alphabetical order</a:t>
            </a:r>
            <a:endParaRPr kumimoji="0" lang="en-US" sz="1400" b="0" i="0" u="none" strike="noStrike" cap="none" normalizeH="0" baseline="0" dirty="0">
              <a:ln>
                <a:noFill/>
              </a:ln>
              <a:solidFill>
                <a:schemeClr val="tx1"/>
              </a:solidFill>
              <a:effectLst/>
              <a:latin typeface="Lucida Sans" charset="0"/>
            </a:endParaRPr>
          </a:p>
        </p:txBody>
      </p:sp>
      <p:sp>
        <p:nvSpPr>
          <p:cNvPr id="8" name="Rectangle 7"/>
          <p:cNvSpPr/>
          <p:nvPr/>
        </p:nvSpPr>
        <p:spPr bwMode="auto">
          <a:xfrm>
            <a:off x="1981200" y="2343150"/>
            <a:ext cx="2971800" cy="3048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1400" dirty="0">
                <a:latin typeface="Lucida Sans" charset="0"/>
              </a:rPr>
              <a:t>Merge and count each type</a:t>
            </a:r>
            <a:endParaRPr kumimoji="0" lang="en-US" sz="1400" b="0" i="0" u="none" strike="noStrike" cap="none" normalizeH="0" baseline="0" dirty="0">
              <a:ln>
                <a:noFill/>
              </a:ln>
              <a:solidFill>
                <a:schemeClr val="tx1"/>
              </a:solidFill>
              <a:effectLst/>
              <a:latin typeface="Lucida Sans" charset="0"/>
            </a:endParaRPr>
          </a:p>
        </p:txBody>
      </p:sp>
      <p:sp>
        <p:nvSpPr>
          <p:cNvPr id="4" name="TextBox 4"/>
          <p:cNvSpPr txBox="1"/>
          <p:nvPr>
            <p:custDataLst>
              <p:tags r:id="rId1"/>
            </p:custDataLst>
          </p:nvPr>
        </p:nvSpPr>
        <p:spPr>
          <a:xfrm>
            <a:off x="1143000" y="2952512"/>
            <a:ext cx="1115695" cy="1168400"/>
          </a:xfrm>
          <a:prstGeom prst="rect">
            <a:avLst/>
          </a:prstGeom>
          <a:noFill/>
        </p:spPr>
        <p:txBody>
          <a:bodyPr wrap="none" rtlCol="0">
            <a:spAutoFit/>
          </a:bodyPr>
          <a:p>
            <a:pPr marL="0" indent="0" algn="l">
              <a:buNone/>
            </a:pPr>
            <a:r>
              <a:rPr lang="en-US" sz="1400" dirty="0">
                <a:sym typeface="+mn-ea"/>
              </a:rPr>
              <a:t>1945 A</a:t>
            </a:r>
            <a:endParaRPr lang="en-US" sz="1400" dirty="0"/>
          </a:p>
          <a:p>
            <a:pPr marL="0" indent="0" algn="l">
              <a:buNone/>
            </a:pPr>
            <a:r>
              <a:rPr lang="en-US" sz="1400" dirty="0">
                <a:sym typeface="+mn-ea"/>
              </a:rPr>
              <a:t>72 AARON</a:t>
            </a:r>
            <a:endParaRPr lang="en-US" sz="1400" dirty="0"/>
          </a:p>
          <a:p>
            <a:pPr marL="0" indent="0" algn="l">
              <a:buNone/>
            </a:pPr>
            <a:r>
              <a:rPr lang="en-US" sz="1400" dirty="0">
                <a:sym typeface="+mn-ea"/>
              </a:rPr>
              <a:t>19 ABBESS</a:t>
            </a:r>
            <a:endParaRPr lang="en-US" sz="1400" dirty="0"/>
          </a:p>
          <a:p>
            <a:pPr marL="0" indent="0" algn="l">
              <a:buNone/>
            </a:pPr>
            <a:r>
              <a:rPr lang="en-US" sz="1400" dirty="0">
                <a:sym typeface="+mn-ea"/>
              </a:rPr>
              <a:t>5 ABBOT</a:t>
            </a:r>
            <a:endParaRPr lang="en-US" sz="1400" dirty="0"/>
          </a:p>
          <a:p>
            <a:pPr marL="0" indent="0" algn="l">
              <a:buNone/>
            </a:pPr>
            <a:r>
              <a:rPr lang="en-US" sz="1400" dirty="0">
                <a:sym typeface="+mn-ea"/>
              </a:rPr>
              <a:t> ... ...</a:t>
            </a:r>
            <a:endParaRPr lang="en-US" sz="1400" dirty="0">
              <a:latin typeface="Courier"/>
              <a:cs typeface="Couri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7" grpId="0" bldLvl="0" animBg="1"/>
      <p:bldP spid="8" grpId="0" bldLvl="0" animBg="1"/>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00100"/>
            <a:ext cx="7940040" cy="4171950"/>
          </a:xfrm>
        </p:spPr>
        <p:txBody>
          <a:bodyPr>
            <a:normAutofit lnSpcReduction="10000"/>
          </a:bodyPr>
          <a:lstStyle/>
          <a:p>
            <a:r>
              <a:rPr lang="en-US" sz="2400" dirty="0"/>
              <a:t>Can't just blindly remove punctuation:</a:t>
            </a:r>
            <a:endParaRPr lang="en-US" sz="2400" dirty="0"/>
          </a:p>
          <a:p>
            <a:pPr lvl="1"/>
            <a:r>
              <a:rPr lang="en-US" sz="2000" dirty="0">
                <a:solidFill>
                  <a:srgbClr val="0070C0"/>
                </a:solidFill>
              </a:rPr>
              <a:t>m.p.h., Ph.D., AT&amp;T, </a:t>
            </a:r>
            <a:r>
              <a:rPr lang="en-US" sz="2000" dirty="0" err="1">
                <a:solidFill>
                  <a:srgbClr val="0070C0"/>
                </a:solidFill>
              </a:rPr>
              <a:t>cap’n</a:t>
            </a:r>
            <a:endParaRPr lang="en-US" sz="2000" dirty="0"/>
          </a:p>
          <a:p>
            <a:pPr lvl="1"/>
            <a:r>
              <a:rPr lang="en-US" sz="2000" dirty="0"/>
              <a:t>prices </a:t>
            </a:r>
            <a:r>
              <a:rPr lang="en-US" sz="2000" dirty="0">
                <a:solidFill>
                  <a:srgbClr val="0070C0"/>
                </a:solidFill>
              </a:rPr>
              <a:t>($45.55</a:t>
            </a:r>
            <a:r>
              <a:rPr lang="en-US" sz="2000" dirty="0"/>
              <a:t>)</a:t>
            </a:r>
            <a:endParaRPr lang="en-US" sz="2000" dirty="0"/>
          </a:p>
          <a:p>
            <a:pPr lvl="1"/>
            <a:r>
              <a:rPr lang="en-US" sz="2000" dirty="0"/>
              <a:t>dates (</a:t>
            </a:r>
            <a:r>
              <a:rPr lang="en-US" sz="2000" dirty="0">
                <a:solidFill>
                  <a:srgbClr val="0070C0"/>
                </a:solidFill>
              </a:rPr>
              <a:t>01/02/06</a:t>
            </a:r>
            <a:r>
              <a:rPr lang="en-US" sz="2000" dirty="0"/>
              <a:t>)</a:t>
            </a:r>
            <a:endParaRPr lang="en-US" sz="2000" dirty="0"/>
          </a:p>
          <a:p>
            <a:pPr lvl="1"/>
            <a:r>
              <a:rPr lang="en-US" sz="2000" dirty="0"/>
              <a:t>URLs (</a:t>
            </a:r>
            <a:r>
              <a:rPr lang="en-US" sz="2000" dirty="0">
                <a:solidFill>
                  <a:srgbClr val="0070C0"/>
                </a:solidFill>
              </a:rPr>
              <a:t>http://</a:t>
            </a:r>
            <a:r>
              <a:rPr lang="en-US" sz="2000" dirty="0" err="1">
                <a:solidFill>
                  <a:srgbClr val="0070C0"/>
                </a:solidFill>
              </a:rPr>
              <a:t>www.stanford.edu</a:t>
            </a:r>
            <a:r>
              <a:rPr lang="en-US" sz="2000" dirty="0"/>
              <a:t>)</a:t>
            </a:r>
            <a:endParaRPr lang="en-US" sz="2000" dirty="0"/>
          </a:p>
          <a:p>
            <a:pPr lvl="1"/>
            <a:r>
              <a:rPr lang="en-US" sz="2000" dirty="0"/>
              <a:t>hashtags (</a:t>
            </a:r>
            <a:r>
              <a:rPr lang="en-US" sz="2000" dirty="0">
                <a:solidFill>
                  <a:srgbClr val="0070C0"/>
                </a:solidFill>
              </a:rPr>
              <a:t>#</a:t>
            </a:r>
            <a:r>
              <a:rPr lang="en-US" sz="2000" dirty="0" err="1">
                <a:solidFill>
                  <a:srgbClr val="0070C0"/>
                </a:solidFill>
              </a:rPr>
              <a:t>nlproc</a:t>
            </a:r>
            <a:r>
              <a:rPr lang="en-US" sz="2000" dirty="0"/>
              <a:t>)</a:t>
            </a:r>
            <a:endParaRPr lang="en-US" sz="2000" dirty="0"/>
          </a:p>
          <a:p>
            <a:pPr lvl="1"/>
            <a:r>
              <a:rPr lang="en-US" sz="2000" dirty="0"/>
              <a:t>email addresses (</a:t>
            </a:r>
            <a:r>
              <a:rPr lang="en-US" sz="2000" dirty="0" err="1">
                <a:solidFill>
                  <a:srgbClr val="0070C0"/>
                </a:solidFill>
              </a:rPr>
              <a:t>someone@cs.colorado.edu</a:t>
            </a:r>
            <a:r>
              <a:rPr lang="en-US" sz="2000" dirty="0"/>
              <a:t>)</a:t>
            </a:r>
            <a:endParaRPr lang="en-US" sz="2000" dirty="0"/>
          </a:p>
          <a:p>
            <a:r>
              <a:rPr lang="en-US" sz="2400" dirty="0"/>
              <a:t>Clitic: a word that doesn't stand on its own</a:t>
            </a:r>
            <a:endParaRPr lang="en-US" sz="2400" dirty="0"/>
          </a:p>
          <a:p>
            <a:pPr lvl="1"/>
            <a:r>
              <a:rPr lang="en-US" sz="2000" dirty="0">
                <a:solidFill>
                  <a:srgbClr val="0070C0"/>
                </a:solidFill>
              </a:rPr>
              <a:t>"are" </a:t>
            </a:r>
            <a:r>
              <a:rPr lang="en-US" sz="2000" dirty="0">
                <a:solidFill>
                  <a:schemeClr val="tx1"/>
                </a:solidFill>
              </a:rPr>
              <a:t>in</a:t>
            </a:r>
            <a:r>
              <a:rPr lang="en-US" sz="2000" dirty="0">
                <a:solidFill>
                  <a:srgbClr val="0070C0"/>
                </a:solidFill>
              </a:rPr>
              <a:t> we're, </a:t>
            </a:r>
            <a:r>
              <a:rPr lang="en-US" sz="2000" dirty="0">
                <a:sym typeface="Wingdings" panose="05000000000000000000" pitchFamily="2" charset="2"/>
              </a:rPr>
              <a:t>French "</a:t>
            </a:r>
            <a:r>
              <a:rPr lang="en-US" sz="2000" dirty="0">
                <a:solidFill>
                  <a:srgbClr val="0070C0"/>
                </a:solidFill>
                <a:sym typeface="Wingdings" panose="05000000000000000000" pitchFamily="2" charset="2"/>
              </a:rPr>
              <a:t>je</a:t>
            </a:r>
            <a:r>
              <a:rPr lang="en-US" sz="2000" dirty="0">
                <a:sym typeface="Wingdings" panose="05000000000000000000" pitchFamily="2" charset="2"/>
              </a:rPr>
              <a:t>" in </a:t>
            </a:r>
            <a:r>
              <a:rPr lang="en-US" sz="2000" dirty="0" err="1">
                <a:solidFill>
                  <a:srgbClr val="0070C0"/>
                </a:solidFill>
                <a:sym typeface="Wingdings" panose="05000000000000000000" pitchFamily="2" charset="2"/>
              </a:rPr>
              <a:t>j'ai</a:t>
            </a:r>
            <a:r>
              <a:rPr lang="en-US" sz="2000" dirty="0">
                <a:solidFill>
                  <a:srgbClr val="0070C0"/>
                </a:solidFill>
                <a:sym typeface="Wingdings" panose="05000000000000000000" pitchFamily="2" charset="2"/>
              </a:rPr>
              <a:t>,</a:t>
            </a:r>
            <a:r>
              <a:rPr lang="en-US" sz="2000" dirty="0">
                <a:sym typeface="Wingdings" panose="05000000000000000000" pitchFamily="2" charset="2"/>
              </a:rPr>
              <a:t> "</a:t>
            </a:r>
            <a:r>
              <a:rPr lang="en-US" sz="2000" dirty="0">
                <a:solidFill>
                  <a:srgbClr val="0070C0"/>
                </a:solidFill>
                <a:sym typeface="Wingdings" panose="05000000000000000000" pitchFamily="2" charset="2"/>
              </a:rPr>
              <a:t>le</a:t>
            </a:r>
            <a:r>
              <a:rPr lang="en-US" sz="2000" dirty="0">
                <a:sym typeface="Wingdings" panose="05000000000000000000" pitchFamily="2" charset="2"/>
              </a:rPr>
              <a:t>" in </a:t>
            </a:r>
            <a:r>
              <a:rPr lang="en-US" sz="2000" dirty="0" err="1">
                <a:solidFill>
                  <a:srgbClr val="0070C0"/>
                </a:solidFill>
                <a:sym typeface="Wingdings" panose="05000000000000000000" pitchFamily="2" charset="2"/>
              </a:rPr>
              <a:t>l'honneur</a:t>
            </a:r>
            <a:endParaRPr lang="en-US" sz="2000" dirty="0">
              <a:solidFill>
                <a:srgbClr val="0070C0"/>
              </a:solidFill>
              <a:sym typeface="Wingdings" panose="05000000000000000000" pitchFamily="2" charset="2"/>
            </a:endParaRPr>
          </a:p>
          <a:p>
            <a:r>
              <a:rPr lang="en-US" sz="2400" dirty="0">
                <a:solidFill>
                  <a:schemeClr val="tx1"/>
                </a:solidFill>
                <a:sym typeface="Wingdings" panose="05000000000000000000" pitchFamily="2" charset="2"/>
              </a:rPr>
              <a:t>When should multiword expressions (MWE) be words?</a:t>
            </a:r>
            <a:endParaRPr lang="en-US" sz="2400" dirty="0">
              <a:solidFill>
                <a:schemeClr val="tx1"/>
              </a:solidFill>
              <a:sym typeface="Wingdings" panose="05000000000000000000" pitchFamily="2" charset="2"/>
            </a:endParaRPr>
          </a:p>
          <a:p>
            <a:pPr lvl="1"/>
            <a:r>
              <a:rPr lang="en-US" sz="2000" dirty="0">
                <a:solidFill>
                  <a:srgbClr val="0070C0"/>
                </a:solidFill>
              </a:rPr>
              <a:t>New York, rock ’n’ roll </a:t>
            </a:r>
            <a:endParaRPr lang="en-US" sz="2000" dirty="0">
              <a:solidFill>
                <a:schemeClr val="tx1"/>
              </a:solidFill>
            </a:endParaRPr>
          </a:p>
          <a:p>
            <a:endParaRPr lang="en-US" sz="2400" dirty="0"/>
          </a:p>
          <a:p>
            <a:pPr lvl="1"/>
            <a:endParaRPr lang="en-US" sz="2000" dirty="0"/>
          </a:p>
          <a:p>
            <a:endParaRPr lang="en-US" sz="2400" dirty="0"/>
          </a:p>
          <a:p>
            <a:pPr lvl="1"/>
            <a:endParaRPr lang="en-US" sz="2400" dirty="0"/>
          </a:p>
        </p:txBody>
      </p:sp>
      <p:sp>
        <p:nvSpPr>
          <p:cNvPr id="2" name="Title 1"/>
          <p:cNvSpPr>
            <a:spLocks noGrp="1"/>
          </p:cNvSpPr>
          <p:nvPr>
            <p:ph type="title"/>
          </p:nvPr>
        </p:nvSpPr>
        <p:spPr>
          <a:xfrm>
            <a:off x="822960" y="119702"/>
            <a:ext cx="7543800" cy="680397"/>
          </a:xfrm>
        </p:spPr>
        <p:txBody>
          <a:bodyPr/>
          <a:lstStyle/>
          <a:p>
            <a:r>
              <a:rPr lang="en-US" dirty="0"/>
              <a:t>Issues in Tokenization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Tokenization in NLTK</a:t>
            </a:r>
            <a:endParaRPr lang="en-US" dirty="0"/>
          </a:p>
        </p:txBody>
      </p:sp>
      <p:pic>
        <p:nvPicPr>
          <p:cNvPr id="5" name="Picture 4"/>
          <p:cNvPicPr>
            <a:picLocks noChangeAspect="1"/>
          </p:cNvPicPr>
          <p:nvPr/>
        </p:nvPicPr>
        <p:blipFill rotWithShape="1">
          <a:blip r:embed="rId1"/>
          <a:srcRect b="724"/>
          <a:stretch>
            <a:fillRect/>
          </a:stretch>
        </p:blipFill>
        <p:spPr>
          <a:xfrm>
            <a:off x="609599" y="1123951"/>
            <a:ext cx="8098625" cy="3048000"/>
          </a:xfrm>
          <a:prstGeom prst="rect">
            <a:avLst/>
          </a:prstGeom>
        </p:spPr>
      </p:pic>
      <p:sp>
        <p:nvSpPr>
          <p:cNvPr id="6" name="TextBox 5"/>
          <p:cNvSpPr txBox="1"/>
          <p:nvPr/>
        </p:nvSpPr>
        <p:spPr>
          <a:xfrm>
            <a:off x="1174115" y="666750"/>
            <a:ext cx="7512685" cy="33718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Bird, </a:t>
            </a:r>
            <a:r>
              <a:rPr lang="en-US" sz="1600" dirty="0" err="1">
                <a:latin typeface="Calibri" panose="020F0502020204030204" pitchFamily="34" charset="0"/>
                <a:cs typeface="Calibri" panose="020F0502020204030204" pitchFamily="34" charset="0"/>
              </a:rPr>
              <a:t>Loper</a:t>
            </a:r>
            <a:r>
              <a:rPr lang="en-US" sz="1600" dirty="0">
                <a:latin typeface="Calibri" panose="020F0502020204030204" pitchFamily="34" charset="0"/>
                <a:cs typeface="Calibri" panose="020F0502020204030204" pitchFamily="34" charset="0"/>
              </a:rPr>
              <a:t> and Klein (2009), </a:t>
            </a:r>
            <a:r>
              <a:rPr lang="en-US" sz="1600" i="1" dirty="0">
                <a:latin typeface="Calibri" panose="020F0502020204030204" pitchFamily="34" charset="0"/>
                <a:cs typeface="Calibri" panose="020F0502020204030204" pitchFamily="34" charset="0"/>
              </a:rPr>
              <a:t>Natural Language Processing with Python</a:t>
            </a:r>
            <a:r>
              <a:rPr lang="en-US" sz="1600" dirty="0">
                <a:latin typeface="Calibri" panose="020F0502020204030204" pitchFamily="34" charset="0"/>
                <a:cs typeface="Calibri" panose="020F0502020204030204" pitchFamily="34" charset="0"/>
              </a:rPr>
              <a:t>. O’Reilly</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71550"/>
            <a:ext cx="7543801" cy="3429000"/>
          </a:xfrm>
        </p:spPr>
        <p:txBody>
          <a:bodyPr/>
          <a:lstStyle/>
          <a:p>
            <a:pPr marL="0" indent="0">
              <a:buNone/>
            </a:pPr>
            <a:r>
              <a:rPr lang="en-US" sz="2400" dirty="0"/>
              <a:t>Many languages (like Chinese, Japanese, Thai) don't use spaces to separate words!</a:t>
            </a:r>
            <a:endParaRPr lang="en-US" sz="2400" dirty="0"/>
          </a:p>
          <a:p>
            <a:pPr marL="0" indent="0">
              <a:buNone/>
            </a:pPr>
            <a:r>
              <a:rPr lang="en-US" sz="2400" dirty="0"/>
              <a:t>How do we decide where the token boundaries should be?</a:t>
            </a:r>
            <a:endParaRPr lang="en-US" sz="2400" dirty="0"/>
          </a:p>
        </p:txBody>
      </p:sp>
      <p:sp>
        <p:nvSpPr>
          <p:cNvPr id="2" name="Title 1"/>
          <p:cNvSpPr>
            <a:spLocks noGrp="1"/>
          </p:cNvSpPr>
          <p:nvPr>
            <p:ph type="title"/>
          </p:nvPr>
        </p:nvSpPr>
        <p:spPr>
          <a:xfrm>
            <a:off x="387350" y="120015"/>
            <a:ext cx="8756650" cy="680085"/>
          </a:xfrm>
        </p:spPr>
        <p:txBody>
          <a:bodyPr/>
          <a:lstStyle/>
          <a:p>
            <a:r>
              <a:rPr lang="en-US" dirty="0"/>
              <a:t>Tokenization in languages without spaces </a:t>
            </a:r>
            <a:endParaRPr lang="en-US" dirty="0"/>
          </a:p>
        </p:txBody>
      </p:sp>
      <p:pic>
        <p:nvPicPr>
          <p:cNvPr id="4" name="图片 3"/>
          <p:cNvPicPr>
            <a:picLocks noChangeAspect="1"/>
          </p:cNvPicPr>
          <p:nvPr>
            <p:custDataLst>
              <p:tags r:id="rId1"/>
            </p:custDataLst>
          </p:nvPr>
        </p:nvPicPr>
        <p:blipFill>
          <a:blip r:embed="rId2"/>
          <a:stretch>
            <a:fillRect/>
          </a:stretch>
        </p:blipFill>
        <p:spPr>
          <a:xfrm>
            <a:off x="609600" y="2190750"/>
            <a:ext cx="5719445" cy="26885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47750"/>
            <a:ext cx="8229600" cy="3429000"/>
          </a:xfrm>
        </p:spPr>
        <p:txBody>
          <a:bodyPr/>
          <a:lstStyle/>
          <a:p>
            <a:pPr marL="0" indent="0">
              <a:buNone/>
            </a:pPr>
            <a:r>
              <a:rPr lang="en-US" sz="2400" dirty="0"/>
              <a:t>Chinese words are composed of characters called "</a:t>
            </a:r>
            <a:r>
              <a:rPr lang="en-US" sz="2400" b="1" dirty="0" err="1"/>
              <a:t>hanzi</a:t>
            </a:r>
            <a:r>
              <a:rPr lang="en-US" sz="2400" b="1" dirty="0"/>
              <a:t>" </a:t>
            </a:r>
            <a:r>
              <a:rPr lang="en-US" sz="2400" dirty="0"/>
              <a:t>(or sometimes just "</a:t>
            </a:r>
            <a:r>
              <a:rPr lang="en-US" sz="2400" b="1" dirty="0" err="1"/>
              <a:t>zi</a:t>
            </a:r>
            <a:r>
              <a:rPr lang="en-US" sz="2400" dirty="0"/>
              <a:t>")</a:t>
            </a:r>
            <a:endParaRPr lang="en-US" sz="2400" dirty="0"/>
          </a:p>
          <a:p>
            <a:pPr marL="0" indent="0">
              <a:buNone/>
            </a:pPr>
            <a:r>
              <a:rPr lang="en-US" sz="2400" dirty="0"/>
              <a:t>Each one represents a meaning unit called a morpheme.</a:t>
            </a:r>
            <a:endParaRPr lang="en-US" sz="2400" dirty="0"/>
          </a:p>
          <a:p>
            <a:pPr marL="0" indent="0">
              <a:buNone/>
            </a:pPr>
            <a:r>
              <a:rPr lang="en-US" sz="2400" dirty="0"/>
              <a:t>Each word has on average 2.4 of them.</a:t>
            </a:r>
            <a:endParaRPr lang="en-US" sz="2400" dirty="0"/>
          </a:p>
          <a:p>
            <a:pPr marL="0" indent="0">
              <a:buNone/>
            </a:pPr>
            <a:r>
              <a:rPr lang="en-US" sz="2400" dirty="0"/>
              <a:t>But deciding what counts as a word is complex and not agreed upon.</a:t>
            </a:r>
            <a:endParaRPr lang="en-US" sz="2400" dirty="0"/>
          </a:p>
        </p:txBody>
      </p:sp>
      <p:sp>
        <p:nvSpPr>
          <p:cNvPr id="2" name="Title 1"/>
          <p:cNvSpPr>
            <a:spLocks noGrp="1"/>
          </p:cNvSpPr>
          <p:nvPr>
            <p:ph type="title"/>
          </p:nvPr>
        </p:nvSpPr>
        <p:spPr>
          <a:xfrm>
            <a:off x="822960" y="119702"/>
            <a:ext cx="7543800" cy="680397"/>
          </a:xfrm>
        </p:spPr>
        <p:txBody>
          <a:bodyPr/>
          <a:lstStyle/>
          <a:p>
            <a:r>
              <a:rPr lang="en-US" dirty="0"/>
              <a:t>Word tokenization in Chinese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099" y="1428750"/>
            <a:ext cx="7543801" cy="3429000"/>
          </a:xfrm>
        </p:spPr>
        <p:txBody>
          <a:bodyPr>
            <a:normAutofit fontScale="47500" lnSpcReduction="20000"/>
          </a:bodyPr>
          <a:lstStyle/>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姚明进入总决赛</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rPr>
              <a:t>“</a:t>
            </a:r>
            <a:r>
              <a:rPr lang="en-US" sz="4500" dirty="0">
                <a:solidFill>
                  <a:srgbClr val="0044FE"/>
                </a:solidFill>
              </a:rPr>
              <a:t>Yao Ming reaches the finals”</a:t>
            </a:r>
            <a:endParaRPr lang="en-US" sz="4500" dirty="0">
              <a:solidFill>
                <a:srgbClr val="0044FE"/>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3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err="1">
                <a:solidFill>
                  <a:schemeClr val="tx1"/>
                </a:solidFill>
              </a:rPr>
              <a:t>YaoMing</a:t>
            </a:r>
            <a:r>
              <a:rPr lang="en-US" sz="4500" dirty="0">
                <a:solidFill>
                  <a:schemeClr val="tx1"/>
                </a:solidFill>
              </a:rPr>
              <a:t>  reaches  finals </a:t>
            </a:r>
            <a:endParaRPr lang="en-US" sz="4500" dirty="0">
              <a:solidFill>
                <a:schemeClr val="tx1"/>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5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 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reaches    overall    finals </a:t>
            </a:r>
            <a:endParaRPr lang="en-US" sz="4500" dirty="0"/>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7 characters? (don't use words at all):</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赛 </a:t>
            </a:r>
            <a:endParaRPr lang="ja-JP" altLang="en-US" sz="450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enter enter overall decision game</a:t>
            </a:r>
            <a:endParaRPr lang="en-US" sz="4500" dirty="0"/>
          </a:p>
          <a:p>
            <a:endParaRPr lang="en-US" sz="2000" dirty="0"/>
          </a:p>
        </p:txBody>
      </p:sp>
      <p:sp>
        <p:nvSpPr>
          <p:cNvPr id="2" name="Title 1"/>
          <p:cNvSpPr>
            <a:spLocks noGrp="1"/>
          </p:cNvSpPr>
          <p:nvPr>
            <p:ph type="title"/>
          </p:nvPr>
        </p:nvSpPr>
        <p:spPr>
          <a:xfrm>
            <a:off x="350520" y="120015"/>
            <a:ext cx="8332470" cy="680085"/>
          </a:xfrm>
        </p:spPr>
        <p:txBody>
          <a:bodyPr/>
          <a:lstStyle/>
          <a:p>
            <a:r>
              <a:rPr lang="en-US" dirty="0"/>
              <a:t>How to do word tokenization in Chinese?</a:t>
            </a:r>
            <a:endParaRPr lang="en-US" dirty="0"/>
          </a:p>
        </p:txBody>
      </p:sp>
      <p:sp>
        <p:nvSpPr>
          <p:cNvPr id="4" name="Rectangle 3"/>
          <p:cNvSpPr/>
          <p:nvPr/>
        </p:nvSpPr>
        <p:spPr>
          <a:xfrm>
            <a:off x="546464" y="1943100"/>
            <a:ext cx="5562600" cy="289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46464" y="2934380"/>
            <a:ext cx="6019800" cy="1866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82139" y="3963080"/>
            <a:ext cx="73152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099" y="1428750"/>
            <a:ext cx="7543801" cy="3429000"/>
          </a:xfrm>
        </p:spPr>
        <p:txBody>
          <a:bodyPr>
            <a:normAutofit fontScale="37500" lnSpcReduction="20000"/>
          </a:bodyPr>
          <a:lstStyle/>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姚明进入总决赛</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rPr>
              <a:t>“</a:t>
            </a:r>
            <a:r>
              <a:rPr lang="en-US" sz="4500" dirty="0">
                <a:solidFill>
                  <a:srgbClr val="0044FE"/>
                </a:solidFill>
              </a:rPr>
              <a:t>Yao Ming reaches the finals”</a:t>
            </a:r>
            <a:endParaRPr lang="en-US" sz="4500" dirty="0">
              <a:solidFill>
                <a:srgbClr val="0044FE"/>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3 words?</a:t>
            </a:r>
            <a:endParaRPr lang="en-US" sz="4500" dirty="0"/>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总决赛 </a:t>
            </a:r>
            <a:endParaRPr lang="ja-JP" altLang="en-US" sz="450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err="1">
                <a:solidFill>
                  <a:schemeClr val="tx1"/>
                </a:solidFill>
              </a:rPr>
              <a:t>YaoMing</a:t>
            </a:r>
            <a:r>
              <a:rPr lang="en-US" sz="4500" dirty="0">
                <a:solidFill>
                  <a:schemeClr val="tx1"/>
                </a:solidFill>
              </a:rPr>
              <a:t>  reaches  finals </a:t>
            </a:r>
            <a:endParaRPr lang="en-US" sz="4500" dirty="0">
              <a:solidFill>
                <a:schemeClr val="tx1"/>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5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 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reaches    overall    finals </a:t>
            </a:r>
            <a:endParaRPr lang="en-US" sz="4500" dirty="0"/>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7 characters? (don't use words at all):</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赛 </a:t>
            </a:r>
            <a:endParaRPr lang="ja-JP" altLang="en-US" sz="450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enter enter overall decision game</a:t>
            </a:r>
            <a:endParaRPr lang="en-US" sz="4500" dirty="0"/>
          </a:p>
          <a:p>
            <a:endParaRPr lang="en-US" sz="2000" dirty="0"/>
          </a:p>
        </p:txBody>
      </p:sp>
      <p:sp>
        <p:nvSpPr>
          <p:cNvPr id="2" name="Title 1"/>
          <p:cNvSpPr>
            <a:spLocks noGrp="1"/>
          </p:cNvSpPr>
          <p:nvPr>
            <p:ph type="title"/>
          </p:nvPr>
        </p:nvSpPr>
        <p:spPr>
          <a:xfrm>
            <a:off x="311150" y="120015"/>
            <a:ext cx="8055610" cy="680085"/>
          </a:xfrm>
        </p:spPr>
        <p:txBody>
          <a:bodyPr/>
          <a:lstStyle/>
          <a:p>
            <a:r>
              <a:rPr lang="en-US" dirty="0"/>
              <a:t>How to do word tokenization in Chinese?</a:t>
            </a:r>
            <a:endParaRPr lang="en-US" dirty="0"/>
          </a:p>
        </p:txBody>
      </p:sp>
      <p:sp>
        <p:nvSpPr>
          <p:cNvPr id="5" name="Rectangle 4"/>
          <p:cNvSpPr/>
          <p:nvPr/>
        </p:nvSpPr>
        <p:spPr>
          <a:xfrm>
            <a:off x="533129" y="2990895"/>
            <a:ext cx="6019800" cy="1866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82139" y="3963080"/>
            <a:ext cx="73152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099" y="1428750"/>
            <a:ext cx="7543801" cy="3429000"/>
          </a:xfrm>
        </p:spPr>
        <p:txBody>
          <a:bodyPr>
            <a:normAutofit fontScale="47500" lnSpcReduction="20000"/>
          </a:bodyPr>
          <a:lstStyle/>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姚明进入总决赛</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rPr>
              <a:t>“</a:t>
            </a:r>
            <a:r>
              <a:rPr lang="en-US" sz="4500" dirty="0">
                <a:solidFill>
                  <a:srgbClr val="0044FE"/>
                </a:solidFill>
              </a:rPr>
              <a:t>Yao Ming reaches the finals”</a:t>
            </a:r>
            <a:endParaRPr lang="en-US" sz="4500" dirty="0">
              <a:solidFill>
                <a:srgbClr val="0044FE"/>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3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err="1">
                <a:solidFill>
                  <a:schemeClr val="tx1"/>
                </a:solidFill>
              </a:rPr>
              <a:t>YaoMing</a:t>
            </a:r>
            <a:r>
              <a:rPr lang="en-US" sz="4500" dirty="0">
                <a:solidFill>
                  <a:schemeClr val="tx1"/>
                </a:solidFill>
              </a:rPr>
              <a:t>  reaches  finals </a:t>
            </a:r>
            <a:endParaRPr lang="en-US" sz="4500" dirty="0">
              <a:solidFill>
                <a:schemeClr val="tx1"/>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5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 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reaches    overall    finals </a:t>
            </a:r>
            <a:endParaRPr lang="en-US" sz="4500" dirty="0"/>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7 characters? (don't use words at all):</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赛 </a:t>
            </a:r>
            <a:endParaRPr lang="ja-JP" altLang="en-US" sz="450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enter enter overall decision game</a:t>
            </a:r>
            <a:endParaRPr lang="en-US" sz="4500" dirty="0"/>
          </a:p>
          <a:p>
            <a:endParaRPr lang="en-US" sz="2000" dirty="0"/>
          </a:p>
        </p:txBody>
      </p:sp>
      <p:sp>
        <p:nvSpPr>
          <p:cNvPr id="2" name="Title 1"/>
          <p:cNvSpPr>
            <a:spLocks noGrp="1"/>
          </p:cNvSpPr>
          <p:nvPr>
            <p:ph type="title"/>
          </p:nvPr>
        </p:nvSpPr>
        <p:spPr>
          <a:xfrm>
            <a:off x="822960" y="119702"/>
            <a:ext cx="7543800" cy="680397"/>
          </a:xfrm>
        </p:spPr>
        <p:txBody>
          <a:bodyPr/>
          <a:lstStyle/>
          <a:p>
            <a:r>
              <a:rPr lang="en-US" dirty="0"/>
              <a:t>How to do word tokenization in Chinese?</a:t>
            </a:r>
            <a:endParaRPr lang="en-US" dirty="0"/>
          </a:p>
        </p:txBody>
      </p:sp>
      <p:sp>
        <p:nvSpPr>
          <p:cNvPr id="6" name="Rectangle 5"/>
          <p:cNvSpPr/>
          <p:nvPr/>
        </p:nvSpPr>
        <p:spPr>
          <a:xfrm>
            <a:off x="782139" y="3963080"/>
            <a:ext cx="73152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099" y="1428750"/>
            <a:ext cx="7543801" cy="3429000"/>
          </a:xfrm>
        </p:spPr>
        <p:txBody>
          <a:bodyPr>
            <a:normAutofit fontScale="47500" lnSpcReduction="20000"/>
          </a:bodyPr>
          <a:lstStyle/>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姚明进入总决赛</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rPr>
              <a:t>“</a:t>
            </a:r>
            <a:r>
              <a:rPr lang="en-US" sz="4500" dirty="0">
                <a:solidFill>
                  <a:srgbClr val="0044FE"/>
                </a:solidFill>
              </a:rPr>
              <a:t>Yao Ming reaches the finals”</a:t>
            </a:r>
            <a:endParaRPr lang="en-US" sz="4500" dirty="0">
              <a:solidFill>
                <a:srgbClr val="0044FE"/>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3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姚明</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err="1">
                <a:solidFill>
                  <a:schemeClr val="tx1"/>
                </a:solidFill>
              </a:rPr>
              <a:t>YaoMing</a:t>
            </a:r>
            <a:r>
              <a:rPr lang="en-US" sz="4500" dirty="0">
                <a:solidFill>
                  <a:schemeClr val="tx1"/>
                </a:solidFill>
              </a:rPr>
              <a:t>  reaches  finals </a:t>
            </a:r>
            <a:endParaRPr lang="en-US" sz="4500" dirty="0">
              <a:solidFill>
                <a:schemeClr val="tx1"/>
              </a:solidFill>
            </a:endParaRPr>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5 words?</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 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决赛 </a:t>
            </a:r>
            <a:endParaRPr lang="en-US" altLang="ja-JP" sz="4500" dirty="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reaches    overall    finals </a:t>
            </a:r>
            <a:endParaRPr lang="en-US" sz="4500" dirty="0"/>
          </a:p>
          <a:p>
            <a:pPr marL="0" indent="0">
              <a:lnSpc>
                <a:spcPct val="100000"/>
              </a:lnSpc>
              <a:spcBef>
                <a:spcPts val="0"/>
              </a:spcBef>
              <a:spcAft>
                <a:spcPts val="0"/>
              </a:spcAft>
            </a:pPr>
            <a:endParaRPr lang="en-US" sz="4500" dirty="0"/>
          </a:p>
          <a:p>
            <a:pPr marL="0" indent="0">
              <a:lnSpc>
                <a:spcPct val="100000"/>
              </a:lnSpc>
              <a:spcBef>
                <a:spcPts val="0"/>
              </a:spcBef>
              <a:spcAft>
                <a:spcPts val="0"/>
              </a:spcAft>
            </a:pPr>
            <a:r>
              <a:rPr lang="en-US" sz="4500" dirty="0"/>
              <a:t>7 characters? (don't use words at all):</a:t>
            </a:r>
            <a:endParaRPr lang="en-US" sz="4500" dirty="0"/>
          </a:p>
          <a:p>
            <a:pPr marL="0" indent="0">
              <a:lnSpc>
                <a:spcPct val="100000"/>
              </a:lnSpc>
              <a:spcBef>
                <a:spcPts val="0"/>
              </a:spcBef>
              <a:spcAft>
                <a:spcPts val="0"/>
              </a:spcAft>
            </a:pPr>
            <a:r>
              <a:rPr lang="ja-JP" altLang="en-US" sz="4500">
                <a:solidFill>
                  <a:srgbClr val="0044FE"/>
                </a:solidFill>
                <a:latin typeface="Microsoft JhengHei" panose="020B0604030504040204" pitchFamily="34" charset="-120"/>
                <a:ea typeface="Microsoft JhengHei" panose="020B0604030504040204" pitchFamily="34" charset="-120"/>
              </a:rPr>
              <a:t>姚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明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进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入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总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决 </a:t>
            </a:r>
            <a:r>
              <a:rPr lang="en-US" altLang="ja-JP" sz="4500" dirty="0">
                <a:solidFill>
                  <a:srgbClr val="0044FE"/>
                </a:solidFill>
                <a:latin typeface="Microsoft JhengHei" panose="020B0604030504040204" pitchFamily="34" charset="-120"/>
                <a:ea typeface="Microsoft JhengHei" panose="020B0604030504040204" pitchFamily="34" charset="-120"/>
              </a:rPr>
              <a:t>        </a:t>
            </a:r>
            <a:r>
              <a:rPr lang="ja-JP" altLang="en-US" sz="4500">
                <a:solidFill>
                  <a:srgbClr val="0044FE"/>
                </a:solidFill>
                <a:latin typeface="Microsoft JhengHei" panose="020B0604030504040204" pitchFamily="34" charset="-120"/>
                <a:ea typeface="Microsoft JhengHei" panose="020B0604030504040204" pitchFamily="34" charset="-120"/>
              </a:rPr>
              <a:t>赛 </a:t>
            </a:r>
            <a:endParaRPr lang="ja-JP" altLang="en-US" sz="4500">
              <a:solidFill>
                <a:srgbClr val="0044FE"/>
              </a:solidFill>
              <a:latin typeface="Microsoft JhengHei" panose="020B0604030504040204" pitchFamily="34" charset="-120"/>
              <a:ea typeface="Microsoft JhengHei" panose="020B0604030504040204" pitchFamily="34" charset="-120"/>
            </a:endParaRPr>
          </a:p>
          <a:p>
            <a:pPr marL="0" indent="0">
              <a:lnSpc>
                <a:spcPct val="100000"/>
              </a:lnSpc>
              <a:spcBef>
                <a:spcPts val="0"/>
              </a:spcBef>
              <a:spcAft>
                <a:spcPts val="0"/>
              </a:spcAft>
            </a:pPr>
            <a:r>
              <a:rPr lang="en-US" sz="4500" dirty="0"/>
              <a:t>Yao Ming enter enter overall decision game</a:t>
            </a:r>
            <a:endParaRPr lang="en-US" sz="4500" dirty="0"/>
          </a:p>
          <a:p>
            <a:endParaRPr lang="en-US" sz="2000" dirty="0"/>
          </a:p>
        </p:txBody>
      </p:sp>
      <p:sp>
        <p:nvSpPr>
          <p:cNvPr id="2" name="Title 1"/>
          <p:cNvSpPr>
            <a:spLocks noGrp="1"/>
          </p:cNvSpPr>
          <p:nvPr>
            <p:ph type="title"/>
          </p:nvPr>
        </p:nvSpPr>
        <p:spPr>
          <a:xfrm>
            <a:off x="822960" y="119702"/>
            <a:ext cx="7543800" cy="680397"/>
          </a:xfrm>
        </p:spPr>
        <p:txBody>
          <a:bodyPr/>
          <a:lstStyle/>
          <a:p>
            <a:r>
              <a:rPr lang="en-US" dirty="0"/>
              <a:t>How to do word tokenization in Chinese?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5350"/>
            <a:ext cx="8168640" cy="3429000"/>
          </a:xfrm>
        </p:spPr>
        <p:txBody>
          <a:bodyPr>
            <a:normAutofit/>
          </a:bodyPr>
          <a:lstStyle/>
          <a:p>
            <a:pPr marL="0" indent="0">
              <a:buNone/>
            </a:pPr>
            <a:r>
              <a:rPr lang="en-US" sz="2000" dirty="0"/>
              <a:t>So in Chinese it's common to just treat each character (</a:t>
            </a:r>
            <a:r>
              <a:rPr lang="en-US" sz="2000" dirty="0" err="1"/>
              <a:t>zi</a:t>
            </a:r>
            <a:r>
              <a:rPr lang="en-US" sz="2000" dirty="0"/>
              <a:t>) as a token.</a:t>
            </a:r>
            <a:endParaRPr lang="en-US" sz="2000" dirty="0"/>
          </a:p>
          <a:p>
            <a:pPr marL="473075" indent="-236855">
              <a:buFont typeface="Arial" panose="020B0604020202090204" pitchFamily="34" charset="0"/>
              <a:buChar char="•"/>
            </a:pPr>
            <a:r>
              <a:rPr lang="en-US" sz="2000" dirty="0"/>
              <a:t>So the </a:t>
            </a:r>
            <a:r>
              <a:rPr lang="en-US" sz="2000" b="1" dirty="0"/>
              <a:t>segmentation</a:t>
            </a:r>
            <a:r>
              <a:rPr lang="en-US" sz="2000" dirty="0"/>
              <a:t> step is very simple</a:t>
            </a:r>
            <a:endParaRPr lang="en-US" sz="2000" dirty="0"/>
          </a:p>
          <a:p>
            <a:pPr marL="0" indent="0">
              <a:buNone/>
            </a:pPr>
            <a:r>
              <a:rPr lang="en-US" sz="2000" dirty="0"/>
              <a:t>In other languages (like Thai and Japanese), more complex word segmentation is required.</a:t>
            </a:r>
            <a:endParaRPr lang="en-US" sz="2000" dirty="0"/>
          </a:p>
          <a:p>
            <a:pPr marL="514350" indent="-276225">
              <a:buFont typeface="Arial" panose="020B0604020202090204" pitchFamily="34" charset="0"/>
              <a:buChar char="•"/>
            </a:pPr>
            <a:r>
              <a:rPr lang="en-US" sz="2000" dirty="0"/>
              <a:t>The standard algorithms are neural sequence models trained by supervised machine learning.</a:t>
            </a:r>
            <a:endParaRPr lang="en-US" sz="2000" dirty="0"/>
          </a:p>
        </p:txBody>
      </p:sp>
      <p:sp>
        <p:nvSpPr>
          <p:cNvPr id="2" name="Title 1"/>
          <p:cNvSpPr>
            <a:spLocks noGrp="1"/>
          </p:cNvSpPr>
          <p:nvPr>
            <p:ph type="title"/>
          </p:nvPr>
        </p:nvSpPr>
        <p:spPr>
          <a:xfrm>
            <a:off x="822960" y="119702"/>
            <a:ext cx="7543800" cy="680397"/>
          </a:xfrm>
        </p:spPr>
        <p:txBody>
          <a:bodyPr/>
          <a:lstStyle/>
          <a:p>
            <a:r>
              <a:rPr lang="en-US" dirty="0"/>
              <a:t>Word tokenization / segmentation</a:t>
            </a:r>
            <a:endParaRPr lang="en-US" dirty="0"/>
          </a:p>
        </p:txBody>
      </p:sp>
      <p:pic>
        <p:nvPicPr>
          <p:cNvPr id="4" name="图片 3"/>
          <p:cNvPicPr>
            <a:picLocks noChangeAspect="1"/>
          </p:cNvPicPr>
          <p:nvPr>
            <p:custDataLst>
              <p:tags r:id="rId1"/>
            </p:custDataLst>
          </p:nvPr>
        </p:nvPicPr>
        <p:blipFill>
          <a:blip r:embed="rId2"/>
          <a:stretch>
            <a:fillRect/>
          </a:stretch>
        </p:blipFill>
        <p:spPr>
          <a:xfrm>
            <a:off x="381000" y="3105150"/>
            <a:ext cx="8381365" cy="1315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1657350" y="1271515"/>
            <a:ext cx="5829300" cy="1753082"/>
          </a:xfrm>
        </p:spPr>
        <p:txBody>
          <a:bodyPr>
            <a:noAutofit/>
          </a:bodyPr>
          <a:lstStyle/>
          <a:p>
            <a:r>
              <a:rPr lang="en-US" altLang="zh-CN" sz="4800" cap="all" dirty="0">
                <a:solidFill>
                  <a:srgbClr val="000044"/>
                </a:solidFill>
                <a:cs typeface="DIN-Regular"/>
              </a:rPr>
              <a:t>Byte Pair Encoding</a:t>
            </a:r>
            <a:endParaRPr lang="en-US" altLang="zh-CN" sz="4800" cap="all" dirty="0">
              <a:solidFill>
                <a:srgbClr val="000044"/>
              </a:solidFill>
              <a:cs typeface="DIN-Regular"/>
            </a:endParaRPr>
          </a:p>
        </p:txBody>
      </p:sp>
      <p:pic>
        <p:nvPicPr>
          <p:cNvPr id="7" name="Picture 6"/>
          <p:cNvPicPr>
            <a:picLocks noChangeAspect="1"/>
          </p:cNvPicPr>
          <p:nvPr/>
        </p:nvPicPr>
        <p:blipFill>
          <a:blip r:embed="rId1"/>
          <a:stretch>
            <a:fillRect/>
          </a:stretch>
        </p:blipFill>
        <p:spPr>
          <a:xfrm>
            <a:off x="3314595" y="3959889"/>
            <a:ext cx="2517130"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895350"/>
            <a:ext cx="7543801" cy="3810000"/>
          </a:xfrm>
        </p:spPr>
        <p:txBody>
          <a:bodyPr>
            <a:normAutofit/>
          </a:bodyPr>
          <a:lstStyle/>
          <a:p>
            <a:pPr marL="0" indent="0">
              <a:buNone/>
            </a:pPr>
            <a:r>
              <a:rPr lang="en-US" sz="2400" dirty="0"/>
              <a:t>Instead of </a:t>
            </a:r>
            <a:endParaRPr lang="en-US" sz="2400" dirty="0"/>
          </a:p>
          <a:p>
            <a:pPr marL="459105" indent="-225425">
              <a:buFont typeface="Arial" panose="020B0604020202090204" pitchFamily="34" charset="0"/>
              <a:buChar char="•"/>
            </a:pPr>
            <a:r>
              <a:rPr lang="en-US" sz="2400" dirty="0"/>
              <a:t>white-space segmentation</a:t>
            </a:r>
            <a:endParaRPr lang="en-US" sz="2400" dirty="0"/>
          </a:p>
          <a:p>
            <a:pPr marL="459105" indent="-225425">
              <a:buFont typeface="Arial" panose="020B0604020202090204" pitchFamily="34" charset="0"/>
              <a:buChar char="•"/>
            </a:pPr>
            <a:r>
              <a:rPr lang="en-US" sz="2400" dirty="0"/>
              <a:t>single-character segmentation </a:t>
            </a:r>
            <a:endParaRPr lang="en-US" sz="2400" dirty="0"/>
          </a:p>
          <a:p>
            <a:pPr marL="459105" indent="-225425">
              <a:buFont typeface="Arial" panose="020B0604020202090204" pitchFamily="34" charset="0"/>
              <a:buChar char="•"/>
            </a:pPr>
            <a:endParaRPr lang="en-US" sz="100" dirty="0"/>
          </a:p>
          <a:p>
            <a:pPr marL="0" indent="0">
              <a:buNone/>
            </a:pPr>
            <a:r>
              <a:rPr lang="en-US" sz="2400" b="1" dirty="0"/>
              <a:t>Use the data </a:t>
            </a:r>
            <a:r>
              <a:rPr lang="en-US" sz="2400" dirty="0"/>
              <a:t>to tell us how to tokenize.</a:t>
            </a:r>
            <a:endParaRPr lang="en-US" sz="2400" dirty="0"/>
          </a:p>
          <a:p>
            <a:pPr marL="0" indent="0">
              <a:buNone/>
            </a:pPr>
            <a:endParaRPr lang="en-US" sz="100" dirty="0"/>
          </a:p>
          <a:p>
            <a:pPr marL="0" indent="0">
              <a:buNone/>
            </a:pPr>
            <a:r>
              <a:rPr lang="en-US" sz="2400" b="1" dirty="0" err="1"/>
              <a:t>Subword</a:t>
            </a:r>
            <a:r>
              <a:rPr lang="en-US" sz="2400" b="1" dirty="0"/>
              <a:t> tokenization </a:t>
            </a:r>
            <a:r>
              <a:rPr lang="en-US" sz="2400" dirty="0"/>
              <a:t>(because tokens can be parts of words as well as whole words)</a:t>
            </a:r>
            <a:endParaRPr lang="en-US" sz="2400" dirty="0"/>
          </a:p>
        </p:txBody>
      </p:sp>
      <p:sp>
        <p:nvSpPr>
          <p:cNvPr id="2" name="Title 1"/>
          <p:cNvSpPr>
            <a:spLocks noGrp="1"/>
          </p:cNvSpPr>
          <p:nvPr>
            <p:ph type="title"/>
          </p:nvPr>
        </p:nvSpPr>
        <p:spPr>
          <a:xfrm>
            <a:off x="822960" y="119702"/>
            <a:ext cx="7543800" cy="680397"/>
          </a:xfrm>
        </p:spPr>
        <p:txBody>
          <a:bodyPr/>
          <a:lstStyle/>
          <a:p>
            <a:r>
              <a:rPr lang="en-US" dirty="0"/>
              <a:t>Another option for text tokenization</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895350"/>
            <a:ext cx="7940040" cy="3943350"/>
          </a:xfrm>
        </p:spPr>
        <p:txBody>
          <a:bodyPr/>
          <a:lstStyle/>
          <a:p>
            <a:r>
              <a:rPr lang="en-US" sz="2400" dirty="0">
                <a:latin typeface="Times New Roman" panose="02020503050405090304" charset="0"/>
                <a:cs typeface="Times New Roman" panose="02020503050405090304" charset="0"/>
              </a:rPr>
              <a:t>Three common algorithms:</a:t>
            </a:r>
            <a:endParaRPr lang="en-US" sz="2400" dirty="0">
              <a:latin typeface="Times New Roman" panose="02020503050405090304" charset="0"/>
              <a:cs typeface="Times New Roman" panose="02020503050405090304" charset="0"/>
            </a:endParaRPr>
          </a:p>
          <a:p>
            <a:pPr lvl="1"/>
            <a:r>
              <a:rPr lang="en-US" sz="2000" dirty="0">
                <a:latin typeface="Times New Roman" panose="02020503050405090304" charset="0"/>
                <a:cs typeface="Times New Roman" panose="02020503050405090304" charset="0"/>
              </a:rPr>
              <a:t>Byte-Pair Encoding (BPE) (</a:t>
            </a:r>
            <a:r>
              <a:rPr lang="en-US" sz="2000" dirty="0" err="1">
                <a:latin typeface="Times New Roman" panose="02020503050405090304" charset="0"/>
                <a:cs typeface="Times New Roman" panose="02020503050405090304" charset="0"/>
              </a:rPr>
              <a:t>Sennrich</a:t>
            </a:r>
            <a:r>
              <a:rPr lang="en-US" sz="2000" dirty="0">
                <a:latin typeface="Times New Roman" panose="02020503050405090304" charset="0"/>
                <a:cs typeface="Times New Roman" panose="02020503050405090304" charset="0"/>
              </a:rPr>
              <a:t> et al., 2016)</a:t>
            </a:r>
            <a:endParaRPr lang="en-US" sz="2000" dirty="0">
              <a:latin typeface="Times New Roman" panose="02020503050405090304" charset="0"/>
              <a:cs typeface="Times New Roman" panose="02020503050405090304" charset="0"/>
            </a:endParaRPr>
          </a:p>
          <a:p>
            <a:pPr lvl="1"/>
            <a:r>
              <a:rPr lang="en-US" sz="2000" dirty="0">
                <a:latin typeface="Times New Roman" panose="02020503050405090304" charset="0"/>
                <a:cs typeface="Times New Roman" panose="02020503050405090304" charset="0"/>
              </a:rPr>
              <a:t>Unigram language modeling tokenization (Kudo, 2018)</a:t>
            </a:r>
            <a:endParaRPr lang="en-US" sz="2000" dirty="0">
              <a:latin typeface="Times New Roman" panose="02020503050405090304" charset="0"/>
              <a:cs typeface="Times New Roman" panose="02020503050405090304" charset="0"/>
            </a:endParaRPr>
          </a:p>
          <a:p>
            <a:pPr lvl="1"/>
            <a:r>
              <a:rPr lang="en-US" sz="2000" dirty="0" err="1">
                <a:latin typeface="Times New Roman" panose="02020503050405090304" charset="0"/>
                <a:cs typeface="Times New Roman" panose="02020503050405090304" charset="0"/>
              </a:rPr>
              <a:t>WordPiece</a:t>
            </a:r>
            <a:r>
              <a:rPr lang="en-US" sz="2000" dirty="0">
                <a:latin typeface="Times New Roman" panose="02020503050405090304" charset="0"/>
                <a:cs typeface="Times New Roman" panose="02020503050405090304" charset="0"/>
              </a:rPr>
              <a:t> (Schuster and Nakajima, 2012)</a:t>
            </a:r>
            <a:endParaRPr lang="en-US" sz="2000" dirty="0">
              <a:latin typeface="Times New Roman" panose="02020503050405090304" charset="0"/>
              <a:cs typeface="Times New Roman" panose="02020503050405090304" charset="0"/>
            </a:endParaRPr>
          </a:p>
          <a:p>
            <a:r>
              <a:rPr lang="en-US" sz="2000" dirty="0">
                <a:latin typeface="Times New Roman" panose="02020503050405090304" charset="0"/>
                <a:cs typeface="Times New Roman" panose="02020503050405090304" charset="0"/>
              </a:rPr>
              <a:t>All have 2 parts:</a:t>
            </a:r>
            <a:endParaRPr lang="en-US" sz="2000" dirty="0">
              <a:latin typeface="Times New Roman" panose="02020503050405090304" charset="0"/>
              <a:cs typeface="Times New Roman" panose="02020503050405090304" charset="0"/>
            </a:endParaRPr>
          </a:p>
          <a:p>
            <a:pPr lvl="1"/>
            <a:r>
              <a:rPr lang="en-US" sz="1800" dirty="0">
                <a:latin typeface="Times New Roman" panose="02020503050405090304" charset="0"/>
                <a:cs typeface="Times New Roman" panose="02020503050405090304" charset="0"/>
              </a:rPr>
              <a:t>A token learner that takes a raw training corpus and induces a vocabulary (a set of tokens). </a:t>
            </a:r>
            <a:endParaRPr lang="en-US" sz="1800" dirty="0">
              <a:latin typeface="Times New Roman" panose="02020503050405090304" charset="0"/>
              <a:cs typeface="Times New Roman" panose="02020503050405090304" charset="0"/>
            </a:endParaRPr>
          </a:p>
          <a:p>
            <a:pPr lvl="1"/>
            <a:r>
              <a:rPr lang="en-US" sz="1800" dirty="0">
                <a:latin typeface="Times New Roman" panose="02020503050405090304" charset="0"/>
                <a:cs typeface="Times New Roman" panose="02020503050405090304" charset="0"/>
              </a:rPr>
              <a:t>A token </a:t>
            </a:r>
            <a:r>
              <a:rPr lang="en-US" sz="1800" dirty="0" err="1">
                <a:latin typeface="Times New Roman" panose="02020503050405090304" charset="0"/>
                <a:cs typeface="Times New Roman" panose="02020503050405090304" charset="0"/>
              </a:rPr>
              <a:t>segmenter</a:t>
            </a:r>
            <a:r>
              <a:rPr lang="en-US" sz="1800" dirty="0">
                <a:latin typeface="Times New Roman" panose="02020503050405090304" charset="0"/>
                <a:cs typeface="Times New Roman" panose="02020503050405090304" charset="0"/>
              </a:rPr>
              <a:t> that takes a raw test sentence and tokenizes it according to that vocabulary</a:t>
            </a:r>
            <a:endParaRPr lang="en-US" dirty="0">
              <a:latin typeface="Times New Roman" panose="02020503050405090304" charset="0"/>
              <a:cs typeface="Times New Roman" panose="02020503050405090304" charset="0"/>
            </a:endParaRPr>
          </a:p>
          <a:p>
            <a:endParaRPr lang="en-US" dirty="0">
              <a:latin typeface="Times New Roman" panose="02020503050405090304" charset="0"/>
              <a:cs typeface="Times New Roman" panose="02020503050405090304" charset="0"/>
            </a:endParaRPr>
          </a:p>
        </p:txBody>
      </p:sp>
      <p:sp>
        <p:nvSpPr>
          <p:cNvPr id="2" name="Title 1"/>
          <p:cNvSpPr>
            <a:spLocks noGrp="1"/>
          </p:cNvSpPr>
          <p:nvPr>
            <p:ph type="title"/>
          </p:nvPr>
        </p:nvSpPr>
        <p:spPr>
          <a:xfrm>
            <a:off x="822960" y="119702"/>
            <a:ext cx="7543800" cy="680397"/>
          </a:xfrm>
        </p:spPr>
        <p:txBody>
          <a:bodyPr>
            <a:normAutofit/>
          </a:bodyPr>
          <a:lstStyle/>
          <a:p>
            <a:r>
              <a:rPr lang="en-US" dirty="0" err="1"/>
              <a:t>Subword</a:t>
            </a:r>
            <a:r>
              <a:rPr lang="en-US" dirty="0"/>
              <a:t> tokenization</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971550"/>
            <a:ext cx="7543801" cy="3823648"/>
          </a:xfrm>
        </p:spPr>
        <p:txBody>
          <a:bodyPr>
            <a:normAutofit/>
          </a:bodyPr>
          <a:lstStyle/>
          <a:p>
            <a:pPr marL="0" indent="0">
              <a:buNone/>
            </a:pPr>
            <a:r>
              <a:rPr lang="en-US" sz="2400" dirty="0"/>
              <a:t>Let vocabulary be the set of all individual characters </a:t>
            </a:r>
            <a:endParaRPr lang="en-US" sz="2400" dirty="0"/>
          </a:p>
          <a:p>
            <a:pPr marL="0" indent="0">
              <a:buNone/>
            </a:pPr>
            <a:r>
              <a:rPr lang="en-US" sz="2400" dirty="0"/>
              <a:t>	= {A, B, C, D,…, a, b, c, d….}</a:t>
            </a:r>
            <a:endParaRPr lang="en-US" sz="2400" dirty="0"/>
          </a:p>
          <a:p>
            <a:r>
              <a:rPr lang="en-US" sz="2400" dirty="0"/>
              <a:t>Repeat:</a:t>
            </a:r>
            <a:endParaRPr lang="en-US" sz="2400" dirty="0"/>
          </a:p>
          <a:p>
            <a:pPr lvl="1"/>
            <a:r>
              <a:rPr lang="en-US" sz="2000" dirty="0"/>
              <a:t>Choose the two symbols that are most frequently adjacent in the training corpus (say 'A', 'B') </a:t>
            </a:r>
            <a:endParaRPr lang="en-US" sz="2000" dirty="0"/>
          </a:p>
          <a:p>
            <a:pPr lvl="1"/>
            <a:r>
              <a:rPr lang="en-US" sz="2000" dirty="0"/>
              <a:t>Add a new merged symbol 'AB' to the vocabulary</a:t>
            </a:r>
            <a:endParaRPr lang="en-US" sz="2000" dirty="0"/>
          </a:p>
          <a:p>
            <a:pPr lvl="1"/>
            <a:r>
              <a:rPr lang="en-US" sz="2000" dirty="0"/>
              <a:t>Replace every adjacent 'A' 'B' in the corpus with 'AB'. </a:t>
            </a:r>
            <a:endParaRPr lang="en-US" sz="2000" dirty="0"/>
          </a:p>
          <a:p>
            <a:r>
              <a:rPr lang="en-US" sz="2400" dirty="0"/>
              <a:t>Until </a:t>
            </a:r>
            <a:r>
              <a:rPr lang="en-US" sz="2400" i="1" dirty="0"/>
              <a:t>k </a:t>
            </a:r>
            <a:r>
              <a:rPr lang="en-US" sz="2400" dirty="0"/>
              <a:t>merges have been done.</a:t>
            </a:r>
            <a:endParaRPr lang="en-US" sz="2400" dirty="0"/>
          </a:p>
          <a:p>
            <a:endParaRPr lang="en-US" sz="2400" dirty="0"/>
          </a:p>
        </p:txBody>
      </p:sp>
      <p:sp>
        <p:nvSpPr>
          <p:cNvPr id="2" name="Title 1"/>
          <p:cNvSpPr>
            <a:spLocks noGrp="1"/>
          </p:cNvSpPr>
          <p:nvPr>
            <p:ph type="title"/>
          </p:nvPr>
        </p:nvSpPr>
        <p:spPr>
          <a:xfrm>
            <a:off x="342265" y="120015"/>
            <a:ext cx="8024495" cy="680085"/>
          </a:xfrm>
        </p:spPr>
        <p:txBody>
          <a:bodyPr/>
          <a:lstStyle/>
          <a:p>
            <a:r>
              <a:rPr lang="en-US" dirty="0"/>
              <a:t>Byte Pair Encoding (BPE) token learner</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685800" y="1200150"/>
            <a:ext cx="8208645" cy="2955925"/>
          </a:xfrm>
        </p:spPr>
      </p:pic>
      <p:sp>
        <p:nvSpPr>
          <p:cNvPr id="2" name="Title 1"/>
          <p:cNvSpPr>
            <a:spLocks noGrp="1"/>
          </p:cNvSpPr>
          <p:nvPr>
            <p:ph type="title"/>
          </p:nvPr>
        </p:nvSpPr>
        <p:spPr>
          <a:xfrm>
            <a:off x="822960" y="119702"/>
            <a:ext cx="7543800" cy="680397"/>
          </a:xfrm>
        </p:spPr>
        <p:txBody>
          <a:bodyPr/>
          <a:lstStyle/>
          <a:p>
            <a:r>
              <a:rPr lang="en-US" dirty="0"/>
              <a:t>BPE token learner algorithm</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123950"/>
            <a:ext cx="7543801" cy="3429000"/>
          </a:xfrm>
        </p:spPr>
        <p:txBody>
          <a:bodyPr>
            <a:normAutofit/>
          </a:bodyPr>
          <a:lstStyle/>
          <a:p>
            <a:pPr marL="0" indent="0">
              <a:buNone/>
            </a:pPr>
            <a:r>
              <a:rPr lang="en-US" sz="2400" dirty="0"/>
              <a:t>Most </a:t>
            </a:r>
            <a:r>
              <a:rPr lang="en-US" sz="2400" dirty="0" err="1"/>
              <a:t>subword</a:t>
            </a:r>
            <a:r>
              <a:rPr lang="en-US" sz="2400" dirty="0"/>
              <a:t> algorithms are run inside space-separated tokens. </a:t>
            </a:r>
            <a:endParaRPr lang="en-US" sz="2400" dirty="0"/>
          </a:p>
          <a:p>
            <a:pPr marL="0" indent="0">
              <a:buNone/>
            </a:pPr>
            <a:r>
              <a:rPr lang="en-US" sz="2400" dirty="0"/>
              <a:t>So we commonly first add a special end-of-word symbol '__' before space in training corpus</a:t>
            </a:r>
            <a:endParaRPr lang="en-US" sz="2400" dirty="0"/>
          </a:p>
          <a:p>
            <a:pPr marL="0" indent="0">
              <a:buNone/>
            </a:pPr>
            <a:r>
              <a:rPr lang="en-US" sz="2400" dirty="0"/>
              <a:t>Next, separate into letters.</a:t>
            </a:r>
            <a:endParaRPr lang="en-US" sz="2400" dirty="0"/>
          </a:p>
          <a:p>
            <a:endParaRPr lang="en-US" sz="2400" dirty="0"/>
          </a:p>
        </p:txBody>
      </p:sp>
      <p:sp>
        <p:nvSpPr>
          <p:cNvPr id="2" name="Title 1"/>
          <p:cNvSpPr>
            <a:spLocks noGrp="1"/>
          </p:cNvSpPr>
          <p:nvPr>
            <p:ph type="title"/>
          </p:nvPr>
        </p:nvSpPr>
        <p:spPr>
          <a:xfrm>
            <a:off x="822960" y="119702"/>
            <a:ext cx="7543800" cy="680397"/>
          </a:xfrm>
        </p:spPr>
        <p:txBody>
          <a:bodyPr/>
          <a:lstStyle/>
          <a:p>
            <a:r>
              <a:rPr lang="en-US" dirty="0"/>
              <a:t>Byte Pair Encoding (BPE) Addendum</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3505200" y="2952750"/>
            <a:ext cx="3606800" cy="901700"/>
          </a:xfrm>
        </p:spPr>
      </p:pic>
      <p:sp>
        <p:nvSpPr>
          <p:cNvPr id="2" name="Title 1"/>
          <p:cNvSpPr>
            <a:spLocks noGrp="1"/>
          </p:cNvSpPr>
          <p:nvPr>
            <p:ph type="title"/>
          </p:nvPr>
        </p:nvSpPr>
        <p:spPr>
          <a:xfrm>
            <a:off x="822960" y="119702"/>
            <a:ext cx="7543800" cy="680397"/>
          </a:xfrm>
        </p:spPr>
        <p:txBody>
          <a:bodyPr/>
          <a:lstStyle/>
          <a:p>
            <a:r>
              <a:rPr lang="en-US" dirty="0"/>
              <a:t>BPE token learner</a:t>
            </a:r>
            <a:endParaRPr lang="en-US" dirty="0"/>
          </a:p>
        </p:txBody>
      </p:sp>
      <p:sp>
        <p:nvSpPr>
          <p:cNvPr id="6" name="TextBox 5"/>
          <p:cNvSpPr txBox="1"/>
          <p:nvPr/>
        </p:nvSpPr>
        <p:spPr>
          <a:xfrm>
            <a:off x="685800" y="895350"/>
            <a:ext cx="8305800" cy="1168400"/>
          </a:xfrm>
          <a:prstGeom prst="rect">
            <a:avLst/>
          </a:prstGeom>
          <a:noFill/>
        </p:spPr>
        <p:txBody>
          <a:bodyPr wrap="square" rtlCol="0">
            <a:spAutoFit/>
          </a:bodyPr>
          <a:lstStyle/>
          <a:p>
            <a:r>
              <a:rPr lang="en-US" sz="2000" dirty="0">
                <a:latin typeface="Times New Roman Regular" panose="02020503050405090304" charset="0"/>
                <a:cs typeface="Times New Roman Regular" panose="02020503050405090304" charset="0"/>
              </a:rPr>
              <a:t>Original (very fascinating🙄) corpus:</a:t>
            </a:r>
            <a:endParaRPr lang="en-US" sz="2000" dirty="0">
              <a:latin typeface="Times New Roman Regular" panose="02020503050405090304" charset="0"/>
              <a:cs typeface="Times New Roman Regular" panose="02020503050405090304" charset="0"/>
            </a:endParaRPr>
          </a:p>
          <a:p>
            <a:endParaRPr lang="en-US" sz="1000" dirty="0">
              <a:latin typeface="Times New Roman Regular" panose="02020503050405090304" charset="0"/>
              <a:cs typeface="Times New Roman Regular" panose="02020503050405090304" charset="0"/>
            </a:endParaRPr>
          </a:p>
          <a:p>
            <a:r>
              <a:rPr lang="en-US" sz="2000" dirty="0">
                <a:solidFill>
                  <a:srgbClr val="0070C0"/>
                </a:solidFill>
                <a:latin typeface="Times New Roman Regular" panose="02020503050405090304" charset="0"/>
                <a:cs typeface="Times New Roman Regular" panose="02020503050405090304" charset="0"/>
              </a:rPr>
              <a:t>low low low low low lowest lowest newer newer newer        newer newer newer wider wider wider new new</a:t>
            </a:r>
            <a:endParaRPr lang="en-US" sz="2000" dirty="0">
              <a:solidFill>
                <a:srgbClr val="0070C0"/>
              </a:solidFill>
              <a:latin typeface="Times New Roman Regular" panose="02020503050405090304" charset="0"/>
              <a:cs typeface="Times New Roman Regular" panose="02020503050405090304" charset="0"/>
            </a:endParaRPr>
          </a:p>
        </p:txBody>
      </p:sp>
      <p:sp>
        <p:nvSpPr>
          <p:cNvPr id="7" name="TextBox 6"/>
          <p:cNvSpPr txBox="1"/>
          <p:nvPr/>
        </p:nvSpPr>
        <p:spPr>
          <a:xfrm>
            <a:off x="660149" y="2190770"/>
            <a:ext cx="5650865" cy="398780"/>
          </a:xfrm>
          <a:prstGeom prst="rect">
            <a:avLst/>
          </a:prstGeom>
          <a:noFill/>
        </p:spPr>
        <p:txBody>
          <a:bodyPr wrap="none" rtlCol="0">
            <a:spAutoFit/>
          </a:bodyPr>
          <a:lstStyle/>
          <a:p>
            <a:r>
              <a:rPr lang="en-US" sz="2000" dirty="0">
                <a:latin typeface="Times New Roman Regular" panose="02020503050405090304" charset="0"/>
                <a:cs typeface="Times New Roman Regular" panose="02020503050405090304" charset="0"/>
              </a:rPr>
              <a:t>Add end-of-word tokens, resulting in this vocabulary:</a:t>
            </a:r>
            <a:endParaRPr lang="en-US" sz="2000" dirty="0">
              <a:latin typeface="Times New Roman Regular" panose="02020503050405090304" charset="0"/>
              <a:cs typeface="Times New Roman Regular" panose="02020503050405090304" charset="0"/>
            </a:endParaRPr>
          </a:p>
        </p:txBody>
      </p:sp>
      <p:sp>
        <p:nvSpPr>
          <p:cNvPr id="3" name="TextBox 2"/>
          <p:cNvSpPr txBox="1"/>
          <p:nvPr/>
        </p:nvSpPr>
        <p:spPr>
          <a:xfrm>
            <a:off x="990600" y="2842260"/>
            <a:ext cx="1851661" cy="415498"/>
          </a:xfrm>
          <a:prstGeom prst="rect">
            <a:avLst/>
          </a:prstGeom>
          <a:noFill/>
        </p:spPr>
        <p:txBody>
          <a:bodyPr wrap="none" rtlCol="0">
            <a:spAutoFit/>
          </a:bodyPr>
          <a:lstStyle/>
          <a:p>
            <a:r>
              <a:rPr lang="en-US" sz="2050" b="1" dirty="0">
                <a:latin typeface="Times New Roman" panose="02020503050405090304" charset="0"/>
                <a:cs typeface="Times New Roman" panose="02020503050405090304" charset="0"/>
              </a:rPr>
              <a:t>representation</a:t>
            </a:r>
            <a:endParaRPr lang="en-US" sz="2050" b="1" dirty="0">
              <a:latin typeface="Times New Roman" panose="02020503050405090304" charset="0"/>
              <a:cs typeface="Times New Roman" panose="0202050305040509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838200" y="828675"/>
            <a:ext cx="5790565" cy="1447800"/>
          </a:xfrm>
        </p:spPr>
      </p:pic>
      <p:sp>
        <p:nvSpPr>
          <p:cNvPr id="2" name="Title 1"/>
          <p:cNvSpPr>
            <a:spLocks noGrp="1"/>
          </p:cNvSpPr>
          <p:nvPr>
            <p:ph type="title"/>
          </p:nvPr>
        </p:nvSpPr>
        <p:spPr>
          <a:xfrm>
            <a:off x="822960" y="119702"/>
            <a:ext cx="7543800" cy="680397"/>
          </a:xfrm>
        </p:spPr>
        <p:txBody>
          <a:bodyPr/>
          <a:lstStyle/>
          <a:p>
            <a:r>
              <a:rPr lang="en-US" dirty="0"/>
              <a:t>BPE token learner</a:t>
            </a:r>
            <a:endParaRPr lang="en-US" dirty="0"/>
          </a:p>
        </p:txBody>
      </p:sp>
      <p:sp>
        <p:nvSpPr>
          <p:cNvPr id="7" name="TextBox 6"/>
          <p:cNvSpPr txBox="1"/>
          <p:nvPr/>
        </p:nvSpPr>
        <p:spPr>
          <a:xfrm>
            <a:off x="762000" y="2495254"/>
            <a:ext cx="1692910" cy="398780"/>
          </a:xfrm>
          <a:prstGeom prst="rect">
            <a:avLst/>
          </a:prstGeom>
          <a:noFill/>
        </p:spPr>
        <p:txBody>
          <a:bodyPr wrap="none" rtlCol="0">
            <a:spAutoFit/>
          </a:bodyPr>
          <a:lstStyle/>
          <a:p>
            <a:r>
              <a:rPr lang="en-US" sz="2000" dirty="0">
                <a:latin typeface="Times New Roman Regular" panose="02020503050405090304" charset="0"/>
                <a:cs typeface="Times New Roman Regular" panose="02020503050405090304" charset="0"/>
              </a:rPr>
              <a:t>Merge </a:t>
            </a:r>
            <a:r>
              <a:rPr lang="en-US" sz="2000" dirty="0">
                <a:solidFill>
                  <a:srgbClr val="0070C0"/>
                </a:solidFill>
                <a:latin typeface="Times New Roman Regular" panose="02020503050405090304" charset="0"/>
                <a:cs typeface="Times New Roman Regular" panose="02020503050405090304" charset="0"/>
              </a:rPr>
              <a:t>e r</a:t>
            </a:r>
            <a:r>
              <a:rPr lang="en-US" sz="2000" dirty="0">
                <a:latin typeface="Times New Roman Regular" panose="02020503050405090304" charset="0"/>
                <a:cs typeface="Times New Roman Regular" panose="02020503050405090304" charset="0"/>
              </a:rPr>
              <a:t> to </a:t>
            </a:r>
            <a:r>
              <a:rPr lang="en-US" sz="2000" dirty="0">
                <a:solidFill>
                  <a:srgbClr val="0070C0"/>
                </a:solidFill>
                <a:latin typeface="Times New Roman Regular" panose="02020503050405090304" charset="0"/>
                <a:cs typeface="Times New Roman Regular" panose="02020503050405090304" charset="0"/>
              </a:rPr>
              <a:t>er</a:t>
            </a:r>
            <a:endParaRPr lang="en-US" sz="2000" dirty="0">
              <a:solidFill>
                <a:srgbClr val="0070C0"/>
              </a:solidFill>
              <a:latin typeface="Times New Roman Regular" panose="02020503050405090304" charset="0"/>
              <a:cs typeface="Times New Roman Regular" panose="02020503050405090304" charset="0"/>
            </a:endParaRPr>
          </a:p>
        </p:txBody>
      </p:sp>
      <p:pic>
        <p:nvPicPr>
          <p:cNvPr id="3" name="Picture 2"/>
          <p:cNvPicPr>
            <a:picLocks noChangeAspect="1"/>
          </p:cNvPicPr>
          <p:nvPr/>
        </p:nvPicPr>
        <p:blipFill>
          <a:blip r:embed="rId2"/>
          <a:stretch>
            <a:fillRect/>
          </a:stretch>
        </p:blipFill>
        <p:spPr>
          <a:xfrm>
            <a:off x="895350" y="3105150"/>
            <a:ext cx="6396355" cy="145669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BPE</a:t>
            </a:r>
            <a:endParaRPr lang="en-US" dirty="0"/>
          </a:p>
        </p:txBody>
      </p:sp>
      <p:sp>
        <p:nvSpPr>
          <p:cNvPr id="7" name="TextBox 6"/>
          <p:cNvSpPr txBox="1"/>
          <p:nvPr/>
        </p:nvSpPr>
        <p:spPr>
          <a:xfrm>
            <a:off x="632460" y="2571454"/>
            <a:ext cx="2010410" cy="398780"/>
          </a:xfrm>
          <a:prstGeom prst="rect">
            <a:avLst/>
          </a:prstGeom>
          <a:noFill/>
        </p:spPr>
        <p:txBody>
          <a:bodyPr wrap="none" rtlCol="0">
            <a:spAutoFit/>
          </a:bodyPr>
          <a:lstStyle/>
          <a:p>
            <a:r>
              <a:rPr lang="en-US" sz="2000" dirty="0">
                <a:latin typeface="Times New Roman Regular" panose="02020503050405090304" charset="0"/>
                <a:cs typeface="Times New Roman Regular" panose="02020503050405090304" charset="0"/>
              </a:rPr>
              <a:t>Merge </a:t>
            </a:r>
            <a:r>
              <a:rPr lang="en-US" sz="2000" dirty="0">
                <a:solidFill>
                  <a:srgbClr val="0070C0"/>
                </a:solidFill>
                <a:latin typeface="Times New Roman Regular" panose="02020503050405090304" charset="0"/>
                <a:cs typeface="Times New Roman Regular" panose="02020503050405090304" charset="0"/>
              </a:rPr>
              <a:t>er  _</a:t>
            </a:r>
            <a:r>
              <a:rPr lang="en-US" sz="2000" dirty="0">
                <a:latin typeface="Times New Roman Regular" panose="02020503050405090304" charset="0"/>
                <a:cs typeface="Times New Roman Regular" panose="02020503050405090304" charset="0"/>
              </a:rPr>
              <a:t> to </a:t>
            </a:r>
            <a:r>
              <a:rPr lang="en-US" sz="2000" dirty="0">
                <a:solidFill>
                  <a:srgbClr val="0070C0"/>
                </a:solidFill>
                <a:latin typeface="Times New Roman Regular" panose="02020503050405090304" charset="0"/>
                <a:cs typeface="Times New Roman Regular" panose="02020503050405090304" charset="0"/>
              </a:rPr>
              <a:t>er_</a:t>
            </a:r>
            <a:endParaRPr lang="en-US" sz="2000" dirty="0">
              <a:solidFill>
                <a:srgbClr val="0070C0"/>
              </a:solidFill>
              <a:latin typeface="Times New Roman Regular" panose="02020503050405090304" charset="0"/>
              <a:cs typeface="Times New Roman Regular" panose="02020503050405090304" charset="0"/>
            </a:endParaRPr>
          </a:p>
        </p:txBody>
      </p:sp>
      <p:pic>
        <p:nvPicPr>
          <p:cNvPr id="3" name="Picture 2"/>
          <p:cNvPicPr>
            <a:picLocks noChangeAspect="1"/>
          </p:cNvPicPr>
          <p:nvPr/>
        </p:nvPicPr>
        <p:blipFill>
          <a:blip r:embed="rId1"/>
          <a:stretch>
            <a:fillRect/>
          </a:stretch>
        </p:blipFill>
        <p:spPr>
          <a:xfrm>
            <a:off x="762000" y="893161"/>
            <a:ext cx="7061823" cy="1608138"/>
          </a:xfrm>
          <a:prstGeom prst="rect">
            <a:avLst/>
          </a:prstGeom>
        </p:spPr>
      </p:pic>
      <p:pic>
        <p:nvPicPr>
          <p:cNvPr id="9" name="Picture 8"/>
          <p:cNvPicPr>
            <a:picLocks noChangeAspect="1"/>
          </p:cNvPicPr>
          <p:nvPr/>
        </p:nvPicPr>
        <p:blipFill>
          <a:blip r:embed="rId2"/>
          <a:stretch>
            <a:fillRect/>
          </a:stretch>
        </p:blipFill>
        <p:spPr>
          <a:xfrm>
            <a:off x="838275" y="3181293"/>
            <a:ext cx="6187440" cy="161612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BPE</a:t>
            </a:r>
            <a:endParaRPr lang="en-US" dirty="0"/>
          </a:p>
        </p:txBody>
      </p:sp>
      <p:sp>
        <p:nvSpPr>
          <p:cNvPr id="7" name="TextBox 6"/>
          <p:cNvSpPr txBox="1"/>
          <p:nvPr/>
        </p:nvSpPr>
        <p:spPr>
          <a:xfrm>
            <a:off x="609600" y="2660989"/>
            <a:ext cx="2727029" cy="461665"/>
          </a:xfrm>
          <a:prstGeom prst="rect">
            <a:avLst/>
          </a:prstGeom>
          <a:noFill/>
        </p:spPr>
        <p:txBody>
          <a:bodyPr wrap="none" rtlCol="0">
            <a:spAutoFit/>
          </a:bodyPr>
          <a:lstStyle/>
          <a:p>
            <a:r>
              <a:rPr lang="en-US" dirty="0"/>
              <a:t>Merge </a:t>
            </a:r>
            <a:r>
              <a:rPr lang="en-US" dirty="0">
                <a:solidFill>
                  <a:srgbClr val="0070C0"/>
                </a:solidFill>
              </a:rPr>
              <a:t>n  e  </a:t>
            </a:r>
            <a:r>
              <a:rPr lang="en-US" dirty="0"/>
              <a:t>to </a:t>
            </a:r>
            <a:r>
              <a:rPr lang="en-US" dirty="0">
                <a:solidFill>
                  <a:srgbClr val="0070C0"/>
                </a:solidFill>
              </a:rPr>
              <a:t>ne</a:t>
            </a:r>
            <a:endParaRPr lang="en-US" dirty="0">
              <a:solidFill>
                <a:srgbClr val="0070C0"/>
              </a:solidFill>
            </a:endParaRPr>
          </a:p>
        </p:txBody>
      </p:sp>
      <p:pic>
        <p:nvPicPr>
          <p:cNvPr id="9" name="Picture 8"/>
          <p:cNvPicPr>
            <a:picLocks noChangeAspect="1"/>
          </p:cNvPicPr>
          <p:nvPr/>
        </p:nvPicPr>
        <p:blipFill>
          <a:blip r:embed="rId1"/>
          <a:stretch>
            <a:fillRect/>
          </a:stretch>
        </p:blipFill>
        <p:spPr>
          <a:xfrm>
            <a:off x="791584" y="1044867"/>
            <a:ext cx="6187440" cy="1616122"/>
          </a:xfrm>
          <a:prstGeom prst="rect">
            <a:avLst/>
          </a:prstGeom>
        </p:spPr>
      </p:pic>
      <p:pic>
        <p:nvPicPr>
          <p:cNvPr id="5" name="Picture 4"/>
          <p:cNvPicPr>
            <a:picLocks noChangeAspect="1"/>
          </p:cNvPicPr>
          <p:nvPr/>
        </p:nvPicPr>
        <p:blipFill>
          <a:blip r:embed="rId2"/>
          <a:stretch>
            <a:fillRect/>
          </a:stretch>
        </p:blipFill>
        <p:spPr>
          <a:xfrm>
            <a:off x="629972" y="3181350"/>
            <a:ext cx="6510663" cy="161612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BPE</a:t>
            </a:r>
            <a:endParaRPr lang="en-US" dirty="0"/>
          </a:p>
        </p:txBody>
      </p:sp>
      <p:sp>
        <p:nvSpPr>
          <p:cNvPr id="7" name="TextBox 6"/>
          <p:cNvSpPr txBox="1"/>
          <p:nvPr/>
        </p:nvSpPr>
        <p:spPr>
          <a:xfrm>
            <a:off x="512264" y="1234353"/>
            <a:ext cx="3373039" cy="461665"/>
          </a:xfrm>
          <a:prstGeom prst="rect">
            <a:avLst/>
          </a:prstGeom>
          <a:noFill/>
        </p:spPr>
        <p:txBody>
          <a:bodyPr wrap="none" rtlCol="0">
            <a:spAutoFit/>
          </a:bodyPr>
          <a:lstStyle/>
          <a:p>
            <a:r>
              <a:rPr lang="en-US" dirty="0"/>
              <a:t>The next merges are:</a:t>
            </a:r>
            <a:endParaRPr lang="en-US" dirty="0">
              <a:solidFill>
                <a:srgbClr val="0070C0"/>
              </a:solidFill>
            </a:endParaRPr>
          </a:p>
        </p:txBody>
      </p:sp>
      <p:pic>
        <p:nvPicPr>
          <p:cNvPr id="4" name="Picture 3"/>
          <p:cNvPicPr>
            <a:picLocks noChangeAspect="1"/>
          </p:cNvPicPr>
          <p:nvPr/>
        </p:nvPicPr>
        <p:blipFill>
          <a:blip r:embed="rId1"/>
          <a:stretch>
            <a:fillRect/>
          </a:stretch>
        </p:blipFill>
        <p:spPr>
          <a:xfrm>
            <a:off x="914400" y="1885950"/>
            <a:ext cx="7913370" cy="172593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895350"/>
            <a:ext cx="7940040" cy="4052248"/>
          </a:xfrm>
        </p:spPr>
        <p:txBody>
          <a:bodyPr>
            <a:normAutofit/>
          </a:bodyPr>
          <a:lstStyle/>
          <a:p>
            <a:pPr marL="0" indent="0">
              <a:buNone/>
            </a:pPr>
            <a:r>
              <a:rPr lang="en-US" sz="2400" dirty="0"/>
              <a:t>On the test data, run each merge learned from the training data:</a:t>
            </a:r>
            <a:endParaRPr lang="en-US" sz="2400" dirty="0"/>
          </a:p>
          <a:p>
            <a:pPr lvl="1"/>
            <a:r>
              <a:rPr lang="en-US" sz="2000" dirty="0"/>
              <a:t>Greedily</a:t>
            </a:r>
            <a:endParaRPr lang="en-US" sz="2000" dirty="0"/>
          </a:p>
          <a:p>
            <a:pPr lvl="1"/>
            <a:r>
              <a:rPr lang="en-US" sz="2000" dirty="0"/>
              <a:t>In the order we learned them</a:t>
            </a:r>
            <a:endParaRPr lang="en-US" sz="2000" dirty="0"/>
          </a:p>
          <a:p>
            <a:pPr lvl="1"/>
            <a:r>
              <a:rPr lang="en-US" sz="2000" dirty="0"/>
              <a:t>(test frequencies don't play a role)</a:t>
            </a:r>
            <a:endParaRPr lang="en-US" sz="2000" dirty="0"/>
          </a:p>
          <a:p>
            <a:pPr marL="0" indent="0">
              <a:buNone/>
            </a:pPr>
            <a:r>
              <a:rPr lang="en-US" sz="2400" dirty="0"/>
              <a:t>So: merge every </a:t>
            </a:r>
            <a:r>
              <a:rPr lang="en-US" sz="2400" dirty="0">
                <a:solidFill>
                  <a:srgbClr val="0070C0"/>
                </a:solidFill>
              </a:rPr>
              <a:t>e r</a:t>
            </a:r>
            <a:r>
              <a:rPr lang="en-US" sz="2400" dirty="0"/>
              <a:t> to </a:t>
            </a:r>
            <a:r>
              <a:rPr lang="en-US" sz="2400" dirty="0">
                <a:solidFill>
                  <a:srgbClr val="0070C0"/>
                </a:solidFill>
              </a:rPr>
              <a:t>er</a:t>
            </a:r>
            <a:r>
              <a:rPr lang="en-US" sz="2400" dirty="0"/>
              <a:t>, then merge </a:t>
            </a:r>
            <a:r>
              <a:rPr lang="en-US" sz="2400" dirty="0">
                <a:solidFill>
                  <a:srgbClr val="0070C0"/>
                </a:solidFill>
              </a:rPr>
              <a:t>er _</a:t>
            </a:r>
            <a:r>
              <a:rPr lang="en-US" sz="2400" dirty="0"/>
              <a:t> to </a:t>
            </a:r>
            <a:r>
              <a:rPr lang="en-US" sz="2400" dirty="0">
                <a:solidFill>
                  <a:srgbClr val="0070C0"/>
                </a:solidFill>
              </a:rPr>
              <a:t>er_</a:t>
            </a:r>
            <a:r>
              <a:rPr lang="en-US" sz="2400" dirty="0"/>
              <a:t>, etc.</a:t>
            </a:r>
            <a:endParaRPr lang="en-US" sz="2400" dirty="0"/>
          </a:p>
          <a:p>
            <a:r>
              <a:rPr lang="en-US" sz="2400" dirty="0"/>
              <a:t>Result: </a:t>
            </a:r>
            <a:endParaRPr lang="en-US" sz="2400" dirty="0"/>
          </a:p>
          <a:p>
            <a:pPr lvl="1"/>
            <a:r>
              <a:rPr lang="en-US" sz="2000" dirty="0"/>
              <a:t>Test set "n e w e r _" would be tokenized as a full word </a:t>
            </a:r>
            <a:endParaRPr lang="en-US" sz="2000" dirty="0"/>
          </a:p>
          <a:p>
            <a:pPr lvl="1"/>
            <a:r>
              <a:rPr lang="en-US" sz="2000" dirty="0"/>
              <a:t>Test set "l o w e r _" would be two tokens: "low er_"</a:t>
            </a:r>
            <a:endParaRPr lang="en-US" sz="2000" dirty="0"/>
          </a:p>
          <a:p>
            <a:pPr lvl="1"/>
            <a:endParaRPr lang="en-US" sz="2000" dirty="0"/>
          </a:p>
        </p:txBody>
      </p:sp>
      <p:sp>
        <p:nvSpPr>
          <p:cNvPr id="2" name="Title 1"/>
          <p:cNvSpPr>
            <a:spLocks noGrp="1"/>
          </p:cNvSpPr>
          <p:nvPr>
            <p:ph type="title"/>
          </p:nvPr>
        </p:nvSpPr>
        <p:spPr>
          <a:xfrm>
            <a:off x="822960" y="119702"/>
            <a:ext cx="7543800" cy="680397"/>
          </a:xfrm>
        </p:spPr>
        <p:txBody>
          <a:bodyPr/>
          <a:lstStyle/>
          <a:p>
            <a:r>
              <a:rPr lang="en-US" dirty="0"/>
              <a:t>BPE token </a:t>
            </a:r>
            <a:r>
              <a:rPr lang="en-US" b="1" dirty="0" err="1"/>
              <a:t>segmenter</a:t>
            </a:r>
            <a:r>
              <a:rPr lang="en-US" dirty="0"/>
              <a:t> algorithm</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1200150"/>
            <a:ext cx="8168640" cy="3429000"/>
          </a:xfrm>
        </p:spPr>
        <p:txBody>
          <a:bodyPr/>
          <a:lstStyle/>
          <a:p>
            <a:pPr marL="0" indent="0">
              <a:buNone/>
            </a:pPr>
            <a:r>
              <a:rPr lang="en-US" sz="2400" dirty="0"/>
              <a:t>Usually include frequent words</a:t>
            </a:r>
            <a:endParaRPr lang="en-US" sz="2400" dirty="0"/>
          </a:p>
          <a:p>
            <a:pPr marL="0" indent="0">
              <a:buNone/>
            </a:pPr>
            <a:r>
              <a:rPr lang="en-US" sz="2400" dirty="0"/>
              <a:t>And frequent </a:t>
            </a:r>
            <a:r>
              <a:rPr lang="en-US" sz="2400" dirty="0" err="1"/>
              <a:t>subwords</a:t>
            </a:r>
            <a:endParaRPr lang="en-US" sz="2400" dirty="0"/>
          </a:p>
          <a:p>
            <a:pPr marL="459105" indent="-225425">
              <a:buFont typeface="Arial" panose="020B0604020202090204" pitchFamily="34" charset="0"/>
              <a:buChar char="•"/>
            </a:pPr>
            <a:r>
              <a:rPr lang="en-US" sz="2400" dirty="0"/>
              <a:t>Which are often morphemes like </a:t>
            </a:r>
            <a:r>
              <a:rPr lang="en-US" sz="2400" i="1" dirty="0"/>
              <a:t>-</a:t>
            </a:r>
            <a:r>
              <a:rPr lang="en-US" sz="2400" i="1" dirty="0" err="1"/>
              <a:t>est</a:t>
            </a:r>
            <a:r>
              <a:rPr lang="en-US" sz="2400" i="1" dirty="0"/>
              <a:t> </a:t>
            </a:r>
            <a:r>
              <a:rPr lang="en-US" sz="2400" dirty="0"/>
              <a:t>or </a:t>
            </a:r>
            <a:r>
              <a:rPr lang="en-US" sz="2400" i="1" dirty="0"/>
              <a:t>–er</a:t>
            </a:r>
            <a:endParaRPr lang="en-US" sz="2400" i="1" dirty="0"/>
          </a:p>
          <a:p>
            <a:pPr marL="0" indent="0">
              <a:buNone/>
            </a:pPr>
            <a:r>
              <a:rPr lang="en-US" sz="2400" dirty="0"/>
              <a:t>A </a:t>
            </a:r>
            <a:r>
              <a:rPr lang="en-US" sz="2400" b="1" dirty="0"/>
              <a:t>morpheme </a:t>
            </a:r>
            <a:r>
              <a:rPr lang="en-US" sz="2400" dirty="0"/>
              <a:t>is the smallest meaning-bearing unit of a language</a:t>
            </a:r>
            <a:endParaRPr lang="en-US" sz="2400" dirty="0"/>
          </a:p>
          <a:p>
            <a:pPr marL="459105" indent="-225425">
              <a:buFont typeface="Arial" panose="020B0604020202090204" pitchFamily="34" charset="0"/>
              <a:buChar char="•"/>
            </a:pPr>
            <a:r>
              <a:rPr lang="en-US" sz="2400" i="1" dirty="0"/>
              <a:t>unlikeliest </a:t>
            </a:r>
            <a:r>
              <a:rPr lang="en-US" sz="2400" dirty="0"/>
              <a:t>has 3 morphemes </a:t>
            </a:r>
            <a:r>
              <a:rPr lang="en-US" sz="2400" i="1" dirty="0"/>
              <a:t>un-</a:t>
            </a:r>
            <a:r>
              <a:rPr lang="en-US" sz="2400" dirty="0"/>
              <a:t>, </a:t>
            </a:r>
            <a:r>
              <a:rPr lang="en-US" sz="2400" i="1" dirty="0"/>
              <a:t>likely</a:t>
            </a:r>
            <a:r>
              <a:rPr lang="en-US" sz="2400" dirty="0"/>
              <a:t>, and </a:t>
            </a:r>
            <a:r>
              <a:rPr lang="en-US" sz="2400" i="1" dirty="0"/>
              <a:t>-</a:t>
            </a:r>
            <a:r>
              <a:rPr lang="en-US" sz="2400" i="1" dirty="0" err="1"/>
              <a:t>est</a:t>
            </a:r>
            <a:r>
              <a:rPr lang="en-US" sz="2400" dirty="0"/>
              <a:t> </a:t>
            </a:r>
            <a:endParaRPr lang="en-US" sz="2400" dirty="0"/>
          </a:p>
          <a:p>
            <a:endParaRPr lang="en-US" sz="2400" dirty="0"/>
          </a:p>
        </p:txBody>
      </p:sp>
      <p:sp>
        <p:nvSpPr>
          <p:cNvPr id="2" name="Title 1"/>
          <p:cNvSpPr>
            <a:spLocks noGrp="1"/>
          </p:cNvSpPr>
          <p:nvPr>
            <p:ph type="title"/>
          </p:nvPr>
        </p:nvSpPr>
        <p:spPr>
          <a:xfrm>
            <a:off x="822960" y="119702"/>
            <a:ext cx="7543800" cy="680397"/>
          </a:xfrm>
        </p:spPr>
        <p:txBody>
          <a:bodyPr/>
          <a:lstStyle/>
          <a:p>
            <a:r>
              <a:rPr lang="en-US" dirty="0"/>
              <a:t>Properties of BPE tokens</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533400" y="819150"/>
            <a:ext cx="7543801" cy="3429000"/>
          </a:xfrm>
        </p:spPr>
        <p:txBody>
          <a:bodyPr>
            <a:noAutofit/>
          </a:bodyPr>
          <a:p>
            <a:r>
              <a:rPr lang="zh-CN" altLang="en-US" sz="1600"/>
              <a:t>from collections import defaultdict</a:t>
            </a:r>
            <a:endParaRPr lang="zh-CN" altLang="en-US" sz="1600"/>
          </a:p>
          <a:p>
            <a:endParaRPr lang="zh-CN" altLang="en-US" sz="1600"/>
          </a:p>
          <a:p>
            <a:r>
              <a:rPr lang="zh-CN" altLang="en-US" sz="1600"/>
              <a:t># 示例中文文本</a:t>
            </a:r>
            <a:endParaRPr lang="zh-CN" altLang="en-US" sz="1600"/>
          </a:p>
          <a:p>
            <a:r>
              <a:rPr lang="zh-CN" altLang="en-US" sz="1600"/>
              <a:t>text = "我爱北京天安门，天安门上太阳升。"</a:t>
            </a:r>
            <a:endParaRPr lang="zh-CN" altLang="en-US" sz="1600"/>
          </a:p>
          <a:p>
            <a:endParaRPr lang="zh-CN" altLang="en-US" sz="1600"/>
          </a:p>
          <a:p>
            <a:r>
              <a:rPr lang="zh-CN" altLang="en-US" sz="1600"/>
              <a:t># 将文本分割成单个字符</a:t>
            </a:r>
            <a:endParaRPr lang="zh-CN" altLang="en-US" sz="1600"/>
          </a:p>
          <a:p>
            <a:r>
              <a:rPr lang="zh-CN" altLang="en-US" sz="1600"/>
              <a:t>words = list(text)</a:t>
            </a:r>
            <a:endParaRPr lang="zh-CN" altLang="en-US" sz="1600"/>
          </a:p>
          <a:p>
            <a:endParaRPr lang="zh-CN" altLang="en-US" sz="1600"/>
          </a:p>
          <a:p>
            <a:r>
              <a:rPr lang="zh-CN" altLang="en-US" sz="1600"/>
              <a:t># 定义n的大小</a:t>
            </a:r>
            <a:endParaRPr lang="zh-CN" altLang="en-US" sz="1600"/>
          </a:p>
          <a:p>
            <a:r>
              <a:rPr lang="zh-CN" altLang="en-US" sz="1600"/>
              <a:t>n = 2</a:t>
            </a:r>
            <a:endParaRPr lang="zh-CN" altLang="en-US" sz="1600"/>
          </a:p>
          <a:p>
            <a:pPr marL="0" indent="0">
              <a:buNone/>
            </a:pPr>
            <a:endParaRPr lang="zh-CN" altLang="en-US" sz="1600"/>
          </a:p>
        </p:txBody>
      </p:sp>
      <p:sp>
        <p:nvSpPr>
          <p:cNvPr id="3" name="标题 2"/>
          <p:cNvSpPr>
            <a:spLocks noGrp="1"/>
          </p:cNvSpPr>
          <p:nvPr>
            <p:ph type="title"/>
          </p:nvPr>
        </p:nvSpPr>
        <p:spPr/>
        <p:txBody>
          <a:bodyPr/>
          <a:p>
            <a:r>
              <a:rPr lang="en-US" altLang="zh-CN"/>
              <a:t>n-gram for </a:t>
            </a:r>
            <a:r>
              <a:rPr lang="en-US" altLang="zh-CN"/>
              <a:t>chinese</a:t>
            </a:r>
            <a:endParaRPr lang="en-US" altLang="zh-CN"/>
          </a:p>
        </p:txBody>
      </p:sp>
      <p:sp>
        <p:nvSpPr>
          <p:cNvPr id="4" name="文本框 3"/>
          <p:cNvSpPr txBox="1"/>
          <p:nvPr/>
        </p:nvSpPr>
        <p:spPr>
          <a:xfrm>
            <a:off x="4495800" y="2190750"/>
            <a:ext cx="4572000" cy="2306955"/>
          </a:xfrm>
          <a:prstGeom prst="rect">
            <a:avLst/>
          </a:prstGeom>
          <a:noFill/>
        </p:spPr>
        <p:txBody>
          <a:bodyPr wrap="square" rtlCol="0" anchor="t">
            <a:spAutoFit/>
          </a:bodyPr>
          <a:p>
            <a:pPr marL="0" indent="0">
              <a:buNone/>
            </a:pP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初始化n-gram字典</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ngram_dict = defaultdict(list)</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生成n-gram</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for i in range(len(words) - n + 1):</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ngram = tuple(words[i:i + n])</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ngram_dict[ngram[:-1]].append(ngram[-1])</a:t>
            </a:r>
            <a:endParaRPr lang="zh-CN" altLang="en-US" sz="1200">
              <a:latin typeface="Times New Roman Regular" panose="02020503050405090304" charset="0"/>
              <a:cs typeface="Times New Roman Regular" panose="02020503050405090304" charset="0"/>
            </a:endParaRPr>
          </a:p>
          <a:p>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打印n-gram结果</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for key, values in ngram_dict.items():</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sym typeface="+mn-ea"/>
              </a:rPr>
              <a:t>    print(f"{key} -&gt; {values}")</a:t>
            </a:r>
            <a:endParaRPr lang="zh-CN" altLang="en-US" sz="12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ctrTitle"/>
          </p:nvPr>
        </p:nvSpPr>
        <p:spPr>
          <a:xfrm>
            <a:off x="742950" y="1428750"/>
            <a:ext cx="7690485" cy="1753235"/>
          </a:xfrm>
        </p:spPr>
        <p:txBody>
          <a:bodyPr>
            <a:noAutofit/>
          </a:bodyPr>
          <a:lstStyle/>
          <a:p>
            <a:r>
              <a:rPr lang="en-US" altLang="zh-CN" sz="4800" cap="all" dirty="0">
                <a:solidFill>
                  <a:srgbClr val="000044"/>
                </a:solidFill>
                <a:cs typeface="DIN-Regular"/>
              </a:rPr>
              <a:t>Word Normalization and other issues</a:t>
            </a:r>
            <a:endParaRPr lang="en-US" altLang="zh-CN" sz="4800" cap="all" dirty="0">
              <a:solidFill>
                <a:srgbClr val="000044"/>
              </a:solidFill>
              <a:cs typeface="DIN-Regular"/>
            </a:endParaRPr>
          </a:p>
        </p:txBody>
      </p:sp>
      <p:pic>
        <p:nvPicPr>
          <p:cNvPr id="7" name="Picture 6"/>
          <p:cNvPicPr>
            <a:picLocks noChangeAspect="1"/>
          </p:cNvPicPr>
          <p:nvPr/>
        </p:nvPicPr>
        <p:blipFill>
          <a:blip r:embed="rId1"/>
          <a:stretch>
            <a:fillRect/>
          </a:stretch>
        </p:blipFill>
        <p:spPr>
          <a:xfrm>
            <a:off x="3314595" y="3959889"/>
            <a:ext cx="2517130" cy="538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62"/>
    </mc:Choice>
    <mc:Fallback>
      <p:transition spd="slow" advTm="10662"/>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051"/>
          <p:cNvSpPr>
            <a:spLocks noGrp="1" noChangeArrowheads="1"/>
          </p:cNvSpPr>
          <p:nvPr>
            <p:ph idx="1"/>
          </p:nvPr>
        </p:nvSpPr>
        <p:spPr>
          <a:xfrm>
            <a:off x="822960" y="1123950"/>
            <a:ext cx="7543801" cy="3429000"/>
          </a:xfrm>
        </p:spPr>
        <p:txBody>
          <a:bodyPr>
            <a:normAutofit/>
          </a:bodyPr>
          <a:lstStyle/>
          <a:p>
            <a:pPr eaLnBrk="1" hangingPunct="1"/>
            <a:r>
              <a:rPr lang="en-US" sz="2400" dirty="0">
                <a:sym typeface="Symbol" charset="2"/>
              </a:rPr>
              <a:t>Putting words/tokens in a standard format</a:t>
            </a:r>
            <a:endParaRPr lang="en-US" sz="2400" dirty="0">
              <a:sym typeface="Symbol" charset="2"/>
            </a:endParaRPr>
          </a:p>
          <a:p>
            <a:pPr lvl="2" eaLnBrk="1" hangingPunct="1"/>
            <a:r>
              <a:rPr lang="en-US" dirty="0">
                <a:sym typeface="Symbol" charset="2"/>
              </a:rPr>
              <a:t>U.S.A. or USA</a:t>
            </a:r>
            <a:endParaRPr lang="en-US" dirty="0">
              <a:sym typeface="Symbol" charset="2"/>
            </a:endParaRPr>
          </a:p>
          <a:p>
            <a:pPr lvl="2" eaLnBrk="1" hangingPunct="1"/>
            <a:r>
              <a:rPr lang="en-US" dirty="0" err="1">
                <a:sym typeface="Symbol" charset="2"/>
              </a:rPr>
              <a:t>uhhuh</a:t>
            </a:r>
            <a:r>
              <a:rPr lang="en-US" dirty="0">
                <a:sym typeface="Symbol" charset="2"/>
              </a:rPr>
              <a:t> or uh-huh</a:t>
            </a:r>
            <a:endParaRPr lang="en-US" dirty="0">
              <a:sym typeface="Symbol" charset="2"/>
            </a:endParaRPr>
          </a:p>
          <a:p>
            <a:pPr lvl="2" eaLnBrk="1" hangingPunct="1"/>
            <a:r>
              <a:rPr lang="en-US" dirty="0">
                <a:sym typeface="Symbol" charset="2"/>
              </a:rPr>
              <a:t>Fed or fed</a:t>
            </a:r>
            <a:endParaRPr lang="en-US" dirty="0">
              <a:sym typeface="Symbol" charset="2"/>
            </a:endParaRPr>
          </a:p>
          <a:p>
            <a:pPr lvl="2" eaLnBrk="1" hangingPunct="1"/>
            <a:r>
              <a:rPr lang="en-US" dirty="0">
                <a:sym typeface="Symbol" charset="2"/>
              </a:rPr>
              <a:t>am, is, be, are </a:t>
            </a:r>
            <a:endParaRPr lang="en-US" dirty="0">
              <a:sym typeface="Symbol" charset="2"/>
            </a:endParaRPr>
          </a:p>
          <a:p>
            <a:pPr lvl="1" eaLnBrk="1" hangingPunct="1"/>
            <a:endParaRPr lang="en-US" dirty="0">
              <a:sym typeface="Symbol" charset="2"/>
            </a:endParaRPr>
          </a:p>
        </p:txBody>
      </p:sp>
      <p:sp>
        <p:nvSpPr>
          <p:cNvPr id="35842" name="Rectangle 2050"/>
          <p:cNvSpPr>
            <a:spLocks noGrp="1" noChangeArrowheads="1"/>
          </p:cNvSpPr>
          <p:nvPr>
            <p:ph type="title"/>
          </p:nvPr>
        </p:nvSpPr>
        <p:spPr>
          <a:xfrm>
            <a:off x="822960" y="142875"/>
            <a:ext cx="7924800" cy="742950"/>
          </a:xfrm>
        </p:spPr>
        <p:txBody>
          <a:bodyPr/>
          <a:lstStyle/>
          <a:p>
            <a:pPr eaLnBrk="1" hangingPunct="1"/>
            <a:r>
              <a:rPr lang="en-US" dirty="0"/>
              <a:t>Word Normalization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7"/>
          <p:cNvSpPr>
            <a:spLocks noGrp="1" noChangeArrowheads="1"/>
          </p:cNvSpPr>
          <p:nvPr>
            <p:ph idx="1"/>
          </p:nvPr>
        </p:nvSpPr>
        <p:spPr>
          <a:xfrm>
            <a:off x="822960" y="971550"/>
            <a:ext cx="7543801" cy="3429000"/>
          </a:xfrm>
        </p:spPr>
        <p:txBody>
          <a:bodyPr/>
          <a:lstStyle/>
          <a:p>
            <a:pPr eaLnBrk="1" hangingPunct="1"/>
            <a:r>
              <a:rPr lang="en-US" sz="2400" dirty="0"/>
              <a:t>Applications like IR: reduce all letters to lower case</a:t>
            </a:r>
            <a:endParaRPr lang="en-US" sz="2400" dirty="0"/>
          </a:p>
          <a:p>
            <a:pPr lvl="1" eaLnBrk="1" hangingPunct="1"/>
            <a:r>
              <a:rPr lang="en-US" sz="2000" dirty="0"/>
              <a:t>Since users tend to use lower case</a:t>
            </a:r>
            <a:endParaRPr lang="en-US" sz="2000" dirty="0"/>
          </a:p>
          <a:p>
            <a:pPr lvl="1" eaLnBrk="1" hangingPunct="1"/>
            <a:r>
              <a:rPr lang="en-US" sz="2000" dirty="0"/>
              <a:t>Possible exception: upper case in mid-sentence?</a:t>
            </a:r>
            <a:endParaRPr lang="en-US" sz="2000" dirty="0"/>
          </a:p>
          <a:p>
            <a:pPr lvl="2" eaLnBrk="1" hangingPunct="1"/>
            <a:r>
              <a:rPr lang="en-US" sz="1800" dirty="0"/>
              <a:t>e.g., </a:t>
            </a:r>
            <a:r>
              <a:rPr lang="en-US" sz="1800" b="1" i="1" dirty="0"/>
              <a:t>General Motors</a:t>
            </a:r>
            <a:endParaRPr lang="en-US" sz="1800" b="1" i="1" dirty="0"/>
          </a:p>
          <a:p>
            <a:pPr lvl="2" eaLnBrk="1" hangingPunct="1"/>
            <a:r>
              <a:rPr lang="en-US" sz="1800" b="1" i="1" dirty="0"/>
              <a:t>Fed</a:t>
            </a:r>
            <a:r>
              <a:rPr lang="en-US" sz="1800" dirty="0"/>
              <a:t> vs. </a:t>
            </a:r>
            <a:r>
              <a:rPr lang="en-US" sz="1800" b="1" i="1" dirty="0"/>
              <a:t>fed</a:t>
            </a:r>
            <a:endParaRPr lang="en-US" sz="1800" b="1" i="1" dirty="0"/>
          </a:p>
          <a:p>
            <a:pPr lvl="2" eaLnBrk="1" hangingPunct="1"/>
            <a:r>
              <a:rPr lang="en-US" sz="1800" b="1" i="1" dirty="0"/>
              <a:t>SAIL</a:t>
            </a:r>
            <a:r>
              <a:rPr lang="en-US" sz="1800" dirty="0"/>
              <a:t> vs. </a:t>
            </a:r>
            <a:r>
              <a:rPr lang="en-US" sz="1800" b="1" i="1" dirty="0"/>
              <a:t>sail</a:t>
            </a:r>
            <a:endParaRPr lang="en-US" sz="1800" b="1" i="1" dirty="0"/>
          </a:p>
          <a:p>
            <a:r>
              <a:rPr lang="en-US" sz="2400" dirty="0"/>
              <a:t>For sentiment analysis, MT, Information extraction</a:t>
            </a:r>
            <a:endParaRPr lang="en-US" sz="2400" dirty="0"/>
          </a:p>
          <a:p>
            <a:pPr lvl="1"/>
            <a:r>
              <a:rPr lang="en-US" sz="2000" dirty="0"/>
              <a:t>Case is helpful (</a:t>
            </a:r>
            <a:r>
              <a:rPr lang="en-US" sz="2000" b="1" i="1" dirty="0"/>
              <a:t>US</a:t>
            </a:r>
            <a:r>
              <a:rPr lang="en-US" sz="2000" dirty="0"/>
              <a:t> versus </a:t>
            </a:r>
            <a:r>
              <a:rPr lang="en-US" sz="2000" b="1" i="1" dirty="0"/>
              <a:t>us </a:t>
            </a:r>
            <a:r>
              <a:rPr lang="en-US" sz="2000" dirty="0"/>
              <a:t>is important)</a:t>
            </a:r>
            <a:endParaRPr lang="en-US" sz="2000" dirty="0"/>
          </a:p>
        </p:txBody>
      </p:sp>
      <p:sp>
        <p:nvSpPr>
          <p:cNvPr id="36866" name="Rectangle 6"/>
          <p:cNvSpPr>
            <a:spLocks noGrp="1" noChangeArrowheads="1"/>
          </p:cNvSpPr>
          <p:nvPr>
            <p:ph type="title"/>
          </p:nvPr>
        </p:nvSpPr>
        <p:spPr>
          <a:xfrm>
            <a:off x="822960" y="119702"/>
            <a:ext cx="7543800" cy="680397"/>
          </a:xfrm>
        </p:spPr>
        <p:txBody>
          <a:bodyPr/>
          <a:lstStyle/>
          <a:p>
            <a:pPr eaLnBrk="1" hangingPunct="1"/>
            <a:r>
              <a:rPr lang="en-US"/>
              <a:t>Case folding</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86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838200" y="895350"/>
            <a:ext cx="8321040" cy="3581400"/>
          </a:xfrm>
        </p:spPr>
        <p:txBody>
          <a:bodyPr/>
          <a:lstStyle/>
          <a:p>
            <a:pPr marL="0" indent="0" eaLnBrk="1" hangingPunct="1">
              <a:lnSpc>
                <a:spcPct val="100000"/>
              </a:lnSpc>
              <a:spcBef>
                <a:spcPts val="300"/>
              </a:spcBef>
              <a:buNone/>
            </a:pPr>
            <a:r>
              <a:rPr lang="en-US" sz="2400" dirty="0"/>
              <a:t>Represent all words as their lemma, their shared root </a:t>
            </a:r>
            <a:endParaRPr lang="en-US" sz="2400" dirty="0"/>
          </a:p>
          <a:p>
            <a:pPr marL="0" indent="0" eaLnBrk="1" hangingPunct="1">
              <a:lnSpc>
                <a:spcPct val="100000"/>
              </a:lnSpc>
              <a:spcBef>
                <a:spcPts val="0"/>
              </a:spcBef>
              <a:buNone/>
            </a:pPr>
            <a:r>
              <a:rPr lang="en-US" sz="2400" dirty="0"/>
              <a:t>	= dictionary headword form:</a:t>
            </a:r>
            <a:endParaRPr lang="en-US" sz="2400" dirty="0"/>
          </a:p>
          <a:p>
            <a:pPr lvl="1" eaLnBrk="1" hangingPunct="1">
              <a:spcBef>
                <a:spcPts val="500"/>
              </a:spcBef>
              <a:spcAft>
                <a:spcPts val="500"/>
              </a:spcAft>
            </a:pPr>
            <a:r>
              <a:rPr lang="en-US" sz="2000" i="1" dirty="0"/>
              <a:t>am, are,</a:t>
            </a:r>
            <a:r>
              <a:rPr lang="en-US" sz="2000" dirty="0"/>
              <a:t> </a:t>
            </a:r>
            <a:r>
              <a:rPr lang="en-US" sz="2000" i="1" dirty="0"/>
              <a:t>is </a:t>
            </a:r>
            <a:r>
              <a:rPr lang="en-US" sz="2000" dirty="0">
                <a:sym typeface="Symbol" charset="2"/>
              </a:rPr>
              <a:t></a:t>
            </a:r>
            <a:r>
              <a:rPr lang="en-US" sz="2000" dirty="0"/>
              <a:t> </a:t>
            </a:r>
            <a:r>
              <a:rPr lang="en-US" sz="2000" i="1" dirty="0"/>
              <a:t>be</a:t>
            </a:r>
            <a:endParaRPr lang="en-US" sz="2000" dirty="0"/>
          </a:p>
          <a:p>
            <a:pPr lvl="1" eaLnBrk="1" hangingPunct="1">
              <a:spcBef>
                <a:spcPts val="500"/>
              </a:spcBef>
              <a:spcAft>
                <a:spcPts val="500"/>
              </a:spcAft>
            </a:pPr>
            <a:r>
              <a:rPr lang="en-US" sz="2000" i="1" dirty="0"/>
              <a:t>car, cars, car's</a:t>
            </a:r>
            <a:r>
              <a:rPr lang="en-US" sz="2000" dirty="0"/>
              <a:t>, </a:t>
            </a:r>
            <a:r>
              <a:rPr lang="en-US" sz="2000" i="1" dirty="0"/>
              <a:t>cars'</a:t>
            </a:r>
            <a:r>
              <a:rPr lang="en-US" sz="2000" dirty="0"/>
              <a:t> </a:t>
            </a:r>
            <a:r>
              <a:rPr lang="en-US" sz="2000" dirty="0">
                <a:sym typeface="Symbol" charset="2"/>
              </a:rPr>
              <a:t></a:t>
            </a:r>
            <a:r>
              <a:rPr lang="en-US" sz="2000" dirty="0"/>
              <a:t> </a:t>
            </a:r>
            <a:r>
              <a:rPr lang="en-US" sz="2000" i="1" dirty="0"/>
              <a:t>car</a:t>
            </a:r>
            <a:endParaRPr lang="en-US" sz="2000" i="1" dirty="0"/>
          </a:p>
          <a:p>
            <a:pPr lvl="1">
              <a:spcBef>
                <a:spcPts val="500"/>
              </a:spcBef>
              <a:spcAft>
                <a:spcPts val="500"/>
              </a:spcAft>
            </a:pPr>
            <a:r>
              <a:rPr lang="en-US" sz="2000" dirty="0"/>
              <a:t>Spanish </a:t>
            </a:r>
            <a:r>
              <a:rPr lang="en-US" sz="2000" dirty="0" err="1">
                <a:solidFill>
                  <a:srgbClr val="A50021"/>
                </a:solidFill>
              </a:rPr>
              <a:t>quiero</a:t>
            </a:r>
            <a:r>
              <a:rPr lang="en-US" sz="2000" dirty="0"/>
              <a:t> (‘I want’), </a:t>
            </a:r>
            <a:r>
              <a:rPr lang="en-US" sz="2000" dirty="0" err="1">
                <a:solidFill>
                  <a:srgbClr val="A50021"/>
                </a:solidFill>
              </a:rPr>
              <a:t>quieres</a:t>
            </a:r>
            <a:r>
              <a:rPr lang="en-US" sz="2000" dirty="0"/>
              <a:t> (‘you want’) </a:t>
            </a:r>
            <a:endParaRPr lang="en-US" sz="2000" dirty="0"/>
          </a:p>
          <a:p>
            <a:pPr marL="425450" lvl="3" indent="0">
              <a:spcBef>
                <a:spcPts val="500"/>
              </a:spcBef>
              <a:spcAft>
                <a:spcPts val="500"/>
              </a:spcAft>
              <a:buNone/>
            </a:pPr>
            <a:r>
              <a:rPr lang="en-US" sz="2000" dirty="0">
                <a:sym typeface="Symbol" charset="2"/>
              </a:rPr>
              <a:t></a:t>
            </a:r>
            <a:r>
              <a:rPr lang="en-US" sz="2000" dirty="0"/>
              <a:t> </a:t>
            </a:r>
            <a:r>
              <a:rPr lang="en-US" sz="2000" dirty="0" err="1">
                <a:solidFill>
                  <a:srgbClr val="A50021"/>
                </a:solidFill>
              </a:rPr>
              <a:t>querer</a:t>
            </a:r>
            <a:r>
              <a:rPr lang="en-US" sz="2000" dirty="0"/>
              <a:t> ‘want'</a:t>
            </a:r>
            <a:endParaRPr lang="en-US" sz="2000" i="1" dirty="0"/>
          </a:p>
          <a:p>
            <a:pPr>
              <a:spcBef>
                <a:spcPts val="500"/>
              </a:spcBef>
              <a:spcAft>
                <a:spcPts val="500"/>
              </a:spcAft>
            </a:pPr>
            <a:endParaRPr lang="en-US" sz="100" i="1" dirty="0"/>
          </a:p>
          <a:p>
            <a:pPr lvl="1">
              <a:spcBef>
                <a:spcPts val="500"/>
              </a:spcBef>
              <a:spcAft>
                <a:spcPts val="500"/>
              </a:spcAft>
            </a:pPr>
            <a:r>
              <a:rPr lang="en-US" sz="2000" i="1" dirty="0"/>
              <a:t>He is reading detective stories </a:t>
            </a:r>
            <a:endParaRPr lang="en-US" sz="2000" i="1" dirty="0"/>
          </a:p>
          <a:p>
            <a:pPr marL="462280" lvl="3" indent="0">
              <a:spcBef>
                <a:spcPts val="500"/>
              </a:spcBef>
              <a:spcAft>
                <a:spcPts val="500"/>
              </a:spcAft>
              <a:buNone/>
            </a:pPr>
            <a:r>
              <a:rPr lang="en-US" sz="2000" dirty="0">
                <a:sym typeface="Symbol" charset="2"/>
              </a:rPr>
              <a:t></a:t>
            </a:r>
            <a:r>
              <a:rPr lang="en-US" sz="2000" dirty="0"/>
              <a:t> </a:t>
            </a:r>
            <a:r>
              <a:rPr lang="en-US" sz="2000" i="1" dirty="0"/>
              <a:t>He be read detective story </a:t>
            </a:r>
            <a:endParaRPr lang="en-US" sz="2000" i="1" dirty="0"/>
          </a:p>
        </p:txBody>
      </p:sp>
      <p:sp>
        <p:nvSpPr>
          <p:cNvPr id="37890" name="Rectangle 2"/>
          <p:cNvSpPr>
            <a:spLocks noGrp="1" noChangeArrowheads="1"/>
          </p:cNvSpPr>
          <p:nvPr>
            <p:ph type="title"/>
          </p:nvPr>
        </p:nvSpPr>
        <p:spPr>
          <a:xfrm>
            <a:off x="822960" y="119702"/>
            <a:ext cx="7543800" cy="680397"/>
          </a:xfrm>
        </p:spPr>
        <p:txBody>
          <a:bodyPr/>
          <a:lstStyle/>
          <a:p>
            <a:pPr eaLnBrk="1" hangingPunct="1"/>
            <a:r>
              <a:rPr lang="en-US"/>
              <a:t>Lemmatization</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9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891">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822960" y="1047750"/>
            <a:ext cx="7940040" cy="4095750"/>
          </a:xfrm>
        </p:spPr>
        <p:txBody>
          <a:bodyPr>
            <a:normAutofit/>
          </a:bodyPr>
          <a:lstStyle/>
          <a:p>
            <a:r>
              <a:rPr lang="en-US" sz="2400" dirty="0"/>
              <a:t>Morphemes:</a:t>
            </a:r>
            <a:endParaRPr lang="en-US" sz="2400" dirty="0"/>
          </a:p>
          <a:p>
            <a:pPr lvl="1"/>
            <a:r>
              <a:rPr lang="en-US" sz="1800" dirty="0"/>
              <a:t>The small meaningful units that make up words</a:t>
            </a:r>
            <a:endParaRPr lang="en-US" sz="1800" dirty="0"/>
          </a:p>
          <a:p>
            <a:pPr lvl="1"/>
            <a:r>
              <a:rPr lang="en-US" sz="1800" b="1" dirty="0">
                <a:solidFill>
                  <a:srgbClr val="FF0000"/>
                </a:solidFill>
              </a:rPr>
              <a:t>Stems</a:t>
            </a:r>
            <a:r>
              <a:rPr lang="en-US" sz="1800" dirty="0"/>
              <a:t>: The core meaning-bearing units</a:t>
            </a:r>
            <a:endParaRPr lang="en-US" sz="1800" dirty="0"/>
          </a:p>
          <a:p>
            <a:pPr lvl="1"/>
            <a:r>
              <a:rPr lang="en-US" sz="1800" b="1" dirty="0">
                <a:solidFill>
                  <a:srgbClr val="FF0000"/>
                </a:solidFill>
              </a:rPr>
              <a:t>Affixes</a:t>
            </a:r>
            <a:r>
              <a:rPr lang="en-US" sz="1800" dirty="0"/>
              <a:t>: Parts that adhere to stems, often with grammatical functions</a:t>
            </a:r>
            <a:endParaRPr lang="en-US" sz="1800" dirty="0"/>
          </a:p>
          <a:p>
            <a:r>
              <a:rPr lang="en-US" sz="2400" dirty="0"/>
              <a:t>Morphological Parsers:</a:t>
            </a:r>
            <a:endParaRPr lang="en-US" sz="2400" dirty="0"/>
          </a:p>
          <a:p>
            <a:pPr lvl="1"/>
            <a:r>
              <a:rPr lang="en-US" sz="1800" dirty="0"/>
              <a:t>Parse</a:t>
            </a:r>
            <a:r>
              <a:rPr lang="en-US" sz="1800" i="1" dirty="0"/>
              <a:t>  cats </a:t>
            </a:r>
            <a:r>
              <a:rPr lang="en-US" sz="1800" dirty="0"/>
              <a:t>into two morphemes </a:t>
            </a:r>
            <a:r>
              <a:rPr lang="en-US" sz="1800" i="1" dirty="0"/>
              <a:t>cat </a:t>
            </a:r>
            <a:r>
              <a:rPr lang="en-US" sz="1800" dirty="0"/>
              <a:t>and </a:t>
            </a:r>
            <a:r>
              <a:rPr lang="en-US" sz="1800" i="1" dirty="0"/>
              <a:t>s</a:t>
            </a:r>
            <a:endParaRPr lang="en-US" sz="1800" dirty="0"/>
          </a:p>
          <a:p>
            <a:pPr lvl="1"/>
            <a:r>
              <a:rPr lang="en-US" sz="1800" dirty="0"/>
              <a:t>Parse Spanish </a:t>
            </a:r>
            <a:r>
              <a:rPr lang="en-US" sz="1800" i="1" dirty="0" err="1"/>
              <a:t>amaren</a:t>
            </a:r>
            <a:r>
              <a:rPr lang="en-US" sz="1800" i="1" dirty="0"/>
              <a:t> </a:t>
            </a:r>
            <a:r>
              <a:rPr lang="en-US" sz="1800" dirty="0"/>
              <a:t>(‘if in the future they would love’) into morpheme </a:t>
            </a:r>
            <a:r>
              <a:rPr lang="en-US" sz="1800" i="1" dirty="0" err="1"/>
              <a:t>amar</a:t>
            </a:r>
            <a:r>
              <a:rPr lang="en-US" sz="1800" i="1" dirty="0"/>
              <a:t> </a:t>
            </a:r>
            <a:r>
              <a:rPr lang="en-US" sz="1800" dirty="0"/>
              <a:t>‘to love’, and the morphological features </a:t>
            </a:r>
            <a:r>
              <a:rPr lang="en-US" sz="1800" i="1" dirty="0"/>
              <a:t>3PL </a:t>
            </a:r>
            <a:r>
              <a:rPr lang="en-US" sz="1800" dirty="0"/>
              <a:t>and </a:t>
            </a:r>
            <a:r>
              <a:rPr lang="en-US" sz="1800" i="1" dirty="0"/>
              <a:t>future subjunctive</a:t>
            </a:r>
            <a:r>
              <a:rPr lang="en-US" sz="1800" dirty="0"/>
              <a:t>. </a:t>
            </a:r>
            <a:endParaRPr lang="en-US" sz="1800" dirty="0"/>
          </a:p>
        </p:txBody>
      </p:sp>
      <p:sp>
        <p:nvSpPr>
          <p:cNvPr id="43010" name="Rectangle 2"/>
          <p:cNvSpPr>
            <a:spLocks noGrp="1" noChangeArrowheads="1"/>
          </p:cNvSpPr>
          <p:nvPr>
            <p:ph type="title"/>
          </p:nvPr>
        </p:nvSpPr>
        <p:spPr>
          <a:xfrm>
            <a:off x="342265" y="120015"/>
            <a:ext cx="8664575" cy="680085"/>
          </a:xfrm>
        </p:spPr>
        <p:txBody>
          <a:bodyPr>
            <a:normAutofit fontScale="90000"/>
          </a:bodyPr>
          <a:lstStyle/>
          <a:p>
            <a:r>
              <a:rPr lang="en-US" dirty="0"/>
              <a:t>Lemmatization is done by Morphological Parsing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822324" y="950118"/>
            <a:ext cx="7543801" cy="3429000"/>
          </a:xfrm>
        </p:spPr>
        <p:txBody>
          <a:bodyPr>
            <a:normAutofit/>
          </a:bodyPr>
          <a:lstStyle/>
          <a:p>
            <a:pPr eaLnBrk="1" hangingPunct="1"/>
            <a:r>
              <a:rPr lang="en-US" sz="2400" dirty="0"/>
              <a:t>Reduce terms to stems, chopping off affixes crudely</a:t>
            </a:r>
            <a:endParaRPr lang="en-US" sz="2400" dirty="0"/>
          </a:p>
        </p:txBody>
      </p:sp>
      <p:sp>
        <p:nvSpPr>
          <p:cNvPr id="38914" name="Rectangle 2"/>
          <p:cNvSpPr>
            <a:spLocks noGrp="1" noChangeArrowheads="1"/>
          </p:cNvSpPr>
          <p:nvPr>
            <p:ph type="title"/>
          </p:nvPr>
        </p:nvSpPr>
        <p:spPr>
          <a:xfrm>
            <a:off x="822960" y="119702"/>
            <a:ext cx="7543800" cy="680397"/>
          </a:xfrm>
        </p:spPr>
        <p:txBody>
          <a:bodyPr/>
          <a:lstStyle/>
          <a:p>
            <a:pPr eaLnBrk="1" hangingPunct="1"/>
            <a:r>
              <a:rPr lang="en-US" dirty="0"/>
              <a:t>Stemming</a:t>
            </a:r>
            <a:endParaRPr lang="en-US" dirty="0"/>
          </a:p>
        </p:txBody>
      </p:sp>
      <p:sp>
        <p:nvSpPr>
          <p:cNvPr id="38916" name="Rectangle 4"/>
          <p:cNvSpPr>
            <a:spLocks noChangeArrowheads="1"/>
          </p:cNvSpPr>
          <p:nvPr/>
        </p:nvSpPr>
        <p:spPr bwMode="auto">
          <a:xfrm>
            <a:off x="777875" y="1253729"/>
            <a:ext cx="184666" cy="461665"/>
          </a:xfrm>
          <a:prstGeom prst="rect">
            <a:avLst/>
          </a:prstGeom>
          <a:noFill/>
          <a:ln w="9525">
            <a:noFill/>
            <a:miter lim="800000"/>
          </a:ln>
        </p:spPr>
        <p:txBody>
          <a:bodyPr wrap="none">
            <a:spAutoFit/>
          </a:bodyPr>
          <a:lstStyle/>
          <a:p>
            <a:endParaRPr lang="en-US">
              <a:latin typeface="Arial" panose="020B0604020202090204" pitchFamily="34" charset="0"/>
            </a:endParaRPr>
          </a:p>
        </p:txBody>
      </p:sp>
      <p:sp>
        <p:nvSpPr>
          <p:cNvPr id="38917" name="Rectangle 5"/>
          <p:cNvSpPr>
            <a:spLocks noChangeArrowheads="1"/>
          </p:cNvSpPr>
          <p:nvPr/>
        </p:nvSpPr>
        <p:spPr bwMode="auto">
          <a:xfrm>
            <a:off x="381000" y="1885960"/>
            <a:ext cx="4084320" cy="2245360"/>
          </a:xfrm>
          <a:prstGeom prst="rect">
            <a:avLst/>
          </a:prstGeom>
          <a:solidFill>
            <a:schemeClr val="accent1">
              <a:alpha val="50195"/>
            </a:schemeClr>
          </a:solidFill>
          <a:ln w="9525">
            <a:solidFill>
              <a:schemeClr val="tx1"/>
            </a:solidFill>
            <a:miter lim="800000"/>
          </a:ln>
        </p:spPr>
        <p:txBody>
          <a:bodyPr wrap="square" anchor="ctr">
            <a:spAutoFit/>
          </a:bodyPr>
          <a:lstStyle/>
          <a:p>
            <a:r>
              <a:rPr lang="en-US" sz="2000" dirty="0"/>
              <a:t>This was not the map we found in Billy </a:t>
            </a:r>
            <a:r>
              <a:rPr lang="en-US" sz="2000" dirty="0" err="1"/>
              <a:t>Bones’s</a:t>
            </a:r>
            <a:r>
              <a:rPr lang="en-US" sz="2000" dirty="0"/>
              <a:t> chest, but an accurate copy, complete in all things-names and heights and soundings-with the single exception of the red crosses and the written notes. </a:t>
            </a:r>
            <a:endParaRPr lang="en-US" sz="2000" dirty="0"/>
          </a:p>
        </p:txBody>
      </p:sp>
      <p:sp>
        <p:nvSpPr>
          <p:cNvPr id="38919" name="AutoShape 7"/>
          <p:cNvSpPr>
            <a:spLocks noChangeArrowheads="1"/>
          </p:cNvSpPr>
          <p:nvPr/>
        </p:nvSpPr>
        <p:spPr bwMode="auto">
          <a:xfrm>
            <a:off x="4551028" y="2343150"/>
            <a:ext cx="304800" cy="1164432"/>
          </a:xfrm>
          <a:prstGeom prst="rightArrow">
            <a:avLst>
              <a:gd name="adj1" fmla="val 50000"/>
              <a:gd name="adj2" fmla="val 25000"/>
            </a:avLst>
          </a:prstGeom>
          <a:solidFill>
            <a:schemeClr val="accent1"/>
          </a:solidFill>
          <a:ln w="9525">
            <a:solidFill>
              <a:schemeClr val="tx1"/>
            </a:solidFill>
            <a:miter lim="800000"/>
          </a:ln>
        </p:spPr>
        <p:txBody>
          <a:bodyPr wrap="none" anchor="ctr"/>
          <a:lstStyle/>
          <a:p>
            <a:endParaRPr lang="en-US"/>
          </a:p>
        </p:txBody>
      </p:sp>
      <p:sp>
        <p:nvSpPr>
          <p:cNvPr id="8" name="Rectangle 5"/>
          <p:cNvSpPr>
            <a:spLocks noChangeArrowheads="1"/>
          </p:cNvSpPr>
          <p:nvPr/>
        </p:nvSpPr>
        <p:spPr bwMode="auto">
          <a:xfrm>
            <a:off x="4907280" y="1885960"/>
            <a:ext cx="4084320" cy="2245360"/>
          </a:xfrm>
          <a:prstGeom prst="rect">
            <a:avLst/>
          </a:prstGeom>
          <a:solidFill>
            <a:schemeClr val="accent1">
              <a:alpha val="50195"/>
            </a:schemeClr>
          </a:solidFill>
          <a:ln w="9525">
            <a:solidFill>
              <a:schemeClr val="tx1"/>
            </a:solidFill>
            <a:miter lim="800000"/>
          </a:ln>
        </p:spPr>
        <p:txBody>
          <a:bodyPr wrap="square" anchor="ctr">
            <a:spAutoFit/>
          </a:bodyPr>
          <a:lstStyle/>
          <a:p>
            <a:r>
              <a:rPr lang="en-US" sz="2000" dirty="0" err="1"/>
              <a:t>Thi</a:t>
            </a:r>
            <a:r>
              <a:rPr lang="en-US" sz="2000" dirty="0"/>
              <a:t> </a:t>
            </a:r>
            <a:r>
              <a:rPr lang="en-US" sz="2000" dirty="0" err="1"/>
              <a:t>wa</a:t>
            </a:r>
            <a:r>
              <a:rPr lang="en-US" sz="2000" dirty="0"/>
              <a:t> not the map we found in Billi Bone s chest but an </a:t>
            </a:r>
            <a:r>
              <a:rPr lang="en-US" sz="2000" dirty="0" err="1"/>
              <a:t>accur</a:t>
            </a:r>
            <a:r>
              <a:rPr lang="en-US" sz="2000" dirty="0"/>
              <a:t> </a:t>
            </a:r>
            <a:r>
              <a:rPr lang="en-US" sz="2000" dirty="0" err="1"/>
              <a:t>copi</a:t>
            </a:r>
            <a:r>
              <a:rPr lang="en-US" sz="2000" dirty="0"/>
              <a:t> </a:t>
            </a:r>
            <a:r>
              <a:rPr lang="en-US" sz="2000" dirty="0" err="1"/>
              <a:t>complet</a:t>
            </a:r>
            <a:r>
              <a:rPr lang="en-US" sz="2000" dirty="0"/>
              <a:t> in all thing name and height and sound with the </a:t>
            </a:r>
            <a:r>
              <a:rPr lang="en-US" sz="2000" dirty="0" err="1"/>
              <a:t>singl</a:t>
            </a:r>
            <a:r>
              <a:rPr lang="en-US" sz="2000" dirty="0"/>
              <a:t> except of the red cross and the written note </a:t>
            </a:r>
            <a:endParaRPr lang="en-US" sz="2000" dirty="0"/>
          </a:p>
          <a:p>
            <a:r>
              <a:rPr lang="en-US" sz="2000" dirty="0"/>
              <a:t>.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ldLvl="0" animBg="1"/>
      <p:bldP spid="38919" grpId="0" bldLvl="0" animBg="1"/>
      <p:bldP spid="8"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dirty="0"/>
              <a:t>Based on a series of rewrite rules run in series</a:t>
            </a:r>
            <a:endParaRPr lang="en-US" sz="2400" dirty="0"/>
          </a:p>
          <a:p>
            <a:pPr lvl="1"/>
            <a:r>
              <a:rPr lang="en-US" sz="2000" dirty="0"/>
              <a:t>A cascade, in which output of each pass fed to next pass</a:t>
            </a:r>
            <a:endParaRPr lang="en-US" sz="2000" dirty="0"/>
          </a:p>
          <a:p>
            <a:r>
              <a:rPr lang="en-US" sz="2400" dirty="0"/>
              <a:t>Some sample rules:</a:t>
            </a:r>
            <a:endParaRPr lang="en-US" sz="2400" dirty="0"/>
          </a:p>
        </p:txBody>
      </p:sp>
      <p:sp>
        <p:nvSpPr>
          <p:cNvPr id="2" name="Title 1"/>
          <p:cNvSpPr>
            <a:spLocks noGrp="1"/>
          </p:cNvSpPr>
          <p:nvPr>
            <p:ph type="title"/>
          </p:nvPr>
        </p:nvSpPr>
        <p:spPr>
          <a:xfrm>
            <a:off x="822960" y="119702"/>
            <a:ext cx="7543800" cy="680397"/>
          </a:xfrm>
        </p:spPr>
        <p:txBody>
          <a:bodyPr/>
          <a:lstStyle/>
          <a:p>
            <a:r>
              <a:rPr lang="en-US" dirty="0"/>
              <a:t>Porter Stemmer</a:t>
            </a:r>
            <a:endParaRPr lang="en-US" dirty="0"/>
          </a:p>
        </p:txBody>
      </p:sp>
      <p:pic>
        <p:nvPicPr>
          <p:cNvPr id="5" name="Picture 4"/>
          <p:cNvPicPr>
            <a:picLocks noChangeAspect="1"/>
          </p:cNvPicPr>
          <p:nvPr/>
        </p:nvPicPr>
        <p:blipFill>
          <a:blip r:embed="rId1"/>
          <a:stretch>
            <a:fillRect/>
          </a:stretch>
        </p:blipFill>
        <p:spPr>
          <a:xfrm>
            <a:off x="1311275" y="2571750"/>
            <a:ext cx="6317615" cy="100457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200150"/>
            <a:ext cx="8686800" cy="3671248"/>
          </a:xfrm>
        </p:spPr>
        <p:txBody>
          <a:bodyPr>
            <a:normAutofit/>
          </a:bodyPr>
          <a:lstStyle/>
          <a:p>
            <a:pPr lvl="1"/>
            <a:r>
              <a:rPr lang="en-US" sz="2000" dirty="0"/>
              <a:t>e.g., the Turkish word:</a:t>
            </a:r>
            <a:endParaRPr lang="en-US" sz="2000" dirty="0"/>
          </a:p>
          <a:p>
            <a:pPr lvl="1"/>
            <a:r>
              <a:rPr lang="en-US" sz="2000" dirty="0" err="1">
                <a:solidFill>
                  <a:srgbClr val="FF0000"/>
                </a:solidFill>
              </a:rPr>
              <a:t>Uygarlastiramadiklarimizdanmissinizcasina</a:t>
            </a:r>
            <a:endParaRPr lang="en-US" sz="2000" dirty="0">
              <a:solidFill>
                <a:srgbClr val="FF0000"/>
              </a:solidFill>
            </a:endParaRPr>
          </a:p>
          <a:p>
            <a:pPr lvl="1"/>
            <a:r>
              <a:rPr lang="en-US" sz="2000" dirty="0"/>
              <a:t>`(behaving) as if you are among those whom we could not civilize’</a:t>
            </a:r>
            <a:endParaRPr lang="en-US" sz="2000" dirty="0"/>
          </a:p>
          <a:p>
            <a:pPr lvl="1"/>
            <a:r>
              <a:rPr lang="en-US" sz="2000" dirty="0" err="1">
                <a:solidFill>
                  <a:srgbClr val="FF0000"/>
                </a:solidFill>
              </a:rPr>
              <a:t>Uygar</a:t>
            </a:r>
            <a:r>
              <a:rPr lang="en-US" sz="2000" dirty="0">
                <a:solidFill>
                  <a:srgbClr val="FF0000"/>
                </a:solidFill>
              </a:rPr>
              <a:t> </a:t>
            </a:r>
            <a:r>
              <a:rPr lang="en-US" sz="2000" dirty="0"/>
              <a:t>`civilized’ + </a:t>
            </a:r>
            <a:r>
              <a:rPr lang="en-US" sz="2000" dirty="0" err="1">
                <a:solidFill>
                  <a:srgbClr val="FF0000"/>
                </a:solidFill>
              </a:rPr>
              <a:t>las</a:t>
            </a:r>
            <a:r>
              <a:rPr lang="en-US" sz="2000" dirty="0">
                <a:solidFill>
                  <a:srgbClr val="FF0000"/>
                </a:solidFill>
              </a:rPr>
              <a:t> </a:t>
            </a:r>
            <a:r>
              <a:rPr lang="en-US" sz="2000" dirty="0"/>
              <a:t>`become’ </a:t>
            </a:r>
            <a:endParaRPr lang="en-US" sz="2000" dirty="0"/>
          </a:p>
          <a:p>
            <a:pPr lvl="2">
              <a:buFont typeface="Wingdings" panose="05000000000000000000" pitchFamily="2" charset="2"/>
              <a:buNone/>
            </a:pPr>
            <a:r>
              <a:rPr lang="en-US" sz="1800" dirty="0"/>
              <a:t>+ </a:t>
            </a:r>
            <a:r>
              <a:rPr lang="en-US" sz="1800" dirty="0" err="1">
                <a:solidFill>
                  <a:srgbClr val="FF0000"/>
                </a:solidFill>
              </a:rPr>
              <a:t>tir</a:t>
            </a:r>
            <a:r>
              <a:rPr lang="en-US" sz="1800" dirty="0">
                <a:solidFill>
                  <a:srgbClr val="FF0000"/>
                </a:solidFill>
              </a:rPr>
              <a:t> </a:t>
            </a:r>
            <a:r>
              <a:rPr lang="en-US" sz="1800" dirty="0"/>
              <a:t>`cause’ + </a:t>
            </a:r>
            <a:r>
              <a:rPr lang="en-US" sz="1800" dirty="0" err="1">
                <a:solidFill>
                  <a:srgbClr val="FF0000"/>
                </a:solidFill>
              </a:rPr>
              <a:t>ama</a:t>
            </a:r>
            <a:r>
              <a:rPr lang="en-US" sz="1800" dirty="0">
                <a:solidFill>
                  <a:srgbClr val="FF0000"/>
                </a:solidFill>
              </a:rPr>
              <a:t> </a:t>
            </a:r>
            <a:r>
              <a:rPr lang="en-US" sz="1800" dirty="0"/>
              <a:t>`not able’ </a:t>
            </a:r>
            <a:endParaRPr lang="en-US" sz="1800" dirty="0"/>
          </a:p>
          <a:p>
            <a:pPr lvl="2">
              <a:buFont typeface="Wingdings" panose="05000000000000000000" pitchFamily="2" charset="2"/>
              <a:buNone/>
            </a:pPr>
            <a:r>
              <a:rPr lang="en-US" sz="1800" dirty="0"/>
              <a:t>+ </a:t>
            </a:r>
            <a:r>
              <a:rPr lang="en-US" sz="1800" dirty="0" err="1">
                <a:solidFill>
                  <a:srgbClr val="FF0000"/>
                </a:solidFill>
              </a:rPr>
              <a:t>dik</a:t>
            </a:r>
            <a:r>
              <a:rPr lang="en-US" sz="1800" dirty="0">
                <a:solidFill>
                  <a:srgbClr val="FF0000"/>
                </a:solidFill>
              </a:rPr>
              <a:t> </a:t>
            </a:r>
            <a:r>
              <a:rPr lang="en-US" sz="1800" dirty="0"/>
              <a:t>`past’ + </a:t>
            </a:r>
            <a:r>
              <a:rPr lang="en-US" sz="1800" dirty="0" err="1">
                <a:solidFill>
                  <a:srgbClr val="FF0000"/>
                </a:solidFill>
              </a:rPr>
              <a:t>lar</a:t>
            </a:r>
            <a:r>
              <a:rPr lang="en-US" sz="1800" dirty="0">
                <a:solidFill>
                  <a:srgbClr val="FF0000"/>
                </a:solidFill>
              </a:rPr>
              <a:t> </a:t>
            </a:r>
            <a:r>
              <a:rPr lang="en-US" sz="1800" dirty="0"/>
              <a:t>‘plural’</a:t>
            </a:r>
            <a:endParaRPr lang="en-US" sz="1800" dirty="0"/>
          </a:p>
          <a:p>
            <a:pPr lvl="2">
              <a:buFont typeface="Wingdings" panose="05000000000000000000" pitchFamily="2" charset="2"/>
              <a:buNone/>
            </a:pPr>
            <a:r>
              <a:rPr lang="en-US" sz="1800" dirty="0"/>
              <a:t>+ </a:t>
            </a:r>
            <a:r>
              <a:rPr lang="en-US" sz="1800" dirty="0" err="1">
                <a:solidFill>
                  <a:srgbClr val="FF0000"/>
                </a:solidFill>
              </a:rPr>
              <a:t>imiz</a:t>
            </a:r>
            <a:r>
              <a:rPr lang="en-US" sz="1800" dirty="0">
                <a:solidFill>
                  <a:srgbClr val="FF0000"/>
                </a:solidFill>
              </a:rPr>
              <a:t> </a:t>
            </a:r>
            <a:r>
              <a:rPr lang="en-US" sz="1800" dirty="0"/>
              <a:t>‘p1pl’ + </a:t>
            </a:r>
            <a:r>
              <a:rPr lang="en-US" sz="1800" dirty="0" err="1">
                <a:solidFill>
                  <a:srgbClr val="FF0000"/>
                </a:solidFill>
              </a:rPr>
              <a:t>dan</a:t>
            </a:r>
            <a:r>
              <a:rPr lang="en-US" sz="1800" dirty="0">
                <a:solidFill>
                  <a:srgbClr val="FF0000"/>
                </a:solidFill>
              </a:rPr>
              <a:t> </a:t>
            </a:r>
            <a:r>
              <a:rPr lang="en-US" sz="1800" dirty="0"/>
              <a:t>‘</a:t>
            </a:r>
            <a:r>
              <a:rPr lang="en-US" sz="1800" dirty="0" err="1"/>
              <a:t>abl</a:t>
            </a:r>
            <a:r>
              <a:rPr lang="en-US" sz="1800" dirty="0"/>
              <a:t>’ </a:t>
            </a:r>
            <a:endParaRPr lang="en-US" sz="1800" dirty="0"/>
          </a:p>
          <a:p>
            <a:pPr lvl="2">
              <a:buFont typeface="Wingdings" panose="05000000000000000000" pitchFamily="2" charset="2"/>
              <a:buNone/>
            </a:pPr>
            <a:r>
              <a:rPr lang="en-US" sz="1800" dirty="0"/>
              <a:t>+ </a:t>
            </a:r>
            <a:r>
              <a:rPr lang="en-US" sz="1800" dirty="0" err="1">
                <a:solidFill>
                  <a:srgbClr val="FF0000"/>
                </a:solidFill>
              </a:rPr>
              <a:t>mis</a:t>
            </a:r>
            <a:r>
              <a:rPr lang="en-US" sz="1800" dirty="0">
                <a:solidFill>
                  <a:srgbClr val="FF0000"/>
                </a:solidFill>
              </a:rPr>
              <a:t> </a:t>
            </a:r>
            <a:r>
              <a:rPr lang="en-US" sz="1800" dirty="0"/>
              <a:t>‘past’ + </a:t>
            </a:r>
            <a:r>
              <a:rPr lang="en-US" sz="1800" dirty="0" err="1">
                <a:solidFill>
                  <a:srgbClr val="FF0000"/>
                </a:solidFill>
              </a:rPr>
              <a:t>siniz</a:t>
            </a:r>
            <a:r>
              <a:rPr lang="en-US" sz="1800" dirty="0">
                <a:solidFill>
                  <a:srgbClr val="FF0000"/>
                </a:solidFill>
              </a:rPr>
              <a:t> </a:t>
            </a:r>
            <a:r>
              <a:rPr lang="en-US" sz="1800" dirty="0"/>
              <a:t>‘2pl’ + </a:t>
            </a:r>
            <a:r>
              <a:rPr lang="en-US" sz="1800" dirty="0" err="1">
                <a:solidFill>
                  <a:srgbClr val="FF0000"/>
                </a:solidFill>
              </a:rPr>
              <a:t>casina</a:t>
            </a:r>
            <a:r>
              <a:rPr lang="en-US" sz="1800" dirty="0">
                <a:solidFill>
                  <a:srgbClr val="FF0000"/>
                </a:solidFill>
              </a:rPr>
              <a:t> </a:t>
            </a:r>
            <a:r>
              <a:rPr lang="en-US" sz="1800" dirty="0"/>
              <a:t>‘as if’ </a:t>
            </a:r>
            <a:endParaRPr lang="en-US" sz="1800" dirty="0"/>
          </a:p>
          <a:p>
            <a:pPr marL="0" indent="0">
              <a:lnSpc>
                <a:spcPct val="90000"/>
              </a:lnSpc>
              <a:buNone/>
            </a:pPr>
            <a:endParaRPr lang="en-US" sz="1800" dirty="0"/>
          </a:p>
        </p:txBody>
      </p:sp>
      <p:sp>
        <p:nvSpPr>
          <p:cNvPr id="53250" name="Rectangle 2"/>
          <p:cNvSpPr>
            <a:spLocks noGrp="1" noChangeArrowheads="1"/>
          </p:cNvSpPr>
          <p:nvPr>
            <p:ph type="title"/>
          </p:nvPr>
        </p:nvSpPr>
        <p:spPr>
          <a:xfrm>
            <a:off x="533400" y="119702"/>
            <a:ext cx="7833360" cy="928048"/>
          </a:xfrm>
        </p:spPr>
        <p:txBody>
          <a:bodyPr>
            <a:normAutofit/>
          </a:bodyPr>
          <a:lstStyle/>
          <a:p>
            <a:r>
              <a:rPr lang="en-US" dirty="0"/>
              <a:t>Dealing with complex morphology is necessary for many languages</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457200" y="895350"/>
            <a:ext cx="8382000" cy="3860165"/>
          </a:xfrm>
        </p:spPr>
        <p:txBody>
          <a:bodyPr/>
          <a:lstStyle/>
          <a:p>
            <a:pPr marL="0" indent="0">
              <a:buNone/>
            </a:pPr>
            <a:r>
              <a:rPr lang="en-US" sz="2400" dirty="0"/>
              <a:t>!, ? mostly unambiguous but </a:t>
            </a:r>
            <a:r>
              <a:rPr lang="en-US" sz="2400" b="1" dirty="0"/>
              <a:t>period</a:t>
            </a:r>
            <a:r>
              <a:rPr lang="en-US" sz="2400" dirty="0"/>
              <a:t> “.” is very ambiguous</a:t>
            </a:r>
            <a:endParaRPr lang="en-US" sz="2400" dirty="0"/>
          </a:p>
          <a:p>
            <a:pPr lvl="1"/>
            <a:r>
              <a:rPr lang="en-US" sz="2000" dirty="0"/>
              <a:t>Sentence boundary</a:t>
            </a:r>
            <a:endParaRPr lang="en-US" sz="2000" dirty="0"/>
          </a:p>
          <a:p>
            <a:pPr lvl="1"/>
            <a:r>
              <a:rPr lang="en-US" sz="2000" dirty="0"/>
              <a:t>Abbreviations like Inc. or Dr.</a:t>
            </a:r>
            <a:endParaRPr lang="en-US" sz="2000" dirty="0"/>
          </a:p>
          <a:p>
            <a:pPr lvl="1"/>
            <a:r>
              <a:rPr lang="en-US" sz="2000" dirty="0"/>
              <a:t>Numbers like .02% or 4.3</a:t>
            </a:r>
            <a:endParaRPr lang="en-US" sz="2000" dirty="0"/>
          </a:p>
          <a:p>
            <a:pPr marL="0" indent="0">
              <a:buNone/>
            </a:pPr>
            <a:r>
              <a:rPr lang="en-US" sz="2400" dirty="0"/>
              <a:t>Common algorithm: Tokenize first: use rules or ML to classify a period as either (a) part of the word or (b) a sentence-boundary. </a:t>
            </a:r>
            <a:endParaRPr lang="en-US" sz="2400" dirty="0"/>
          </a:p>
          <a:p>
            <a:pPr lvl="1"/>
            <a:r>
              <a:rPr lang="en-US" sz="2000" dirty="0"/>
              <a:t>An abbreviation dictionary can help</a:t>
            </a:r>
            <a:endParaRPr lang="en-US" sz="2000" dirty="0"/>
          </a:p>
          <a:p>
            <a:pPr marL="0" indent="0">
              <a:buNone/>
            </a:pPr>
            <a:r>
              <a:rPr lang="en-US" sz="2400" dirty="0"/>
              <a:t>Sentence segmentation can then often be done by rules based on this tokenization.</a:t>
            </a:r>
            <a:endParaRPr lang="en-US" sz="2400" dirty="0"/>
          </a:p>
        </p:txBody>
      </p:sp>
      <p:sp>
        <p:nvSpPr>
          <p:cNvPr id="59394" name="Rectangle 2"/>
          <p:cNvSpPr>
            <a:spLocks noGrp="1" noChangeArrowheads="1"/>
          </p:cNvSpPr>
          <p:nvPr>
            <p:ph type="title"/>
          </p:nvPr>
        </p:nvSpPr>
        <p:spPr>
          <a:xfrm>
            <a:off x="822960" y="119702"/>
            <a:ext cx="7543800" cy="680397"/>
          </a:xfrm>
        </p:spPr>
        <p:txBody>
          <a:bodyPr/>
          <a:lstStyle/>
          <a:p>
            <a:r>
              <a:rPr lang="en-US"/>
              <a:t>Sentence Segmentation</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22407"/>
            <a:ext cx="9144000" cy="2473144"/>
          </a:xfrm>
          <a:prstGeom prst="rect">
            <a:avLst/>
          </a:prstGeom>
        </p:spPr>
      </p:pic>
      <p:pic>
        <p:nvPicPr>
          <p:cNvPr id="22" name="Picture 21"/>
          <p:cNvPicPr>
            <a:picLocks noChangeAspect="1"/>
          </p:cNvPicPr>
          <p:nvPr/>
        </p:nvPicPr>
        <p:blipFill>
          <a:blip r:embed="rId2"/>
          <a:stretch>
            <a:fillRect/>
          </a:stretch>
        </p:blipFill>
        <p:spPr>
          <a:xfrm>
            <a:off x="4071735" y="4437384"/>
            <a:ext cx="1756553" cy="375733"/>
          </a:xfrm>
          <a:prstGeom prst="rect">
            <a:avLst/>
          </a:prstGeom>
        </p:spPr>
      </p:pic>
      <p:sp>
        <p:nvSpPr>
          <p:cNvPr id="34" name="Rectangle 33"/>
          <p:cNvSpPr/>
          <p:nvPr/>
        </p:nvSpPr>
        <p:spPr>
          <a:xfrm>
            <a:off x="2791556" y="2121580"/>
            <a:ext cx="3549556" cy="859970"/>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1657350" y="1974504"/>
            <a:ext cx="5829300" cy="1102519"/>
          </a:xfrm>
          <a:prstGeom prst="rect">
            <a:avLst/>
          </a:prstGeom>
        </p:spPr>
        <p:txBody>
          <a:bodyPr vert="horz" lIns="68580" tIns="34290" rIns="68580" bIns="3429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500" b="1" cap="all" dirty="0">
                <a:solidFill>
                  <a:schemeClr val="bg1"/>
                </a:solidFill>
                <a:latin typeface="Calibri"/>
                <a:cs typeface="Calibri"/>
              </a:rPr>
              <a:t>THANK YOU</a:t>
            </a:r>
            <a:endParaRPr lang="en-US" sz="4500" b="1" cap="all" spc="225" dirty="0">
              <a:solidFill>
                <a:schemeClr val="bg1"/>
              </a:solidFill>
              <a:latin typeface="Calibri"/>
              <a:cs typeface="Calibri"/>
            </a:endParaRPr>
          </a:p>
        </p:txBody>
      </p:sp>
      <p:sp>
        <p:nvSpPr>
          <p:cNvPr id="25" name="Subtitle 2"/>
          <p:cNvSpPr txBox="1"/>
          <p:nvPr/>
        </p:nvSpPr>
        <p:spPr>
          <a:xfrm>
            <a:off x="2985617" y="3628202"/>
            <a:ext cx="3160238" cy="711668"/>
          </a:xfrm>
          <a:prstGeom prst="rect">
            <a:avLst/>
          </a:prstGeom>
        </p:spPr>
        <p:txBody>
          <a:bodyPr vert="horz" lIns="68580" tIns="34290" rIns="68580" bIns="34290"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1800" b="1" cap="all" dirty="0">
                <a:solidFill>
                  <a:srgbClr val="000044"/>
                </a:solidFill>
                <a:cs typeface="DIN-Regular"/>
              </a:rPr>
              <a:t>Visit us</a:t>
            </a:r>
            <a:endParaRPr lang="en-US" sz="180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6956" y="3428264"/>
            <a:ext cx="738662" cy="738662"/>
          </a:xfrm>
          <a:prstGeom prst="rect">
            <a:avLst/>
          </a:prstGeom>
        </p:spPr>
      </p:pic>
      <p:sp>
        <p:nvSpPr>
          <p:cNvPr id="29" name="Rectangle 28"/>
          <p:cNvSpPr/>
          <p:nvPr/>
        </p:nvSpPr>
        <p:spPr>
          <a:xfrm>
            <a:off x="3062575" y="3482554"/>
            <a:ext cx="216000" cy="4860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6130108" y="3622759"/>
            <a:ext cx="3160238" cy="711668"/>
          </a:xfrm>
          <a:prstGeom prst="rect">
            <a:avLst/>
          </a:prstGeom>
        </p:spPr>
        <p:txBody>
          <a:bodyPr vert="horz" lIns="68580" tIns="34290" rIns="68580" bIns="34290"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1800" b="1" cap="all" dirty="0">
                <a:solidFill>
                  <a:srgbClr val="000044"/>
                </a:solidFill>
                <a:cs typeface="DIN-Regular"/>
              </a:rPr>
              <a:t>FOLLOW us</a:t>
            </a:r>
            <a:endParaRPr lang="en-US" sz="1800" b="1" cap="all" dirty="0">
              <a:solidFill>
                <a:srgbClr val="000044"/>
              </a:solidFill>
              <a:cs typeface="DIN-Regular"/>
            </a:endParaRPr>
          </a:p>
        </p:txBody>
      </p:sp>
      <p:sp>
        <p:nvSpPr>
          <p:cNvPr id="35" name="Rectangle 34"/>
          <p:cNvSpPr/>
          <p:nvPr/>
        </p:nvSpPr>
        <p:spPr>
          <a:xfrm>
            <a:off x="6207065" y="3482554"/>
            <a:ext cx="216000" cy="4860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358891" y="3428265"/>
            <a:ext cx="777811" cy="730895"/>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2989666" y="3873949"/>
            <a:ext cx="3160238" cy="711668"/>
          </a:xfrm>
          <a:prstGeom prst="rect">
            <a:avLst/>
          </a:prstGeom>
        </p:spPr>
        <p:txBody>
          <a:bodyPr vert="horz" lIns="68580" tIns="34290" rIns="68580" bIns="34290"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2025"/>
              </a:lnSpc>
              <a:spcBef>
                <a:spcPts val="0"/>
              </a:spcBef>
              <a:buNone/>
            </a:pPr>
            <a:r>
              <a:rPr lang="en-US" sz="900" b="1" cap="all" dirty="0">
                <a:solidFill>
                  <a:srgbClr val="FFFF00"/>
                </a:solidFill>
                <a:cs typeface="DIN-Regular"/>
                <a:hlinkClick r:id="rId5"/>
              </a:rPr>
              <a:t>www.xjtlu.edu.cn</a:t>
            </a:r>
            <a:endParaRPr lang="en-US" sz="825"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15110</Words>
  <Application>WPS 演示</Application>
  <PresentationFormat>全屏显示(16:9)</PresentationFormat>
  <Paragraphs>834</Paragraphs>
  <Slides>62</Slides>
  <Notes>43</Notes>
  <HiddenSlides>0</HiddenSlides>
  <MMClips>0</MMClips>
  <ScaleCrop>false</ScaleCrop>
  <HeadingPairs>
    <vt:vector size="6" baseType="variant">
      <vt:variant>
        <vt:lpstr>已用的字体</vt:lpstr>
      </vt:variant>
      <vt:variant>
        <vt:i4>43</vt:i4>
      </vt:variant>
      <vt:variant>
        <vt:lpstr>主题</vt:lpstr>
      </vt:variant>
      <vt:variant>
        <vt:i4>2</vt:i4>
      </vt:variant>
      <vt:variant>
        <vt:lpstr>幻灯片标题</vt:lpstr>
      </vt:variant>
      <vt:variant>
        <vt:i4>62</vt:i4>
      </vt:variant>
    </vt:vector>
  </HeadingPairs>
  <TitlesOfParts>
    <vt:vector size="107" baseType="lpstr">
      <vt:lpstr>Arial</vt:lpstr>
      <vt:lpstr>宋体</vt:lpstr>
      <vt:lpstr>Wingdings</vt:lpstr>
      <vt:lpstr>Lucida Sans</vt:lpstr>
      <vt:lpstr>苹方-简</vt:lpstr>
      <vt:lpstr>MS PGothic</vt:lpstr>
      <vt:lpstr>Calibri</vt:lpstr>
      <vt:lpstr>Helvetica Neue</vt:lpstr>
      <vt:lpstr>Times</vt:lpstr>
      <vt:lpstr>Times New Roman</vt:lpstr>
      <vt:lpstr>Arial</vt:lpstr>
      <vt:lpstr>Times New Roman Regular</vt:lpstr>
      <vt:lpstr>MS PGothic</vt:lpstr>
      <vt:lpstr>冬青黑体简体中文</vt:lpstr>
      <vt:lpstr>Tahoma</vt:lpstr>
      <vt:lpstr>DIN-Bold</vt:lpstr>
      <vt:lpstr>Thonburi</vt:lpstr>
      <vt:lpstr>DIN-Regular</vt:lpstr>
      <vt:lpstr>Monaco</vt:lpstr>
      <vt:lpstr>Courier</vt:lpstr>
      <vt:lpstr>Courier New</vt:lpstr>
      <vt:lpstr>微软雅黑</vt:lpstr>
      <vt:lpstr>汉仪旗黑</vt:lpstr>
      <vt:lpstr>宋体</vt:lpstr>
      <vt:lpstr>Arial Unicode MS</vt:lpstr>
      <vt:lpstr>Calibri Light</vt:lpstr>
      <vt:lpstr>汉仪书宋二KW</vt:lpstr>
      <vt:lpstr>Calibri</vt:lpstr>
      <vt:lpstr>Microsoft JhengHei</vt:lpstr>
      <vt:lpstr>汉仪中简黑简</vt:lpstr>
      <vt:lpstr>Symbol</vt:lpstr>
      <vt:lpstr>Kingsoft Sign</vt:lpstr>
      <vt:lpstr>MS PGothic</vt:lpstr>
      <vt:lpstr>Courier</vt:lpstr>
      <vt:lpstr>DIN-Bold</vt:lpstr>
      <vt:lpstr>DIN-Regular</vt:lpstr>
      <vt:lpstr>Microsoft JhengHei</vt:lpstr>
      <vt:lpstr>Monaco</vt:lpstr>
      <vt:lpstr>Symbol</vt:lpstr>
      <vt:lpstr>Wingdings</vt:lpstr>
      <vt:lpstr>Times New Roman Bold Italic</vt:lpstr>
      <vt:lpstr>Times New Roman Bold</vt:lpstr>
      <vt:lpstr>Apple Color Emoji</vt:lpstr>
      <vt:lpstr>Retrospect</vt:lpstr>
      <vt:lpstr>Default Theme</vt:lpstr>
      <vt:lpstr>Word  Processing</vt:lpstr>
      <vt:lpstr>chapter 2</vt:lpstr>
      <vt:lpstr>PowerPoint 演示文稿</vt:lpstr>
      <vt:lpstr>Regular expressions are used everywhere</vt:lpstr>
      <vt:lpstr>Regular expressions</vt:lpstr>
      <vt:lpstr>PowerPoint 演示文稿</vt:lpstr>
      <vt:lpstr>Regular Expressions: Disjunctions</vt:lpstr>
      <vt:lpstr>Regular Expressions: Negation in Disjunction</vt:lpstr>
      <vt:lpstr>Regular Expressions: Convenient aliases</vt:lpstr>
      <vt:lpstr>PowerPoint 演示文稿</vt:lpstr>
      <vt:lpstr>Wildcards, optionality, repetition: . ? * +</vt:lpstr>
      <vt:lpstr>Regular Expressions: Anchors  ^   $</vt:lpstr>
      <vt:lpstr>A note about Python regular expressions</vt:lpstr>
      <vt:lpstr>The iterative process of writing regex's</vt:lpstr>
      <vt:lpstr>False positives and false negatives</vt:lpstr>
      <vt:lpstr>Characterizing work on NLP</vt:lpstr>
      <vt:lpstr>Regular expressions play a surprisingly large role</vt:lpstr>
      <vt:lpstr>Word and Corpora</vt:lpstr>
      <vt:lpstr>How many words in a sentence?</vt:lpstr>
      <vt:lpstr>How many words in a sentence?</vt:lpstr>
      <vt:lpstr>How many words in a corpus?</vt:lpstr>
      <vt:lpstr>Corpora</vt:lpstr>
      <vt:lpstr>Corpora vary along dimension like</vt:lpstr>
      <vt:lpstr>Corpus datasheets</vt:lpstr>
      <vt:lpstr>Word tokenization</vt:lpstr>
      <vt:lpstr>Text Normalization</vt:lpstr>
      <vt:lpstr>PowerPoint 演示文稿</vt:lpstr>
      <vt:lpstr>Space-based tokenization</vt:lpstr>
      <vt:lpstr>Simple Tokenization in UNIX</vt:lpstr>
      <vt:lpstr>Issues in Tokenization</vt:lpstr>
      <vt:lpstr>Tokenization in NLTK</vt:lpstr>
      <vt:lpstr>Tokenization in languages without spaces </vt:lpstr>
      <vt:lpstr>Word tokenization in Chinese</vt:lpstr>
      <vt:lpstr>How to do word tokenization in Chinese?</vt:lpstr>
      <vt:lpstr>How to do word tokenization in Chinese?</vt:lpstr>
      <vt:lpstr>How to do word tokenization in Chinese?</vt:lpstr>
      <vt:lpstr>How to do word tokenization in Chinese?</vt:lpstr>
      <vt:lpstr>Word tokenization / segmentation</vt:lpstr>
      <vt:lpstr>Byte Pair Encoding</vt:lpstr>
      <vt:lpstr>Another option for text tokenization</vt:lpstr>
      <vt:lpstr>Subword tokenization</vt:lpstr>
      <vt:lpstr>Byte Pair Encoding (BPE) token learner</vt:lpstr>
      <vt:lpstr>BPE token learner algorithm</vt:lpstr>
      <vt:lpstr>Byte Pair Encoding (BPE) Addendum</vt:lpstr>
      <vt:lpstr>BPE token learner</vt:lpstr>
      <vt:lpstr>BPE token learner</vt:lpstr>
      <vt:lpstr>BPE</vt:lpstr>
      <vt:lpstr>BPE</vt:lpstr>
      <vt:lpstr>BPE</vt:lpstr>
      <vt:lpstr>BPE token segmenter algorithm</vt:lpstr>
      <vt:lpstr>Properties of BPE tokens</vt:lpstr>
      <vt:lpstr>PowerPoint 演示文稿</vt:lpstr>
      <vt:lpstr>Word Normalization and other issues</vt:lpstr>
      <vt:lpstr>Word Normalization</vt:lpstr>
      <vt:lpstr>Case folding</vt:lpstr>
      <vt:lpstr>Lemmatization</vt:lpstr>
      <vt:lpstr>Lemmatization is done by Morphological Parsing</vt:lpstr>
      <vt:lpstr>Stemming</vt:lpstr>
      <vt:lpstr>Porter Stemmer</vt:lpstr>
      <vt:lpstr>Dealing with complex morphology is necessary for many languages</vt:lpstr>
      <vt:lpstr>Sentence Segmentation</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252</cp:revision>
  <cp:lastPrinted>2024-09-10T15:59:23Z</cp:lastPrinted>
  <dcterms:created xsi:type="dcterms:W3CDTF">2024-09-10T15:59:23Z</dcterms:created>
  <dcterms:modified xsi:type="dcterms:W3CDTF">2024-09-10T15:59:23Z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D5F3EFA09866081974B8D666775C11CB_42</vt:lpwstr>
  </property>
  <property fmtid="{D5CDD505-2E9C-101B-9397-08002B2CF9AE}" pid="3" name="KSOProductBuildVer">
    <vt:lpwstr>2052-6.7.1.8828</vt:lpwstr>
  </property>
</Properties>
</file>