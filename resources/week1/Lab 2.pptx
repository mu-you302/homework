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Lst>
  <p:notesMasterIdLst>
    <p:notesMasterId r:id="rId5"/>
  </p:notesMasterIdLst>
  <p:handoutMasterIdLst>
    <p:handoutMasterId r:id="rId31"/>
  </p:handoutMasterIdLst>
  <p:sldIdLst>
    <p:sldId id="256" r:id="rId4"/>
    <p:sldId id="1956" r:id="rId6"/>
    <p:sldId id="1957" r:id="rId7"/>
    <p:sldId id="1958" r:id="rId8"/>
    <p:sldId id="1959" r:id="rId9"/>
    <p:sldId id="1965" r:id="rId10"/>
    <p:sldId id="1960" r:id="rId11"/>
    <p:sldId id="1961" r:id="rId12"/>
    <p:sldId id="1963" r:id="rId13"/>
    <p:sldId id="1964" r:id="rId14"/>
    <p:sldId id="1966" r:id="rId15"/>
    <p:sldId id="1967" r:id="rId16"/>
    <p:sldId id="1968" r:id="rId17"/>
    <p:sldId id="1969" r:id="rId18"/>
    <p:sldId id="1970" r:id="rId19"/>
    <p:sldId id="1971" r:id="rId20"/>
    <p:sldId id="1972" r:id="rId21"/>
    <p:sldId id="1973" r:id="rId22"/>
    <p:sldId id="1974" r:id="rId23"/>
    <p:sldId id="1975" r:id="rId24"/>
    <p:sldId id="1976" r:id="rId25"/>
    <p:sldId id="1954" r:id="rId26"/>
    <p:sldId id="1983" r:id="rId27"/>
    <p:sldId id="1984" r:id="rId28"/>
    <p:sldId id="1985" r:id="rId29"/>
    <p:sldId id="391" r:id="rId30"/>
  </p:sldIdLst>
  <p:sldSz cx="9144000" cy="5143500" type="screen16x9"/>
  <p:notesSz cx="6845300" cy="9396095"/>
  <p:defaultTextStyle>
    <a:defPPr>
      <a:defRPr lang="en-US"/>
    </a:defPPr>
    <a:lvl1pPr algn="l" rtl="0" fontAlgn="base">
      <a:spcBef>
        <a:spcPct val="0"/>
      </a:spcBef>
      <a:spcAft>
        <a:spcPct val="0"/>
      </a:spcAft>
      <a:defRPr sz="2400" kern="1200">
        <a:solidFill>
          <a:schemeClr val="tx1"/>
        </a:solidFill>
        <a:latin typeface="Lucida Sans" charset="0"/>
        <a:ea typeface="MS PGothic" charset="0"/>
        <a:cs typeface="MS PGothic" charset="0"/>
      </a:defRPr>
    </a:lvl1pPr>
    <a:lvl2pPr marL="457200" algn="l" rtl="0" fontAlgn="base">
      <a:spcBef>
        <a:spcPct val="0"/>
      </a:spcBef>
      <a:spcAft>
        <a:spcPct val="0"/>
      </a:spcAft>
      <a:defRPr sz="2400" kern="1200">
        <a:solidFill>
          <a:schemeClr val="tx1"/>
        </a:solidFill>
        <a:latin typeface="Lucida Sans" charset="0"/>
        <a:ea typeface="MS PGothic" charset="0"/>
        <a:cs typeface="MS PGothic" charset="0"/>
      </a:defRPr>
    </a:lvl2pPr>
    <a:lvl3pPr marL="914400" algn="l" rtl="0" fontAlgn="base">
      <a:spcBef>
        <a:spcPct val="0"/>
      </a:spcBef>
      <a:spcAft>
        <a:spcPct val="0"/>
      </a:spcAft>
      <a:defRPr sz="2400" kern="1200">
        <a:solidFill>
          <a:schemeClr val="tx1"/>
        </a:solidFill>
        <a:latin typeface="Lucida Sans" charset="0"/>
        <a:ea typeface="MS PGothic" charset="0"/>
        <a:cs typeface="MS PGothic" charset="0"/>
      </a:defRPr>
    </a:lvl3pPr>
    <a:lvl4pPr marL="1371600" algn="l" rtl="0" fontAlgn="base">
      <a:spcBef>
        <a:spcPct val="0"/>
      </a:spcBef>
      <a:spcAft>
        <a:spcPct val="0"/>
      </a:spcAft>
      <a:defRPr sz="2400" kern="1200">
        <a:solidFill>
          <a:schemeClr val="tx1"/>
        </a:solidFill>
        <a:latin typeface="Lucida Sans" charset="0"/>
        <a:ea typeface="MS PGothic" charset="0"/>
        <a:cs typeface="MS PGothic" charset="0"/>
      </a:defRPr>
    </a:lvl4pPr>
    <a:lvl5pPr marL="1828800" algn="l" rtl="0" fontAlgn="base">
      <a:spcBef>
        <a:spcPct val="0"/>
      </a:spcBef>
      <a:spcAft>
        <a:spcPct val="0"/>
      </a:spcAft>
      <a:defRPr sz="2400" kern="1200">
        <a:solidFill>
          <a:schemeClr val="tx1"/>
        </a:solidFill>
        <a:latin typeface="Lucida Sans" charset="0"/>
        <a:ea typeface="MS PGothic" charset="0"/>
        <a:cs typeface="MS PGothic" charset="0"/>
      </a:defRPr>
    </a:lvl5pPr>
    <a:lvl6pPr marL="2286000" algn="l" defTabSz="457200" rtl="0" eaLnBrk="1" latinLnBrk="0" hangingPunct="1">
      <a:defRPr sz="2400" kern="1200">
        <a:solidFill>
          <a:schemeClr val="tx1"/>
        </a:solidFill>
        <a:latin typeface="Lucida Sans" charset="0"/>
        <a:ea typeface="MS PGothic" charset="0"/>
        <a:cs typeface="MS PGothic" charset="0"/>
      </a:defRPr>
    </a:lvl6pPr>
    <a:lvl7pPr marL="2743200" algn="l" defTabSz="457200" rtl="0" eaLnBrk="1" latinLnBrk="0" hangingPunct="1">
      <a:defRPr sz="2400" kern="1200">
        <a:solidFill>
          <a:schemeClr val="tx1"/>
        </a:solidFill>
        <a:latin typeface="Lucida Sans" charset="0"/>
        <a:ea typeface="MS PGothic" charset="0"/>
        <a:cs typeface="MS PGothic" charset="0"/>
      </a:defRPr>
    </a:lvl7pPr>
    <a:lvl8pPr marL="3200400" algn="l" defTabSz="457200" rtl="0" eaLnBrk="1" latinLnBrk="0" hangingPunct="1">
      <a:defRPr sz="2400" kern="1200">
        <a:solidFill>
          <a:schemeClr val="tx1"/>
        </a:solidFill>
        <a:latin typeface="Lucida Sans" charset="0"/>
        <a:ea typeface="MS PGothic" charset="0"/>
        <a:cs typeface="MS PGothic" charset="0"/>
      </a:defRPr>
    </a:lvl8pPr>
    <a:lvl9pPr marL="3657600" algn="l" defTabSz="457200" rtl="0" eaLnBrk="1" latinLnBrk="0" hangingPunct="1">
      <a:defRPr sz="2400" kern="1200">
        <a:solidFill>
          <a:schemeClr val="tx1"/>
        </a:solidFill>
        <a:latin typeface="Lucida Sans" charset="0"/>
        <a:ea typeface="MS PGothic" charset="0"/>
        <a:cs typeface="MS PGothic" charset="0"/>
      </a:defRPr>
    </a:lvl9pPr>
  </p:defaultTextStyle>
  <p:extLst>
    <p:ext uri="{EFAFB233-063F-42B5-8137-9DF3F51BA10A}">
      <p15:sldGuideLst xmlns:p15="http://schemas.microsoft.com/office/powerpoint/2012/main">
        <p15:guide id="1" orient="horz" pos="156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200FF"/>
    <a:srgbClr val="0000CC"/>
    <a:srgbClr val="A4001D"/>
    <a:srgbClr val="000099"/>
    <a:srgbClr val="A40508"/>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199" autoAdjust="0"/>
    <p:restoredTop sz="95865" autoAdjust="0"/>
  </p:normalViewPr>
  <p:slideViewPr>
    <p:cSldViewPr showGuides="1">
      <p:cViewPr varScale="1">
        <p:scale>
          <a:sx n="165" d="100"/>
          <a:sy n="165" d="100"/>
        </p:scale>
        <p:origin x="144" y="38"/>
      </p:cViewPr>
      <p:guideLst>
        <p:guide orient="horz" pos="1566"/>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62" d="100"/>
          <a:sy n="62" d="100"/>
        </p:scale>
        <p:origin x="-2224" y="-112"/>
      </p:cViewPr>
      <p:guideLst>
        <p:guide orient="horz" pos="2859"/>
        <p:guide pos="2156"/>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latin typeface="Tahoma" panose="020B0604030504040204" charset="0"/>
                <a:ea typeface="+mn-ea"/>
                <a:cs typeface="+mn-cs"/>
              </a:defRPr>
            </a:lvl1pPr>
          </a:lstStyle>
          <a:p>
            <a:pPr>
              <a:defRPr/>
            </a:pPr>
            <a:endParaRPr lang="en-US"/>
          </a:p>
        </p:txBody>
      </p:sp>
      <p:sp>
        <p:nvSpPr>
          <p:cNvPr id="97283" name="Rectangle 3"/>
          <p:cNvSpPr>
            <a:spLocks noGrp="1" noChangeArrowheads="1"/>
          </p:cNvSpPr>
          <p:nvPr>
            <p:ph type="dt" sz="quarter"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charset="0"/>
                <a:ea typeface="+mn-ea"/>
                <a:cs typeface="+mn-cs"/>
              </a:defRPr>
            </a:lvl1pPr>
          </a:lstStyle>
          <a:p>
            <a:pPr>
              <a:defRPr/>
            </a:pPr>
            <a:endParaRPr lang="en-US"/>
          </a:p>
        </p:txBody>
      </p:sp>
      <p:sp>
        <p:nvSpPr>
          <p:cNvPr id="97284" name="Rectangle 4"/>
          <p:cNvSpPr>
            <a:spLocks noGrp="1" noChangeArrowheads="1"/>
          </p:cNvSpPr>
          <p:nvPr>
            <p:ph type="ftr" sz="quarter" idx="2"/>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latin typeface="Tahoma" panose="020B0604030504040204" charset="0"/>
                <a:ea typeface="+mn-ea"/>
                <a:cs typeface="+mn-cs"/>
              </a:defRPr>
            </a:lvl1pPr>
          </a:lstStyle>
          <a:p>
            <a:pPr>
              <a:defRPr/>
            </a:pPr>
            <a:endParaRPr lang="en-US"/>
          </a:p>
        </p:txBody>
      </p:sp>
      <p:sp>
        <p:nvSpPr>
          <p:cNvPr id="97285" name="Rectangle 5"/>
          <p:cNvSpPr>
            <a:spLocks noGrp="1" noChangeArrowheads="1"/>
          </p:cNvSpPr>
          <p:nvPr>
            <p:ph type="sldNum" sz="quarter" idx="3"/>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charset="0"/>
              </a:defRPr>
            </a:lvl1pPr>
          </a:lstStyle>
          <a:p>
            <a:fld id="{8A029216-D615-3945-A1F3-D96FC886DA62}" type="slidenum">
              <a:rPr lang="en-US"/>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ea typeface="+mn-ea"/>
                <a:cs typeface="+mn-cs"/>
              </a:defRPr>
            </a:lvl1pPr>
          </a:lstStyle>
          <a:p>
            <a:pPr>
              <a:defRPr/>
            </a:pPr>
            <a:endParaRPr lang="en-US"/>
          </a:p>
        </p:txBody>
      </p:sp>
      <p:sp>
        <p:nvSpPr>
          <p:cNvPr id="120835" name="Rectangle 3"/>
          <p:cNvSpPr>
            <a:spLocks noGrp="1" noChangeArrowheads="1"/>
          </p:cNvSpPr>
          <p:nvPr>
            <p:ph type="dt"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290513" y="704850"/>
            <a:ext cx="6264275" cy="3524250"/>
          </a:xfrm>
          <a:prstGeom prst="rect">
            <a:avLst/>
          </a:prstGeom>
          <a:noFill/>
          <a:ln w="9525">
            <a:solidFill>
              <a:srgbClr val="000000"/>
            </a:solidFill>
            <a:miter lim="800000"/>
          </a:ln>
        </p:spPr>
      </p:sp>
      <p:sp>
        <p:nvSpPr>
          <p:cNvPr id="120837" name="Rectangle 5"/>
          <p:cNvSpPr>
            <a:spLocks noGrp="1" noChangeArrowheads="1"/>
          </p:cNvSpPr>
          <p:nvPr>
            <p:ph type="body" sz="quarter" idx="3"/>
          </p:nvPr>
        </p:nvSpPr>
        <p:spPr bwMode="auto">
          <a:xfrm>
            <a:off x="912813" y="4464050"/>
            <a:ext cx="5019675" cy="4227513"/>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120838" name="Rectangle 6"/>
          <p:cNvSpPr>
            <a:spLocks noGrp="1" noChangeArrowheads="1"/>
          </p:cNvSpPr>
          <p:nvPr>
            <p:ph type="ftr" sz="quarter" idx="4"/>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ea typeface="+mn-ea"/>
                <a:cs typeface="+mn-cs"/>
              </a:defRPr>
            </a:lvl1pPr>
          </a:lstStyle>
          <a:p>
            <a:pPr>
              <a:defRPr/>
            </a:pPr>
            <a:endParaRPr lang="en-US"/>
          </a:p>
        </p:txBody>
      </p:sp>
      <p:sp>
        <p:nvSpPr>
          <p:cNvPr id="120839" name="Rectangle 7"/>
          <p:cNvSpPr>
            <a:spLocks noGrp="1" noChangeArrowheads="1"/>
          </p:cNvSpPr>
          <p:nvPr>
            <p:ph type="sldNum" sz="quarter" idx="5"/>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fld id="{3EB9031F-EB71-7642-8F3C-6FDC1408CB92}" type="slidenum">
              <a:rPr lang="en-US"/>
            </a:fld>
            <a:endParaRPr 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S PGothic" pitchFamily="-65" charset="-128"/>
      </a:defRPr>
    </a:lvl1pPr>
    <a:lvl2pPr marL="4572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a:t>
            </a:r>
            <a:r>
              <a:rPr lang="en-US" baseline="0" dirty="0"/>
              <a:t> Uppercase, Calibri size 60,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6"/>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fld id="{E74C7FEE-6B48-4643-BCFB-F13B0E13E171}" type="slidenum">
              <a:rPr lang="en-US" smtClean="0"/>
            </a:fld>
            <a:endParaRPr lang="en-US" dirty="0"/>
          </a:p>
        </p:txBody>
      </p:sp>
      <p:sp>
        <p:nvSpPr>
          <p:cNvPr id="11" name="Rectangle 10"/>
          <p:cNvSpPr/>
          <p:nvPr/>
        </p:nvSpPr>
        <p:spPr>
          <a:xfrm rot="16200000">
            <a:off x="-2549264" y="2474314"/>
            <a:ext cx="5143502" cy="1948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2960" y="214953"/>
            <a:ext cx="7543800" cy="726329"/>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rot="16200000">
            <a:off x="-2556759" y="2481809"/>
            <a:ext cx="5143502" cy="1798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rot="16200000" flipV="1">
            <a:off x="-2472584" y="2548889"/>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384301"/>
            <a:ext cx="3703320" cy="30175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63440" y="1384303"/>
            <a:ext cx="3703320" cy="301751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82296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6344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rPr lang="en-US"/>
              <a:t>Click to edit Master title style</a:t>
            </a:r>
            <a:endParaRPr lang="en-US"/>
          </a:p>
        </p:txBody>
      </p:sp>
      <p:sp>
        <p:nvSpPr>
          <p:cNvPr id="57" name="Shape 57"/>
          <p:cNvSpPr>
            <a:spLocks noGrp="1"/>
          </p:cNvSpPr>
          <p:nvPr>
            <p:ph type="body" idx="1"/>
          </p:nvPr>
        </p:nvSpPr>
        <p:spPr>
          <a:prstGeom prst="rect">
            <a:avLst/>
          </a:prstGeom>
        </p:spPr>
        <p:txBody>
          <a:bodyPr/>
          <a:lstStyle>
            <a:lvl1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1pPr>
            <a:lvl2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2pPr>
            <a:lvl3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3pPr>
            <a:lvl4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4pPr>
            <a:lvl5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8" name="Shape 58"/>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showMasterSp="0">
  <p:cSld name="Completely Blank">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53728"/>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304800" y="1733550"/>
            <a:ext cx="4040188"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492626" y="12537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492626" y="1733550"/>
            <a:ext cx="4041775"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1"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over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14450"/>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304800" y="3057525"/>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0"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lgn="ctr">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
        <p:nvSpPr>
          <p:cNvPr id="7"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0CDC23-E565-C848-9AF6-12BD09C53D9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zh-CN" altLang="en-US"/>
              <a:t>单击此处编辑母版标题样式</a:t>
            </a:r>
            <a:endParaRPr lang="en-US"/>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zh-CN" altLang="en-US"/>
              <a:t>单击此处编辑母版标题样式</a:t>
            </a:r>
            <a:endParaRPr lang="en-US"/>
          </a:p>
        </p:txBody>
      </p:sp>
      <p:sp>
        <p:nvSpPr>
          <p:cNvPr id="3" name="Picture Placeholder 2"/>
          <p:cNvSpPr>
            <a:spLocks noGrp="1"/>
          </p:cNvSpPr>
          <p:nvPr>
            <p:ph type="pic" idx="1" hasCustomPrompt="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Drag picture to placeholder or click icon to add</a:t>
            </a:r>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2" y="1200150"/>
            <a:ext cx="7543801" cy="3429000"/>
          </a:xfrm>
        </p:spPr>
        <p:txBody>
          <a:bodyPr/>
          <a:lstStyle>
            <a:lvl1pPr marL="5715" indent="-5715">
              <a:defRPr sz="2100" baseline="0"/>
            </a:lvl1pPr>
            <a:lvl2pPr marL="303530" indent="-190500">
              <a:defRPr sz="1800" baseline="0"/>
            </a:lvl2pPr>
            <a:lvl3pPr marL="386715" indent="-171450">
              <a:defRPr sz="1500" baseline="0"/>
            </a:lvl3pPr>
            <a:lvl4pPr marL="518160" indent="-198755">
              <a:defRPr sz="1200" baseline="0"/>
            </a:lvl4pPr>
            <a:lvl5pPr marL="601345" indent="-179705">
              <a:defRPr sz="1050" baseline="0">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标题 6"/>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2.png"/><Relationship Id="rId13" Type="http://schemas.openxmlformats.org/officeDocument/2006/relationships/image" Target="../media/image1.emf"/><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2518606" y="2473636"/>
            <a:ext cx="5143502" cy="1962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384301"/>
            <a:ext cx="7543801" cy="301752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2962" y="4844840"/>
            <a:ext cx="1854203" cy="273844"/>
          </a:xfrm>
          <a:prstGeom prst="rect">
            <a:avLst/>
          </a:prstGeom>
        </p:spPr>
        <p:txBody>
          <a:bodyPr vert="horz" lIns="91440" tIns="45720" rIns="91440" bIns="45720" rtlCol="0" anchor="ctr"/>
          <a:lstStyle>
            <a:lvl1pPr algn="l">
              <a:defRPr sz="675">
                <a:solidFill>
                  <a:srgbClr val="FFFFFF"/>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2764640" y="4844840"/>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5" y="4844840"/>
            <a:ext cx="984019" cy="273844"/>
          </a:xfrm>
          <a:prstGeom prst="rect">
            <a:avLst/>
          </a:prstGeom>
        </p:spPr>
        <p:txBody>
          <a:bodyPr vert="horz" lIns="91440" tIns="45720" rIns="91440" bIns="45720" rtlCol="0" anchor="ctr"/>
          <a:lstStyle>
            <a:lvl1pPr algn="r">
              <a:defRPr sz="790">
                <a:solidFill>
                  <a:srgbClr val="FFFFFF"/>
                </a:solidFill>
              </a:defRPr>
            </a:lvl1pPr>
          </a:lstStyle>
          <a:p>
            <a:fld id="{D07771B2-D7F7-364E-B6F3-F7FE93606BC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29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2407"/>
            <a:ext cx="8331200" cy="540068"/>
          </a:xfrm>
          <a:prstGeom prst="rect">
            <a:avLst/>
          </a:prstGeom>
        </p:spPr>
        <p:txBody>
          <a:bodyPr vert="horz" lIns="91440" tIns="45720" rIns="91440" bIns="45720" rtlCol="0" anchor="ctr">
            <a:noAutofit/>
          </a:bodyPr>
          <a:lstStyle/>
          <a:p>
            <a:r>
              <a:rPr lang="zh-CN" altLang="en-US"/>
              <a:t>单击此处编辑母版标题样式</a:t>
            </a:r>
            <a:endParaRPr lang="en-GB" dirty="0"/>
          </a:p>
        </p:txBody>
      </p:sp>
      <p:sp>
        <p:nvSpPr>
          <p:cNvPr id="3" name="Text Placeholder 2"/>
          <p:cNvSpPr>
            <a:spLocks noGrp="1"/>
          </p:cNvSpPr>
          <p:nvPr>
            <p:ph type="body" idx="1"/>
          </p:nvPr>
        </p:nvSpPr>
        <p:spPr>
          <a:xfrm>
            <a:off x="457200" y="902494"/>
            <a:ext cx="8229600" cy="370713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07771B2-D7F7-364E-B6F3-F7FE93606BCE}" type="slidenum">
              <a:rPr lang="en-US" smtClean="0"/>
            </a:fld>
            <a:endParaRPr lang="en-US"/>
          </a:p>
        </p:txBody>
      </p:sp>
      <p:pic>
        <p:nvPicPr>
          <p:cNvPr id="7" name="Picture 6"/>
          <p:cNvPicPr>
            <a:picLocks noChangeAspect="1"/>
          </p:cNvPicPr>
          <p:nvPr/>
        </p:nvPicPr>
        <p:blipFill>
          <a:blip r:embed="rId13">
            <a:alphaModFix amt="7000"/>
            <a:duotone>
              <a:prstClr val="black"/>
              <a:schemeClr val="accent2">
                <a:tint val="45000"/>
                <a:satMod val="400000"/>
              </a:schemeClr>
            </a:duotone>
            <a:lum bright="-20000" contrast="-40000"/>
          </a:blip>
          <a:stretch>
            <a:fillRect/>
          </a:stretch>
        </p:blipFill>
        <p:spPr>
          <a:xfrm>
            <a:off x="7383145" y="-4286"/>
            <a:ext cx="1830070" cy="5169694"/>
          </a:xfrm>
          <a:prstGeom prst="rect">
            <a:avLst/>
          </a:prstGeom>
        </p:spPr>
      </p:pic>
      <p:pic>
        <p:nvPicPr>
          <p:cNvPr id="12" name="Picture 11" descr="Shield-navy(rgb for online).png"/>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432531" y="4446764"/>
            <a:ext cx="356139" cy="333393"/>
          </a:xfrm>
          <a:prstGeom prst="rect">
            <a:avLst/>
          </a:prstGeom>
        </p:spPr>
      </p:pic>
      <p:sp>
        <p:nvSpPr>
          <p:cNvPr id="9"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342900" rtl="0" eaLnBrk="1" latinLnBrk="0" hangingPunct="1">
        <a:spcBef>
          <a:spcPct val="0"/>
        </a:spcBef>
        <a:buNone/>
        <a:defRPr sz="2700" u="none" strike="noStrike" kern="1200" cap="all" spc="0" normalizeH="0">
          <a:solidFill>
            <a:schemeClr val="tx1"/>
          </a:solidFill>
          <a:uFillTx/>
          <a:latin typeface="Times New Roman" panose="02020503050405090304" pitchFamily="18" charset="0"/>
          <a:ea typeface="+mj-ea"/>
          <a:cs typeface="+mj-cs"/>
        </a:defRPr>
      </a:lvl1pPr>
    </p:titleStyle>
    <p:body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4.emf"/></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5.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9.png"/><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1.png"/><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3.png"/><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29.png"/><Relationship Id="rId1" Type="http://schemas.openxmlformats.org/officeDocument/2006/relationships/image" Target="../media/image28.png"/></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3.xml"/><Relationship Id="rId5" Type="http://schemas.openxmlformats.org/officeDocument/2006/relationships/hyperlink" Target="http://www.xjtlu.edu.cn/en/" TargetMode="External"/><Relationship Id="rId4" Type="http://schemas.openxmlformats.org/officeDocument/2006/relationships/image" Target="../media/image32.jpeg"/><Relationship Id="rId3" Type="http://schemas.openxmlformats.org/officeDocument/2006/relationships/image" Target="../media/image31.png"/><Relationship Id="rId2" Type="http://schemas.openxmlformats.org/officeDocument/2006/relationships/image" Target="../media/image3.emf"/><Relationship Id="rId1" Type="http://schemas.openxmlformats.org/officeDocument/2006/relationships/image" Target="../media/image3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74370" y="1056005"/>
            <a:ext cx="7694930" cy="1315085"/>
          </a:xfrm>
        </p:spPr>
        <p:txBody>
          <a:bodyPr>
            <a:noAutofit/>
          </a:bodyPr>
          <a:lstStyle/>
          <a:p>
            <a:r>
              <a:rPr lang="en-US" altLang="zh-CN" sz="3200" dirty="0"/>
              <a:t>Natural Language Processing</a:t>
            </a:r>
            <a:br>
              <a:rPr lang="en-US" altLang="zh-CN" sz="3200" dirty="0"/>
            </a:br>
            <a:r>
              <a:rPr lang="en-US" altLang="zh-CN" sz="3200" dirty="0">
                <a:solidFill>
                  <a:srgbClr val="000044"/>
                </a:solidFill>
                <a:cs typeface="DIN-Regular"/>
                <a:sym typeface="+mn-ea"/>
              </a:rPr>
              <a:t>DTS305TC</a:t>
            </a:r>
            <a:endParaRPr lang="en-US" altLang="zh-CN" sz="3200" dirty="0"/>
          </a:p>
        </p:txBody>
      </p:sp>
      <p:pic>
        <p:nvPicPr>
          <p:cNvPr id="8" name="Picture 7"/>
          <p:cNvPicPr>
            <a:picLocks noChangeAspect="1"/>
          </p:cNvPicPr>
          <p:nvPr/>
        </p:nvPicPr>
        <p:blipFill>
          <a:blip r:embed="rId1"/>
          <a:stretch>
            <a:fillRect/>
          </a:stretch>
        </p:blipFill>
        <p:spPr>
          <a:xfrm>
            <a:off x="3822859" y="3635858"/>
            <a:ext cx="1733550" cy="370813"/>
          </a:xfrm>
          <a:prstGeom prst="rect">
            <a:avLst/>
          </a:prstGeom>
        </p:spPr>
      </p:pic>
      <p:sp>
        <p:nvSpPr>
          <p:cNvPr id="9" name="Subtitle 2"/>
          <p:cNvSpPr txBox="1"/>
          <p:nvPr/>
        </p:nvSpPr>
        <p:spPr>
          <a:xfrm>
            <a:off x="2815937" y="2370501"/>
            <a:ext cx="3600450" cy="810802"/>
          </a:xfrm>
          <a:prstGeom prst="rect">
            <a:avLst/>
          </a:prstGeom>
        </p:spPr>
        <p:txBody>
          <a:bodyPr vert="horz" lIns="51435" tIns="25718" rIns="51435" bIns="25718" rtlCol="0">
            <a:noAutofit/>
          </a:bodyPr>
          <a:lstStyle>
            <a:lvl1pPr marL="0" indent="0" algn="ctr" defTabSz="457200" rtl="0" eaLnBrk="1" latinLnBrk="0" hangingPunct="1">
              <a:spcBef>
                <a:spcPct val="20000"/>
              </a:spcBef>
              <a:buFont typeface="Arial" panose="020B060402020209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9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9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9pPr>
          </a:lstStyle>
          <a:p>
            <a:r>
              <a:rPr lang="en-US" altLang="zh-CN" sz="1350" cap="all" dirty="0" err="1">
                <a:solidFill>
                  <a:srgbClr val="000044"/>
                </a:solidFill>
                <a:cs typeface="DIN-Regular"/>
              </a:rPr>
              <a:t>Huakang</a:t>
            </a:r>
            <a:r>
              <a:rPr lang="zh-CN" altLang="en-US" sz="1350" cap="all" dirty="0">
                <a:solidFill>
                  <a:srgbClr val="000044"/>
                </a:solidFill>
                <a:cs typeface="DIN-Regular"/>
              </a:rPr>
              <a:t> </a:t>
            </a:r>
            <a:r>
              <a:rPr lang="en-US" altLang="zh-CN" sz="1350" cap="all" dirty="0">
                <a:solidFill>
                  <a:srgbClr val="000044"/>
                </a:solidFill>
                <a:cs typeface="DIN-Regular"/>
              </a:rPr>
              <a:t>Li</a:t>
            </a:r>
            <a:endParaRPr lang="en-US" altLang="zh-CN" sz="1350" cap="all" dirty="0">
              <a:solidFill>
                <a:srgbClr val="000044"/>
              </a:solidFill>
              <a:cs typeface="DIN-Regular"/>
            </a:endParaRPr>
          </a:p>
          <a:p>
            <a:r>
              <a:rPr lang="en-US" altLang="zh-CN" sz="1350" cap="all" dirty="0" err="1">
                <a:solidFill>
                  <a:srgbClr val="000044"/>
                </a:solidFill>
                <a:cs typeface="DIN-Regular"/>
              </a:rPr>
              <a:t>Huakang.li@xjtlu.edu.cn</a:t>
            </a:r>
            <a:endParaRPr lang="en-US" altLang="zh-CN" sz="1350" cap="all" dirty="0">
              <a:solidFill>
                <a:srgbClr val="000044"/>
              </a:solidFill>
              <a:cs typeface="DIN-Regular"/>
            </a:endParaRPr>
          </a:p>
          <a:p>
            <a:r>
              <a:rPr lang="en-US" altLang="zh-CN" sz="1350" cap="all" dirty="0">
                <a:solidFill>
                  <a:srgbClr val="000044"/>
                </a:solidFill>
                <a:cs typeface="DIN-Regular"/>
              </a:rPr>
              <a:t>School</a:t>
            </a:r>
            <a:r>
              <a:rPr lang="zh-CN" altLang="en-US" sz="1350" cap="all" dirty="0">
                <a:solidFill>
                  <a:srgbClr val="000044"/>
                </a:solidFill>
                <a:cs typeface="DIN-Regular"/>
              </a:rPr>
              <a:t> </a:t>
            </a:r>
            <a:r>
              <a:rPr lang="en-US" altLang="zh-CN" sz="1350" cap="all" dirty="0">
                <a:solidFill>
                  <a:srgbClr val="000044"/>
                </a:solidFill>
                <a:cs typeface="DIN-Regular"/>
              </a:rPr>
              <a:t>of</a:t>
            </a:r>
            <a:r>
              <a:rPr lang="zh-CN" altLang="en-US" sz="1350" cap="all" dirty="0">
                <a:solidFill>
                  <a:srgbClr val="000044"/>
                </a:solidFill>
                <a:cs typeface="DIN-Regular"/>
              </a:rPr>
              <a:t> </a:t>
            </a:r>
            <a:r>
              <a:rPr lang="en-US" altLang="zh-CN" sz="1350" cap="all" dirty="0">
                <a:solidFill>
                  <a:srgbClr val="000044"/>
                </a:solidFill>
                <a:cs typeface="DIN-Regular"/>
              </a:rPr>
              <a:t>AI</a:t>
            </a:r>
            <a:r>
              <a:rPr lang="zh-CN" altLang="en-US" sz="1350" cap="all" dirty="0">
                <a:solidFill>
                  <a:srgbClr val="000044"/>
                </a:solidFill>
                <a:cs typeface="DIN-Regular"/>
              </a:rPr>
              <a:t> </a:t>
            </a:r>
            <a:r>
              <a:rPr lang="en-US" altLang="zh-CN" sz="1350" cap="all" dirty="0">
                <a:solidFill>
                  <a:srgbClr val="000044"/>
                </a:solidFill>
                <a:cs typeface="DIN-Regular"/>
              </a:rPr>
              <a:t>and</a:t>
            </a:r>
            <a:r>
              <a:rPr lang="zh-CN" altLang="en-US" sz="1350" cap="all" dirty="0">
                <a:solidFill>
                  <a:srgbClr val="000044"/>
                </a:solidFill>
                <a:cs typeface="DIN-Regular"/>
              </a:rPr>
              <a:t> </a:t>
            </a:r>
            <a:r>
              <a:rPr lang="en-US" altLang="zh-CN" sz="1350" cap="all" dirty="0">
                <a:solidFill>
                  <a:srgbClr val="000044"/>
                </a:solidFill>
                <a:cs typeface="DIN-Regular"/>
              </a:rPr>
              <a:t>Advanced</a:t>
            </a:r>
            <a:r>
              <a:rPr lang="zh-CN" altLang="en-US" sz="1350" cap="all" dirty="0">
                <a:solidFill>
                  <a:srgbClr val="000044"/>
                </a:solidFill>
                <a:cs typeface="DIN-Regular"/>
              </a:rPr>
              <a:t> </a:t>
            </a:r>
            <a:r>
              <a:rPr lang="en-US" altLang="zh-CN" sz="1350" cap="all" dirty="0">
                <a:solidFill>
                  <a:srgbClr val="000044"/>
                </a:solidFill>
                <a:cs typeface="DIN-Regular"/>
              </a:rPr>
              <a:t>Computing</a:t>
            </a:r>
            <a:endParaRPr lang="en-US" sz="1350" cap="all" dirty="0">
              <a:solidFill>
                <a:srgbClr val="000044"/>
              </a:solidFill>
              <a:cs typeface="DIN-Regular"/>
            </a:endParaRPr>
          </a:p>
          <a:p>
            <a:endParaRPr lang="en-US" sz="1350" cap="all" dirty="0">
              <a:solidFill>
                <a:srgbClr val="000044"/>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20103"/>
    </mc:Choice>
    <mc:Fallback>
      <p:transition spd="slow" advTm="2010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endParaRPr lang="en-US" dirty="0"/>
          </a:p>
        </p:txBody>
      </p:sp>
      <p:sp>
        <p:nvSpPr>
          <p:cNvPr id="3" name="Content Placeholder 2"/>
          <p:cNvSpPr>
            <a:spLocks noGrp="1"/>
          </p:cNvSpPr>
          <p:nvPr>
            <p:ph idx="1"/>
          </p:nvPr>
        </p:nvSpPr>
        <p:spPr/>
        <p:txBody>
          <a:bodyPr/>
          <a:lstStyle/>
          <a:p>
            <a:r>
              <a:rPr lang="en-US" dirty="0"/>
              <a:t>NLTK</a:t>
            </a:r>
            <a:endParaRPr lang="en-US" dirty="0"/>
          </a:p>
          <a:p>
            <a:r>
              <a:rPr lang="en-US" dirty="0"/>
              <a:t>Tokenization</a:t>
            </a:r>
            <a:endParaRPr lang="en-US" dirty="0"/>
          </a:p>
          <a:p>
            <a:r>
              <a:rPr lang="en-US" dirty="0"/>
              <a:t>Stemming</a:t>
            </a:r>
            <a:endParaRPr lang="en-US" dirty="0"/>
          </a:p>
          <a:p>
            <a:r>
              <a:rPr lang="en-US" dirty="0"/>
              <a:t>Lemmatization</a:t>
            </a:r>
            <a:endParaRPr lang="en-US" dirty="0"/>
          </a:p>
          <a:p>
            <a:r>
              <a:rPr lang="en-US" dirty="0"/>
              <a:t>Stop Words Removal</a:t>
            </a:r>
            <a:endParaRPr lang="en-US" dirty="0"/>
          </a:p>
          <a:p>
            <a:r>
              <a:rPr lang="en-US" dirty="0"/>
              <a:t>Exercises</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language Toolkit [</a:t>
            </a:r>
            <a:r>
              <a:rPr lang="en-US" dirty="0" err="1"/>
              <a:t>nltk</a:t>
            </a:r>
            <a:r>
              <a:rPr lang="en-US" dirty="0"/>
              <a:t>]</a:t>
            </a:r>
            <a:endParaRPr lang="en-US" dirty="0"/>
          </a:p>
        </p:txBody>
      </p:sp>
      <p:sp>
        <p:nvSpPr>
          <p:cNvPr id="3" name="Content Placeholder 2"/>
          <p:cNvSpPr>
            <a:spLocks noGrp="1"/>
          </p:cNvSpPr>
          <p:nvPr>
            <p:ph idx="1"/>
          </p:nvPr>
        </p:nvSpPr>
        <p:spPr/>
        <p:txBody>
          <a:bodyPr/>
          <a:lstStyle/>
          <a:p>
            <a:r>
              <a:rPr lang="en-US" dirty="0"/>
              <a:t>Open source python modules and linguistic data for Natural Language Processing application</a:t>
            </a:r>
            <a:endParaRPr lang="en-US" dirty="0"/>
          </a:p>
          <a:p>
            <a:endParaRPr lang="en-US" dirty="0"/>
          </a:p>
          <a:p>
            <a:r>
              <a:rPr lang="en-US" dirty="0"/>
              <a:t>Supports classification, tokenization, stemming, tagging, parsing, etc.</a:t>
            </a:r>
            <a:endParaRPr lang="en-US" dirty="0"/>
          </a:p>
          <a:p>
            <a:endParaRPr lang="en-US" dirty="0"/>
          </a:p>
          <a:p>
            <a:r>
              <a:rPr lang="en-US" dirty="0"/>
              <a:t>To install </a:t>
            </a:r>
            <a:r>
              <a:rPr lang="en-US" dirty="0" err="1"/>
              <a:t>nltk</a:t>
            </a:r>
            <a:r>
              <a:rPr lang="en-US" dirty="0"/>
              <a:t>: </a:t>
            </a:r>
            <a:r>
              <a:rPr lang="en-US" dirty="0">
                <a:solidFill>
                  <a:srgbClr val="C00000"/>
                </a:solidFill>
              </a:rPr>
              <a:t>pip install </a:t>
            </a:r>
            <a:r>
              <a:rPr lang="en-US" dirty="0" err="1">
                <a:solidFill>
                  <a:srgbClr val="C00000"/>
                </a:solidFill>
              </a:rPr>
              <a:t>nltk</a:t>
            </a:r>
            <a:endParaRPr lang="en-US" dirty="0">
              <a:solidFill>
                <a:srgbClr val="C00000"/>
              </a:solidFill>
            </a:endParaRPr>
          </a:p>
          <a:p>
            <a:pPr marL="342900" lvl="1" indent="0">
              <a:buNone/>
            </a:pP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Tokenization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a:t>Tokenization is the process of segmenting a chunk of continuous text into separate entities called “tokens”.</a:t>
            </a:r>
            <a:endParaRPr lang="en-US" dirty="0"/>
          </a:p>
          <a:p>
            <a:endParaRPr lang="en-US" dirty="0"/>
          </a:p>
          <a:p>
            <a:r>
              <a:rPr lang="en-US" dirty="0"/>
              <a:t>Why?</a:t>
            </a:r>
            <a:endParaRPr lang="en-US" dirty="0"/>
          </a:p>
          <a:p>
            <a:pPr lvl="1"/>
            <a:r>
              <a:rPr lang="en-US" dirty="0"/>
              <a:t>Foundation of Text Processing:</a:t>
            </a:r>
            <a:endParaRPr lang="en-US" dirty="0"/>
          </a:p>
          <a:p>
            <a:pPr lvl="2"/>
            <a:r>
              <a:rPr lang="en-US" dirty="0"/>
              <a:t>Before analyzing text, it needs to be broken down to make sense.</a:t>
            </a:r>
            <a:endParaRPr lang="en-US" dirty="0"/>
          </a:p>
          <a:p>
            <a:pPr lvl="2"/>
            <a:r>
              <a:rPr lang="en-US" dirty="0"/>
              <a:t>Helps convert unstructured data into a structured form.</a:t>
            </a:r>
            <a:endParaRPr lang="en-US" dirty="0"/>
          </a:p>
          <a:p>
            <a:pPr lvl="1"/>
            <a:r>
              <a:rPr lang="en-US" dirty="0"/>
              <a:t>Enables further Processing:</a:t>
            </a:r>
            <a:endParaRPr lang="en-US" dirty="0"/>
          </a:p>
          <a:p>
            <a:pPr lvl="2"/>
            <a:r>
              <a:rPr lang="en-US" dirty="0"/>
              <a:t>Each token can be further processed – stemmed, lemmatized, tagged, etc.</a:t>
            </a:r>
            <a:endParaRPr lang="en-US" dirty="0"/>
          </a:p>
          <a:p>
            <a:pPr lvl="1"/>
            <a:r>
              <a:rPr lang="en-US" dirty="0"/>
              <a:t>Improves Text Retrieval:</a:t>
            </a:r>
            <a:endParaRPr lang="en-US" dirty="0"/>
          </a:p>
          <a:p>
            <a:pPr lvl="2"/>
            <a:r>
              <a:rPr lang="en-US" dirty="0"/>
              <a:t>Search engines use tokenization to index and retrieve documents.</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Tokenization - Demo</a:t>
            </a:r>
            <a:endParaRPr lang="en-US" dirty="0"/>
          </a:p>
        </p:txBody>
      </p:sp>
      <p:sp>
        <p:nvSpPr>
          <p:cNvPr id="3" name="Content Placeholder 2"/>
          <p:cNvSpPr>
            <a:spLocks noGrp="1"/>
          </p:cNvSpPr>
          <p:nvPr>
            <p:ph idx="1"/>
          </p:nvPr>
        </p:nvSpPr>
        <p:spPr/>
        <p:txBody>
          <a:bodyPr/>
          <a:lstStyle/>
          <a:p>
            <a:r>
              <a:rPr lang="en-US" dirty="0"/>
              <a:t>Import libraries</a:t>
            </a:r>
            <a:endParaRPr lang="en-US" dirty="0"/>
          </a:p>
          <a:p>
            <a:endParaRPr lang="en-US" dirty="0"/>
          </a:p>
          <a:p>
            <a:endParaRPr lang="en-US" dirty="0"/>
          </a:p>
          <a:p>
            <a:endParaRPr lang="en-US" dirty="0"/>
          </a:p>
          <a:p>
            <a:endParaRPr lang="en-US" dirty="0"/>
          </a:p>
          <a:p>
            <a:r>
              <a:rPr lang="en-US" dirty="0"/>
              <a:t>Download the required NLTK data package</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pic>
        <p:nvPicPr>
          <p:cNvPr id="8" name="Picture 7"/>
          <p:cNvPicPr>
            <a:picLocks noChangeAspect="1"/>
          </p:cNvPicPr>
          <p:nvPr/>
        </p:nvPicPr>
        <p:blipFill>
          <a:blip r:embed="rId1"/>
          <a:stretch>
            <a:fillRect/>
          </a:stretch>
        </p:blipFill>
        <p:spPr>
          <a:xfrm>
            <a:off x="1143000" y="3719516"/>
            <a:ext cx="6705600" cy="968928"/>
          </a:xfrm>
          <a:prstGeom prst="rect">
            <a:avLst/>
          </a:prstGeom>
        </p:spPr>
      </p:pic>
      <p:pic>
        <p:nvPicPr>
          <p:cNvPr id="10" name="Picture 9"/>
          <p:cNvPicPr>
            <a:picLocks noChangeAspect="1"/>
          </p:cNvPicPr>
          <p:nvPr/>
        </p:nvPicPr>
        <p:blipFill>
          <a:blip r:embed="rId2"/>
          <a:stretch>
            <a:fillRect/>
          </a:stretch>
        </p:blipFill>
        <p:spPr>
          <a:xfrm>
            <a:off x="1219200" y="1657350"/>
            <a:ext cx="6237514" cy="685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Tokenization - Demo</a:t>
            </a:r>
            <a:endParaRPr lang="en-US" dirty="0"/>
          </a:p>
        </p:txBody>
      </p:sp>
      <p:sp>
        <p:nvSpPr>
          <p:cNvPr id="3" name="Content Placeholder 2"/>
          <p:cNvSpPr>
            <a:spLocks noGrp="1"/>
          </p:cNvSpPr>
          <p:nvPr>
            <p:ph idx="1"/>
          </p:nvPr>
        </p:nvSpPr>
        <p:spPr/>
        <p:txBody>
          <a:bodyPr/>
          <a:lstStyle/>
          <a:p>
            <a:r>
              <a:rPr lang="en-US" dirty="0"/>
              <a:t>Sample Text</a:t>
            </a:r>
            <a:endParaRPr lang="en-US" dirty="0"/>
          </a:p>
          <a:p>
            <a:endParaRPr lang="en-US" dirty="0"/>
          </a:p>
          <a:p>
            <a:endParaRPr lang="en-US" dirty="0"/>
          </a:p>
          <a:p>
            <a:r>
              <a:rPr lang="en-US" dirty="0"/>
              <a:t>Sentence Tokenization</a:t>
            </a:r>
            <a:endParaRPr lang="en-US" dirty="0"/>
          </a:p>
          <a:p>
            <a:endParaRPr lang="en-US" dirty="0"/>
          </a:p>
          <a:p>
            <a:endParaRPr lang="en-US" dirty="0"/>
          </a:p>
          <a:p>
            <a:r>
              <a:rPr lang="en-US" dirty="0"/>
              <a:t>Result</a:t>
            </a:r>
            <a:endParaRPr lang="en-US" dirty="0"/>
          </a:p>
          <a:p>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pic>
        <p:nvPicPr>
          <p:cNvPr id="8" name="Picture 7"/>
          <p:cNvPicPr>
            <a:picLocks noChangeAspect="1"/>
          </p:cNvPicPr>
          <p:nvPr/>
        </p:nvPicPr>
        <p:blipFill>
          <a:blip r:embed="rId1"/>
          <a:stretch>
            <a:fillRect/>
          </a:stretch>
        </p:blipFill>
        <p:spPr>
          <a:xfrm>
            <a:off x="228600" y="1352550"/>
            <a:ext cx="8839200" cy="495300"/>
          </a:xfrm>
          <a:prstGeom prst="rect">
            <a:avLst/>
          </a:prstGeom>
        </p:spPr>
      </p:pic>
      <p:pic>
        <p:nvPicPr>
          <p:cNvPr id="6" name="Picture 5"/>
          <p:cNvPicPr>
            <a:picLocks noChangeAspect="1"/>
          </p:cNvPicPr>
          <p:nvPr/>
        </p:nvPicPr>
        <p:blipFill>
          <a:blip r:embed="rId2"/>
          <a:stretch>
            <a:fillRect/>
          </a:stretch>
        </p:blipFill>
        <p:spPr>
          <a:xfrm>
            <a:off x="2362200" y="2647950"/>
            <a:ext cx="4419600" cy="828675"/>
          </a:xfrm>
          <a:prstGeom prst="rect">
            <a:avLst/>
          </a:prstGeom>
        </p:spPr>
      </p:pic>
      <p:pic>
        <p:nvPicPr>
          <p:cNvPr id="9" name="Picture 8"/>
          <p:cNvPicPr>
            <a:picLocks noChangeAspect="1"/>
          </p:cNvPicPr>
          <p:nvPr/>
        </p:nvPicPr>
        <p:blipFill>
          <a:blip r:embed="rId3"/>
          <a:stretch>
            <a:fillRect/>
          </a:stretch>
        </p:blipFill>
        <p:spPr>
          <a:xfrm>
            <a:off x="1776412" y="4019550"/>
            <a:ext cx="5591175" cy="7905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Tokenization - Demo</a:t>
            </a:r>
            <a:endParaRPr lang="en-US" dirty="0"/>
          </a:p>
        </p:txBody>
      </p:sp>
      <p:sp>
        <p:nvSpPr>
          <p:cNvPr id="3" name="Content Placeholder 2"/>
          <p:cNvSpPr>
            <a:spLocks noGrp="1"/>
          </p:cNvSpPr>
          <p:nvPr>
            <p:ph idx="1"/>
          </p:nvPr>
        </p:nvSpPr>
        <p:spPr/>
        <p:txBody>
          <a:bodyPr/>
          <a:lstStyle/>
          <a:p>
            <a:r>
              <a:rPr lang="en-US" dirty="0"/>
              <a:t>Sample Text</a:t>
            </a:r>
            <a:endParaRPr lang="en-US" dirty="0"/>
          </a:p>
          <a:p>
            <a:endParaRPr lang="en-US" dirty="0"/>
          </a:p>
          <a:p>
            <a:endParaRPr lang="en-US" dirty="0"/>
          </a:p>
          <a:p>
            <a:r>
              <a:rPr lang="en-US" dirty="0"/>
              <a:t>Word Tokenization</a:t>
            </a:r>
            <a:endParaRPr lang="en-US" dirty="0"/>
          </a:p>
          <a:p>
            <a:endParaRPr lang="en-US" dirty="0"/>
          </a:p>
          <a:p>
            <a:endParaRPr lang="en-US" dirty="0"/>
          </a:p>
          <a:p>
            <a:r>
              <a:rPr lang="en-US" dirty="0"/>
              <a:t>Result</a:t>
            </a:r>
            <a:endParaRPr lang="en-US" dirty="0"/>
          </a:p>
          <a:p>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pic>
        <p:nvPicPr>
          <p:cNvPr id="8" name="Picture 7"/>
          <p:cNvPicPr>
            <a:picLocks noChangeAspect="1"/>
          </p:cNvPicPr>
          <p:nvPr/>
        </p:nvPicPr>
        <p:blipFill>
          <a:blip r:embed="rId1"/>
          <a:stretch>
            <a:fillRect/>
          </a:stretch>
        </p:blipFill>
        <p:spPr>
          <a:xfrm>
            <a:off x="228600" y="1352550"/>
            <a:ext cx="8839200" cy="495300"/>
          </a:xfrm>
          <a:prstGeom prst="rect">
            <a:avLst/>
          </a:prstGeom>
        </p:spPr>
      </p:pic>
      <p:pic>
        <p:nvPicPr>
          <p:cNvPr id="10" name="Picture 9"/>
          <p:cNvPicPr>
            <a:picLocks noChangeAspect="1"/>
          </p:cNvPicPr>
          <p:nvPr/>
        </p:nvPicPr>
        <p:blipFill>
          <a:blip r:embed="rId2"/>
          <a:stretch>
            <a:fillRect/>
          </a:stretch>
        </p:blipFill>
        <p:spPr>
          <a:xfrm>
            <a:off x="533400" y="4152900"/>
            <a:ext cx="8382000" cy="282024"/>
          </a:xfrm>
          <a:prstGeom prst="rect">
            <a:avLst/>
          </a:prstGeom>
        </p:spPr>
      </p:pic>
      <p:pic>
        <p:nvPicPr>
          <p:cNvPr id="12" name="Picture 11"/>
          <p:cNvPicPr>
            <a:picLocks noChangeAspect="1"/>
          </p:cNvPicPr>
          <p:nvPr/>
        </p:nvPicPr>
        <p:blipFill>
          <a:blip r:embed="rId3"/>
          <a:stretch>
            <a:fillRect/>
          </a:stretch>
        </p:blipFill>
        <p:spPr>
          <a:xfrm>
            <a:off x="2971800" y="2676525"/>
            <a:ext cx="3009900" cy="6477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Tokenization - Demo</a:t>
            </a:r>
            <a:endParaRPr lang="en-US" dirty="0"/>
          </a:p>
        </p:txBody>
      </p:sp>
      <p:sp>
        <p:nvSpPr>
          <p:cNvPr id="3" name="Content Placeholder 2"/>
          <p:cNvSpPr>
            <a:spLocks noGrp="1"/>
          </p:cNvSpPr>
          <p:nvPr>
            <p:ph idx="1"/>
          </p:nvPr>
        </p:nvSpPr>
        <p:spPr/>
        <p:txBody>
          <a:bodyPr/>
          <a:lstStyle/>
          <a:p>
            <a:r>
              <a:rPr lang="en-US" dirty="0"/>
              <a:t>Removing Punctuation</a:t>
            </a:r>
            <a:endParaRPr lang="en-US" dirty="0"/>
          </a:p>
          <a:p>
            <a:endParaRPr lang="en-US" dirty="0"/>
          </a:p>
          <a:p>
            <a:endParaRPr lang="en-US" dirty="0"/>
          </a:p>
          <a:p>
            <a:endParaRPr lang="en-US" dirty="0"/>
          </a:p>
          <a:p>
            <a:r>
              <a:rPr lang="en-US" dirty="0"/>
              <a:t>Result</a:t>
            </a:r>
            <a:endParaRPr lang="en-US" dirty="0"/>
          </a:p>
          <a:p>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pic>
        <p:nvPicPr>
          <p:cNvPr id="6" name="Picture 5"/>
          <p:cNvPicPr>
            <a:picLocks noChangeAspect="1"/>
          </p:cNvPicPr>
          <p:nvPr/>
        </p:nvPicPr>
        <p:blipFill>
          <a:blip r:embed="rId1"/>
          <a:stretch>
            <a:fillRect/>
          </a:stretch>
        </p:blipFill>
        <p:spPr>
          <a:xfrm>
            <a:off x="990600" y="1428750"/>
            <a:ext cx="7058025" cy="847725"/>
          </a:xfrm>
          <a:prstGeom prst="rect">
            <a:avLst/>
          </a:prstGeom>
        </p:spPr>
      </p:pic>
      <p:pic>
        <p:nvPicPr>
          <p:cNvPr id="8" name="Picture 7"/>
          <p:cNvPicPr>
            <a:picLocks noChangeAspect="1"/>
          </p:cNvPicPr>
          <p:nvPr/>
        </p:nvPicPr>
        <p:blipFill>
          <a:blip r:embed="rId2"/>
          <a:stretch>
            <a:fillRect/>
          </a:stretch>
        </p:blipFill>
        <p:spPr>
          <a:xfrm>
            <a:off x="533400" y="3562350"/>
            <a:ext cx="8331200" cy="26541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Stemming vs lemmatization</a:t>
            </a:r>
            <a:endParaRPr lang="en-US" dirty="0"/>
          </a:p>
        </p:txBody>
      </p:sp>
      <p:sp>
        <p:nvSpPr>
          <p:cNvPr id="3" name="Content Placeholder 2"/>
          <p:cNvSpPr>
            <a:spLocks noGrp="1"/>
          </p:cNvSpPr>
          <p:nvPr>
            <p:ph idx="1"/>
          </p:nvPr>
        </p:nvSpPr>
        <p:spPr>
          <a:xfrm>
            <a:off x="457200" y="902494"/>
            <a:ext cx="3810000" cy="3707130"/>
          </a:xfrm>
        </p:spPr>
        <p:txBody>
          <a:bodyPr/>
          <a:lstStyle/>
          <a:p>
            <a:r>
              <a:rPr lang="en-US" dirty="0"/>
              <a:t>Stemming removes common suffixes from the end of word tokens</a:t>
            </a:r>
            <a:endParaRPr lang="en-US" dirty="0"/>
          </a:p>
          <a:p>
            <a:endParaRPr lang="en-US" dirty="0"/>
          </a:p>
          <a:p>
            <a:r>
              <a:rPr lang="en-US" dirty="0"/>
              <a:t>lemmatization ensures the output word is an existing normalized form of the word</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pic>
        <p:nvPicPr>
          <p:cNvPr id="6" name="Picture 5"/>
          <p:cNvPicPr>
            <a:picLocks noChangeAspect="1"/>
          </p:cNvPicPr>
          <p:nvPr/>
        </p:nvPicPr>
        <p:blipFill>
          <a:blip r:embed="rId1"/>
          <a:stretch>
            <a:fillRect/>
          </a:stretch>
        </p:blipFill>
        <p:spPr>
          <a:xfrm>
            <a:off x="5427416" y="805339"/>
            <a:ext cx="2280613" cy="33123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stemming algorithms</a:t>
            </a:r>
            <a:endParaRPr lang="en-US" dirty="0"/>
          </a:p>
        </p:txBody>
      </p:sp>
      <p:sp>
        <p:nvSpPr>
          <p:cNvPr id="3" name="Content Placeholder 2"/>
          <p:cNvSpPr>
            <a:spLocks noGrp="1"/>
          </p:cNvSpPr>
          <p:nvPr>
            <p:ph idx="1"/>
          </p:nvPr>
        </p:nvSpPr>
        <p:spPr/>
        <p:txBody>
          <a:bodyPr>
            <a:normAutofit/>
          </a:bodyPr>
          <a:lstStyle/>
          <a:p>
            <a:r>
              <a:rPr lang="en-US" dirty="0"/>
              <a:t>Porter Stemmer:</a:t>
            </a:r>
            <a:endParaRPr lang="en-US" dirty="0"/>
          </a:p>
          <a:p>
            <a:pPr lvl="1"/>
            <a:r>
              <a:rPr lang="en-US" dirty="0"/>
              <a:t>One of the oldest and widely used algorithms.</a:t>
            </a:r>
            <a:endParaRPr lang="en-US" dirty="0"/>
          </a:p>
          <a:p>
            <a:pPr lvl="1"/>
            <a:endParaRPr lang="en-US" dirty="0"/>
          </a:p>
          <a:p>
            <a:r>
              <a:rPr lang="en-US" dirty="0"/>
              <a:t>Lancaster Stemmer:</a:t>
            </a:r>
            <a:endParaRPr lang="en-US" dirty="0"/>
          </a:p>
          <a:p>
            <a:pPr lvl="1"/>
            <a:r>
              <a:rPr lang="en-US" dirty="0"/>
              <a:t>More aggressive than the Porter Stemmer (tends to over stem).</a:t>
            </a:r>
            <a:endParaRPr lang="en-US" dirty="0"/>
          </a:p>
          <a:p>
            <a:pPr lvl="1"/>
            <a:endParaRPr lang="en-US" dirty="0"/>
          </a:p>
          <a:p>
            <a:r>
              <a:rPr lang="en-US" dirty="0"/>
              <a:t>Snowball Stemmer:</a:t>
            </a:r>
            <a:endParaRPr lang="en-US" dirty="0"/>
          </a:p>
          <a:p>
            <a:pPr lvl="1"/>
            <a:r>
              <a:rPr lang="en-US" dirty="0"/>
              <a:t>Supports multiple languages.</a:t>
            </a:r>
            <a:endParaRPr lang="en-US" dirty="0"/>
          </a:p>
          <a:p>
            <a:pPr lvl="1"/>
            <a:r>
              <a:rPr lang="en-US" dirty="0"/>
              <a:t>Improvement over the Porter Stemmer.</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Stemming</a:t>
            </a:r>
            <a:endParaRPr lang="en-US" dirty="0"/>
          </a:p>
        </p:txBody>
      </p:sp>
      <p:sp>
        <p:nvSpPr>
          <p:cNvPr id="3" name="Content Placeholder 2"/>
          <p:cNvSpPr>
            <a:spLocks noGrp="1"/>
          </p:cNvSpPr>
          <p:nvPr>
            <p:ph idx="1"/>
          </p:nvPr>
        </p:nvSpPr>
        <p:spPr/>
        <p:txBody>
          <a:bodyPr/>
          <a:lstStyle/>
          <a:p>
            <a:r>
              <a:rPr lang="en-US" dirty="0" err="1"/>
              <a:t>Overstemming</a:t>
            </a:r>
            <a:r>
              <a:rPr lang="en-US" dirty="0"/>
              <a:t>:</a:t>
            </a:r>
            <a:endParaRPr lang="en-US" dirty="0"/>
          </a:p>
          <a:p>
            <a:pPr lvl="1"/>
            <a:r>
              <a:rPr lang="en-US" dirty="0"/>
              <a:t>Too much of word clipping can lead to loss of meaning.</a:t>
            </a:r>
            <a:endParaRPr lang="en-US" dirty="0"/>
          </a:p>
          <a:p>
            <a:pPr lvl="1"/>
            <a:r>
              <a:rPr lang="en-US" dirty="0"/>
              <a:t>Example: "university" =&gt; "</a:t>
            </a:r>
            <a:r>
              <a:rPr lang="en-US" dirty="0" err="1"/>
              <a:t>univers</a:t>
            </a:r>
            <a:r>
              <a:rPr lang="en-US" dirty="0"/>
              <a:t>".</a:t>
            </a:r>
            <a:endParaRPr lang="en-US" dirty="0"/>
          </a:p>
          <a:p>
            <a:endParaRPr lang="en-US" dirty="0"/>
          </a:p>
          <a:p>
            <a:r>
              <a:rPr lang="en-US" dirty="0" err="1"/>
              <a:t>Understemming</a:t>
            </a:r>
            <a:r>
              <a:rPr lang="en-US" dirty="0"/>
              <a:t>:</a:t>
            </a:r>
            <a:endParaRPr lang="en-US" dirty="0"/>
          </a:p>
          <a:p>
            <a:pPr lvl="1"/>
            <a:r>
              <a:rPr lang="en-US" dirty="0"/>
              <a:t>Insufficient reduction and multiple stems for the same root.</a:t>
            </a:r>
            <a:endParaRPr lang="en-US" dirty="0"/>
          </a:p>
          <a:p>
            <a:pPr lvl="1"/>
            <a:r>
              <a:rPr lang="en-US" dirty="0"/>
              <a:t>Example: "data" and "datum" stemming to different roots.</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Stemming Demo</a:t>
            </a:r>
            <a:endParaRPr lang="en-US" dirty="0"/>
          </a:p>
        </p:txBody>
      </p:sp>
      <p:sp>
        <p:nvSpPr>
          <p:cNvPr id="3" name="Content Placeholder 2"/>
          <p:cNvSpPr>
            <a:spLocks noGrp="1"/>
          </p:cNvSpPr>
          <p:nvPr>
            <p:ph idx="1"/>
          </p:nvPr>
        </p:nvSpPr>
        <p:spPr/>
        <p:txBody>
          <a:bodyPr/>
          <a:lstStyle/>
          <a:p>
            <a:r>
              <a:rPr lang="en-US" dirty="0"/>
              <a:t>Stemming:</a:t>
            </a:r>
            <a:endParaRPr lang="en-US" dirty="0"/>
          </a:p>
          <a:p>
            <a:endParaRPr lang="en-US" dirty="0"/>
          </a:p>
          <a:p>
            <a:endParaRPr lang="en-US" dirty="0"/>
          </a:p>
          <a:p>
            <a:endParaRPr lang="en-US" dirty="0"/>
          </a:p>
          <a:p>
            <a:endParaRPr lang="en-US" dirty="0"/>
          </a:p>
          <a:p>
            <a:r>
              <a:rPr lang="en-US" dirty="0"/>
              <a:t>Result:</a:t>
            </a:r>
            <a:endParaRPr lang="en-US" dirty="0"/>
          </a:p>
          <a:p>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pic>
        <p:nvPicPr>
          <p:cNvPr id="6" name="Picture 5"/>
          <p:cNvPicPr>
            <a:picLocks noChangeAspect="1"/>
          </p:cNvPicPr>
          <p:nvPr/>
        </p:nvPicPr>
        <p:blipFill>
          <a:blip r:embed="rId1"/>
          <a:stretch>
            <a:fillRect/>
          </a:stretch>
        </p:blipFill>
        <p:spPr>
          <a:xfrm>
            <a:off x="1828800" y="1352550"/>
            <a:ext cx="5169138" cy="1819275"/>
          </a:xfrm>
          <a:prstGeom prst="rect">
            <a:avLst/>
          </a:prstGeom>
        </p:spPr>
      </p:pic>
      <p:pic>
        <p:nvPicPr>
          <p:cNvPr id="8" name="Picture 7"/>
          <p:cNvPicPr>
            <a:picLocks noChangeAspect="1"/>
          </p:cNvPicPr>
          <p:nvPr/>
        </p:nvPicPr>
        <p:blipFill>
          <a:blip r:embed="rId2"/>
          <a:stretch>
            <a:fillRect/>
          </a:stretch>
        </p:blipFill>
        <p:spPr>
          <a:xfrm>
            <a:off x="1219200" y="3714750"/>
            <a:ext cx="6705600" cy="73671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Lemmatization</a:t>
            </a:r>
            <a:endParaRPr lang="en-US" dirty="0"/>
          </a:p>
        </p:txBody>
      </p:sp>
      <p:sp>
        <p:nvSpPr>
          <p:cNvPr id="3" name="Content Placeholder 2"/>
          <p:cNvSpPr>
            <a:spLocks noGrp="1"/>
          </p:cNvSpPr>
          <p:nvPr>
            <p:ph idx="1"/>
          </p:nvPr>
        </p:nvSpPr>
        <p:spPr/>
        <p:txBody>
          <a:bodyPr/>
          <a:lstStyle/>
          <a:p>
            <a:r>
              <a:rPr lang="en-US" dirty="0"/>
              <a:t>The word "</a:t>
            </a:r>
            <a:r>
              <a:rPr lang="en-US" dirty="0">
                <a:solidFill>
                  <a:srgbClr val="0070C0"/>
                </a:solidFill>
              </a:rPr>
              <a:t>meeting</a:t>
            </a:r>
            <a:r>
              <a:rPr lang="en-US" dirty="0"/>
              <a:t>" can be either the base form of a </a:t>
            </a:r>
            <a:r>
              <a:rPr lang="en-US" dirty="0">
                <a:solidFill>
                  <a:srgbClr val="C00000"/>
                </a:solidFill>
              </a:rPr>
              <a:t>noun</a:t>
            </a:r>
            <a:r>
              <a:rPr lang="en-US" dirty="0"/>
              <a:t> or a form of a </a:t>
            </a:r>
            <a:r>
              <a:rPr lang="en-US" dirty="0">
                <a:solidFill>
                  <a:srgbClr val="C00000"/>
                </a:solidFill>
              </a:rPr>
              <a:t>verb</a:t>
            </a:r>
            <a:r>
              <a:rPr lang="en-US" dirty="0"/>
              <a:t> ("to meet") depending on the context</a:t>
            </a:r>
            <a:endParaRPr lang="en-US" dirty="0"/>
          </a:p>
          <a:p>
            <a:pPr lvl="1"/>
            <a:r>
              <a:rPr lang="en-US" dirty="0"/>
              <a:t>e.g., "in our last </a:t>
            </a:r>
            <a:r>
              <a:rPr lang="en-US" dirty="0">
                <a:solidFill>
                  <a:srgbClr val="0070C0"/>
                </a:solidFill>
              </a:rPr>
              <a:t>meeting</a:t>
            </a:r>
            <a:r>
              <a:rPr lang="en-US" dirty="0"/>
              <a:t>" or "We are </a:t>
            </a:r>
            <a:r>
              <a:rPr lang="en-US" dirty="0">
                <a:solidFill>
                  <a:srgbClr val="0070C0"/>
                </a:solidFill>
              </a:rPr>
              <a:t>meeting</a:t>
            </a:r>
            <a:r>
              <a:rPr lang="en-US" dirty="0"/>
              <a:t> again tomorrow". </a:t>
            </a:r>
            <a:endParaRPr lang="en-US" dirty="0"/>
          </a:p>
          <a:p>
            <a:pPr lvl="1"/>
            <a:endParaRPr lang="en-US" dirty="0"/>
          </a:p>
          <a:p>
            <a:r>
              <a:rPr lang="en-US" dirty="0"/>
              <a:t>Unlike stemming, lemmatization attempts to select the correct lemma depending on the context.</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Lemmatization - demo</a:t>
            </a:r>
            <a:endParaRPr lang="en-US" dirty="0"/>
          </a:p>
        </p:txBody>
      </p:sp>
      <p:sp>
        <p:nvSpPr>
          <p:cNvPr id="3" name="Content Placeholder 2"/>
          <p:cNvSpPr>
            <a:spLocks noGrp="1"/>
          </p:cNvSpPr>
          <p:nvPr>
            <p:ph idx="1"/>
          </p:nvPr>
        </p:nvSpPr>
        <p:spPr/>
        <p:txBody>
          <a:bodyPr/>
          <a:lstStyle/>
          <a:p>
            <a:r>
              <a:rPr lang="en-US" dirty="0"/>
              <a:t>Import libraries</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pic>
        <p:nvPicPr>
          <p:cNvPr id="6" name="Picture 5"/>
          <p:cNvPicPr>
            <a:picLocks noChangeAspect="1"/>
          </p:cNvPicPr>
          <p:nvPr/>
        </p:nvPicPr>
        <p:blipFill>
          <a:blip r:embed="rId1"/>
          <a:stretch>
            <a:fillRect/>
          </a:stretch>
        </p:blipFill>
        <p:spPr>
          <a:xfrm>
            <a:off x="1023937" y="1962150"/>
            <a:ext cx="7096125" cy="1905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Lemmatization - demo</a:t>
            </a:r>
            <a:endParaRPr lang="en-US"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pic>
        <p:nvPicPr>
          <p:cNvPr id="6" name="Picture 5"/>
          <p:cNvPicPr>
            <a:picLocks noChangeAspect="1"/>
          </p:cNvPicPr>
          <p:nvPr/>
        </p:nvPicPr>
        <p:blipFill>
          <a:blip r:embed="rId1"/>
          <a:stretch>
            <a:fillRect/>
          </a:stretch>
        </p:blipFill>
        <p:spPr>
          <a:xfrm>
            <a:off x="1752600" y="869157"/>
            <a:ext cx="5571302" cy="41719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Lemmatization - demo</a:t>
            </a:r>
            <a:endParaRPr lang="en-US" dirty="0"/>
          </a:p>
        </p:txBody>
      </p:sp>
      <p:sp>
        <p:nvSpPr>
          <p:cNvPr id="3" name="Content Placeholder 2"/>
          <p:cNvSpPr>
            <a:spLocks noGrp="1"/>
          </p:cNvSpPr>
          <p:nvPr>
            <p:ph idx="1"/>
          </p:nvPr>
        </p:nvSpPr>
        <p:spPr/>
        <p:txBody>
          <a:bodyPr/>
          <a:lstStyle/>
          <a:p>
            <a:r>
              <a:rPr lang="en-US" dirty="0"/>
              <a:t>Sample text</a:t>
            </a:r>
            <a:endParaRPr lang="en-US" dirty="0"/>
          </a:p>
          <a:p>
            <a:endParaRPr lang="en-US" dirty="0"/>
          </a:p>
          <a:p>
            <a:endParaRPr lang="en-US" dirty="0"/>
          </a:p>
          <a:p>
            <a:endParaRPr lang="en-US" dirty="0"/>
          </a:p>
          <a:p>
            <a:r>
              <a:rPr lang="en-US" dirty="0"/>
              <a:t>Result</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pic>
        <p:nvPicPr>
          <p:cNvPr id="6" name="Picture 5"/>
          <p:cNvPicPr>
            <a:picLocks noChangeAspect="1"/>
          </p:cNvPicPr>
          <p:nvPr/>
        </p:nvPicPr>
        <p:blipFill>
          <a:blip r:embed="rId1"/>
          <a:stretch>
            <a:fillRect/>
          </a:stretch>
        </p:blipFill>
        <p:spPr>
          <a:xfrm>
            <a:off x="914400" y="3181350"/>
            <a:ext cx="7315200" cy="316741"/>
          </a:xfrm>
          <a:prstGeom prst="rect">
            <a:avLst/>
          </a:prstGeom>
        </p:spPr>
      </p:pic>
      <p:pic>
        <p:nvPicPr>
          <p:cNvPr id="8" name="Picture 7"/>
          <p:cNvPicPr>
            <a:picLocks noChangeAspect="1"/>
          </p:cNvPicPr>
          <p:nvPr/>
        </p:nvPicPr>
        <p:blipFill>
          <a:blip r:embed="rId2"/>
          <a:stretch>
            <a:fillRect/>
          </a:stretch>
        </p:blipFill>
        <p:spPr>
          <a:xfrm>
            <a:off x="914400" y="1451847"/>
            <a:ext cx="7286625" cy="6381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Stop words</a:t>
            </a:r>
            <a:endParaRPr lang="en-US" dirty="0"/>
          </a:p>
        </p:txBody>
      </p:sp>
      <p:sp>
        <p:nvSpPr>
          <p:cNvPr id="3" name="Content Placeholder 2"/>
          <p:cNvSpPr>
            <a:spLocks noGrp="1"/>
          </p:cNvSpPr>
          <p:nvPr>
            <p:ph idx="1"/>
          </p:nvPr>
        </p:nvSpPr>
        <p:spPr/>
        <p:txBody>
          <a:bodyPr/>
          <a:lstStyle/>
          <a:p>
            <a:r>
              <a:rPr lang="en-US" dirty="0"/>
              <a:t>Removing stop words is a common preprocessing step to improve the performance of text analysis.</a:t>
            </a:r>
            <a:endParaRPr lang="en-US" dirty="0"/>
          </a:p>
          <a:p>
            <a:endParaRPr lang="en-US" dirty="0"/>
          </a:p>
          <a:p>
            <a:r>
              <a:rPr lang="en-US" dirty="0"/>
              <a:t>They usually do not carry significant meaning and can be removed from the text to reduce noise in the data.</a:t>
            </a:r>
            <a:endParaRPr lang="en-US" dirty="0"/>
          </a:p>
          <a:p>
            <a:endParaRPr lang="en-US" dirty="0"/>
          </a:p>
          <a:p>
            <a:r>
              <a:rPr lang="en-US" dirty="0"/>
              <a:t>Stop words are common words like "and," "the," "is," etc.,</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Customizing Stop words</a:t>
            </a:r>
            <a:endParaRPr lang="en-US" dirty="0"/>
          </a:p>
        </p:txBody>
      </p:sp>
      <p:sp>
        <p:nvSpPr>
          <p:cNvPr id="3" name="Content Placeholder 2"/>
          <p:cNvSpPr>
            <a:spLocks noGrp="1"/>
          </p:cNvSpPr>
          <p:nvPr>
            <p:ph idx="1"/>
          </p:nvPr>
        </p:nvSpPr>
        <p:spPr/>
        <p:txBody>
          <a:bodyPr>
            <a:normAutofit/>
          </a:bodyPr>
          <a:lstStyle/>
          <a:p>
            <a:r>
              <a:rPr lang="en-US" b="1" dirty="0"/>
              <a:t>Domain-Specific Terms: </a:t>
            </a:r>
            <a:r>
              <a:rPr lang="en-US" dirty="0"/>
              <a:t>In some fields, certain generic words might have importance.</a:t>
            </a:r>
            <a:endParaRPr lang="en-US" dirty="0"/>
          </a:p>
          <a:p>
            <a:pPr lvl="1"/>
            <a:r>
              <a:rPr lang="en-US" dirty="0"/>
              <a:t>Example: "virus" in general texts vs. biomedical texts.</a:t>
            </a:r>
            <a:endParaRPr lang="en-US" dirty="0"/>
          </a:p>
          <a:p>
            <a:r>
              <a:rPr lang="en-US" b="1" dirty="0"/>
              <a:t>Tailoring for Analysis: </a:t>
            </a:r>
            <a:r>
              <a:rPr lang="en-US" dirty="0"/>
              <a:t>Some tasks might require retaining specific stop words.</a:t>
            </a:r>
            <a:endParaRPr lang="en-US" dirty="0"/>
          </a:p>
          <a:p>
            <a:r>
              <a:rPr lang="en-US" dirty="0">
                <a:solidFill>
                  <a:srgbClr val="C00000"/>
                </a:solidFill>
              </a:rPr>
              <a:t>Challenges:</a:t>
            </a:r>
            <a:endParaRPr lang="en-US" dirty="0">
              <a:solidFill>
                <a:srgbClr val="C00000"/>
              </a:solidFill>
            </a:endParaRPr>
          </a:p>
          <a:p>
            <a:pPr lvl="1"/>
            <a:r>
              <a:rPr lang="en-US" dirty="0"/>
              <a:t>Some stop words can be crucial in certain contexts.</a:t>
            </a:r>
            <a:endParaRPr lang="en-US" dirty="0"/>
          </a:p>
          <a:p>
            <a:pPr lvl="2"/>
            <a:r>
              <a:rPr lang="en-US" dirty="0"/>
              <a:t>Example: "To be or not to be" — "to" and "be" are both stop words but are central to the phrase.</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Remove Stop Words - demo</a:t>
            </a:r>
            <a:endParaRPr lang="en-US" dirty="0"/>
          </a:p>
        </p:txBody>
      </p:sp>
      <p:sp>
        <p:nvSpPr>
          <p:cNvPr id="3" name="Content Placeholder 2"/>
          <p:cNvSpPr>
            <a:spLocks noGrp="1"/>
          </p:cNvSpPr>
          <p:nvPr>
            <p:ph idx="1"/>
          </p:nvPr>
        </p:nvSpPr>
        <p:spPr/>
        <p:txBody>
          <a:bodyPr/>
          <a:lstStyle/>
          <a:p>
            <a:r>
              <a:rPr lang="en-US" dirty="0"/>
              <a:t>Import, download and view stop words</a:t>
            </a:r>
            <a:endParaRPr lang="en-US" dirty="0"/>
          </a:p>
          <a:p>
            <a:endParaRPr lang="en-US" dirty="0"/>
          </a:p>
          <a:p>
            <a:endParaRPr lang="en-US" dirty="0"/>
          </a:p>
          <a:p>
            <a:endParaRPr lang="en-US" dirty="0"/>
          </a:p>
          <a:p>
            <a:endParaRPr lang="en-US" dirty="0"/>
          </a:p>
          <a:p>
            <a:r>
              <a:rPr lang="en-US" dirty="0"/>
              <a:t>Result</a:t>
            </a:r>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pic>
        <p:nvPicPr>
          <p:cNvPr id="6" name="Picture 5"/>
          <p:cNvPicPr>
            <a:picLocks noChangeAspect="1"/>
          </p:cNvPicPr>
          <p:nvPr/>
        </p:nvPicPr>
        <p:blipFill>
          <a:blip r:embed="rId1"/>
          <a:stretch>
            <a:fillRect/>
          </a:stretch>
        </p:blipFill>
        <p:spPr>
          <a:xfrm>
            <a:off x="2286000" y="1428750"/>
            <a:ext cx="4419600" cy="1714500"/>
          </a:xfrm>
          <a:prstGeom prst="rect">
            <a:avLst/>
          </a:prstGeom>
        </p:spPr>
      </p:pic>
      <p:pic>
        <p:nvPicPr>
          <p:cNvPr id="8" name="Picture 7"/>
          <p:cNvPicPr>
            <a:picLocks noChangeAspect="1"/>
          </p:cNvPicPr>
          <p:nvPr/>
        </p:nvPicPr>
        <p:blipFill>
          <a:blip r:embed="rId2"/>
          <a:stretch>
            <a:fillRect/>
          </a:stretch>
        </p:blipFill>
        <p:spPr>
          <a:xfrm>
            <a:off x="957262" y="3909640"/>
            <a:ext cx="7077075" cy="84833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Remove Stop Words - demo</a:t>
            </a:r>
            <a:endParaRPr lang="en-US" dirty="0"/>
          </a:p>
        </p:txBody>
      </p:sp>
      <p:sp>
        <p:nvSpPr>
          <p:cNvPr id="3" name="Content Placeholder 2"/>
          <p:cNvSpPr>
            <a:spLocks noGrp="1"/>
          </p:cNvSpPr>
          <p:nvPr>
            <p:ph idx="1"/>
          </p:nvPr>
        </p:nvSpPr>
        <p:spPr/>
        <p:txBody>
          <a:bodyPr/>
          <a:lstStyle/>
          <a:p>
            <a:r>
              <a:rPr lang="en-US" dirty="0"/>
              <a:t>Remove Stop Words</a:t>
            </a:r>
            <a:endParaRPr lang="en-US" dirty="0"/>
          </a:p>
          <a:p>
            <a:endParaRPr lang="en-US" dirty="0"/>
          </a:p>
          <a:p>
            <a:endParaRPr lang="en-US" dirty="0"/>
          </a:p>
          <a:p>
            <a:endParaRPr lang="en-US" dirty="0"/>
          </a:p>
          <a:p>
            <a:r>
              <a:rPr lang="en-US" dirty="0"/>
              <a:t>Result</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pic>
        <p:nvPicPr>
          <p:cNvPr id="8" name="Picture 7"/>
          <p:cNvPicPr>
            <a:picLocks noChangeAspect="1"/>
          </p:cNvPicPr>
          <p:nvPr/>
        </p:nvPicPr>
        <p:blipFill>
          <a:blip r:embed="rId1"/>
          <a:stretch>
            <a:fillRect/>
          </a:stretch>
        </p:blipFill>
        <p:spPr>
          <a:xfrm>
            <a:off x="889000" y="1445419"/>
            <a:ext cx="7467600" cy="876300"/>
          </a:xfrm>
          <a:prstGeom prst="rect">
            <a:avLst/>
          </a:prstGeom>
        </p:spPr>
      </p:pic>
      <p:pic>
        <p:nvPicPr>
          <p:cNvPr id="10" name="Picture 9"/>
          <p:cNvPicPr>
            <a:picLocks noChangeAspect="1"/>
          </p:cNvPicPr>
          <p:nvPr/>
        </p:nvPicPr>
        <p:blipFill>
          <a:blip r:embed="rId2"/>
          <a:stretch>
            <a:fillRect/>
          </a:stretch>
        </p:blipFill>
        <p:spPr>
          <a:xfrm>
            <a:off x="1270000" y="3374790"/>
            <a:ext cx="6705600" cy="86621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a:t>
            </a:r>
            <a:endParaRPr lang="en-US" dirty="0"/>
          </a:p>
        </p:txBody>
      </p:sp>
      <p:sp>
        <p:nvSpPr>
          <p:cNvPr id="3" name="Content Placeholder 2"/>
          <p:cNvSpPr>
            <a:spLocks noGrp="1"/>
          </p:cNvSpPr>
          <p:nvPr>
            <p:ph idx="1"/>
          </p:nvPr>
        </p:nvSpPr>
        <p:spPr/>
        <p:txBody>
          <a:bodyPr/>
          <a:lstStyle/>
          <a:p>
            <a:r>
              <a:rPr lang="en-US" dirty="0"/>
              <a:t>Given the following paragraph: “Natural language processing (NLP) is an interdisciplinary subfield of computer science and artificial intelligence. It is primarily concerned with providing computers with the ability to process data encoded in natural language and is thus closely related to information retrieval, knowledge representation and computational linguistics, a subfield of linguistics.”</a:t>
            </a:r>
            <a:endParaRPr lang="en-US" dirty="0"/>
          </a:p>
          <a:p>
            <a:endParaRPr lang="en-US" dirty="0"/>
          </a:p>
          <a:p>
            <a:r>
              <a:rPr lang="en-US" dirty="0">
                <a:solidFill>
                  <a:srgbClr val="C00000"/>
                </a:solidFill>
              </a:rPr>
              <a:t>Task: Perform all necessary text preprocessing steps.</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Exercise 2:</a:t>
            </a:r>
            <a:endParaRPr lang="zh-CN" altLang="en-US" dirty="0"/>
          </a:p>
        </p:txBody>
      </p:sp>
      <p:sp>
        <p:nvSpPr>
          <p:cNvPr id="4" name="内容占位符 3"/>
          <p:cNvSpPr>
            <a:spLocks noGrp="1"/>
          </p:cNvSpPr>
          <p:nvPr>
            <p:ph idx="1"/>
          </p:nvPr>
        </p:nvSpPr>
        <p:spPr>
          <a:xfrm>
            <a:off x="609602" y="895350"/>
            <a:ext cx="7543801" cy="3429000"/>
          </a:xfrm>
        </p:spPr>
        <p:txBody>
          <a:bodyPr/>
          <a:lstStyle/>
          <a:p>
            <a:r>
              <a:rPr lang="zh-CN" altLang="en-US" sz="2000" dirty="0"/>
              <a:t>Please use Internet resources to find 3 text classification datasets. </a:t>
            </a:r>
            <a:r>
              <a:rPr lang="en-US" altLang="zh-CN" sz="2000" dirty="0"/>
              <a:t>The </a:t>
            </a:r>
            <a:r>
              <a:rPr lang="zh-CN" altLang="en-US" sz="2000" dirty="0"/>
              <a:t>requirement</a:t>
            </a:r>
            <a:r>
              <a:rPr lang="en-US" altLang="zh-CN" sz="2000" dirty="0"/>
              <a:t>s are:</a:t>
            </a:r>
            <a:endParaRPr lang="zh-CN" altLang="en-US" sz="2000" dirty="0"/>
          </a:p>
          <a:p>
            <a:pPr lvl="1"/>
            <a:r>
              <a:rPr lang="zh-CN" altLang="en-US" sz="1710" dirty="0"/>
              <a:t>1. The dataset should ideally have no less than 2000 sample </a:t>
            </a:r>
            <a:r>
              <a:rPr lang="en-US" altLang="zh-CN" sz="1710" dirty="0"/>
              <a:t>instance</a:t>
            </a:r>
            <a:endParaRPr lang="zh-CN" altLang="en-US" sz="1710" dirty="0"/>
          </a:p>
          <a:p>
            <a:pPr lvl="1"/>
            <a:r>
              <a:rPr lang="zh-CN" altLang="en-US" sz="1710" dirty="0"/>
              <a:t>2. Each data </a:t>
            </a:r>
            <a:r>
              <a:rPr lang="en-US" altLang="zh-CN" sz="1710" dirty="0"/>
              <a:t>instance </a:t>
            </a:r>
            <a:r>
              <a:rPr lang="zh-CN" altLang="en-US" sz="1710" dirty="0"/>
              <a:t>requires at least 1 column of text content and 1 column of label content</a:t>
            </a:r>
            <a:endParaRPr lang="zh-CN" altLang="en-US" sz="1710" dirty="0"/>
          </a:p>
          <a:p>
            <a:pPr lvl="1"/>
            <a:r>
              <a:rPr lang="zh-CN" altLang="en-US" sz="1710" dirty="0"/>
              <a:t>3. </a:t>
            </a:r>
            <a:r>
              <a:rPr lang="en-US" altLang="zh-CN" sz="1710" dirty="0"/>
              <a:t>T</a:t>
            </a:r>
            <a:r>
              <a:rPr lang="zh-CN" altLang="en-US" sz="1710" dirty="0"/>
              <a:t>ry to find one </a:t>
            </a:r>
            <a:r>
              <a:rPr lang="en-US" altLang="zh-CN" sz="1710" dirty="0"/>
              <a:t>copy</a:t>
            </a:r>
            <a:r>
              <a:rPr lang="zh-CN" altLang="en-US" sz="1710" dirty="0"/>
              <a:t> of txt, one copy of csv, and one copy of json data.</a:t>
            </a:r>
            <a:endParaRPr lang="en-US" altLang="zh-CN" sz="1710" dirty="0"/>
          </a:p>
          <a:p>
            <a:pPr lvl="1"/>
            <a:endParaRPr lang="en-US" altLang="zh-CN" sz="1710" dirty="0"/>
          </a:p>
          <a:p>
            <a:r>
              <a:rPr lang="en-US" altLang="zh-CN" sz="2010" dirty="0">
                <a:solidFill>
                  <a:srgbClr val="C00000"/>
                </a:solidFill>
              </a:rPr>
              <a:t>Tasks: </a:t>
            </a:r>
            <a:endParaRPr lang="en-US" altLang="zh-CN" sz="2010" dirty="0">
              <a:solidFill>
                <a:srgbClr val="C00000"/>
              </a:solidFill>
            </a:endParaRPr>
          </a:p>
          <a:p>
            <a:pPr lvl="1"/>
            <a:r>
              <a:rPr lang="en-US" altLang="zh-CN" sz="1710" dirty="0">
                <a:solidFill>
                  <a:srgbClr val="C00000"/>
                </a:solidFill>
              </a:rPr>
              <a:t>1. understand how to read and write files using python</a:t>
            </a:r>
            <a:endParaRPr lang="en-US" altLang="zh-CN" sz="1710" dirty="0">
              <a:solidFill>
                <a:srgbClr val="C00000"/>
              </a:solidFill>
            </a:endParaRPr>
          </a:p>
          <a:p>
            <a:pPr lvl="1"/>
            <a:r>
              <a:rPr lang="en-US" altLang="zh-CN" sz="1710" dirty="0">
                <a:solidFill>
                  <a:srgbClr val="C00000"/>
                </a:solidFill>
              </a:rPr>
              <a:t>2. Perform necessary text preprocessing steps for the datasets.</a:t>
            </a:r>
            <a:endParaRPr lang="en-US" altLang="zh-CN" sz="1710" dirty="0">
              <a:solidFill>
                <a:srgbClr val="C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457200" y="212407"/>
            <a:ext cx="8331200" cy="540068"/>
          </a:xfrm>
        </p:spPr>
        <p:txBody>
          <a:bodyPr/>
          <a:lstStyle/>
          <a:p>
            <a:r>
              <a:rPr lang="en-US" altLang="zh-CN" dirty="0"/>
              <a:t>Solution-1</a:t>
            </a:r>
            <a:endParaRPr lang="en-US" altLang="zh-CN" dirty="0"/>
          </a:p>
        </p:txBody>
      </p:sp>
      <p:pic>
        <p:nvPicPr>
          <p:cNvPr id="7" name="图片 6"/>
          <p:cNvPicPr>
            <a:picLocks noChangeAspect="1"/>
          </p:cNvPicPr>
          <p:nvPr/>
        </p:nvPicPr>
        <p:blipFill>
          <a:blip r:embed="rId1"/>
          <a:stretch>
            <a:fillRect/>
          </a:stretch>
        </p:blipFill>
        <p:spPr>
          <a:xfrm>
            <a:off x="479834" y="987743"/>
            <a:ext cx="3920397" cy="3943350"/>
          </a:xfrm>
          <a:prstGeom prst="rect">
            <a:avLst/>
          </a:prstGeom>
        </p:spPr>
      </p:pic>
      <p:sp>
        <p:nvSpPr>
          <p:cNvPr id="8" name="文本框 7"/>
          <p:cNvSpPr txBox="1"/>
          <p:nvPr/>
        </p:nvSpPr>
        <p:spPr>
          <a:xfrm>
            <a:off x="381250" y="690057"/>
            <a:ext cx="2971549" cy="307777"/>
          </a:xfrm>
          <a:prstGeom prst="rect">
            <a:avLst/>
          </a:prstGeom>
          <a:noFill/>
        </p:spPr>
        <p:txBody>
          <a:bodyPr wrap="square" rtlCol="0">
            <a:spAutoFit/>
          </a:bodyPr>
          <a:lstStyle/>
          <a:p>
            <a:r>
              <a:rPr lang="en-GB" sz="1400" dirty="0">
                <a:latin typeface="Times New Roman" panose="02020503050405090304" pitchFamily="18" charset="0"/>
                <a:cs typeface="Times New Roman" panose="02020503050405090304" pitchFamily="18" charset="0"/>
              </a:rPr>
              <a:t>Read the txt format dataset</a:t>
            </a:r>
            <a:endParaRPr lang="en-GB" sz="1400" dirty="0">
              <a:latin typeface="Times New Roman" panose="02020503050405090304" pitchFamily="18" charset="0"/>
              <a:cs typeface="Times New Roman" panose="02020503050405090304" pitchFamily="18" charset="0"/>
            </a:endParaRPr>
          </a:p>
        </p:txBody>
      </p:sp>
      <p:pic>
        <p:nvPicPr>
          <p:cNvPr id="10" name="图片 9"/>
          <p:cNvPicPr>
            <a:picLocks noChangeAspect="1"/>
          </p:cNvPicPr>
          <p:nvPr/>
        </p:nvPicPr>
        <p:blipFill>
          <a:blip r:embed="rId2"/>
          <a:stretch>
            <a:fillRect/>
          </a:stretch>
        </p:blipFill>
        <p:spPr>
          <a:xfrm>
            <a:off x="4724400" y="987743"/>
            <a:ext cx="2520085" cy="1279207"/>
          </a:xfrm>
          <a:prstGeom prst="rect">
            <a:avLst/>
          </a:prstGeom>
        </p:spPr>
      </p:pic>
      <p:sp>
        <p:nvSpPr>
          <p:cNvPr id="11" name="文本框 10"/>
          <p:cNvSpPr txBox="1"/>
          <p:nvPr/>
        </p:nvSpPr>
        <p:spPr>
          <a:xfrm>
            <a:off x="4648200" y="690056"/>
            <a:ext cx="3048000" cy="307777"/>
          </a:xfrm>
          <a:prstGeom prst="rect">
            <a:avLst/>
          </a:prstGeom>
          <a:noFill/>
        </p:spPr>
        <p:txBody>
          <a:bodyPr wrap="square" rtlCol="0">
            <a:spAutoFit/>
          </a:bodyPr>
          <a:lstStyle/>
          <a:p>
            <a:r>
              <a:rPr lang="en-GB" sz="1400" dirty="0">
                <a:latin typeface="Times New Roman" panose="02020503050405090304" pitchFamily="18" charset="0"/>
                <a:cs typeface="Times New Roman" panose="02020503050405090304" pitchFamily="18" charset="0"/>
              </a:rPr>
              <a:t>Print the content and label examples</a:t>
            </a:r>
            <a:endParaRPr lang="en-GB" sz="1400" dirty="0">
              <a:latin typeface="Times New Roman" panose="02020503050405090304" pitchFamily="18" charset="0"/>
              <a:cs typeface="Times New Roman" panose="02020503050405090304" pitchFamily="18" charset="0"/>
            </a:endParaRPr>
          </a:p>
        </p:txBody>
      </p:sp>
      <p:sp>
        <p:nvSpPr>
          <p:cNvPr id="12" name="文本框 11"/>
          <p:cNvSpPr txBox="1"/>
          <p:nvPr/>
        </p:nvSpPr>
        <p:spPr>
          <a:xfrm>
            <a:off x="4724400" y="2263973"/>
            <a:ext cx="2743200" cy="307777"/>
          </a:xfrm>
          <a:prstGeom prst="rect">
            <a:avLst/>
          </a:prstGeom>
          <a:noFill/>
        </p:spPr>
        <p:txBody>
          <a:bodyPr wrap="square" rtlCol="0">
            <a:spAutoFit/>
          </a:bodyPr>
          <a:lstStyle/>
          <a:p>
            <a:r>
              <a:rPr lang="en-GB" sz="1400" dirty="0">
                <a:latin typeface="Times New Roman" panose="02020503050405090304" pitchFamily="18" charset="0"/>
                <a:cs typeface="Times New Roman" panose="02020503050405090304" pitchFamily="18" charset="0"/>
              </a:rPr>
              <a:t>Output</a:t>
            </a:r>
            <a:endParaRPr lang="en-GB" sz="1400" dirty="0">
              <a:latin typeface="Times New Roman" panose="02020503050405090304" pitchFamily="18" charset="0"/>
              <a:cs typeface="Times New Roman" panose="02020503050405090304" pitchFamily="18" charset="0"/>
            </a:endParaRPr>
          </a:p>
        </p:txBody>
      </p:sp>
      <p:pic>
        <p:nvPicPr>
          <p:cNvPr id="16" name="图片 15"/>
          <p:cNvPicPr>
            <a:picLocks noChangeAspect="1"/>
          </p:cNvPicPr>
          <p:nvPr/>
        </p:nvPicPr>
        <p:blipFill>
          <a:blip r:embed="rId3"/>
          <a:stretch>
            <a:fillRect/>
          </a:stretch>
        </p:blipFill>
        <p:spPr>
          <a:xfrm>
            <a:off x="4724400" y="2549598"/>
            <a:ext cx="3657600" cy="238149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457200" y="212407"/>
            <a:ext cx="8331200" cy="540068"/>
          </a:xfrm>
        </p:spPr>
        <p:txBody>
          <a:bodyPr/>
          <a:lstStyle/>
          <a:p>
            <a:r>
              <a:rPr lang="en-US" altLang="zh-CN" dirty="0"/>
              <a:t>Solution-1</a:t>
            </a:r>
            <a:endParaRPr lang="en-US" altLang="zh-CN" dirty="0"/>
          </a:p>
        </p:txBody>
      </p:sp>
      <p:sp>
        <p:nvSpPr>
          <p:cNvPr id="8" name="文本框 7"/>
          <p:cNvSpPr txBox="1"/>
          <p:nvPr/>
        </p:nvSpPr>
        <p:spPr>
          <a:xfrm>
            <a:off x="381251" y="690057"/>
            <a:ext cx="1371600" cy="307777"/>
          </a:xfrm>
          <a:prstGeom prst="rect">
            <a:avLst/>
          </a:prstGeom>
          <a:noFill/>
        </p:spPr>
        <p:txBody>
          <a:bodyPr wrap="square" rtlCol="0">
            <a:spAutoFit/>
          </a:bodyPr>
          <a:lstStyle/>
          <a:p>
            <a:r>
              <a:rPr lang="en-GB" sz="1400" dirty="0">
                <a:latin typeface="Times New Roman" panose="02020503050405090304" pitchFamily="18" charset="0"/>
                <a:cs typeface="Times New Roman" panose="02020503050405090304" pitchFamily="18" charset="0"/>
              </a:rPr>
              <a:t>Save to csv</a:t>
            </a:r>
            <a:endParaRPr lang="en-GB" sz="1400" dirty="0">
              <a:latin typeface="Times New Roman" panose="02020503050405090304" pitchFamily="18" charset="0"/>
              <a:cs typeface="Times New Roman" panose="02020503050405090304" pitchFamily="18" charset="0"/>
            </a:endParaRPr>
          </a:p>
        </p:txBody>
      </p:sp>
      <p:pic>
        <p:nvPicPr>
          <p:cNvPr id="3" name="图片 2"/>
          <p:cNvPicPr>
            <a:picLocks noChangeAspect="1"/>
          </p:cNvPicPr>
          <p:nvPr/>
        </p:nvPicPr>
        <p:blipFill>
          <a:blip r:embed="rId1"/>
          <a:stretch>
            <a:fillRect/>
          </a:stretch>
        </p:blipFill>
        <p:spPr>
          <a:xfrm>
            <a:off x="457200" y="1123951"/>
            <a:ext cx="4067597" cy="2971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457200" y="212407"/>
            <a:ext cx="8331200" cy="540068"/>
          </a:xfrm>
        </p:spPr>
        <p:txBody>
          <a:bodyPr/>
          <a:lstStyle/>
          <a:p>
            <a:r>
              <a:rPr lang="en-US" altLang="zh-CN" dirty="0"/>
              <a:t>Solution-2</a:t>
            </a:r>
            <a:endParaRPr lang="en-US" altLang="zh-CN" dirty="0"/>
          </a:p>
        </p:txBody>
      </p:sp>
      <p:sp>
        <p:nvSpPr>
          <p:cNvPr id="8" name="文本框 7"/>
          <p:cNvSpPr txBox="1"/>
          <p:nvPr/>
        </p:nvSpPr>
        <p:spPr>
          <a:xfrm>
            <a:off x="381250" y="690057"/>
            <a:ext cx="2743199" cy="307777"/>
          </a:xfrm>
          <a:prstGeom prst="rect">
            <a:avLst/>
          </a:prstGeom>
          <a:noFill/>
        </p:spPr>
        <p:txBody>
          <a:bodyPr wrap="square" rtlCol="0">
            <a:spAutoFit/>
          </a:bodyPr>
          <a:lstStyle/>
          <a:p>
            <a:r>
              <a:rPr lang="en-GB" sz="1400" dirty="0">
                <a:latin typeface="Times New Roman" panose="02020503050405090304" pitchFamily="18" charset="0"/>
                <a:cs typeface="Times New Roman" panose="02020503050405090304" pitchFamily="18" charset="0"/>
              </a:rPr>
              <a:t>Read the Json format dataset</a:t>
            </a:r>
            <a:endParaRPr lang="en-GB" sz="1400" dirty="0">
              <a:latin typeface="Times New Roman" panose="02020503050405090304" pitchFamily="18" charset="0"/>
              <a:cs typeface="Times New Roman" panose="02020503050405090304" pitchFamily="18" charset="0"/>
            </a:endParaRPr>
          </a:p>
        </p:txBody>
      </p:sp>
      <p:sp>
        <p:nvSpPr>
          <p:cNvPr id="12" name="文本框 11"/>
          <p:cNvSpPr txBox="1"/>
          <p:nvPr/>
        </p:nvSpPr>
        <p:spPr>
          <a:xfrm>
            <a:off x="3429000" y="694206"/>
            <a:ext cx="2743200" cy="307777"/>
          </a:xfrm>
          <a:prstGeom prst="rect">
            <a:avLst/>
          </a:prstGeom>
          <a:noFill/>
        </p:spPr>
        <p:txBody>
          <a:bodyPr wrap="square" rtlCol="0">
            <a:spAutoFit/>
          </a:bodyPr>
          <a:lstStyle/>
          <a:p>
            <a:r>
              <a:rPr lang="en-GB" sz="1400" dirty="0">
                <a:latin typeface="Times New Roman" panose="02020503050405090304" pitchFamily="18" charset="0"/>
                <a:cs typeface="Times New Roman" panose="02020503050405090304" pitchFamily="18" charset="0"/>
              </a:rPr>
              <a:t>Output</a:t>
            </a:r>
            <a:endParaRPr lang="en-GB" sz="1400" dirty="0">
              <a:latin typeface="Times New Roman" panose="02020503050405090304" pitchFamily="18" charset="0"/>
              <a:cs typeface="Times New Roman" panose="02020503050405090304" pitchFamily="18" charset="0"/>
            </a:endParaRPr>
          </a:p>
        </p:txBody>
      </p:sp>
      <p:pic>
        <p:nvPicPr>
          <p:cNvPr id="5" name="图片 4"/>
          <p:cNvPicPr>
            <a:picLocks noChangeAspect="1"/>
          </p:cNvPicPr>
          <p:nvPr/>
        </p:nvPicPr>
        <p:blipFill>
          <a:blip r:embed="rId1"/>
          <a:stretch>
            <a:fillRect/>
          </a:stretch>
        </p:blipFill>
        <p:spPr>
          <a:xfrm>
            <a:off x="3276599" y="997834"/>
            <a:ext cx="5634823" cy="1802516"/>
          </a:xfrm>
          <a:prstGeom prst="rect">
            <a:avLst/>
          </a:prstGeom>
        </p:spPr>
      </p:pic>
      <p:pic>
        <p:nvPicPr>
          <p:cNvPr id="13" name="图片 12"/>
          <p:cNvPicPr>
            <a:picLocks noChangeAspect="1"/>
          </p:cNvPicPr>
          <p:nvPr/>
        </p:nvPicPr>
        <p:blipFill>
          <a:blip r:embed="rId2"/>
          <a:stretch>
            <a:fillRect/>
          </a:stretch>
        </p:blipFill>
        <p:spPr>
          <a:xfrm>
            <a:off x="457200" y="984819"/>
            <a:ext cx="2369344" cy="37909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rotWithShape="1">
          <a:blip r:embed="rId1">
            <a:extLst>
              <a:ext uri="{28A0092B-C50C-407E-A947-70E740481C1C}">
                <a14:useLocalDpi xmlns:a14="http://schemas.microsoft.com/office/drawing/2010/main" val="0"/>
              </a:ext>
            </a:extLst>
          </a:blip>
          <a:srcRect b="24119"/>
          <a:stretch>
            <a:fillRect/>
          </a:stretch>
        </p:blipFill>
        <p:spPr>
          <a:xfrm>
            <a:off x="0" y="6350"/>
            <a:ext cx="9144000" cy="2514601"/>
          </a:xfrm>
          <a:prstGeom prst="rect">
            <a:avLst/>
          </a:prstGeom>
        </p:spPr>
      </p:pic>
      <p:pic>
        <p:nvPicPr>
          <p:cNvPr id="22" name="Picture 21"/>
          <p:cNvPicPr>
            <a:picLocks noChangeAspect="1"/>
          </p:cNvPicPr>
          <p:nvPr/>
        </p:nvPicPr>
        <p:blipFill>
          <a:blip r:embed="rId2"/>
          <a:stretch>
            <a:fillRect/>
          </a:stretch>
        </p:blipFill>
        <p:spPr>
          <a:xfrm>
            <a:off x="4196802" y="3970977"/>
            <a:ext cx="1317415" cy="281800"/>
          </a:xfrm>
          <a:prstGeom prst="rect">
            <a:avLst/>
          </a:prstGeom>
        </p:spPr>
      </p:pic>
      <p:sp>
        <p:nvSpPr>
          <p:cNvPr id="34" name="Rectangle 33"/>
          <p:cNvSpPr/>
          <p:nvPr/>
        </p:nvSpPr>
        <p:spPr>
          <a:xfrm>
            <a:off x="3236667" y="2234122"/>
            <a:ext cx="2662167" cy="644978"/>
          </a:xfrm>
          <a:prstGeom prst="rect">
            <a:avLst/>
          </a:prstGeom>
          <a:solidFill>
            <a:srgbClr val="00054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18" name="Title 1"/>
          <p:cNvSpPr txBox="1"/>
          <p:nvPr/>
        </p:nvSpPr>
        <p:spPr>
          <a:xfrm>
            <a:off x="2386013" y="2123817"/>
            <a:ext cx="4371975" cy="826889"/>
          </a:xfrm>
          <a:prstGeom prst="rect">
            <a:avLst/>
          </a:prstGeom>
        </p:spPr>
        <p:txBody>
          <a:bodyPr vert="horz" lIns="51435" tIns="25718" rIns="51435" bIns="25718"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375" b="1" cap="all" dirty="0">
                <a:solidFill>
                  <a:schemeClr val="bg1"/>
                </a:solidFill>
                <a:latin typeface="Calibri"/>
                <a:cs typeface="Calibri"/>
              </a:rPr>
              <a:t>THANK YOU</a:t>
            </a:r>
            <a:endParaRPr lang="en-US" sz="3375" b="1" cap="all" spc="169" dirty="0">
              <a:solidFill>
                <a:schemeClr val="bg1"/>
              </a:solidFill>
              <a:latin typeface="Calibri"/>
              <a:cs typeface="Calibri"/>
            </a:endParaRPr>
          </a:p>
        </p:txBody>
      </p:sp>
      <p:sp>
        <p:nvSpPr>
          <p:cNvPr id="25" name="Subtitle 2"/>
          <p:cNvSpPr txBox="1"/>
          <p:nvPr/>
        </p:nvSpPr>
        <p:spPr>
          <a:xfrm>
            <a:off x="3382213" y="3364089"/>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1350" b="1" cap="all" dirty="0">
                <a:solidFill>
                  <a:srgbClr val="000044"/>
                </a:solidFill>
                <a:cs typeface="DIN-Regular"/>
              </a:rPr>
              <a:t>Visit us</a:t>
            </a:r>
            <a:endParaRPr lang="en-US" sz="1350" b="1" cap="all" dirty="0">
              <a:solidFill>
                <a:srgbClr val="000044"/>
              </a:solidFill>
              <a:cs typeface="DIN-Regular"/>
            </a:endParaRP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8217" y="3214135"/>
            <a:ext cx="553997" cy="553997"/>
          </a:xfrm>
          <a:prstGeom prst="rect">
            <a:avLst/>
          </a:prstGeom>
        </p:spPr>
      </p:pic>
      <p:sp>
        <p:nvSpPr>
          <p:cNvPr id="29" name="Rectangle 28"/>
          <p:cNvSpPr/>
          <p:nvPr/>
        </p:nvSpPr>
        <p:spPr>
          <a:xfrm>
            <a:off x="3439931" y="3254853"/>
            <a:ext cx="162000" cy="3645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33" name="Subtitle 2"/>
          <p:cNvSpPr txBox="1"/>
          <p:nvPr/>
        </p:nvSpPr>
        <p:spPr>
          <a:xfrm>
            <a:off x="5740581" y="3360007"/>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1350" b="1" cap="all" dirty="0">
                <a:solidFill>
                  <a:srgbClr val="000044"/>
                </a:solidFill>
                <a:cs typeface="DIN-Regular"/>
              </a:rPr>
              <a:t>FOLLOW us</a:t>
            </a:r>
            <a:endParaRPr lang="en-US" sz="1350" b="1" cap="all" dirty="0">
              <a:solidFill>
                <a:srgbClr val="000044"/>
              </a:solidFill>
              <a:cs typeface="DIN-Regular"/>
            </a:endParaRPr>
          </a:p>
        </p:txBody>
      </p:sp>
      <p:sp>
        <p:nvSpPr>
          <p:cNvPr id="35" name="Rectangle 34"/>
          <p:cNvSpPr/>
          <p:nvPr/>
        </p:nvSpPr>
        <p:spPr>
          <a:xfrm>
            <a:off x="5798299" y="3254853"/>
            <a:ext cx="162000" cy="3645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grpSp>
        <p:nvGrpSpPr>
          <p:cNvPr id="36" name="Group 35"/>
          <p:cNvGrpSpPr/>
          <p:nvPr/>
        </p:nvGrpSpPr>
        <p:grpSpPr>
          <a:xfrm>
            <a:off x="5162170" y="3214138"/>
            <a:ext cx="583358" cy="548171"/>
            <a:chOff x="7496912" y="3906329"/>
            <a:chExt cx="1093174" cy="1027237"/>
          </a:xfrm>
        </p:grpSpPr>
        <p:pic>
          <p:nvPicPr>
            <p:cNvPr id="37" name="Picture 36"/>
            <p:cNvPicPr>
              <a:picLocks noChangeAspect="1"/>
            </p:cNvPicPr>
            <p:nvPr/>
          </p:nvPicPr>
          <p:blipFill rotWithShape="1">
            <a:blip r:embed="rId4">
              <a:extLst>
                <a:ext uri="{28A0092B-C50C-407E-A947-70E740481C1C}">
                  <a14:useLocalDpi xmlns:a14="http://schemas.microsoft.com/office/drawing/2010/main" val="0"/>
                </a:ext>
              </a:extLst>
            </a:blip>
            <a:srcRect r="51558" b="75832"/>
            <a:stretch>
              <a:fillRect/>
            </a:stretch>
          </p:blipFill>
          <p:spPr>
            <a:xfrm>
              <a:off x="7496912" y="3906329"/>
              <a:ext cx="1093174" cy="531499"/>
            </a:xfrm>
            <a:prstGeom prst="rect">
              <a:avLst/>
            </a:prstGeom>
          </p:spPr>
        </p:pic>
        <p:pic>
          <p:nvPicPr>
            <p:cNvPr id="38" name="Picture 37"/>
            <p:cNvPicPr>
              <a:picLocks noChangeAspect="1"/>
            </p:cNvPicPr>
            <p:nvPr/>
          </p:nvPicPr>
          <p:blipFill rotWithShape="1">
            <a:blip r:embed="rId4">
              <a:extLst>
                <a:ext uri="{28A0092B-C50C-407E-A947-70E740481C1C}">
                  <a14:useLocalDpi xmlns:a14="http://schemas.microsoft.com/office/drawing/2010/main" val="0"/>
                </a:ext>
              </a:extLst>
            </a:blip>
            <a:srcRect l="48522" t="-22" r="27371" b="76543"/>
            <a:stretch>
              <a:fillRect/>
            </a:stretch>
          </p:blipFill>
          <p:spPr>
            <a:xfrm>
              <a:off x="7505704" y="4441198"/>
              <a:ext cx="518747" cy="492368"/>
            </a:xfrm>
            <a:prstGeom prst="rect">
              <a:avLst/>
            </a:prstGeom>
          </p:spPr>
        </p:pic>
        <p:pic>
          <p:nvPicPr>
            <p:cNvPr id="40" name="Picture 39"/>
            <p:cNvPicPr>
              <a:picLocks noChangeAspect="1"/>
            </p:cNvPicPr>
            <p:nvPr/>
          </p:nvPicPr>
          <p:blipFill rotWithShape="1">
            <a:blip r:embed="rId4">
              <a:extLst>
                <a:ext uri="{28A0092B-C50C-407E-A947-70E740481C1C}">
                  <a14:useLocalDpi xmlns:a14="http://schemas.microsoft.com/office/drawing/2010/main" val="0"/>
                </a:ext>
              </a:extLst>
            </a:blip>
            <a:srcRect l="25036" t="23779" r="51266" b="51483"/>
            <a:stretch>
              <a:fillRect/>
            </a:stretch>
          </p:blipFill>
          <p:spPr>
            <a:xfrm>
              <a:off x="8078919" y="4414820"/>
              <a:ext cx="509954" cy="518746"/>
            </a:xfrm>
            <a:prstGeom prst="rect">
              <a:avLst/>
            </a:prstGeom>
          </p:spPr>
        </p:pic>
      </p:grpSp>
      <p:sp>
        <p:nvSpPr>
          <p:cNvPr id="41" name="Subtitle 2"/>
          <p:cNvSpPr txBox="1"/>
          <p:nvPr/>
        </p:nvSpPr>
        <p:spPr>
          <a:xfrm>
            <a:off x="3385249" y="3548399"/>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675" b="1" cap="all" dirty="0">
                <a:solidFill>
                  <a:srgbClr val="FFFF00"/>
                </a:solidFill>
                <a:cs typeface="DIN-Regular"/>
                <a:hlinkClick r:id="rId5"/>
              </a:rPr>
              <a:t>www.xjtlu.edu.cn</a:t>
            </a:r>
            <a:endParaRPr lang="en-US" sz="620" b="1" cap="all" dirty="0">
              <a:solidFill>
                <a:srgbClr val="FFFF00"/>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16009"/>
    </mc:Choice>
    <mc:Fallback>
      <p:transition spd="slow" advTm="16009"/>
    </mc:Fallback>
  </mc:AlternateContent>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4055</Words>
  <Application>WPS 演示</Application>
  <PresentationFormat>On-screen Show (16:9)</PresentationFormat>
  <Paragraphs>256</Paragraphs>
  <Slides>26</Slides>
  <Notes>2</Notes>
  <HiddenSlides>0</HiddenSlides>
  <MMClips>0</MMClips>
  <ScaleCrop>false</ScaleCrop>
  <HeadingPairs>
    <vt:vector size="6" baseType="variant">
      <vt:variant>
        <vt:lpstr>已用的字体</vt:lpstr>
      </vt:variant>
      <vt:variant>
        <vt:i4>24</vt:i4>
      </vt:variant>
      <vt:variant>
        <vt:lpstr>主题</vt:lpstr>
      </vt:variant>
      <vt:variant>
        <vt:i4>2</vt:i4>
      </vt:variant>
      <vt:variant>
        <vt:lpstr>幻灯片标题</vt:lpstr>
      </vt:variant>
      <vt:variant>
        <vt:i4>26</vt:i4>
      </vt:variant>
    </vt:vector>
  </HeadingPairs>
  <TitlesOfParts>
    <vt:vector size="52" baseType="lpstr">
      <vt:lpstr>Arial</vt:lpstr>
      <vt:lpstr>宋体</vt:lpstr>
      <vt:lpstr>Wingdings</vt:lpstr>
      <vt:lpstr>Lucida Sans</vt:lpstr>
      <vt:lpstr>苹方-简</vt:lpstr>
      <vt:lpstr>MS PGothic</vt:lpstr>
      <vt:lpstr>Calibri</vt:lpstr>
      <vt:lpstr>Helvetica Neue</vt:lpstr>
      <vt:lpstr>Helvetica Neue UltraLight</vt:lpstr>
      <vt:lpstr>Times New Roman</vt:lpstr>
      <vt:lpstr>Arial</vt:lpstr>
      <vt:lpstr>Times New Roman Regular</vt:lpstr>
      <vt:lpstr>MS PGothic</vt:lpstr>
      <vt:lpstr>冬青黑体简体中文</vt:lpstr>
      <vt:lpstr>Tahoma</vt:lpstr>
      <vt:lpstr>DIN-Regular</vt:lpstr>
      <vt:lpstr>Thonburi</vt:lpstr>
      <vt:lpstr>微软雅黑</vt:lpstr>
      <vt:lpstr>汉仪旗黑</vt:lpstr>
      <vt:lpstr>宋体</vt:lpstr>
      <vt:lpstr>Arial Unicode MS</vt:lpstr>
      <vt:lpstr>Calibri Light</vt:lpstr>
      <vt:lpstr>汉仪书宋二KW</vt:lpstr>
      <vt:lpstr>Calibri</vt:lpstr>
      <vt:lpstr>Retrospect</vt:lpstr>
      <vt:lpstr>Default Theme</vt:lpstr>
      <vt:lpstr>Natural Language Processing DTS305TC</vt:lpstr>
      <vt:lpstr>Overview</vt:lpstr>
      <vt:lpstr>Natural language Toolkit [nltk]</vt:lpstr>
      <vt:lpstr>Tokenization</vt:lpstr>
      <vt:lpstr>Tokenization - Demo</vt:lpstr>
      <vt:lpstr>Tokenization - Demo</vt:lpstr>
      <vt:lpstr>Tokenization - Demo</vt:lpstr>
      <vt:lpstr>Tokenization - Demo</vt:lpstr>
      <vt:lpstr>Stemming vs lemmatization</vt:lpstr>
      <vt:lpstr>Common stemming algorithms</vt:lpstr>
      <vt:lpstr>Stemming</vt:lpstr>
      <vt:lpstr>Stemming Demo</vt:lpstr>
      <vt:lpstr>Lemmatization</vt:lpstr>
      <vt:lpstr>Lemmatization - demo</vt:lpstr>
      <vt:lpstr>Lemmatization - demo</vt:lpstr>
      <vt:lpstr>Lemmatization - demo</vt:lpstr>
      <vt:lpstr>Stop words</vt:lpstr>
      <vt:lpstr>Customizing Stop words</vt:lpstr>
      <vt:lpstr>Remove Stop Words - demo</vt:lpstr>
      <vt:lpstr>Remove Stop Words - demo</vt:lpstr>
      <vt:lpstr>Exercise 1:</vt:lpstr>
      <vt:lpstr>Exercise 2:</vt:lpstr>
      <vt:lpstr>Solution-1</vt:lpstr>
      <vt:lpstr>Solution-1</vt:lpstr>
      <vt:lpstr>Solution-2</vt:lpstr>
      <vt:lpstr>PowerPoint 演示文稿</vt:lpstr>
    </vt:vector>
  </TitlesOfParts>
  <Company>Stanford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Extraction</dc:title>
  <dc:creator>Christopher Manning</dc:creator>
  <cp:lastModifiedBy>华康</cp:lastModifiedBy>
  <cp:revision>418</cp:revision>
  <cp:lastPrinted>2024-09-09T07:14:32Z</cp:lastPrinted>
  <dcterms:created xsi:type="dcterms:W3CDTF">2024-09-09T07:14:32Z</dcterms:created>
  <dcterms:modified xsi:type="dcterms:W3CDTF">2024-09-09T07:14:32Z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7F674F714E0CF6726805D0666F15DC9A_42</vt:lpwstr>
  </property>
  <property fmtid="{D5CDD505-2E9C-101B-9397-08002B2CF9AE}" pid="3" name="KSOProductBuildVer">
    <vt:lpwstr>2052-6.7.1.8828</vt:lpwstr>
  </property>
</Properties>
</file>