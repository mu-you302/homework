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32"/>
  </p:handoutMasterIdLst>
  <p:sldIdLst>
    <p:sldId id="256" r:id="rId4"/>
    <p:sldId id="1942" r:id="rId6"/>
    <p:sldId id="1914" r:id="rId7"/>
    <p:sldId id="1953" r:id="rId8"/>
    <p:sldId id="1916" r:id="rId9"/>
    <p:sldId id="1917" r:id="rId10"/>
    <p:sldId id="1918" r:id="rId11"/>
    <p:sldId id="1919" r:id="rId12"/>
    <p:sldId id="1920" r:id="rId13"/>
    <p:sldId id="1923" r:id="rId14"/>
    <p:sldId id="1943" r:id="rId15"/>
    <p:sldId id="1954" r:id="rId16"/>
    <p:sldId id="1955" r:id="rId17"/>
    <p:sldId id="1961" r:id="rId18"/>
    <p:sldId id="1962" r:id="rId19"/>
    <p:sldId id="1959" r:id="rId20"/>
    <p:sldId id="1960" r:id="rId21"/>
    <p:sldId id="1963" r:id="rId22"/>
    <p:sldId id="1964" r:id="rId23"/>
    <p:sldId id="1956" r:id="rId24"/>
    <p:sldId id="1957" r:id="rId25"/>
    <p:sldId id="1965" r:id="rId26"/>
    <p:sldId id="1966" r:id="rId27"/>
    <p:sldId id="1958" r:id="rId28"/>
    <p:sldId id="1967" r:id="rId29"/>
    <p:sldId id="1968" r:id="rId30"/>
    <p:sldId id="391" r:id="rId31"/>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99" autoAdjust="0"/>
    <p:restoredTop sz="95865" autoAdjust="0"/>
  </p:normalViewPr>
  <p:slideViewPr>
    <p:cSldViewPr showGuides="1">
      <p:cViewPr varScale="1">
        <p:scale>
          <a:sx n="151" d="100"/>
          <a:sy n="151" d="100"/>
        </p:scale>
        <p:origin x="312" y="152"/>
      </p:cViewPr>
      <p:guideLst>
        <p:guide orient="horz" pos="1566"/>
        <p:guide pos="289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6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6.png"/><Relationship Id="rId13" Type="http://schemas.openxmlformats.org/officeDocument/2006/relationships/slideLayout" Target="../slideLayouts/slideLayout23.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9" Type="http://schemas.openxmlformats.org/officeDocument/2006/relationships/slideLayout" Target="../slideLayouts/slideLayout23.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5.xml"/></Relationships>
</file>

<file path=ppt/slides/_rels/slide8.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12.png"/><Relationship Id="rId2" Type="http://schemas.openxmlformats.org/officeDocument/2006/relationships/tags" Target="../tags/tag29.xml"/><Relationship Id="rId11" Type="http://schemas.openxmlformats.org/officeDocument/2006/relationships/slideLayout" Target="../slideLayouts/slideLayout23.xml"/><Relationship Id="rId10" Type="http://schemas.openxmlformats.org/officeDocument/2006/relationships/tags" Target="../tags/tag36.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6.png"/><Relationship Id="rId2" Type="http://schemas.openxmlformats.org/officeDocument/2006/relationships/tags" Target="../tags/tag3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4.png"/><Relationship Id="rId1" Type="http://schemas.openxmlformats.org/officeDocument/2006/relationships/tags" Target="../tags/tag4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5.png"/><Relationship Id="rId1" Type="http://schemas.openxmlformats.org/officeDocument/2006/relationships/tags" Target="../tags/tag4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6.png"/><Relationship Id="rId1" Type="http://schemas.openxmlformats.org/officeDocument/2006/relationships/tags" Target="../tags/tag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7.png"/><Relationship Id="rId1"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8.png"/><Relationship Id="rId1" Type="http://schemas.openxmlformats.org/officeDocument/2006/relationships/tags" Target="../tags/tag4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19.png"/><Relationship Id="rId1" Type="http://schemas.openxmlformats.org/officeDocument/2006/relationships/tags" Target="../tags/tag4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20.png"/><Relationship Id="rId1" Type="http://schemas.openxmlformats.org/officeDocument/2006/relationships/tags" Target="../tags/tag49.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image" Target="../media/image22.png"/><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image" Target="../media/image21.png"/><Relationship Id="rId1" Type="http://schemas.openxmlformats.org/officeDocument/2006/relationships/tags" Target="../tags/tag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25.jpeg"/><Relationship Id="rId3" Type="http://schemas.openxmlformats.org/officeDocument/2006/relationships/image" Target="../media/image24.png"/><Relationship Id="rId2" Type="http://schemas.openxmlformats.org/officeDocument/2006/relationships/image" Target="../media/image3.emf"/><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t>
            </a:r>
            <a:r>
              <a:rPr lang="en-US" altLang="zh-CN" sz="3200" dirty="0"/>
              <a:t>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1 </a:t>
            </a:r>
            <a:r>
              <a:rPr lang="en-US" altLang="zh-CN"/>
              <a:t>Introduction</a:t>
            </a:r>
            <a:endParaRPr lang="en-US" altLang="zh-CN"/>
          </a:p>
        </p:txBody>
      </p:sp>
      <p:sp>
        <p:nvSpPr>
          <p:cNvPr id="4" name="副标题 3"/>
          <p:cNvSpPr>
            <a:spLocks noGrp="1"/>
          </p:cNvSpPr>
          <p:nvPr>
            <p:ph type="subTitle" idx="1"/>
          </p:nvPr>
        </p:nvSpPr>
        <p:spPr/>
        <p:txBody>
          <a:bodyPr/>
          <a:p>
            <a:r>
              <a:rPr lang="en-US" altLang="zh-CN">
                <a:solidFill>
                  <a:schemeClr val="tx1"/>
                </a:solidFill>
              </a:rPr>
              <a:t>Week 1 Day 1</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GB" dirty="0"/>
              <a:t>contents</a:t>
            </a:r>
            <a:endParaRPr kumimoji="1" lang="en-US" altLang="en-GB" dirty="0"/>
          </a:p>
        </p:txBody>
      </p:sp>
      <p:sp>
        <p:nvSpPr>
          <p:cNvPr id="3" name="内容占位符 2"/>
          <p:cNvSpPr>
            <a:spLocks noGrp="1"/>
          </p:cNvSpPr>
          <p:nvPr>
            <p:ph idx="1"/>
          </p:nvPr>
        </p:nvSpPr>
        <p:spPr/>
        <p:txBody>
          <a:bodyPr>
            <a:noAutofit/>
          </a:bodyPr>
          <a:lstStyle/>
          <a:p>
            <a:pPr algn="just"/>
            <a:r>
              <a:rPr lang="en-US" altLang="zh-CN" sz="2400">
                <a:sym typeface="+mn-ea"/>
              </a:rPr>
              <a:t> Create and run a project with pycharm</a:t>
            </a:r>
            <a:endParaRPr lang="en-US" altLang="zh-CN" sz="2400">
              <a:sym typeface="+mn-ea"/>
            </a:endParaRPr>
          </a:p>
          <a:p>
            <a:pPr algn="just"/>
            <a:r>
              <a:rPr kumimoji="1" lang="en-US" altLang="zh-CN" sz="2400" dirty="0">
                <a:sym typeface="+mn-ea"/>
              </a:rPr>
              <a:t> Find dataset on the </a:t>
            </a:r>
            <a:r>
              <a:rPr kumimoji="1" lang="en-US" altLang="zh-CN" sz="2400" dirty="0">
                <a:sym typeface="+mn-ea"/>
              </a:rPr>
              <a:t>internet</a:t>
            </a:r>
            <a:endParaRPr kumimoji="1" lang="en-US" altLang="zh-CN" sz="2400" dirty="0">
              <a:sym typeface="+mn-ea"/>
            </a:endParaRPr>
          </a:p>
          <a:p>
            <a:pPr algn="just"/>
            <a:r>
              <a:rPr kumimoji="1" lang="en-US" altLang="zh-CN" sz="2400" dirty="0">
                <a:sym typeface="+mn-ea"/>
              </a:rPr>
              <a:t> Read text data from </a:t>
            </a:r>
            <a:r>
              <a:rPr kumimoji="1" lang="en-US" altLang="zh-CN" sz="2400" dirty="0">
                <a:sym typeface="+mn-ea"/>
              </a:rPr>
              <a:t>files </a:t>
            </a:r>
            <a:endParaRPr kumimoji="1" lang="en-US" altLang="zh-CN" sz="2400" dirty="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t>create and run a project with </a:t>
            </a:r>
            <a:r>
              <a:rPr lang="en-US" altLang="zh-CN" sz="2400"/>
              <a:t>pycharm</a:t>
            </a:r>
            <a:endParaRPr lang="en-US" altLang="zh-CN" sz="2400"/>
          </a:p>
        </p:txBody>
      </p:sp>
      <p:sp>
        <p:nvSpPr>
          <p:cNvPr id="3" name="内容占位符 2"/>
          <p:cNvSpPr>
            <a:spLocks noGrp="1"/>
          </p:cNvSpPr>
          <p:nvPr>
            <p:ph idx="1"/>
          </p:nvPr>
        </p:nvSpPr>
        <p:spPr/>
        <p:txBody>
          <a:bodyPr/>
          <a:p>
            <a:r>
              <a:rPr lang="zh-CN" altLang="en-US"/>
              <a:t>1. Start </a:t>
            </a:r>
            <a:r>
              <a:rPr lang="en-US" altLang="zh-CN"/>
              <a:t>P</a:t>
            </a:r>
            <a:r>
              <a:rPr lang="zh-CN" altLang="en-US"/>
              <a:t>ycharm</a:t>
            </a:r>
            <a:endParaRPr lang="zh-CN" altLang="en-US"/>
          </a:p>
          <a:p>
            <a:r>
              <a:rPr lang="en-US" altLang="zh-CN"/>
              <a:t>2</a:t>
            </a:r>
            <a:r>
              <a:rPr lang="zh-CN" altLang="en-US"/>
              <a:t>. Create a project</a:t>
            </a:r>
            <a:endParaRPr lang="zh-CN" altLang="en-US"/>
          </a:p>
          <a:p>
            <a:r>
              <a:rPr lang="en-US" altLang="zh-CN"/>
              <a:t>3</a:t>
            </a:r>
            <a:r>
              <a:rPr lang="zh-CN" altLang="en-US"/>
              <a:t>. Create </a:t>
            </a:r>
            <a:r>
              <a:rPr lang="en-US" altLang="zh-CN"/>
              <a:t>you</a:t>
            </a:r>
            <a:r>
              <a:rPr lang="zh-CN" altLang="en-US"/>
              <a:t> </a:t>
            </a:r>
            <a:r>
              <a:rPr lang="en-US" altLang="zh-CN" i="1">
                <a:latin typeface="Times New Roman Italic" panose="02020503050405090304" charset="0"/>
                <a:cs typeface="Times New Roman Italic" panose="02020503050405090304" charset="0"/>
              </a:rPr>
              <a:t>*.</a:t>
            </a:r>
            <a:r>
              <a:rPr lang="zh-CN" altLang="en-US" i="1">
                <a:latin typeface="Times New Roman Italic" panose="02020503050405090304" charset="0"/>
                <a:cs typeface="Times New Roman Italic" panose="02020503050405090304" charset="0"/>
              </a:rPr>
              <a:t>py</a:t>
            </a:r>
            <a:r>
              <a:rPr lang="zh-CN" altLang="en-US"/>
              <a:t> file</a:t>
            </a:r>
            <a:endParaRPr lang="zh-CN" altLang="en-US"/>
          </a:p>
          <a:p>
            <a:r>
              <a:rPr lang="en-US" altLang="zh-CN"/>
              <a:t>4. Implementate source code</a:t>
            </a:r>
            <a:endParaRPr lang="zh-CN" altLang="en-US"/>
          </a:p>
          <a:p>
            <a:r>
              <a:rPr lang="zh-CN" altLang="en-US"/>
              <a:t>5. Run the </a:t>
            </a:r>
            <a:r>
              <a:rPr lang="en-US" altLang="zh-CN" i="1">
                <a:latin typeface="Times New Roman Italic" panose="02020503050405090304" charset="0"/>
                <a:cs typeface="Times New Roman Italic" panose="02020503050405090304" charset="0"/>
              </a:rPr>
              <a:t>“</a:t>
            </a:r>
            <a:r>
              <a:rPr lang="zh-CN" altLang="en-US" i="1">
                <a:latin typeface="Times New Roman Italic" panose="02020503050405090304" charset="0"/>
                <a:cs typeface="Times New Roman Italic" panose="02020503050405090304" charset="0"/>
              </a:rPr>
              <a:t>Hello World</a:t>
            </a:r>
            <a:r>
              <a:rPr lang="en-US" altLang="zh-CN" i="1">
                <a:latin typeface="Times New Roman Italic" panose="02020503050405090304" charset="0"/>
                <a:cs typeface="Times New Roman Italic" panose="02020503050405090304" charset="0"/>
              </a:rPr>
              <a:t>”</a:t>
            </a:r>
            <a:r>
              <a:rPr lang="zh-CN" altLang="en-US"/>
              <a:t> program</a:t>
            </a:r>
            <a:endParaRPr lang="zh-CN" altLang="en-US"/>
          </a:p>
        </p:txBody>
      </p:sp>
      <p:sp>
        <p:nvSpPr>
          <p:cNvPr id="4" name="文本框 3"/>
          <p:cNvSpPr txBox="1"/>
          <p:nvPr/>
        </p:nvSpPr>
        <p:spPr>
          <a:xfrm>
            <a:off x="699135" y="3562350"/>
            <a:ext cx="7790815" cy="368300"/>
          </a:xfrm>
          <a:prstGeom prst="rect">
            <a:avLst/>
          </a:prstGeom>
          <a:noFill/>
        </p:spPr>
        <p:txBody>
          <a:bodyPr wrap="square" rtlCol="0" anchor="t">
            <a:spAutoFit/>
          </a:bodyPr>
          <a:p>
            <a:r>
              <a:rPr lang="zh-CN" altLang="en-US" sz="1800">
                <a:solidFill>
                  <a:srgbClr val="FF0000"/>
                </a:solidFill>
              </a:rPr>
              <a:t>https://www.jetbrains.com/help/pycharm/getting-started.html</a:t>
            </a:r>
            <a:endParaRPr lang="zh-CN" altLang="en-US" sz="18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Start Pycharm</a:t>
            </a:r>
            <a:endParaRPr lang="zh-CN" altLang="en-US"/>
          </a:p>
        </p:txBody>
      </p:sp>
      <p:sp>
        <p:nvSpPr>
          <p:cNvPr id="3" name="内容占位符 2"/>
          <p:cNvSpPr>
            <a:spLocks noGrp="1"/>
          </p:cNvSpPr>
          <p:nvPr>
            <p:ph idx="1"/>
          </p:nvPr>
        </p:nvSpPr>
        <p:spPr>
          <a:xfrm>
            <a:off x="685802" y="895350"/>
            <a:ext cx="7543801" cy="3429000"/>
          </a:xfrm>
        </p:spPr>
        <p:txBody>
          <a:bodyPr/>
          <a:p>
            <a:r>
              <a:rPr lang="en-US" altLang="zh-CN" sz="1500">
                <a:solidFill>
                  <a:srgbClr val="CE57C1"/>
                </a:solidFill>
              </a:rPr>
              <a:t>1 </a:t>
            </a:r>
            <a:r>
              <a:rPr lang="en-US" altLang="zh-CN" sz="1500"/>
              <a:t>Type “ PyCharm” in </a:t>
            </a:r>
            <a:r>
              <a:rPr lang="en-US" altLang="zh-CN" sz="1500" i="1">
                <a:latin typeface="Times New Roman Italic" panose="02020503050405090304" charset="0"/>
                <a:cs typeface="Times New Roman Italic" panose="02020503050405090304" charset="0"/>
              </a:rPr>
              <a:t>“search box”</a:t>
            </a:r>
            <a:r>
              <a:rPr lang="en-US" altLang="zh-CN" sz="1500"/>
              <a:t> </a:t>
            </a:r>
            <a:endParaRPr lang="en-US" altLang="zh-CN" sz="1500"/>
          </a:p>
          <a:p>
            <a:r>
              <a:rPr lang="en-US" altLang="zh-CN" sz="1500">
                <a:solidFill>
                  <a:srgbClr val="CE57C1"/>
                </a:solidFill>
              </a:rPr>
              <a:t>2 </a:t>
            </a:r>
            <a:r>
              <a:rPr lang="en-US" altLang="zh-CN" sz="1500"/>
              <a:t>Click the application</a:t>
            </a:r>
            <a:endParaRPr lang="en-US" altLang="zh-CN" sz="1500"/>
          </a:p>
        </p:txBody>
      </p:sp>
      <p:pic>
        <p:nvPicPr>
          <p:cNvPr id="4" name="图片 3" descr="/Users/huakanglee/Library/Containers/com.kingsoft.wpsoffice.mac/Data/tmp/picturecompress_20240411154900/output_1.pngoutput_1"/>
          <p:cNvPicPr>
            <a:picLocks noChangeAspect="1"/>
          </p:cNvPicPr>
          <p:nvPr/>
        </p:nvPicPr>
        <p:blipFill>
          <a:blip r:embed="rId1"/>
          <a:stretch>
            <a:fillRect/>
          </a:stretch>
        </p:blipFill>
        <p:spPr>
          <a:xfrm>
            <a:off x="4041458" y="1247299"/>
            <a:ext cx="3692843" cy="3653314"/>
          </a:xfrm>
          <a:prstGeom prst="rect">
            <a:avLst/>
          </a:prstGeom>
        </p:spPr>
      </p:pic>
      <p:sp>
        <p:nvSpPr>
          <p:cNvPr id="5" name="矩形 4"/>
          <p:cNvSpPr/>
          <p:nvPr/>
        </p:nvSpPr>
        <p:spPr>
          <a:xfrm>
            <a:off x="3950970" y="4648676"/>
            <a:ext cx="1244918" cy="290513"/>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6" name="矩形 5"/>
          <p:cNvSpPr/>
          <p:nvPr>
            <p:custDataLst>
              <p:tags r:id="rId2"/>
            </p:custDataLst>
          </p:nvPr>
        </p:nvSpPr>
        <p:spPr>
          <a:xfrm>
            <a:off x="4110514" y="1888331"/>
            <a:ext cx="1244918" cy="290513"/>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7" name="文本框 6"/>
          <p:cNvSpPr txBox="1"/>
          <p:nvPr/>
        </p:nvSpPr>
        <p:spPr>
          <a:xfrm>
            <a:off x="2079784" y="2681288"/>
            <a:ext cx="868680" cy="333851"/>
          </a:xfrm>
          <a:prstGeom prst="rect">
            <a:avLst/>
          </a:prstGeom>
          <a:noFill/>
        </p:spPr>
        <p:txBody>
          <a:bodyPr wrap="square" rtlCol="0">
            <a:noAutofit/>
          </a:bodyPr>
          <a:p>
            <a:r>
              <a:rPr lang="en-US" altLang="zh-CN" sz="1800">
                <a:solidFill>
                  <a:srgbClr val="CE57C1"/>
                </a:solidFill>
              </a:rPr>
              <a:t>PyCharm</a:t>
            </a:r>
            <a:endParaRPr lang="en-US" altLang="zh-CN" sz="1800">
              <a:solidFill>
                <a:srgbClr val="CE57C1"/>
              </a:solidFill>
            </a:endParaRPr>
          </a:p>
        </p:txBody>
      </p:sp>
      <p:cxnSp>
        <p:nvCxnSpPr>
          <p:cNvPr id="8" name="直接箭头连接符 7"/>
          <p:cNvCxnSpPr>
            <a:stCxn id="7" idx="3"/>
            <a:endCxn id="5" idx="1"/>
          </p:cNvCxnSpPr>
          <p:nvPr/>
        </p:nvCxnSpPr>
        <p:spPr>
          <a:xfrm>
            <a:off x="2948464" y="2848451"/>
            <a:ext cx="1002506" cy="1945481"/>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9" name="直接箭头连接符 8"/>
          <p:cNvCxnSpPr>
            <a:endCxn id="6" idx="1"/>
          </p:cNvCxnSpPr>
          <p:nvPr>
            <p:custDataLst>
              <p:tags r:id="rId3"/>
            </p:custDataLst>
          </p:nvPr>
        </p:nvCxnSpPr>
        <p:spPr>
          <a:xfrm flipV="1">
            <a:off x="2948464" y="2033588"/>
            <a:ext cx="1162050" cy="814864"/>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sp>
        <p:nvSpPr>
          <p:cNvPr id="11" name="文本框 10"/>
          <p:cNvSpPr txBox="1"/>
          <p:nvPr>
            <p:custDataLst>
              <p:tags r:id="rId4"/>
            </p:custDataLst>
          </p:nvPr>
        </p:nvSpPr>
        <p:spPr>
          <a:xfrm>
            <a:off x="3225165" y="2178844"/>
            <a:ext cx="366713" cy="290513"/>
          </a:xfrm>
          <a:prstGeom prst="rect">
            <a:avLst/>
          </a:prstGeom>
          <a:noFill/>
        </p:spPr>
        <p:txBody>
          <a:bodyPr wrap="square" rtlCol="0">
            <a:noAutofit/>
          </a:bodyPr>
          <a:p>
            <a:r>
              <a:rPr lang="en-US" altLang="zh-CN" sz="1800">
                <a:solidFill>
                  <a:srgbClr val="CE57C1"/>
                </a:solidFill>
              </a:rPr>
              <a:t>1</a:t>
            </a:r>
            <a:endParaRPr lang="en-US" altLang="zh-CN" sz="1800">
              <a:solidFill>
                <a:srgbClr val="CE57C1"/>
              </a:solidFill>
            </a:endParaRPr>
          </a:p>
        </p:txBody>
      </p:sp>
      <p:sp>
        <p:nvSpPr>
          <p:cNvPr id="12" name="文本框 11"/>
          <p:cNvSpPr txBox="1"/>
          <p:nvPr>
            <p:custDataLst>
              <p:tags r:id="rId5"/>
            </p:custDataLst>
          </p:nvPr>
        </p:nvSpPr>
        <p:spPr>
          <a:xfrm>
            <a:off x="3127058" y="3676174"/>
            <a:ext cx="366713" cy="290513"/>
          </a:xfrm>
          <a:prstGeom prst="rect">
            <a:avLst/>
          </a:prstGeom>
          <a:noFill/>
        </p:spPr>
        <p:txBody>
          <a:bodyPr wrap="square" rtlCol="0">
            <a:noAutofit/>
          </a:bodyPr>
          <a:p>
            <a:r>
              <a:rPr lang="en-US" altLang="zh-CN" sz="1800">
                <a:solidFill>
                  <a:srgbClr val="CE57C1"/>
                </a:solidFill>
              </a:rPr>
              <a:t>2</a:t>
            </a:r>
            <a:endParaRPr lang="en-US" altLang="zh-CN" sz="1800">
              <a:solidFill>
                <a:srgbClr val="CE57C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Create a project</a:t>
            </a:r>
            <a:endParaRPr lang="zh-CN" altLang="en-US"/>
          </a:p>
        </p:txBody>
      </p:sp>
      <p:sp>
        <p:nvSpPr>
          <p:cNvPr id="3" name="内容占位符 2"/>
          <p:cNvSpPr>
            <a:spLocks noGrp="1"/>
          </p:cNvSpPr>
          <p:nvPr>
            <p:ph idx="1"/>
          </p:nvPr>
        </p:nvSpPr>
        <p:spPr>
          <a:xfrm>
            <a:off x="609600" y="819150"/>
            <a:ext cx="6172200" cy="3707130"/>
          </a:xfrm>
        </p:spPr>
        <p:txBody>
          <a:bodyPr/>
          <a:p>
            <a:r>
              <a:rPr lang="en-US" altLang="zh-CN" sz="2000">
                <a:solidFill>
                  <a:srgbClr val="CE57C1"/>
                </a:solidFill>
              </a:rPr>
              <a:t>1</a:t>
            </a:r>
            <a:r>
              <a:rPr lang="en-US" altLang="zh-CN" sz="2000"/>
              <a:t> Click “new project”</a:t>
            </a:r>
            <a:endParaRPr lang="en-US" altLang="zh-CN" sz="2000"/>
          </a:p>
          <a:p>
            <a:r>
              <a:rPr lang="en-US" altLang="zh-CN" sz="2000">
                <a:solidFill>
                  <a:srgbClr val="CE57C1"/>
                </a:solidFill>
              </a:rPr>
              <a:t>2</a:t>
            </a:r>
            <a:r>
              <a:rPr lang="en-US" altLang="zh-CN" sz="2000"/>
              <a:t> Define you project name as “HelloWorld”</a:t>
            </a:r>
            <a:endParaRPr lang="en-US" altLang="zh-CN" sz="2000"/>
          </a:p>
          <a:p>
            <a:r>
              <a:rPr lang="en-US" altLang="zh-CN" sz="2000">
                <a:solidFill>
                  <a:srgbClr val="CE57C1"/>
                </a:solidFill>
              </a:rPr>
              <a:t>3 </a:t>
            </a:r>
            <a:r>
              <a:rPr lang="en-US" altLang="zh-CN" sz="2000"/>
              <a:t>Click the button “Create” </a:t>
            </a:r>
            <a:endParaRPr lang="en-US" altLang="zh-CN" sz="2000"/>
          </a:p>
        </p:txBody>
      </p:sp>
      <p:pic>
        <p:nvPicPr>
          <p:cNvPr id="5" name="图片 4" descr="2841712821053_.pic"/>
          <p:cNvPicPr>
            <a:picLocks noChangeAspect="1"/>
          </p:cNvPicPr>
          <p:nvPr/>
        </p:nvPicPr>
        <p:blipFill>
          <a:blip r:embed="rId1"/>
          <a:stretch>
            <a:fillRect/>
          </a:stretch>
        </p:blipFill>
        <p:spPr>
          <a:xfrm>
            <a:off x="1266825" y="2324576"/>
            <a:ext cx="3298031" cy="2679859"/>
          </a:xfrm>
          <a:prstGeom prst="rect">
            <a:avLst/>
          </a:prstGeom>
        </p:spPr>
      </p:pic>
      <p:pic>
        <p:nvPicPr>
          <p:cNvPr id="6" name="图片 5" descr="2851712821105_.pic"/>
          <p:cNvPicPr>
            <a:picLocks noChangeAspect="1"/>
          </p:cNvPicPr>
          <p:nvPr/>
        </p:nvPicPr>
        <p:blipFill>
          <a:blip r:embed="rId2"/>
          <a:stretch>
            <a:fillRect/>
          </a:stretch>
        </p:blipFill>
        <p:spPr>
          <a:xfrm>
            <a:off x="4630579" y="2324576"/>
            <a:ext cx="3298508" cy="2679859"/>
          </a:xfrm>
          <a:prstGeom prst="rect">
            <a:avLst/>
          </a:prstGeom>
        </p:spPr>
      </p:pic>
      <p:sp>
        <p:nvSpPr>
          <p:cNvPr id="7" name="矩形 6"/>
          <p:cNvSpPr/>
          <p:nvPr>
            <p:custDataLst>
              <p:tags r:id="rId3"/>
            </p:custDataLst>
          </p:nvPr>
        </p:nvSpPr>
        <p:spPr>
          <a:xfrm>
            <a:off x="2549843" y="3448050"/>
            <a:ext cx="607219" cy="540068"/>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8" name="矩形 7"/>
          <p:cNvSpPr/>
          <p:nvPr>
            <p:custDataLst>
              <p:tags r:id="rId4"/>
            </p:custDataLst>
          </p:nvPr>
        </p:nvSpPr>
        <p:spPr>
          <a:xfrm>
            <a:off x="5571649" y="2485549"/>
            <a:ext cx="1271588" cy="230981"/>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9" name="矩形 8"/>
          <p:cNvSpPr/>
          <p:nvPr>
            <p:custDataLst>
              <p:tags r:id="rId5"/>
            </p:custDataLst>
          </p:nvPr>
        </p:nvSpPr>
        <p:spPr>
          <a:xfrm>
            <a:off x="7046119" y="4773454"/>
            <a:ext cx="543401" cy="230981"/>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0" name="文本框 9"/>
          <p:cNvSpPr txBox="1"/>
          <p:nvPr>
            <p:custDataLst>
              <p:tags r:id="rId6"/>
            </p:custDataLst>
          </p:nvPr>
        </p:nvSpPr>
        <p:spPr>
          <a:xfrm>
            <a:off x="3968750" y="1816100"/>
            <a:ext cx="1603375" cy="290195"/>
          </a:xfrm>
          <a:prstGeom prst="rect">
            <a:avLst/>
          </a:prstGeom>
          <a:noFill/>
        </p:spPr>
        <p:txBody>
          <a:bodyPr wrap="square" rtlCol="0">
            <a:noAutofit/>
          </a:bodyPr>
          <a:p>
            <a:r>
              <a:rPr lang="en-US" altLang="zh-CN" sz="1800">
                <a:solidFill>
                  <a:srgbClr val="CE57C1"/>
                </a:solidFill>
              </a:rPr>
              <a:t>KeyPoint</a:t>
            </a:r>
            <a:endParaRPr lang="en-US" altLang="zh-CN" sz="1800">
              <a:solidFill>
                <a:srgbClr val="CE57C1"/>
              </a:solidFill>
            </a:endParaRPr>
          </a:p>
        </p:txBody>
      </p:sp>
      <p:cxnSp>
        <p:nvCxnSpPr>
          <p:cNvPr id="11" name="直接箭头连接符 10"/>
          <p:cNvCxnSpPr>
            <a:stCxn id="10" idx="2"/>
          </p:cNvCxnSpPr>
          <p:nvPr>
            <p:custDataLst>
              <p:tags r:id="rId7"/>
            </p:custDataLst>
          </p:nvPr>
        </p:nvCxnSpPr>
        <p:spPr>
          <a:xfrm flipH="1">
            <a:off x="3270568" y="2106295"/>
            <a:ext cx="1500188" cy="1470660"/>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2" name="直接箭头连接符 11"/>
          <p:cNvCxnSpPr>
            <a:stCxn id="10" idx="2"/>
            <a:endCxn id="8" idx="0"/>
          </p:cNvCxnSpPr>
          <p:nvPr>
            <p:custDataLst>
              <p:tags r:id="rId8"/>
            </p:custDataLst>
          </p:nvPr>
        </p:nvCxnSpPr>
        <p:spPr>
          <a:xfrm>
            <a:off x="4770755" y="2106295"/>
            <a:ext cx="1437005" cy="37909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3" name="直接箭头连接符 12"/>
          <p:cNvCxnSpPr>
            <a:stCxn id="10" idx="2"/>
            <a:endCxn id="9" idx="1"/>
          </p:cNvCxnSpPr>
          <p:nvPr>
            <p:custDataLst>
              <p:tags r:id="rId9"/>
            </p:custDataLst>
          </p:nvPr>
        </p:nvCxnSpPr>
        <p:spPr>
          <a:xfrm>
            <a:off x="4770755" y="2106295"/>
            <a:ext cx="2275205" cy="2782570"/>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sp>
        <p:nvSpPr>
          <p:cNvPr id="14" name="文本框 13"/>
          <p:cNvSpPr txBox="1"/>
          <p:nvPr>
            <p:custDataLst>
              <p:tags r:id="rId10"/>
            </p:custDataLst>
          </p:nvPr>
        </p:nvSpPr>
        <p:spPr>
          <a:xfrm>
            <a:off x="5408771" y="1935956"/>
            <a:ext cx="366713" cy="290513"/>
          </a:xfrm>
          <a:prstGeom prst="rect">
            <a:avLst/>
          </a:prstGeom>
          <a:noFill/>
        </p:spPr>
        <p:txBody>
          <a:bodyPr wrap="square" rtlCol="0">
            <a:noAutofit/>
          </a:bodyPr>
          <a:p>
            <a:r>
              <a:rPr lang="en-US" altLang="zh-CN" sz="1800">
                <a:solidFill>
                  <a:srgbClr val="CE57C1"/>
                </a:solidFill>
              </a:rPr>
              <a:t>2</a:t>
            </a:r>
            <a:endParaRPr lang="en-US" altLang="zh-CN" sz="1800">
              <a:solidFill>
                <a:srgbClr val="CE57C1"/>
              </a:solidFill>
            </a:endParaRPr>
          </a:p>
        </p:txBody>
      </p:sp>
      <p:sp>
        <p:nvSpPr>
          <p:cNvPr id="15" name="文本框 14"/>
          <p:cNvSpPr txBox="1"/>
          <p:nvPr>
            <p:custDataLst>
              <p:tags r:id="rId11"/>
            </p:custDataLst>
          </p:nvPr>
        </p:nvSpPr>
        <p:spPr>
          <a:xfrm>
            <a:off x="4039235" y="2648109"/>
            <a:ext cx="366713" cy="290513"/>
          </a:xfrm>
          <a:prstGeom prst="rect">
            <a:avLst/>
          </a:prstGeom>
          <a:noFill/>
        </p:spPr>
        <p:txBody>
          <a:bodyPr wrap="square" rtlCol="0">
            <a:noAutofit/>
          </a:bodyPr>
          <a:p>
            <a:r>
              <a:rPr lang="en-US" altLang="zh-CN" sz="1800">
                <a:solidFill>
                  <a:srgbClr val="CE57C1"/>
                </a:solidFill>
              </a:rPr>
              <a:t>1</a:t>
            </a:r>
            <a:endParaRPr lang="en-US" altLang="zh-CN" sz="1800">
              <a:solidFill>
                <a:srgbClr val="CE57C1"/>
              </a:solidFill>
            </a:endParaRPr>
          </a:p>
        </p:txBody>
      </p:sp>
      <p:sp>
        <p:nvSpPr>
          <p:cNvPr id="16" name="文本框 15"/>
          <p:cNvSpPr txBox="1"/>
          <p:nvPr>
            <p:custDataLst>
              <p:tags r:id="rId12"/>
            </p:custDataLst>
          </p:nvPr>
        </p:nvSpPr>
        <p:spPr>
          <a:xfrm>
            <a:off x="6476524" y="4399598"/>
            <a:ext cx="366713" cy="290513"/>
          </a:xfrm>
          <a:prstGeom prst="rect">
            <a:avLst/>
          </a:prstGeom>
          <a:noFill/>
        </p:spPr>
        <p:txBody>
          <a:bodyPr wrap="square" rtlCol="0">
            <a:noAutofit/>
          </a:bodyPr>
          <a:p>
            <a:r>
              <a:rPr lang="en-US" altLang="zh-CN" sz="1800">
                <a:solidFill>
                  <a:srgbClr val="CE57C1"/>
                </a:solidFill>
              </a:rPr>
              <a:t>3</a:t>
            </a:r>
            <a:endParaRPr lang="en-US" altLang="zh-CN" sz="1800">
              <a:solidFill>
                <a:srgbClr val="CE57C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Create you *.py file</a:t>
            </a:r>
            <a:endParaRPr lang="zh-CN" altLang="en-US"/>
          </a:p>
        </p:txBody>
      </p:sp>
      <p:sp>
        <p:nvSpPr>
          <p:cNvPr id="3" name="内容占位符 2"/>
          <p:cNvSpPr>
            <a:spLocks noGrp="1"/>
          </p:cNvSpPr>
          <p:nvPr>
            <p:ph idx="1"/>
          </p:nvPr>
        </p:nvSpPr>
        <p:spPr>
          <a:xfrm>
            <a:off x="609602" y="857250"/>
            <a:ext cx="7543801" cy="3429000"/>
          </a:xfrm>
        </p:spPr>
        <p:txBody>
          <a:bodyPr/>
          <a:p>
            <a:r>
              <a:rPr lang="en-US" altLang="zh-CN" sz="2000">
                <a:solidFill>
                  <a:srgbClr val="CE57C1"/>
                </a:solidFill>
              </a:rPr>
              <a:t>1 </a:t>
            </a:r>
            <a:r>
              <a:rPr lang="en-US" altLang="zh-CN" sz="2000"/>
              <a:t>Click “MainMenu”</a:t>
            </a:r>
            <a:endParaRPr lang="en-US" altLang="zh-CN" sz="2000"/>
          </a:p>
          <a:p>
            <a:r>
              <a:rPr lang="en-US" altLang="zh-CN" sz="2000">
                <a:solidFill>
                  <a:srgbClr val="CE57C1"/>
                </a:solidFill>
              </a:rPr>
              <a:t>2 </a:t>
            </a:r>
            <a:r>
              <a:rPr lang="en-US" altLang="zh-CN" sz="2000"/>
              <a:t>Click “New”</a:t>
            </a:r>
            <a:endParaRPr lang="en-US" altLang="zh-CN" sz="2000"/>
          </a:p>
          <a:p>
            <a:r>
              <a:rPr lang="en-US" altLang="zh-CN" sz="2000">
                <a:solidFill>
                  <a:srgbClr val="CE57C1"/>
                </a:solidFill>
              </a:rPr>
              <a:t>3</a:t>
            </a:r>
            <a:r>
              <a:rPr lang="en-US" altLang="zh-CN" sz="2000"/>
              <a:t> Select “Python File”</a:t>
            </a:r>
            <a:endParaRPr lang="en-US" altLang="zh-CN" sz="2000"/>
          </a:p>
          <a:p>
            <a:r>
              <a:rPr lang="en-US" altLang="zh-CN" sz="2000">
                <a:solidFill>
                  <a:srgbClr val="CE57C1"/>
                </a:solidFill>
              </a:rPr>
              <a:t>4</a:t>
            </a:r>
            <a:r>
              <a:rPr lang="en-US" altLang="zh-CN" sz="2000"/>
              <a:t> Name as “HellWorld”</a:t>
            </a:r>
            <a:endParaRPr lang="en-US" altLang="zh-CN" sz="2000"/>
          </a:p>
        </p:txBody>
      </p:sp>
      <p:pic>
        <p:nvPicPr>
          <p:cNvPr id="5" name="图片 4"/>
          <p:cNvPicPr>
            <a:picLocks noChangeAspect="1"/>
          </p:cNvPicPr>
          <p:nvPr>
            <p:custDataLst>
              <p:tags r:id="rId1"/>
            </p:custDataLst>
          </p:nvPr>
        </p:nvPicPr>
        <p:blipFill>
          <a:blip r:embed="rId2"/>
          <a:srcRect r="74450" b="62432"/>
          <a:stretch>
            <a:fillRect/>
          </a:stretch>
        </p:blipFill>
        <p:spPr>
          <a:xfrm>
            <a:off x="2697956" y="2349818"/>
            <a:ext cx="1278731" cy="1149191"/>
          </a:xfrm>
          <a:prstGeom prst="rect">
            <a:avLst/>
          </a:prstGeom>
        </p:spPr>
      </p:pic>
      <p:pic>
        <p:nvPicPr>
          <p:cNvPr id="6" name="图片 5" descr="2891712822962_.pic"/>
          <p:cNvPicPr>
            <a:picLocks noChangeAspect="1"/>
          </p:cNvPicPr>
          <p:nvPr/>
        </p:nvPicPr>
        <p:blipFill>
          <a:blip r:embed="rId3"/>
          <a:stretch>
            <a:fillRect/>
          </a:stretch>
        </p:blipFill>
        <p:spPr>
          <a:xfrm>
            <a:off x="4111943" y="1753076"/>
            <a:ext cx="1654969" cy="3108008"/>
          </a:xfrm>
          <a:prstGeom prst="rect">
            <a:avLst/>
          </a:prstGeom>
        </p:spPr>
      </p:pic>
      <p:pic>
        <p:nvPicPr>
          <p:cNvPr id="7" name="图片 6" descr="2901712823004_.pic"/>
          <p:cNvPicPr>
            <a:picLocks noChangeAspect="1"/>
          </p:cNvPicPr>
          <p:nvPr/>
        </p:nvPicPr>
        <p:blipFill>
          <a:blip r:embed="rId4"/>
          <a:stretch>
            <a:fillRect/>
          </a:stretch>
        </p:blipFill>
        <p:spPr>
          <a:xfrm>
            <a:off x="5902166" y="1753076"/>
            <a:ext cx="1755934" cy="3107531"/>
          </a:xfrm>
          <a:prstGeom prst="rect">
            <a:avLst/>
          </a:prstGeom>
        </p:spPr>
      </p:pic>
      <p:pic>
        <p:nvPicPr>
          <p:cNvPr id="8" name="图片 7" descr="2911712823060_.pic"/>
          <p:cNvPicPr>
            <a:picLocks noChangeAspect="1"/>
          </p:cNvPicPr>
          <p:nvPr/>
        </p:nvPicPr>
        <p:blipFill>
          <a:blip r:embed="rId5"/>
          <a:stretch>
            <a:fillRect/>
          </a:stretch>
        </p:blipFill>
        <p:spPr>
          <a:xfrm>
            <a:off x="2265045" y="3851910"/>
            <a:ext cx="1711643" cy="714851"/>
          </a:xfrm>
          <a:prstGeom prst="rect">
            <a:avLst/>
          </a:prstGeom>
        </p:spPr>
      </p:pic>
      <p:sp>
        <p:nvSpPr>
          <p:cNvPr id="9" name="矩形 8"/>
          <p:cNvSpPr/>
          <p:nvPr>
            <p:custDataLst>
              <p:tags r:id="rId6"/>
            </p:custDataLst>
          </p:nvPr>
        </p:nvSpPr>
        <p:spPr>
          <a:xfrm>
            <a:off x="2615089" y="2287905"/>
            <a:ext cx="461486" cy="290513"/>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0" name="矩形 9"/>
          <p:cNvSpPr/>
          <p:nvPr>
            <p:custDataLst>
              <p:tags r:id="rId7"/>
            </p:custDataLst>
          </p:nvPr>
        </p:nvSpPr>
        <p:spPr>
          <a:xfrm>
            <a:off x="4263390" y="2138839"/>
            <a:ext cx="1376363" cy="149066"/>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1" name="矩形 10"/>
          <p:cNvSpPr/>
          <p:nvPr>
            <p:custDataLst>
              <p:tags r:id="rId8"/>
            </p:custDataLst>
          </p:nvPr>
        </p:nvSpPr>
        <p:spPr>
          <a:xfrm>
            <a:off x="5937885" y="2595563"/>
            <a:ext cx="1376363" cy="149066"/>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2" name="矩形 11"/>
          <p:cNvSpPr/>
          <p:nvPr>
            <p:custDataLst>
              <p:tags r:id="rId9"/>
            </p:custDataLst>
          </p:nvPr>
        </p:nvSpPr>
        <p:spPr>
          <a:xfrm>
            <a:off x="2219801" y="4024789"/>
            <a:ext cx="1376363" cy="149066"/>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3" name="文本框 12"/>
          <p:cNvSpPr txBox="1"/>
          <p:nvPr>
            <p:custDataLst>
              <p:tags r:id="rId10"/>
            </p:custDataLst>
          </p:nvPr>
        </p:nvSpPr>
        <p:spPr>
          <a:xfrm>
            <a:off x="1172210" y="3028950"/>
            <a:ext cx="1182370" cy="334010"/>
          </a:xfrm>
          <a:prstGeom prst="rect">
            <a:avLst/>
          </a:prstGeom>
          <a:noFill/>
        </p:spPr>
        <p:txBody>
          <a:bodyPr wrap="square" rtlCol="0">
            <a:noAutofit/>
          </a:bodyPr>
          <a:p>
            <a:r>
              <a:rPr lang="en-US" altLang="zh-CN" sz="1800">
                <a:solidFill>
                  <a:srgbClr val="CE57C1"/>
                </a:solidFill>
              </a:rPr>
              <a:t>KeyPoint</a:t>
            </a:r>
            <a:endParaRPr lang="en-US" altLang="zh-CN" sz="1800">
              <a:solidFill>
                <a:srgbClr val="CE57C1"/>
              </a:solidFill>
            </a:endParaRPr>
          </a:p>
        </p:txBody>
      </p:sp>
      <p:cxnSp>
        <p:nvCxnSpPr>
          <p:cNvPr id="14" name="直接箭头连接符 13"/>
          <p:cNvCxnSpPr>
            <a:stCxn id="13" idx="3"/>
            <a:endCxn id="9" idx="1"/>
          </p:cNvCxnSpPr>
          <p:nvPr>
            <p:custDataLst>
              <p:tags r:id="rId11"/>
            </p:custDataLst>
          </p:nvPr>
        </p:nvCxnSpPr>
        <p:spPr>
          <a:xfrm flipV="1">
            <a:off x="2354580" y="2433479"/>
            <a:ext cx="260350" cy="76263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5" name="直接箭头连接符 14"/>
          <p:cNvCxnSpPr>
            <a:stCxn id="13" idx="3"/>
            <a:endCxn id="10" idx="1"/>
          </p:cNvCxnSpPr>
          <p:nvPr>
            <p:custDataLst>
              <p:tags r:id="rId12"/>
            </p:custDataLst>
          </p:nvPr>
        </p:nvCxnSpPr>
        <p:spPr>
          <a:xfrm flipV="1">
            <a:off x="2354580" y="2213769"/>
            <a:ext cx="1908810" cy="98234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6" name="直接箭头连接符 15"/>
          <p:cNvCxnSpPr>
            <a:stCxn id="13" idx="3"/>
            <a:endCxn id="11" idx="1"/>
          </p:cNvCxnSpPr>
          <p:nvPr>
            <p:custDataLst>
              <p:tags r:id="rId13"/>
            </p:custDataLst>
          </p:nvPr>
        </p:nvCxnSpPr>
        <p:spPr>
          <a:xfrm flipV="1">
            <a:off x="2354580" y="2670969"/>
            <a:ext cx="3583305" cy="52514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7" name="直接箭头连接符 16"/>
          <p:cNvCxnSpPr>
            <a:stCxn id="13" idx="3"/>
            <a:endCxn id="12" idx="0"/>
          </p:cNvCxnSpPr>
          <p:nvPr>
            <p:custDataLst>
              <p:tags r:id="rId14"/>
            </p:custDataLst>
          </p:nvPr>
        </p:nvCxnSpPr>
        <p:spPr>
          <a:xfrm>
            <a:off x="2354580" y="3196114"/>
            <a:ext cx="553720" cy="82867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sp>
        <p:nvSpPr>
          <p:cNvPr id="18" name="文本框 17"/>
          <p:cNvSpPr txBox="1"/>
          <p:nvPr>
            <p:custDataLst>
              <p:tags r:id="rId15"/>
            </p:custDataLst>
          </p:nvPr>
        </p:nvSpPr>
        <p:spPr>
          <a:xfrm>
            <a:off x="2049304" y="2454116"/>
            <a:ext cx="366713" cy="290513"/>
          </a:xfrm>
          <a:prstGeom prst="rect">
            <a:avLst/>
          </a:prstGeom>
          <a:noFill/>
        </p:spPr>
        <p:txBody>
          <a:bodyPr wrap="square" rtlCol="0">
            <a:noAutofit/>
          </a:bodyPr>
          <a:p>
            <a:r>
              <a:rPr lang="en-US" altLang="zh-CN" sz="1800">
                <a:solidFill>
                  <a:srgbClr val="CE57C1"/>
                </a:solidFill>
              </a:rPr>
              <a:t>1</a:t>
            </a:r>
            <a:endParaRPr lang="en-US" altLang="zh-CN" sz="1800">
              <a:solidFill>
                <a:srgbClr val="CE57C1"/>
              </a:solidFill>
            </a:endParaRPr>
          </a:p>
        </p:txBody>
      </p:sp>
      <p:sp>
        <p:nvSpPr>
          <p:cNvPr id="19" name="文本框 18"/>
          <p:cNvSpPr txBox="1"/>
          <p:nvPr>
            <p:custDataLst>
              <p:tags r:id="rId16"/>
            </p:custDataLst>
          </p:nvPr>
        </p:nvSpPr>
        <p:spPr>
          <a:xfrm>
            <a:off x="3745230" y="2114074"/>
            <a:ext cx="366713" cy="290513"/>
          </a:xfrm>
          <a:prstGeom prst="rect">
            <a:avLst/>
          </a:prstGeom>
          <a:noFill/>
        </p:spPr>
        <p:txBody>
          <a:bodyPr wrap="square" rtlCol="0">
            <a:noAutofit/>
          </a:bodyPr>
          <a:p>
            <a:r>
              <a:rPr lang="en-US" altLang="zh-CN" sz="1800">
                <a:solidFill>
                  <a:srgbClr val="CE57C1"/>
                </a:solidFill>
              </a:rPr>
              <a:t>2</a:t>
            </a:r>
            <a:endParaRPr lang="en-US" altLang="zh-CN" sz="1800">
              <a:solidFill>
                <a:srgbClr val="CE57C1"/>
              </a:solidFill>
            </a:endParaRPr>
          </a:p>
        </p:txBody>
      </p:sp>
      <p:sp>
        <p:nvSpPr>
          <p:cNvPr id="20" name="文本框 19"/>
          <p:cNvSpPr txBox="1"/>
          <p:nvPr>
            <p:custDataLst>
              <p:tags r:id="rId17"/>
            </p:custDataLst>
          </p:nvPr>
        </p:nvSpPr>
        <p:spPr>
          <a:xfrm>
            <a:off x="7634288" y="2454116"/>
            <a:ext cx="366713" cy="290513"/>
          </a:xfrm>
          <a:prstGeom prst="rect">
            <a:avLst/>
          </a:prstGeom>
          <a:noFill/>
        </p:spPr>
        <p:txBody>
          <a:bodyPr wrap="square" rtlCol="0">
            <a:noAutofit/>
          </a:bodyPr>
          <a:p>
            <a:r>
              <a:rPr lang="en-US" altLang="zh-CN" sz="1800">
                <a:solidFill>
                  <a:srgbClr val="CE57C1"/>
                </a:solidFill>
              </a:rPr>
              <a:t>3</a:t>
            </a:r>
            <a:endParaRPr lang="en-US" altLang="zh-CN" sz="1800">
              <a:solidFill>
                <a:srgbClr val="CE57C1"/>
              </a:solidFill>
            </a:endParaRPr>
          </a:p>
        </p:txBody>
      </p:sp>
      <p:sp>
        <p:nvSpPr>
          <p:cNvPr id="21" name="文本框 20"/>
          <p:cNvSpPr txBox="1"/>
          <p:nvPr>
            <p:custDataLst>
              <p:tags r:id="rId18"/>
            </p:custDataLst>
          </p:nvPr>
        </p:nvSpPr>
        <p:spPr>
          <a:xfrm>
            <a:off x="2331244" y="3461861"/>
            <a:ext cx="366713" cy="290513"/>
          </a:xfrm>
          <a:prstGeom prst="rect">
            <a:avLst/>
          </a:prstGeom>
          <a:noFill/>
        </p:spPr>
        <p:txBody>
          <a:bodyPr wrap="square" rtlCol="0">
            <a:noAutofit/>
          </a:bodyPr>
          <a:p>
            <a:r>
              <a:rPr lang="en-US" altLang="zh-CN" sz="1800">
                <a:solidFill>
                  <a:srgbClr val="CE57C1"/>
                </a:solidFill>
              </a:rPr>
              <a:t>4</a:t>
            </a:r>
            <a:endParaRPr lang="en-US" altLang="zh-CN" sz="1800">
              <a:solidFill>
                <a:srgbClr val="CE57C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Implement and run the program</a:t>
            </a:r>
            <a:endParaRPr lang="en-US" altLang="zh-CN"/>
          </a:p>
        </p:txBody>
      </p:sp>
      <p:sp>
        <p:nvSpPr>
          <p:cNvPr id="3" name="内容占位符 2"/>
          <p:cNvSpPr>
            <a:spLocks noGrp="1"/>
          </p:cNvSpPr>
          <p:nvPr>
            <p:ph idx="1"/>
          </p:nvPr>
        </p:nvSpPr>
        <p:spPr>
          <a:xfrm>
            <a:off x="1485900" y="752475"/>
            <a:ext cx="7411085" cy="3707130"/>
          </a:xfrm>
        </p:spPr>
        <p:txBody>
          <a:bodyPr/>
          <a:p>
            <a:r>
              <a:rPr lang="en-US" altLang="zh-CN" sz="1800"/>
              <a:t>Type </a:t>
            </a:r>
            <a:r>
              <a:rPr lang="en-US" altLang="zh-CN" sz="1800" i="1">
                <a:solidFill>
                  <a:srgbClr val="CE57C1"/>
                </a:solidFill>
              </a:rPr>
              <a:t>Print(“Hello World and welcome to AIAC!!”)</a:t>
            </a:r>
            <a:r>
              <a:rPr lang="en-US" altLang="zh-CN" sz="1800"/>
              <a:t> in </a:t>
            </a:r>
            <a:r>
              <a:rPr lang="en-US" altLang="zh-CN" sz="1800" i="1">
                <a:solidFill>
                  <a:srgbClr val="CE57C1"/>
                </a:solidFill>
              </a:rPr>
              <a:t>HelloWorld.py</a:t>
            </a:r>
            <a:endParaRPr lang="en-US" altLang="zh-CN" sz="1800" i="1">
              <a:solidFill>
                <a:srgbClr val="CE57C1"/>
              </a:solidFill>
            </a:endParaRPr>
          </a:p>
          <a:p>
            <a:endParaRPr lang="en-US" altLang="zh-CN" sz="1800" i="1">
              <a:solidFill>
                <a:srgbClr val="CE57C1"/>
              </a:solidFill>
            </a:endParaRPr>
          </a:p>
          <a:p>
            <a:endParaRPr lang="en-US" altLang="zh-CN" sz="1800" i="1">
              <a:solidFill>
                <a:srgbClr val="CE57C1"/>
              </a:solidFill>
            </a:endParaRPr>
          </a:p>
          <a:p>
            <a:endParaRPr lang="en-US" altLang="zh-CN" sz="1800" i="1">
              <a:solidFill>
                <a:srgbClr val="CE57C1"/>
              </a:solidFill>
            </a:endParaRPr>
          </a:p>
          <a:p>
            <a:r>
              <a:rPr lang="en-US" altLang="zh-CN" sz="1800">
                <a:solidFill>
                  <a:schemeClr val="tx1"/>
                </a:solidFill>
              </a:rPr>
              <a:t>Click the </a:t>
            </a:r>
            <a:r>
              <a:rPr lang="en-US" altLang="zh-CN" sz="1800" i="1">
                <a:solidFill>
                  <a:srgbClr val="CE57C1"/>
                </a:solidFill>
              </a:rPr>
              <a:t>run</a:t>
            </a:r>
            <a:r>
              <a:rPr lang="en-US" altLang="zh-CN" sz="1800">
                <a:solidFill>
                  <a:schemeClr val="tx1"/>
                </a:solidFill>
              </a:rPr>
              <a:t> button</a:t>
            </a:r>
            <a:endParaRPr lang="en-US" altLang="zh-CN" sz="1800">
              <a:solidFill>
                <a:schemeClr val="tx1"/>
              </a:solidFill>
            </a:endParaRPr>
          </a:p>
          <a:p>
            <a:endParaRPr lang="en-US" altLang="zh-CN" sz="1800" i="1">
              <a:solidFill>
                <a:srgbClr val="CE57C1"/>
              </a:solidFill>
            </a:endParaRPr>
          </a:p>
          <a:p>
            <a:endParaRPr lang="en-US" altLang="zh-CN" sz="1800" i="1">
              <a:solidFill>
                <a:srgbClr val="CE57C1"/>
              </a:solidFill>
            </a:endParaRPr>
          </a:p>
          <a:p>
            <a:endParaRPr lang="en-US" altLang="zh-CN" sz="1800" i="1">
              <a:solidFill>
                <a:srgbClr val="CE57C1"/>
              </a:solidFill>
            </a:endParaRPr>
          </a:p>
          <a:p>
            <a:r>
              <a:rPr lang="en-US" altLang="zh-CN" sz="1800">
                <a:solidFill>
                  <a:schemeClr val="tx1"/>
                </a:solidFill>
              </a:rPr>
              <a:t>Check the system program result</a:t>
            </a:r>
            <a:endParaRPr lang="en-US" altLang="zh-CN" sz="1800">
              <a:solidFill>
                <a:schemeClr val="tx1"/>
              </a:solidFill>
            </a:endParaRPr>
          </a:p>
        </p:txBody>
      </p:sp>
      <p:pic>
        <p:nvPicPr>
          <p:cNvPr id="4" name="图片 3" descr="2871712821307_.pic"/>
          <p:cNvPicPr>
            <a:picLocks noChangeAspect="1"/>
          </p:cNvPicPr>
          <p:nvPr/>
        </p:nvPicPr>
        <p:blipFill>
          <a:blip r:embed="rId1"/>
          <a:srcRect b="73656"/>
          <a:stretch>
            <a:fillRect/>
          </a:stretch>
        </p:blipFill>
        <p:spPr>
          <a:xfrm>
            <a:off x="1600200" y="1137920"/>
            <a:ext cx="6116955" cy="984885"/>
          </a:xfrm>
          <a:prstGeom prst="rect">
            <a:avLst/>
          </a:prstGeom>
        </p:spPr>
      </p:pic>
      <p:pic>
        <p:nvPicPr>
          <p:cNvPr id="5" name="图片 4" descr="2871712821307_.pic"/>
          <p:cNvPicPr>
            <a:picLocks noChangeAspect="1"/>
          </p:cNvPicPr>
          <p:nvPr>
            <p:custDataLst>
              <p:tags r:id="rId2"/>
            </p:custDataLst>
          </p:nvPr>
        </p:nvPicPr>
        <p:blipFill>
          <a:blip r:embed="rId1"/>
          <a:srcRect b="73656"/>
          <a:stretch>
            <a:fillRect/>
          </a:stretch>
        </p:blipFill>
        <p:spPr>
          <a:xfrm>
            <a:off x="1599883" y="2419350"/>
            <a:ext cx="6116955" cy="984885"/>
          </a:xfrm>
          <a:prstGeom prst="rect">
            <a:avLst/>
          </a:prstGeom>
        </p:spPr>
      </p:pic>
      <p:pic>
        <p:nvPicPr>
          <p:cNvPr id="6" name="图片 5" descr="2881712821330_.pic"/>
          <p:cNvPicPr>
            <a:picLocks noChangeAspect="1"/>
          </p:cNvPicPr>
          <p:nvPr/>
        </p:nvPicPr>
        <p:blipFill>
          <a:blip r:embed="rId3"/>
          <a:srcRect t="64307" b="10878"/>
          <a:stretch>
            <a:fillRect/>
          </a:stretch>
        </p:blipFill>
        <p:spPr>
          <a:xfrm>
            <a:off x="1676400" y="3790633"/>
            <a:ext cx="6112193" cy="926783"/>
          </a:xfrm>
          <a:prstGeom prst="rect">
            <a:avLst/>
          </a:prstGeom>
        </p:spPr>
      </p:pic>
      <p:sp>
        <p:nvSpPr>
          <p:cNvPr id="8" name="矩形 7"/>
          <p:cNvSpPr/>
          <p:nvPr>
            <p:custDataLst>
              <p:tags r:id="rId4"/>
            </p:custDataLst>
          </p:nvPr>
        </p:nvSpPr>
        <p:spPr>
          <a:xfrm>
            <a:off x="3968591" y="1376839"/>
            <a:ext cx="1677353" cy="230981"/>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7" name="矩形 6"/>
          <p:cNvSpPr/>
          <p:nvPr>
            <p:custDataLst>
              <p:tags r:id="rId5"/>
            </p:custDataLst>
          </p:nvPr>
        </p:nvSpPr>
        <p:spPr>
          <a:xfrm>
            <a:off x="5715794" y="2416969"/>
            <a:ext cx="304324" cy="230981"/>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9" name="矩形 8"/>
          <p:cNvSpPr/>
          <p:nvPr>
            <p:custDataLst>
              <p:tags r:id="rId6"/>
            </p:custDataLst>
          </p:nvPr>
        </p:nvSpPr>
        <p:spPr>
          <a:xfrm>
            <a:off x="1904841" y="4019233"/>
            <a:ext cx="5009198" cy="468630"/>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10" name="矩形 9"/>
          <p:cNvSpPr/>
          <p:nvPr>
            <p:custDataLst>
              <p:tags r:id="rId7"/>
            </p:custDataLst>
          </p:nvPr>
        </p:nvSpPr>
        <p:spPr>
          <a:xfrm>
            <a:off x="1981359" y="4170998"/>
            <a:ext cx="1399699" cy="165259"/>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cxnSp>
        <p:nvCxnSpPr>
          <p:cNvPr id="11" name="直接箭头连接符 10"/>
          <p:cNvCxnSpPr>
            <a:endCxn id="8" idx="1"/>
          </p:cNvCxnSpPr>
          <p:nvPr>
            <p:custDataLst>
              <p:tags r:id="rId8"/>
            </p:custDataLst>
          </p:nvPr>
        </p:nvCxnSpPr>
        <p:spPr>
          <a:xfrm>
            <a:off x="2362200" y="1047909"/>
            <a:ext cx="1606550" cy="444500"/>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2" name="直接箭头连接符 11"/>
          <p:cNvCxnSpPr/>
          <p:nvPr>
            <p:custDataLst>
              <p:tags r:id="rId9"/>
            </p:custDataLst>
          </p:nvPr>
        </p:nvCxnSpPr>
        <p:spPr>
          <a:xfrm>
            <a:off x="2667159" y="2342991"/>
            <a:ext cx="3048000" cy="152400"/>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3" name="直接箭头连接符 12"/>
          <p:cNvCxnSpPr/>
          <p:nvPr>
            <p:custDataLst>
              <p:tags r:id="rId10"/>
            </p:custDataLst>
          </p:nvPr>
        </p:nvCxnSpPr>
        <p:spPr>
          <a:xfrm>
            <a:off x="2133759" y="3700780"/>
            <a:ext cx="304800" cy="318770"/>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Check local </a:t>
            </a:r>
            <a:r>
              <a:rPr lang="en-US" altLang="zh-CN" i="1">
                <a:latin typeface="Times New Roman Italic" panose="02020503050405090304" charset="0"/>
                <a:cs typeface="Times New Roman Italic" panose="02020503050405090304" charset="0"/>
              </a:rPr>
              <a:t>*.py</a:t>
            </a:r>
            <a:r>
              <a:rPr lang="en-US" altLang="zh-CN"/>
              <a:t> </a:t>
            </a:r>
            <a:r>
              <a:rPr lang="zh-CN" altLang="en-US"/>
              <a:t>files</a:t>
            </a:r>
            <a:endParaRPr lang="zh-CN" altLang="en-US"/>
          </a:p>
        </p:txBody>
      </p:sp>
      <p:sp>
        <p:nvSpPr>
          <p:cNvPr id="3" name="内容占位符 2"/>
          <p:cNvSpPr>
            <a:spLocks noGrp="1"/>
          </p:cNvSpPr>
          <p:nvPr>
            <p:ph idx="1"/>
          </p:nvPr>
        </p:nvSpPr>
        <p:spPr>
          <a:xfrm>
            <a:off x="1447324" y="752475"/>
            <a:ext cx="6172200" cy="3707130"/>
          </a:xfrm>
        </p:spPr>
        <p:txBody>
          <a:bodyPr/>
          <a:p>
            <a:r>
              <a:rPr lang="en-US" altLang="zh-CN" sz="2000"/>
              <a:t>Open Local Folder</a:t>
            </a:r>
            <a:endParaRPr lang="en-US" altLang="zh-CN" sz="2000"/>
          </a:p>
          <a:p>
            <a:r>
              <a:rPr lang="en-US" altLang="zh-CN" sz="2000"/>
              <a:t>Find the location of HelloWorld.py</a:t>
            </a:r>
            <a:endParaRPr lang="en-US" altLang="zh-CN" sz="2000"/>
          </a:p>
        </p:txBody>
      </p:sp>
      <p:pic>
        <p:nvPicPr>
          <p:cNvPr id="4" name="图片 3" descr="2921712824127_.pic"/>
          <p:cNvPicPr>
            <a:picLocks noChangeAspect="1"/>
          </p:cNvPicPr>
          <p:nvPr/>
        </p:nvPicPr>
        <p:blipFill>
          <a:blip r:embed="rId1"/>
          <a:srcRect b="45653"/>
          <a:stretch>
            <a:fillRect/>
          </a:stretch>
        </p:blipFill>
        <p:spPr>
          <a:xfrm>
            <a:off x="1674495" y="2917984"/>
            <a:ext cx="5983605" cy="1917383"/>
          </a:xfrm>
          <a:prstGeom prst="rect">
            <a:avLst/>
          </a:prstGeom>
        </p:spPr>
      </p:pic>
      <p:pic>
        <p:nvPicPr>
          <p:cNvPr id="6" name="图片 5" descr="2851712821105_.pic"/>
          <p:cNvPicPr>
            <a:picLocks noChangeAspect="1"/>
          </p:cNvPicPr>
          <p:nvPr>
            <p:custDataLst>
              <p:tags r:id="rId2"/>
            </p:custDataLst>
          </p:nvPr>
        </p:nvPicPr>
        <p:blipFill>
          <a:blip r:embed="rId3"/>
          <a:srcRect b="51697"/>
          <a:stretch>
            <a:fillRect/>
          </a:stretch>
        </p:blipFill>
        <p:spPr>
          <a:xfrm>
            <a:off x="4321016" y="1496854"/>
            <a:ext cx="3298508" cy="1294448"/>
          </a:xfrm>
          <a:prstGeom prst="rect">
            <a:avLst/>
          </a:prstGeom>
        </p:spPr>
      </p:pic>
      <p:sp>
        <p:nvSpPr>
          <p:cNvPr id="9" name="矩形 8"/>
          <p:cNvSpPr/>
          <p:nvPr>
            <p:custDataLst>
              <p:tags r:id="rId4"/>
            </p:custDataLst>
          </p:nvPr>
        </p:nvSpPr>
        <p:spPr>
          <a:xfrm>
            <a:off x="1995011" y="4074795"/>
            <a:ext cx="4481036" cy="281464"/>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5" name="矩形 4"/>
          <p:cNvSpPr/>
          <p:nvPr>
            <p:custDataLst>
              <p:tags r:id="rId5"/>
            </p:custDataLst>
          </p:nvPr>
        </p:nvSpPr>
        <p:spPr>
          <a:xfrm>
            <a:off x="1995011" y="3145155"/>
            <a:ext cx="4481036" cy="281464"/>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sp>
        <p:nvSpPr>
          <p:cNvPr id="7" name="矩形 6"/>
          <p:cNvSpPr/>
          <p:nvPr>
            <p:custDataLst>
              <p:tags r:id="rId6"/>
            </p:custDataLst>
          </p:nvPr>
        </p:nvSpPr>
        <p:spPr>
          <a:xfrm>
            <a:off x="5086350" y="1669256"/>
            <a:ext cx="2432209" cy="410528"/>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sz="1800"/>
          </a:p>
        </p:txBody>
      </p:sp>
      <p:cxnSp>
        <p:nvCxnSpPr>
          <p:cNvPr id="14" name="直接箭头连接符 13"/>
          <p:cNvCxnSpPr/>
          <p:nvPr>
            <p:custDataLst>
              <p:tags r:id="rId7"/>
            </p:custDataLst>
          </p:nvPr>
        </p:nvCxnSpPr>
        <p:spPr>
          <a:xfrm>
            <a:off x="2285841" y="1123950"/>
            <a:ext cx="24765" cy="202120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8" name="直接箭头连接符 7"/>
          <p:cNvCxnSpPr>
            <a:endCxn id="9" idx="0"/>
          </p:cNvCxnSpPr>
          <p:nvPr>
            <p:custDataLst>
              <p:tags r:id="rId8"/>
            </p:custDataLst>
          </p:nvPr>
        </p:nvCxnSpPr>
        <p:spPr>
          <a:xfrm>
            <a:off x="2666841" y="1505268"/>
            <a:ext cx="1568450" cy="2569845"/>
          </a:xfrm>
          <a:prstGeom prst="straightConnector1">
            <a:avLst/>
          </a:prstGeom>
          <a:ln w="28575" cap="flat" cmpd="sng">
            <a:solidFill>
              <a:srgbClr val="D200FE"/>
            </a:solidFill>
            <a:prstDash val="solid"/>
            <a:headEnd type="none"/>
            <a:tailEnd type="arrow"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GB" altLang="zh-CN" dirty="0"/>
              <a:t>Information from the User</a:t>
            </a:r>
            <a:endParaRPr kumimoji="1" lang="zh-CN" altLang="en-US" dirty="0"/>
          </a:p>
        </p:txBody>
      </p:sp>
      <p:sp>
        <p:nvSpPr>
          <p:cNvPr id="3" name="内容占位符 2"/>
          <p:cNvSpPr>
            <a:spLocks noGrp="1"/>
          </p:cNvSpPr>
          <p:nvPr>
            <p:ph idx="1"/>
          </p:nvPr>
        </p:nvSpPr>
        <p:spPr>
          <a:xfrm>
            <a:off x="838202" y="818998"/>
            <a:ext cx="6035171" cy="2769989"/>
          </a:xfrm>
        </p:spPr>
        <p:txBody>
          <a:bodyPr>
            <a:noAutofit/>
          </a:bodyPr>
          <a:lstStyle/>
          <a:p>
            <a:pPr algn="just"/>
            <a:r>
              <a:rPr kumimoji="1" lang="en-GB" altLang="zh-CN" sz="1425" b="1" dirty="0">
                <a:solidFill>
                  <a:srgbClr val="4A7EBB"/>
                </a:solidFill>
              </a:rPr>
              <a:t>Input</a:t>
            </a:r>
            <a:r>
              <a:rPr kumimoji="1" lang="en-GB" altLang="zh-CN" sz="1425" dirty="0"/>
              <a:t> refers to any information a user gives to the program. Specifically, the Python command </a:t>
            </a:r>
            <a:r>
              <a:rPr kumimoji="1" lang="en-GB" altLang="zh-CN" sz="1425" b="1" dirty="0">
                <a:solidFill>
                  <a:srgbClr val="4A7EBB"/>
                </a:solidFill>
              </a:rPr>
              <a:t>input</a:t>
            </a:r>
            <a:r>
              <a:rPr kumimoji="1" lang="en-GB" altLang="zh-CN" sz="1425" dirty="0"/>
              <a:t> reads in a line of input typed in by the user. It may also be used to display a message to the user, to prompt for specific input.</a:t>
            </a:r>
            <a:endParaRPr kumimoji="1" lang="en-GB" altLang="zh-CN" sz="1425" dirty="0"/>
          </a:p>
          <a:p>
            <a:pPr algn="just"/>
            <a:r>
              <a:rPr kumimoji="1" lang="en-GB" altLang="zh-CN" sz="1425" dirty="0"/>
              <a:t>The following program reads in the name of the user with the </a:t>
            </a:r>
            <a:r>
              <a:rPr kumimoji="1" lang="en-GB" altLang="zh-CN" sz="1425" b="1" dirty="0">
                <a:solidFill>
                  <a:srgbClr val="4A7EBB"/>
                </a:solidFill>
              </a:rPr>
              <a:t>input</a:t>
            </a:r>
            <a:r>
              <a:rPr kumimoji="1" lang="en-GB" altLang="zh-CN" sz="1425" dirty="0"/>
              <a:t> command. It then prints it out with the </a:t>
            </a:r>
            <a:r>
              <a:rPr kumimoji="1" lang="en-GB" altLang="zh-CN" sz="1425" b="1" dirty="0">
                <a:solidFill>
                  <a:srgbClr val="4A7EBB"/>
                </a:solidFill>
              </a:rPr>
              <a:t>print</a:t>
            </a:r>
            <a:r>
              <a:rPr kumimoji="1" lang="en-GB" altLang="zh-CN" sz="1425" dirty="0"/>
              <a:t> command:</a:t>
            </a:r>
            <a:endParaRPr kumimoji="1" lang="en-GB" altLang="zh-CN" sz="1425" dirty="0"/>
          </a:p>
          <a:p>
            <a:pPr lvl="1" algn="just"/>
            <a:r>
              <a:rPr lang="en-GB" altLang="zh-CN" sz="1425" dirty="0"/>
              <a:t>name </a:t>
            </a:r>
            <a:r>
              <a:rPr lang="en-GB" altLang="zh-CN" sz="1425" dirty="0">
                <a:solidFill>
                  <a:srgbClr val="9A6E3A"/>
                </a:solidFill>
                <a:effectLst/>
              </a:rPr>
              <a:t>=</a:t>
            </a:r>
            <a:r>
              <a:rPr lang="en-GB" altLang="zh-CN" sz="1425" dirty="0"/>
              <a:t> </a:t>
            </a:r>
            <a:r>
              <a:rPr lang="en-GB" altLang="zh-CN" sz="1425" dirty="0">
                <a:solidFill>
                  <a:srgbClr val="669900"/>
                </a:solidFill>
                <a:effectLst/>
              </a:rPr>
              <a:t>input</a:t>
            </a:r>
            <a:r>
              <a:rPr lang="en-GB" altLang="zh-CN" sz="1425" dirty="0">
                <a:solidFill>
                  <a:srgbClr val="999999"/>
                </a:solidFill>
                <a:effectLst/>
              </a:rPr>
              <a:t>(</a:t>
            </a:r>
            <a:r>
              <a:rPr lang="en-GB" altLang="zh-CN" sz="1425" dirty="0">
                <a:solidFill>
                  <a:srgbClr val="669900"/>
                </a:solidFill>
                <a:effectLst/>
              </a:rPr>
              <a:t>"What is your name? "</a:t>
            </a:r>
            <a:r>
              <a:rPr lang="en-GB" altLang="zh-CN" sz="1425" dirty="0">
                <a:solidFill>
                  <a:srgbClr val="999999"/>
                </a:solidFill>
                <a:effectLst/>
              </a:rPr>
              <a:t>)</a:t>
            </a:r>
            <a:endParaRPr lang="en-GB" altLang="zh-CN" sz="1425" dirty="0">
              <a:solidFill>
                <a:srgbClr val="999999"/>
              </a:solidFill>
              <a:effectLst/>
            </a:endParaRPr>
          </a:p>
          <a:p>
            <a:pPr lvl="1" algn="just"/>
            <a:r>
              <a:rPr lang="en-GB" altLang="zh-CN" sz="1425" dirty="0">
                <a:solidFill>
                  <a:srgbClr val="0077AA"/>
                </a:solidFill>
                <a:effectLst/>
              </a:rPr>
              <a:t>print</a:t>
            </a:r>
            <a:r>
              <a:rPr lang="en-GB" altLang="zh-CN" sz="1425" dirty="0">
                <a:solidFill>
                  <a:srgbClr val="999999"/>
                </a:solidFill>
                <a:effectLst/>
              </a:rPr>
              <a:t>(</a:t>
            </a:r>
            <a:r>
              <a:rPr lang="en-GB" altLang="zh-CN" sz="1425" dirty="0">
                <a:solidFill>
                  <a:srgbClr val="669900"/>
                </a:solidFill>
                <a:effectLst/>
              </a:rPr>
              <a:t>"Hi there, "</a:t>
            </a:r>
            <a:r>
              <a:rPr lang="en-GB" altLang="zh-CN" sz="1425" dirty="0"/>
              <a:t> </a:t>
            </a:r>
            <a:r>
              <a:rPr lang="en-GB" altLang="zh-CN" sz="1425" dirty="0">
                <a:solidFill>
                  <a:srgbClr val="9A6E3A"/>
                </a:solidFill>
                <a:effectLst/>
              </a:rPr>
              <a:t>+</a:t>
            </a:r>
            <a:r>
              <a:rPr lang="en-GB" altLang="zh-CN" sz="1425" dirty="0"/>
              <a:t> name</a:t>
            </a:r>
            <a:r>
              <a:rPr lang="en-GB" altLang="zh-CN" sz="1425" dirty="0">
                <a:solidFill>
                  <a:srgbClr val="999999"/>
                </a:solidFill>
                <a:effectLst/>
              </a:rPr>
              <a:t>)</a:t>
            </a:r>
            <a:endParaRPr kumimoji="1" lang="en-GB" altLang="zh-CN" sz="1425" dirty="0">
              <a:solidFill>
                <a:srgbClr val="999999"/>
              </a:solidFill>
              <a:effectLst/>
            </a:endParaRPr>
          </a:p>
          <a:p>
            <a:pPr algn="just"/>
            <a:r>
              <a:rPr kumimoji="1" lang="en-GB" altLang="zh-CN" sz="1425" dirty="0"/>
              <a:t>The execution of this program could look like this (input from the user in red):</a:t>
            </a:r>
            <a:endParaRPr kumimoji="1" lang="en-GB" altLang="zh-CN" sz="1425" dirty="0"/>
          </a:p>
          <a:p>
            <a:pPr lvl="1" algn="just"/>
            <a:r>
              <a:rPr kumimoji="1" lang="en-GB" altLang="zh-CN" sz="1425" dirty="0"/>
              <a:t>What is your name? </a:t>
            </a:r>
            <a:r>
              <a:rPr kumimoji="1" lang="en-GB" altLang="zh-CN" sz="1425" dirty="0">
                <a:solidFill>
                  <a:srgbClr val="FF0000"/>
                </a:solidFill>
              </a:rPr>
              <a:t>AIAC</a:t>
            </a:r>
            <a:endParaRPr kumimoji="1" lang="en-GB" altLang="zh-CN" sz="1425" dirty="0">
              <a:solidFill>
                <a:srgbClr val="FF0000"/>
              </a:solidFill>
            </a:endParaRPr>
          </a:p>
          <a:p>
            <a:pPr lvl="1" algn="just"/>
            <a:r>
              <a:rPr kumimoji="1" lang="en-GB" altLang="zh-CN" sz="1425" dirty="0"/>
              <a:t>Hi there, AIAC</a:t>
            </a:r>
            <a:endParaRPr kumimoji="1" lang="en-GB" altLang="zh-CN" sz="1425" dirty="0"/>
          </a:p>
          <a:p>
            <a:pPr marL="400050" algn="just"/>
            <a:r>
              <a:rPr kumimoji="1" lang="en-GB" altLang="zh-CN" sz="1425" dirty="0"/>
              <a:t>The word </a:t>
            </a:r>
            <a:r>
              <a:rPr kumimoji="1" lang="en-GB" altLang="zh-CN" sz="1425" b="1" dirty="0">
                <a:solidFill>
                  <a:srgbClr val="4A7EBB"/>
                </a:solidFill>
              </a:rPr>
              <a:t>name</a:t>
            </a:r>
            <a:r>
              <a:rPr kumimoji="1" lang="en-GB" altLang="zh-CN" sz="1425" dirty="0"/>
              <a:t> in this program is a variable. In the context of programming, a variable is a location for storing some </a:t>
            </a:r>
            <a:r>
              <a:rPr kumimoji="1" lang="en-GB" altLang="zh-CN" sz="1425" b="1" dirty="0">
                <a:solidFill>
                  <a:srgbClr val="C00000"/>
                </a:solidFill>
              </a:rPr>
              <a:t>value</a:t>
            </a:r>
            <a:r>
              <a:rPr kumimoji="1" lang="en-GB" altLang="zh-CN" sz="1425" dirty="0"/>
              <a:t>, such as a string or a number. This value can be used later, and it can also be changed.</a:t>
            </a:r>
            <a:endParaRPr kumimoji="1" lang="en-GB" altLang="zh-CN" sz="14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en-GB" dirty="0"/>
              <a:t>NLP competition</a:t>
            </a:r>
            <a:r>
              <a:rPr kumimoji="1" lang="en-US" altLang="en-GB" dirty="0"/>
              <a:t>s</a:t>
            </a:r>
            <a:endParaRPr kumimoji="1" lang="en-US" altLang="en-GB" dirty="0"/>
          </a:p>
        </p:txBody>
      </p:sp>
      <p:sp>
        <p:nvSpPr>
          <p:cNvPr id="3" name="内容占位符 2"/>
          <p:cNvSpPr>
            <a:spLocks noGrp="1"/>
          </p:cNvSpPr>
          <p:nvPr>
            <p:ph idx="1"/>
          </p:nvPr>
        </p:nvSpPr>
        <p:spPr>
          <a:xfrm>
            <a:off x="838202" y="818998"/>
            <a:ext cx="6035171" cy="2769989"/>
          </a:xfrm>
        </p:spPr>
        <p:txBody>
          <a:bodyPr>
            <a:noAutofit/>
          </a:bodyPr>
          <a:lstStyle/>
          <a:p>
            <a:pPr algn="just"/>
            <a:r>
              <a:rPr kumimoji="1" lang="en-GB" altLang="zh-CN" sz="1425" b="1" dirty="0">
                <a:solidFill>
                  <a:srgbClr val="4A7EBB"/>
                </a:solidFill>
              </a:rPr>
              <a:t>Input</a:t>
            </a:r>
            <a:r>
              <a:rPr kumimoji="1" lang="en-GB" altLang="zh-CN" sz="1425" dirty="0"/>
              <a:t> refers to any information a user gives to the program. Specifically, the Python command </a:t>
            </a:r>
            <a:r>
              <a:rPr kumimoji="1" lang="en-GB" altLang="zh-CN" sz="1425" b="1" dirty="0">
                <a:solidFill>
                  <a:srgbClr val="4A7EBB"/>
                </a:solidFill>
              </a:rPr>
              <a:t>input</a:t>
            </a:r>
            <a:r>
              <a:rPr kumimoji="1" lang="en-GB" altLang="zh-CN" sz="1425" dirty="0"/>
              <a:t> reads in a line of input typed in by the user. It may also be used to display a message to the user, to prompt for specific input.</a:t>
            </a:r>
            <a:endParaRPr kumimoji="1" lang="en-GB" altLang="zh-CN" sz="1425" dirty="0"/>
          </a:p>
          <a:p>
            <a:pPr algn="just"/>
            <a:r>
              <a:rPr kumimoji="1" lang="en-GB" altLang="zh-CN" sz="1425" dirty="0"/>
              <a:t>The following program reads in the name of the user with the </a:t>
            </a:r>
            <a:r>
              <a:rPr kumimoji="1" lang="en-GB" altLang="zh-CN" sz="1425" b="1" dirty="0">
                <a:solidFill>
                  <a:srgbClr val="4A7EBB"/>
                </a:solidFill>
              </a:rPr>
              <a:t>input</a:t>
            </a:r>
            <a:r>
              <a:rPr kumimoji="1" lang="en-GB" altLang="zh-CN" sz="1425" dirty="0"/>
              <a:t> command. It then prints it out with the </a:t>
            </a:r>
            <a:r>
              <a:rPr kumimoji="1" lang="en-GB" altLang="zh-CN" sz="1425" b="1" dirty="0">
                <a:solidFill>
                  <a:srgbClr val="4A7EBB"/>
                </a:solidFill>
              </a:rPr>
              <a:t>print</a:t>
            </a:r>
            <a:r>
              <a:rPr kumimoji="1" lang="en-GB" altLang="zh-CN" sz="1425" dirty="0"/>
              <a:t> command:</a:t>
            </a:r>
            <a:endParaRPr kumimoji="1" lang="en-GB" altLang="zh-CN" sz="1425" dirty="0"/>
          </a:p>
          <a:p>
            <a:pPr lvl="1" algn="just"/>
            <a:r>
              <a:rPr lang="en-GB" altLang="zh-CN" sz="1425" dirty="0"/>
              <a:t>name </a:t>
            </a:r>
            <a:r>
              <a:rPr lang="en-GB" altLang="zh-CN" sz="1425" dirty="0">
                <a:solidFill>
                  <a:srgbClr val="9A6E3A"/>
                </a:solidFill>
                <a:effectLst/>
              </a:rPr>
              <a:t>=</a:t>
            </a:r>
            <a:r>
              <a:rPr lang="en-GB" altLang="zh-CN" sz="1425" dirty="0"/>
              <a:t> </a:t>
            </a:r>
            <a:r>
              <a:rPr lang="en-GB" altLang="zh-CN" sz="1425" dirty="0">
                <a:solidFill>
                  <a:srgbClr val="669900"/>
                </a:solidFill>
                <a:effectLst/>
              </a:rPr>
              <a:t>input</a:t>
            </a:r>
            <a:r>
              <a:rPr lang="en-GB" altLang="zh-CN" sz="1425" dirty="0">
                <a:solidFill>
                  <a:srgbClr val="999999"/>
                </a:solidFill>
                <a:effectLst/>
              </a:rPr>
              <a:t>(</a:t>
            </a:r>
            <a:r>
              <a:rPr lang="en-GB" altLang="zh-CN" sz="1425" dirty="0">
                <a:solidFill>
                  <a:srgbClr val="669900"/>
                </a:solidFill>
                <a:effectLst/>
              </a:rPr>
              <a:t>"What is your name? "</a:t>
            </a:r>
            <a:r>
              <a:rPr lang="en-GB" altLang="zh-CN" sz="1425" dirty="0">
                <a:solidFill>
                  <a:srgbClr val="999999"/>
                </a:solidFill>
                <a:effectLst/>
              </a:rPr>
              <a:t>)</a:t>
            </a:r>
            <a:endParaRPr lang="en-GB" altLang="zh-CN" sz="1425" dirty="0">
              <a:solidFill>
                <a:srgbClr val="999999"/>
              </a:solidFill>
              <a:effectLst/>
            </a:endParaRPr>
          </a:p>
          <a:p>
            <a:pPr lvl="1" algn="just"/>
            <a:r>
              <a:rPr lang="en-GB" altLang="zh-CN" sz="1425" dirty="0">
                <a:solidFill>
                  <a:srgbClr val="0077AA"/>
                </a:solidFill>
                <a:effectLst/>
              </a:rPr>
              <a:t>print</a:t>
            </a:r>
            <a:r>
              <a:rPr lang="en-GB" altLang="zh-CN" sz="1425" dirty="0">
                <a:solidFill>
                  <a:srgbClr val="999999"/>
                </a:solidFill>
                <a:effectLst/>
              </a:rPr>
              <a:t>(</a:t>
            </a:r>
            <a:r>
              <a:rPr lang="en-GB" altLang="zh-CN" sz="1425" dirty="0">
                <a:solidFill>
                  <a:srgbClr val="669900"/>
                </a:solidFill>
                <a:effectLst/>
              </a:rPr>
              <a:t>"Hi there, "</a:t>
            </a:r>
            <a:r>
              <a:rPr lang="en-GB" altLang="zh-CN" sz="1425" dirty="0"/>
              <a:t> </a:t>
            </a:r>
            <a:r>
              <a:rPr lang="en-GB" altLang="zh-CN" sz="1425" dirty="0">
                <a:solidFill>
                  <a:srgbClr val="9A6E3A"/>
                </a:solidFill>
                <a:effectLst/>
              </a:rPr>
              <a:t>+</a:t>
            </a:r>
            <a:r>
              <a:rPr lang="en-GB" altLang="zh-CN" sz="1425" dirty="0"/>
              <a:t> name</a:t>
            </a:r>
            <a:r>
              <a:rPr lang="en-GB" altLang="zh-CN" sz="1425" dirty="0">
                <a:solidFill>
                  <a:srgbClr val="999999"/>
                </a:solidFill>
                <a:effectLst/>
              </a:rPr>
              <a:t>)</a:t>
            </a:r>
            <a:endParaRPr kumimoji="1" lang="en-GB" altLang="zh-CN" sz="1425" dirty="0">
              <a:solidFill>
                <a:srgbClr val="999999"/>
              </a:solidFill>
              <a:effectLst/>
            </a:endParaRPr>
          </a:p>
          <a:p>
            <a:pPr algn="just"/>
            <a:r>
              <a:rPr kumimoji="1" lang="en-GB" altLang="zh-CN" sz="1425" dirty="0"/>
              <a:t>The execution of this program could look like this (input from the user in red):</a:t>
            </a:r>
            <a:endParaRPr kumimoji="1" lang="en-GB" altLang="zh-CN" sz="1425" dirty="0"/>
          </a:p>
          <a:p>
            <a:pPr lvl="1" algn="just"/>
            <a:r>
              <a:rPr kumimoji="1" lang="en-GB" altLang="zh-CN" sz="1425" dirty="0"/>
              <a:t>What is your name? </a:t>
            </a:r>
            <a:r>
              <a:rPr kumimoji="1" lang="en-GB" altLang="zh-CN" sz="1425" dirty="0">
                <a:solidFill>
                  <a:srgbClr val="FF0000"/>
                </a:solidFill>
              </a:rPr>
              <a:t>AIAC</a:t>
            </a:r>
            <a:endParaRPr kumimoji="1" lang="en-GB" altLang="zh-CN" sz="1425" dirty="0">
              <a:solidFill>
                <a:srgbClr val="FF0000"/>
              </a:solidFill>
            </a:endParaRPr>
          </a:p>
          <a:p>
            <a:pPr lvl="1" algn="just"/>
            <a:r>
              <a:rPr kumimoji="1" lang="en-GB" altLang="zh-CN" sz="1425" dirty="0"/>
              <a:t>Hi there, AIAC</a:t>
            </a:r>
            <a:endParaRPr kumimoji="1" lang="en-GB" altLang="zh-CN" sz="1425" dirty="0"/>
          </a:p>
          <a:p>
            <a:pPr marL="400050" algn="just"/>
            <a:r>
              <a:rPr kumimoji="1" lang="en-GB" altLang="zh-CN" sz="1425" dirty="0"/>
              <a:t>The word </a:t>
            </a:r>
            <a:r>
              <a:rPr kumimoji="1" lang="en-GB" altLang="zh-CN" sz="1425" b="1" dirty="0">
                <a:solidFill>
                  <a:srgbClr val="4A7EBB"/>
                </a:solidFill>
              </a:rPr>
              <a:t>name</a:t>
            </a:r>
            <a:r>
              <a:rPr kumimoji="1" lang="en-GB" altLang="zh-CN" sz="1425" dirty="0"/>
              <a:t> in this program is a variable. In the context of programming, a variable is a location for storing some </a:t>
            </a:r>
            <a:r>
              <a:rPr kumimoji="1" lang="en-GB" altLang="zh-CN" sz="1425" b="1" dirty="0">
                <a:solidFill>
                  <a:srgbClr val="C00000"/>
                </a:solidFill>
              </a:rPr>
              <a:t>value</a:t>
            </a:r>
            <a:r>
              <a:rPr kumimoji="1" lang="en-GB" altLang="zh-CN" sz="1425" dirty="0"/>
              <a:t>, such as a string or a number. This value can be used later, and it can also be changed.</a:t>
            </a:r>
            <a:endParaRPr kumimoji="1" lang="en-GB" altLang="zh-CN"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sz="2400" dirty="0">
                <a:sym typeface="+mn-ea"/>
              </a:rPr>
              <a:t>Github</a:t>
            </a:r>
            <a:endParaRPr kumimoji="1" lang="en-US" altLang="zh-CN" sz="2400" dirty="0">
              <a:sym typeface="+mn-ea"/>
            </a:endParaRPr>
          </a:p>
        </p:txBody>
      </p:sp>
      <p:sp>
        <p:nvSpPr>
          <p:cNvPr id="3" name="内容占位符 2"/>
          <p:cNvSpPr>
            <a:spLocks noGrp="1"/>
          </p:cNvSpPr>
          <p:nvPr>
            <p:ph idx="1"/>
          </p:nvPr>
        </p:nvSpPr>
        <p:spPr/>
        <p:txBody>
          <a:bodyPr/>
          <a:p>
            <a:r>
              <a:rPr lang="zh-CN" altLang="en-US"/>
              <a:t>1. </a:t>
            </a:r>
            <a:r>
              <a:t>GitHub</a:t>
            </a:r>
          </a:p>
          <a:p>
            <a:r>
              <a:rPr lang="en-US" altLang="zh-CN"/>
              <a:t>2</a:t>
            </a:r>
            <a:r>
              <a:rPr lang="zh-CN" altLang="en-US"/>
              <a:t>. Hugging Face</a:t>
            </a:r>
            <a:endParaRPr lang="zh-CN" altLang="en-US"/>
          </a:p>
          <a:p>
            <a:r>
              <a:rPr lang="en-US" altLang="zh-CN"/>
              <a:t>3</a:t>
            </a:r>
            <a:r>
              <a:rPr lang="zh-CN" altLang="en-US"/>
              <a:t>. </a:t>
            </a:r>
            <a:r>
              <a:t>Common Corpus</a:t>
            </a:r>
          </a:p>
          <a:p>
            <a:r>
              <a:rPr lang="en-US" altLang="zh-CN"/>
              <a:t>4. Academic databases and paper repositories</a:t>
            </a:r>
            <a:endParaRPr lang="en-US" altLang="zh-CN"/>
          </a:p>
          <a:p>
            <a:r>
              <a:rPr lang="zh-CN" altLang="en-US"/>
              <a:t>5. </a:t>
            </a:r>
            <a:r>
              <a:t>Forums and communities in specific fields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github</a:t>
            </a:r>
            <a:endParaRPr lang="en-US" altLang="zh-CN" sz="2400">
              <a:sym typeface="+mn-ea"/>
            </a:endParaRPr>
          </a:p>
        </p:txBody>
      </p:sp>
      <p:sp>
        <p:nvSpPr>
          <p:cNvPr id="3" name="内容占位符 2"/>
          <p:cNvSpPr>
            <a:spLocks noGrp="1"/>
          </p:cNvSpPr>
          <p:nvPr>
            <p:ph idx="1"/>
          </p:nvPr>
        </p:nvSpPr>
        <p:spPr>
          <a:xfrm>
            <a:off x="533400" y="819150"/>
            <a:ext cx="2996565" cy="3429000"/>
          </a:xfrm>
        </p:spPr>
        <p:txBody>
          <a:bodyPr>
            <a:normAutofit/>
          </a:bodyPr>
          <a:p>
            <a:pPr marL="0" indent="0" algn="just">
              <a:buNone/>
            </a:pPr>
            <a:r>
              <a:rPr sz="1800"/>
              <a:t>GitHub is an open code hosting platform where developers can find a vast collection of natural language processing (NLP) datasets. These datasets are typically contributed by community members and cover everything from simple language models to complex domain specific corpora.</a:t>
            </a:r>
            <a:endParaRPr sz="1800"/>
          </a:p>
        </p:txBody>
      </p:sp>
      <p:sp>
        <p:nvSpPr>
          <p:cNvPr id="4" name="文本框 3"/>
          <p:cNvSpPr txBox="1"/>
          <p:nvPr/>
        </p:nvSpPr>
        <p:spPr>
          <a:xfrm>
            <a:off x="609600" y="4095750"/>
            <a:ext cx="3048000" cy="368300"/>
          </a:xfrm>
          <a:prstGeom prst="rect">
            <a:avLst/>
          </a:prstGeom>
          <a:noFill/>
        </p:spPr>
        <p:txBody>
          <a:bodyPr wrap="square" rtlCol="0">
            <a:spAutoFit/>
          </a:bodyPr>
          <a:p>
            <a:r>
              <a:rPr lang="zh-CN" altLang="en-US" sz="1800">
                <a:solidFill>
                  <a:srgbClr val="FF0000"/>
                </a:solidFill>
                <a:latin typeface="Times New Roman Regular" panose="02020503050405090304" charset="0"/>
                <a:cs typeface="Times New Roman Regular" panose="02020503050405090304" charset="0"/>
              </a:rPr>
              <a:t>https://github.com</a:t>
            </a:r>
            <a:endParaRPr lang="zh-CN" altLang="en-US" sz="1800">
              <a:solidFill>
                <a:srgbClr val="FF0000"/>
              </a:solidFill>
              <a:latin typeface="Times New Roman Regular" panose="02020503050405090304" charset="0"/>
              <a:cs typeface="Times New Roman Regular" panose="02020503050405090304" charset="0"/>
            </a:endParaRPr>
          </a:p>
        </p:txBody>
      </p:sp>
      <p:pic>
        <p:nvPicPr>
          <p:cNvPr id="5" name="图片 4"/>
          <p:cNvPicPr>
            <a:picLocks noChangeAspect="1"/>
          </p:cNvPicPr>
          <p:nvPr>
            <p:custDataLst>
              <p:tags r:id="rId1"/>
            </p:custDataLst>
          </p:nvPr>
        </p:nvPicPr>
        <p:blipFill>
          <a:blip r:embed="rId2"/>
          <a:stretch>
            <a:fillRect/>
          </a:stretch>
        </p:blipFill>
        <p:spPr>
          <a:xfrm>
            <a:off x="3962400" y="895350"/>
            <a:ext cx="4921885" cy="31013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github</a:t>
            </a:r>
            <a:endParaRPr lang="en-US" altLang="zh-CN" sz="2400">
              <a:sym typeface="+mn-ea"/>
            </a:endParaRPr>
          </a:p>
        </p:txBody>
      </p:sp>
      <p:sp>
        <p:nvSpPr>
          <p:cNvPr id="3" name="内容占位符 2"/>
          <p:cNvSpPr>
            <a:spLocks noGrp="1"/>
          </p:cNvSpPr>
          <p:nvPr>
            <p:ph idx="1"/>
          </p:nvPr>
        </p:nvSpPr>
        <p:spPr>
          <a:xfrm>
            <a:off x="323850" y="819150"/>
            <a:ext cx="8292465" cy="3429000"/>
          </a:xfrm>
        </p:spPr>
        <p:txBody>
          <a:bodyPr/>
          <a:p>
            <a:pPr marL="0" indent="0" algn="just">
              <a:buNone/>
            </a:pPr>
            <a:r>
              <a:rPr sz="1800"/>
              <a:t>Basic search: directly search for "</a:t>
            </a:r>
            <a:r>
              <a:rPr sz="1800">
                <a:solidFill>
                  <a:srgbClr val="FF0000"/>
                </a:solidFill>
              </a:rPr>
              <a:t>NLP dataset</a:t>
            </a:r>
            <a:r>
              <a:rPr sz="1800"/>
              <a:t>" or more specific "NLP English dataset", "NLP sentiment analysis dataset", etc., and customize search terms according to your specific needs.</a:t>
            </a:r>
            <a:endParaRPr sz="1800"/>
          </a:p>
          <a:p>
            <a:pPr marL="0" indent="0" algn="just">
              <a:buNone/>
            </a:pPr>
            <a:endParaRPr sz="1800"/>
          </a:p>
        </p:txBody>
      </p:sp>
      <p:pic>
        <p:nvPicPr>
          <p:cNvPr id="5" name="图片 4"/>
          <p:cNvPicPr>
            <a:picLocks noChangeAspect="1"/>
          </p:cNvPicPr>
          <p:nvPr>
            <p:custDataLst>
              <p:tags r:id="rId1"/>
            </p:custDataLst>
          </p:nvPr>
        </p:nvPicPr>
        <p:blipFill>
          <a:blip r:embed="rId2"/>
          <a:stretch>
            <a:fillRect/>
          </a:stretch>
        </p:blipFill>
        <p:spPr>
          <a:xfrm>
            <a:off x="1981200" y="1504950"/>
            <a:ext cx="6032500" cy="34582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github</a:t>
            </a:r>
            <a:endParaRPr lang="en-US" altLang="zh-CN" sz="2400">
              <a:sym typeface="+mn-ea"/>
            </a:endParaRPr>
          </a:p>
        </p:txBody>
      </p:sp>
      <p:sp>
        <p:nvSpPr>
          <p:cNvPr id="3" name="内容占位符 2"/>
          <p:cNvSpPr>
            <a:spLocks noGrp="1"/>
          </p:cNvSpPr>
          <p:nvPr>
            <p:ph idx="1"/>
          </p:nvPr>
        </p:nvSpPr>
        <p:spPr>
          <a:xfrm>
            <a:off x="323850" y="666750"/>
            <a:ext cx="3921125" cy="4090035"/>
          </a:xfrm>
        </p:spPr>
        <p:txBody>
          <a:bodyPr>
            <a:noAutofit/>
          </a:bodyPr>
          <a:p>
            <a:pPr marL="0" indent="0" algn="just">
              <a:buNone/>
            </a:pPr>
            <a:r>
              <a:rPr sz="1400"/>
              <a:t>When selecting a text training dataset on GitHub, it is important to focus on the following three key items:</a:t>
            </a:r>
            <a:endParaRPr sz="1400"/>
          </a:p>
          <a:p>
            <a:pPr algn="just">
              <a:buFont typeface="Wingdings" panose="05000000000000000000" charset="0"/>
              <a:buChar char=""/>
            </a:pPr>
            <a:r>
              <a:rPr sz="1400">
                <a:solidFill>
                  <a:srgbClr val="FF0000"/>
                </a:solidFill>
              </a:rPr>
              <a:t>Star count</a:t>
            </a:r>
            <a:r>
              <a:rPr sz="1400"/>
              <a:t>: reflects the community recognition and popularity of the dataset. A high Star count usually means that the dataset is of high quality, well-documented, and the community is active.</a:t>
            </a:r>
            <a:endParaRPr sz="1400"/>
          </a:p>
          <a:p>
            <a:pPr algn="just">
              <a:buFont typeface="Wingdings" panose="05000000000000000000" charset="0"/>
              <a:buChar char=""/>
            </a:pPr>
            <a:r>
              <a:rPr sz="1400">
                <a:solidFill>
                  <a:srgbClr val="FF0000"/>
                </a:solidFill>
              </a:rPr>
              <a:t>Data size</a:t>
            </a:r>
            <a:r>
              <a:rPr sz="1400"/>
              <a:t>: It directly affects the training effectiveness of the model and should be selected reasonably based on personal computing resources and time constraints. A larger dataset can provide more training samples, but it may also result in higher processing costs.</a:t>
            </a:r>
            <a:endParaRPr sz="1400"/>
          </a:p>
          <a:p>
            <a:pPr algn="just">
              <a:buFont typeface="Wingdings" panose="05000000000000000000" charset="0"/>
              <a:buChar char=""/>
            </a:pPr>
            <a:r>
              <a:rPr sz="1400">
                <a:solidFill>
                  <a:srgbClr val="FF0000"/>
                </a:solidFill>
              </a:rPr>
              <a:t>Update/Release Time</a:t>
            </a:r>
            <a:r>
              <a:rPr sz="1400"/>
              <a:t>: Reflects the timeliness and maintenance status of the dataset. Recently updated or released datasets may contain the latest language phenomena and trends, which are particularly important for training models that adapt to the current environment.</a:t>
            </a:r>
            <a:endParaRPr sz="1400"/>
          </a:p>
        </p:txBody>
      </p:sp>
      <p:pic>
        <p:nvPicPr>
          <p:cNvPr id="4" name="图片 3"/>
          <p:cNvPicPr>
            <a:picLocks noChangeAspect="1"/>
          </p:cNvPicPr>
          <p:nvPr>
            <p:custDataLst>
              <p:tags r:id="rId1"/>
            </p:custDataLst>
          </p:nvPr>
        </p:nvPicPr>
        <p:blipFill>
          <a:blip r:embed="rId2"/>
          <a:stretch>
            <a:fillRect/>
          </a:stretch>
        </p:blipFill>
        <p:spPr>
          <a:xfrm>
            <a:off x="4463415" y="376555"/>
            <a:ext cx="4324985" cy="43802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github</a:t>
            </a:r>
            <a:endParaRPr lang="en-US" altLang="zh-CN" sz="2400">
              <a:sym typeface="+mn-ea"/>
            </a:endParaRPr>
          </a:p>
        </p:txBody>
      </p:sp>
      <p:sp>
        <p:nvSpPr>
          <p:cNvPr id="3" name="内容占位符 2"/>
          <p:cNvSpPr>
            <a:spLocks noGrp="1"/>
          </p:cNvSpPr>
          <p:nvPr>
            <p:ph idx="1"/>
          </p:nvPr>
        </p:nvSpPr>
        <p:spPr>
          <a:xfrm>
            <a:off x="629285" y="819150"/>
            <a:ext cx="7987030" cy="3429000"/>
          </a:xfrm>
        </p:spPr>
        <p:txBody>
          <a:bodyPr>
            <a:normAutofit fontScale="90000"/>
          </a:bodyPr>
          <a:p>
            <a:pPr marL="0" indent="0" algn="just">
              <a:buNone/>
            </a:pPr>
            <a:r>
              <a:rPr sz="2000"/>
              <a:t>Using the description of the code repository: GitHub allows developers to add keywords or short sentences in the repository description, which you can use to search for repositories containing specific keywords. Try searching for 'NLP dataset' in: description.</a:t>
            </a:r>
            <a:endParaRPr sz="2000"/>
          </a:p>
          <a:p>
            <a:pPr marL="0" indent="0" algn="just">
              <a:buNone/>
            </a:pPr>
            <a:r>
              <a:rPr sz="2000"/>
              <a:t>Specific file formats: If you know the specific format of the dataset (such as CSV, JSON, TXT, etc.), you can add these formats as filtering criteria in the search, such as "NLP dataset" CSV.</a:t>
            </a:r>
            <a:endParaRPr sz="2000"/>
          </a:p>
          <a:p>
            <a:pPr marL="0" indent="0" algn="just">
              <a:buNone/>
            </a:pPr>
            <a:r>
              <a:rPr sz="2000"/>
              <a:t>Advanced Search: GitHub's advanced search feature allows you to more finely control search results, including the creation time of the repository, the number of stars, whether specific files are included, and more. You can use these features by accessing the GitHub advanced search page.</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400">
                <a:sym typeface="+mn-ea"/>
              </a:rPr>
              <a:t>Hugging Face</a:t>
            </a:r>
            <a:endParaRPr kumimoji="1" lang="en-US" altLang="zh-CN" sz="2400" dirty="0">
              <a:sym typeface="+mn-ea"/>
            </a:endParaRPr>
          </a:p>
        </p:txBody>
      </p:sp>
      <p:sp>
        <p:nvSpPr>
          <p:cNvPr id="3" name="内容占位符 2"/>
          <p:cNvSpPr>
            <a:spLocks noGrp="1"/>
          </p:cNvSpPr>
          <p:nvPr>
            <p:ph idx="1"/>
          </p:nvPr>
        </p:nvSpPr>
        <p:spPr>
          <a:xfrm>
            <a:off x="381000" y="819785"/>
            <a:ext cx="3551555" cy="4025265"/>
          </a:xfrm>
        </p:spPr>
        <p:txBody>
          <a:bodyPr>
            <a:noAutofit/>
          </a:bodyPr>
          <a:p>
            <a:pPr marL="0" indent="0" algn="just">
              <a:buNone/>
            </a:pPr>
            <a:r>
              <a:rPr sz="2000"/>
              <a:t>Hugging Face is an open-source platform dedicated to natural language processing and deep learning research, providing a large number of pre trained models and high-quality datasets. These datasets include multiple task types such as text classification, sentiment analysis, and named entity recognition, making them highly suitable for research and development.</a:t>
            </a:r>
            <a:endParaRPr sz="2000"/>
          </a:p>
        </p:txBody>
      </p:sp>
      <p:sp>
        <p:nvSpPr>
          <p:cNvPr id="4" name="文本框 3"/>
          <p:cNvSpPr txBox="1"/>
          <p:nvPr/>
        </p:nvSpPr>
        <p:spPr>
          <a:xfrm>
            <a:off x="762000" y="4476750"/>
            <a:ext cx="3048000" cy="368300"/>
          </a:xfrm>
          <a:prstGeom prst="rect">
            <a:avLst/>
          </a:prstGeom>
          <a:noFill/>
        </p:spPr>
        <p:txBody>
          <a:bodyPr wrap="square" rtlCol="0">
            <a:spAutoFit/>
          </a:bodyPr>
          <a:p>
            <a:r>
              <a:rPr lang="zh-CN" altLang="en-US" sz="1800">
                <a:solidFill>
                  <a:srgbClr val="FF0000"/>
                </a:solidFill>
                <a:latin typeface="Times New Roman Regular" panose="02020503050405090304" charset="0"/>
                <a:cs typeface="Times New Roman Regular" panose="02020503050405090304" charset="0"/>
              </a:rPr>
              <a:t>https://huggingface.co/</a:t>
            </a:r>
            <a:endParaRPr lang="zh-CN" altLang="en-US" sz="1800">
              <a:solidFill>
                <a:srgbClr val="FF0000"/>
              </a:solidFill>
              <a:latin typeface="Times New Roman Regular" panose="02020503050405090304" charset="0"/>
              <a:cs typeface="Times New Roman Regular" panose="02020503050405090304" charset="0"/>
            </a:endParaRPr>
          </a:p>
        </p:txBody>
      </p:sp>
      <p:pic>
        <p:nvPicPr>
          <p:cNvPr id="5" name="图片 4"/>
          <p:cNvPicPr>
            <a:picLocks noChangeAspect="1"/>
          </p:cNvPicPr>
          <p:nvPr>
            <p:custDataLst>
              <p:tags r:id="rId1"/>
            </p:custDataLst>
          </p:nvPr>
        </p:nvPicPr>
        <p:blipFill>
          <a:blip r:embed="rId2"/>
          <a:stretch>
            <a:fillRect/>
          </a:stretch>
        </p:blipFill>
        <p:spPr>
          <a:xfrm>
            <a:off x="4114800" y="895350"/>
            <a:ext cx="4995545" cy="31470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400">
                <a:sym typeface="+mn-ea"/>
              </a:rPr>
              <a:t>Hugging Face</a:t>
            </a:r>
            <a:endParaRPr kumimoji="1" lang="en-US" altLang="zh-CN" sz="2400" dirty="0">
              <a:sym typeface="+mn-ea"/>
            </a:endParaRPr>
          </a:p>
        </p:txBody>
      </p:sp>
      <p:sp>
        <p:nvSpPr>
          <p:cNvPr id="3" name="内容占位符 2"/>
          <p:cNvSpPr>
            <a:spLocks noGrp="1"/>
          </p:cNvSpPr>
          <p:nvPr>
            <p:ph idx="1"/>
          </p:nvPr>
        </p:nvSpPr>
        <p:spPr>
          <a:xfrm>
            <a:off x="381000" y="819785"/>
            <a:ext cx="8331200" cy="4025265"/>
          </a:xfrm>
        </p:spPr>
        <p:txBody>
          <a:bodyPr>
            <a:noAutofit/>
          </a:bodyPr>
          <a:p>
            <a:pPr algn="just">
              <a:buFont typeface="Wingdings" panose="05000000000000000000" charset="0"/>
              <a:buChar char=""/>
            </a:pPr>
            <a:r>
              <a:rPr sz="1800"/>
              <a:t>Use search box:</a:t>
            </a:r>
            <a:endParaRPr sz="1800"/>
          </a:p>
          <a:p>
            <a:pPr algn="just">
              <a:buFont typeface="Wingdings" panose="05000000000000000000" charset="0"/>
              <a:buChar char=""/>
            </a:pPr>
            <a:r>
              <a:rPr sz="1800"/>
              <a:t>Browse dataset list:</a:t>
            </a:r>
            <a:endParaRPr sz="1800"/>
          </a:p>
          <a:p>
            <a:pPr algn="just">
              <a:buFont typeface="Wingdings" panose="05000000000000000000" charset="0"/>
              <a:buChar char=""/>
            </a:pPr>
            <a:r>
              <a:rPr sz="1800"/>
              <a:t>Using dataset API:</a:t>
            </a:r>
            <a:endParaRPr sz="1800"/>
          </a:p>
          <a:p>
            <a:pPr marL="0" indent="0" algn="just">
              <a:buNone/>
            </a:pPr>
            <a:endParaRPr sz="1800"/>
          </a:p>
        </p:txBody>
      </p:sp>
      <p:sp>
        <p:nvSpPr>
          <p:cNvPr id="4" name="文本框 3"/>
          <p:cNvSpPr txBox="1"/>
          <p:nvPr/>
        </p:nvSpPr>
        <p:spPr>
          <a:xfrm>
            <a:off x="200025" y="2266950"/>
            <a:ext cx="3048000" cy="368300"/>
          </a:xfrm>
          <a:prstGeom prst="rect">
            <a:avLst/>
          </a:prstGeom>
          <a:noFill/>
        </p:spPr>
        <p:txBody>
          <a:bodyPr wrap="square" rtlCol="0">
            <a:spAutoFit/>
          </a:bodyPr>
          <a:p>
            <a:r>
              <a:rPr lang="zh-CN" altLang="en-US" sz="1800">
                <a:solidFill>
                  <a:srgbClr val="FF0000"/>
                </a:solidFill>
                <a:latin typeface="Times New Roman Regular" panose="02020503050405090304" charset="0"/>
                <a:cs typeface="Times New Roman Regular" panose="02020503050405090304" charset="0"/>
              </a:rPr>
              <a:t>https://huggingface.co/</a:t>
            </a:r>
            <a:endParaRPr lang="zh-CN" altLang="en-US" sz="1800">
              <a:solidFill>
                <a:srgbClr val="FF0000"/>
              </a:solidFill>
              <a:latin typeface="Times New Roman Regular" panose="02020503050405090304" charset="0"/>
              <a:cs typeface="Times New Roman Regular" panose="02020503050405090304" charset="0"/>
            </a:endParaRPr>
          </a:p>
        </p:txBody>
      </p:sp>
      <p:pic>
        <p:nvPicPr>
          <p:cNvPr id="6" name="图片 5"/>
          <p:cNvPicPr>
            <a:picLocks noChangeAspect="1"/>
          </p:cNvPicPr>
          <p:nvPr>
            <p:custDataLst>
              <p:tags r:id="rId1"/>
            </p:custDataLst>
          </p:nvPr>
        </p:nvPicPr>
        <p:blipFill>
          <a:blip r:embed="rId2"/>
          <a:stretch>
            <a:fillRect/>
          </a:stretch>
        </p:blipFill>
        <p:spPr>
          <a:xfrm>
            <a:off x="2743200" y="819150"/>
            <a:ext cx="6085840" cy="38334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400">
                <a:sym typeface="+mn-ea"/>
              </a:rPr>
              <a:t>Hugging Face</a:t>
            </a:r>
            <a:endParaRPr kumimoji="1" lang="en-US" altLang="zh-CN" sz="2400" dirty="0">
              <a:sym typeface="+mn-ea"/>
            </a:endParaRPr>
          </a:p>
        </p:txBody>
      </p:sp>
      <p:sp>
        <p:nvSpPr>
          <p:cNvPr id="3" name="内容占位符 2"/>
          <p:cNvSpPr>
            <a:spLocks noGrp="1"/>
          </p:cNvSpPr>
          <p:nvPr>
            <p:ph idx="1"/>
          </p:nvPr>
        </p:nvSpPr>
        <p:spPr>
          <a:xfrm>
            <a:off x="381000" y="819785"/>
            <a:ext cx="8331200" cy="4025265"/>
          </a:xfrm>
        </p:spPr>
        <p:txBody>
          <a:bodyPr>
            <a:noAutofit/>
          </a:bodyPr>
          <a:p>
            <a:pPr marL="0" indent="0" algn="just">
              <a:buNone/>
            </a:pPr>
            <a:r>
              <a:rPr sz="1800">
                <a:solidFill>
                  <a:srgbClr val="FF0000"/>
                </a:solidFill>
              </a:rPr>
              <a:t>Dataset size</a:t>
            </a:r>
            <a:r>
              <a:rPr sz="1800"/>
              <a:t>: Does the size of the dataset meet your needs? Larger datasets typically contain more samples and more comprehensive information, but may also require more computing resources to process.</a:t>
            </a:r>
            <a:endParaRPr sz="1800"/>
          </a:p>
          <a:p>
            <a:pPr marL="0" indent="0" algn="just">
              <a:buNone/>
            </a:pPr>
            <a:r>
              <a:rPr sz="1800">
                <a:solidFill>
                  <a:srgbClr val="FF0000"/>
                </a:solidFill>
              </a:rPr>
              <a:t>Data Quality</a:t>
            </a:r>
            <a:r>
              <a:rPr sz="1800"/>
              <a:t>: How is the quality of the dataset? Does it contain noise or incorrect information? Is the annotation of the dataset accurate?</a:t>
            </a:r>
            <a:endParaRPr sz="1800"/>
          </a:p>
          <a:p>
            <a:pPr marL="0" indent="0" algn="just">
              <a:buNone/>
            </a:pPr>
            <a:r>
              <a:rPr sz="1800">
                <a:solidFill>
                  <a:srgbClr val="FF0000"/>
                </a:solidFill>
              </a:rPr>
              <a:t>Diversity</a:t>
            </a:r>
            <a:r>
              <a:rPr sz="1800"/>
              <a:t>: Does the dataset cover multiple text types, themes, and language styles? This helps your model better adapt to various practical application scenarios.</a:t>
            </a:r>
            <a:endParaRPr sz="1800"/>
          </a:p>
          <a:p>
            <a:pPr marL="0" indent="0" algn="just">
              <a:buNone/>
            </a:pPr>
            <a:r>
              <a:rPr sz="1800">
                <a:solidFill>
                  <a:srgbClr val="FF0000"/>
                </a:solidFill>
              </a:rPr>
              <a:t>Community acceptance</a:t>
            </a:r>
            <a:r>
              <a:rPr sz="1800"/>
              <a:t>: How popular is the dataset? Are there any other researchers or projects using this dataset? A dataset with high community recognition usually means that they have high quality and practical value.</a:t>
            </a:r>
            <a:endParaRPr sz="1800"/>
          </a:p>
        </p:txBody>
      </p:sp>
      <p:sp>
        <p:nvSpPr>
          <p:cNvPr id="4" name="文本框 3"/>
          <p:cNvSpPr txBox="1"/>
          <p:nvPr/>
        </p:nvSpPr>
        <p:spPr>
          <a:xfrm>
            <a:off x="533400" y="4476750"/>
            <a:ext cx="3048000" cy="368300"/>
          </a:xfrm>
          <a:prstGeom prst="rect">
            <a:avLst/>
          </a:prstGeom>
          <a:noFill/>
        </p:spPr>
        <p:txBody>
          <a:bodyPr wrap="square" rtlCol="0">
            <a:spAutoFit/>
          </a:bodyPr>
          <a:p>
            <a:r>
              <a:rPr lang="zh-CN" altLang="en-US" sz="1800">
                <a:solidFill>
                  <a:srgbClr val="FF0000"/>
                </a:solidFill>
                <a:latin typeface="Times New Roman Regular" panose="02020503050405090304" charset="0"/>
                <a:cs typeface="Times New Roman Regular" panose="02020503050405090304" charset="0"/>
              </a:rPr>
              <a:t>https://huggingface.co/</a:t>
            </a:r>
            <a:endParaRPr lang="zh-CN" altLang="en-US" sz="1800">
              <a:solidFill>
                <a:srgbClr val="FF0000"/>
              </a:solidFill>
              <a:latin typeface="Times New Roman Regular" panose="02020503050405090304" charset="0"/>
              <a:cs typeface="Times New Roman Regular" panose="0202050305040509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2400">
                <a:sym typeface="+mn-ea"/>
              </a:rPr>
              <a:t>Common Corpus</a:t>
            </a:r>
            <a:endParaRPr kumimoji="1" lang="en-US" altLang="zh-CN" sz="2400" dirty="0">
              <a:sym typeface="+mn-ea"/>
            </a:endParaRPr>
          </a:p>
        </p:txBody>
      </p:sp>
      <p:sp>
        <p:nvSpPr>
          <p:cNvPr id="3" name="内容占位符 2"/>
          <p:cNvSpPr>
            <a:spLocks noGrp="1"/>
          </p:cNvSpPr>
          <p:nvPr>
            <p:ph idx="1"/>
          </p:nvPr>
        </p:nvSpPr>
        <p:spPr>
          <a:xfrm>
            <a:off x="533402" y="895350"/>
            <a:ext cx="7543801" cy="3429000"/>
          </a:xfrm>
        </p:spPr>
        <p:txBody>
          <a:bodyPr/>
          <a:p>
            <a:pPr marL="0" indent="0" algn="just">
              <a:buNone/>
            </a:pPr>
            <a:r>
              <a:rPr sz="2000"/>
              <a:t>Corpus is a public domain dataset jointly created by institutions such as Pleias and Hugging Face, and is currently one of the largest public domain datasets specifically designed for training large language models (LLMs). This dataset gathers 500 billion words from diverse cultural heritage projects worldwide, providing abundant resources for NLP research.</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Academic databases and paper repositories</a:t>
            </a:r>
            <a:endParaRPr kumimoji="1" lang="en-US" altLang="zh-CN" sz="2400" dirty="0">
              <a:sym typeface="+mn-ea"/>
            </a:endParaRPr>
          </a:p>
        </p:txBody>
      </p:sp>
      <p:sp>
        <p:nvSpPr>
          <p:cNvPr id="3" name="内容占位符 2"/>
          <p:cNvSpPr>
            <a:spLocks noGrp="1"/>
          </p:cNvSpPr>
          <p:nvPr>
            <p:ph idx="1"/>
          </p:nvPr>
        </p:nvSpPr>
        <p:spPr>
          <a:xfrm>
            <a:off x="533400" y="895350"/>
            <a:ext cx="8148955" cy="3429000"/>
          </a:xfrm>
        </p:spPr>
        <p:txBody>
          <a:bodyPr>
            <a:noAutofit/>
          </a:bodyPr>
          <a:p>
            <a:pPr algn="just"/>
            <a:r>
              <a:rPr lang="en-US" sz="1800"/>
              <a:t>Obtain through academic journals and conference papers</a:t>
            </a:r>
            <a:endParaRPr lang="en-US" sz="1800"/>
          </a:p>
          <a:p>
            <a:pPr lvl="1" algn="just"/>
            <a:r>
              <a:rPr lang="en-US" sz="1600"/>
              <a:t>Journal official website: Many academic journals provide relevant datasets as supplementary materials when publishing papers, which can be downloaded directly from the journal official website.</a:t>
            </a:r>
            <a:endParaRPr lang="en-US" sz="1600"/>
          </a:p>
          <a:p>
            <a:pPr lvl="1" algn="just"/>
            <a:r>
              <a:rPr lang="en-US" sz="1600"/>
              <a:t>Conference proceedings: In academic conferences, many researchers share their research findings and datasets, which can be obtained by visiting the conference website or viewing the conference proceedings.</a:t>
            </a:r>
            <a:endParaRPr lang="en-US" sz="1600"/>
          </a:p>
          <a:p>
            <a:pPr algn="just"/>
            <a:r>
              <a:rPr lang="en-US" sz="1800"/>
              <a:t>Contact the paper author or research institution</a:t>
            </a:r>
            <a:endParaRPr lang="en-US" sz="1800"/>
          </a:p>
          <a:p>
            <a:pPr lvl="1" algn="just"/>
            <a:r>
              <a:rPr lang="en-US" sz="1600"/>
              <a:t>Email contact: If the dataset is explicitly mentioned in the paper but no download link is provided, you can try contacting the author of the paper via email to inquire about the method of obtaining the dataset.</a:t>
            </a:r>
            <a:endParaRPr lang="en-US" sz="1600"/>
          </a:p>
          <a:p>
            <a:pPr lvl="1" algn="just"/>
            <a:r>
              <a:rPr lang="en-US" sz="1600"/>
              <a:t>Official websites of research institutions: Some research institutions or laboratories may publicly disclose their research results and datasets, which can be accessed and downloaded directly.</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Academic databases and paper repositories</a:t>
            </a:r>
            <a:endParaRPr kumimoji="1" lang="en-US" altLang="zh-CN" sz="2400" dirty="0">
              <a:sym typeface="+mn-ea"/>
            </a:endParaRPr>
          </a:p>
        </p:txBody>
      </p:sp>
      <p:sp>
        <p:nvSpPr>
          <p:cNvPr id="6" name="内容占位符 5"/>
          <p:cNvSpPr/>
          <p:nvPr>
            <p:ph idx="1"/>
          </p:nvPr>
        </p:nvSpPr>
        <p:spPr>
          <a:xfrm>
            <a:off x="533400" y="857250"/>
            <a:ext cx="8225790" cy="3429000"/>
          </a:xfrm>
        </p:spPr>
        <p:txBody>
          <a:bodyPr/>
          <a:p>
            <a:r>
              <a:rPr lang="zh-CN" altLang="en-US" sz="1800"/>
              <a:t>Large Language Model based Multi-Agents: A Survey of Progress and Challenges</a:t>
            </a:r>
            <a:endParaRPr lang="zh-CN" altLang="en-US" sz="1800"/>
          </a:p>
        </p:txBody>
      </p:sp>
      <p:pic>
        <p:nvPicPr>
          <p:cNvPr id="7" name="图片 6"/>
          <p:cNvPicPr>
            <a:picLocks noChangeAspect="1"/>
          </p:cNvPicPr>
          <p:nvPr>
            <p:custDataLst>
              <p:tags r:id="rId1"/>
            </p:custDataLst>
          </p:nvPr>
        </p:nvPicPr>
        <p:blipFill>
          <a:blip r:embed="rId2"/>
          <a:stretch>
            <a:fillRect/>
          </a:stretch>
        </p:blipFill>
        <p:spPr>
          <a:xfrm>
            <a:off x="762000" y="1200150"/>
            <a:ext cx="5486400" cy="3352800"/>
          </a:xfrm>
          <a:prstGeom prst="rect">
            <a:avLst/>
          </a:prstGeom>
        </p:spPr>
      </p:pic>
      <p:sp>
        <p:nvSpPr>
          <p:cNvPr id="8" name="文本框 7"/>
          <p:cNvSpPr txBox="1"/>
          <p:nvPr/>
        </p:nvSpPr>
        <p:spPr>
          <a:xfrm>
            <a:off x="914400" y="4629150"/>
            <a:ext cx="4572000" cy="337185"/>
          </a:xfrm>
          <a:prstGeom prst="rect">
            <a:avLst/>
          </a:prstGeom>
          <a:noFill/>
        </p:spPr>
        <p:txBody>
          <a:bodyPr wrap="square" rtlCol="0" anchor="t">
            <a:spAutoFit/>
          </a:bodyPr>
          <a:p>
            <a:r>
              <a:rPr lang="zh-CN" altLang="en-US" sz="1600"/>
              <a:t>https://github.com/pubmedqa/pubmedqa</a:t>
            </a:r>
            <a:endParaRPr lang="zh-CN" altLang="en-US" sz="1600"/>
          </a:p>
        </p:txBody>
      </p:sp>
      <p:sp>
        <p:nvSpPr>
          <p:cNvPr id="9" name="矩形 8"/>
          <p:cNvSpPr/>
          <p:nvPr/>
        </p:nvSpPr>
        <p:spPr>
          <a:xfrm>
            <a:off x="2590800" y="2343150"/>
            <a:ext cx="3276600" cy="76200"/>
          </a:xfrm>
          <a:prstGeom prst="rect">
            <a:avLst/>
          </a:prstGeom>
          <a:noFill/>
          <a:ln>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400">
                <a:sym typeface="+mn-ea"/>
              </a:rPr>
              <a:t>Academic databases and paper repositories</a:t>
            </a:r>
            <a:endParaRPr kumimoji="1" lang="en-US" altLang="zh-CN" sz="2400" dirty="0">
              <a:sym typeface="+mn-ea"/>
            </a:endParaRPr>
          </a:p>
        </p:txBody>
      </p:sp>
      <p:pic>
        <p:nvPicPr>
          <p:cNvPr id="5" name="内容占位符 4"/>
          <p:cNvPicPr>
            <a:picLocks noChangeAspect="1"/>
          </p:cNvPicPr>
          <p:nvPr>
            <p:ph idx="1"/>
            <p:custDataLst>
              <p:tags r:id="rId1"/>
            </p:custDataLst>
          </p:nvPr>
        </p:nvPicPr>
        <p:blipFill>
          <a:blip r:embed="rId2"/>
          <a:stretch>
            <a:fillRect/>
          </a:stretch>
        </p:blipFill>
        <p:spPr>
          <a:xfrm>
            <a:off x="533400" y="742950"/>
            <a:ext cx="5414645" cy="4269105"/>
          </a:xfrm>
          <a:prstGeom prst="rect">
            <a:avLst/>
          </a:prstGeom>
        </p:spPr>
      </p:pic>
      <p:sp>
        <p:nvSpPr>
          <p:cNvPr id="4" name="文本框 3"/>
          <p:cNvSpPr txBox="1"/>
          <p:nvPr/>
        </p:nvSpPr>
        <p:spPr>
          <a:xfrm>
            <a:off x="6096000" y="1047750"/>
            <a:ext cx="4572000" cy="368300"/>
          </a:xfrm>
          <a:prstGeom prst="rect">
            <a:avLst/>
          </a:prstGeom>
          <a:noFill/>
        </p:spPr>
        <p:txBody>
          <a:bodyPr wrap="square" rtlCol="0" anchor="t">
            <a:spAutoFit/>
          </a:bodyPr>
          <a:p>
            <a:r>
              <a:rPr lang="zh-CN" altLang="en-US" sz="1800">
                <a:latin typeface="Times New Roman Regular" panose="02020503050405090304" charset="0"/>
                <a:cs typeface="Times New Roman Regular" panose="02020503050405090304" charset="0"/>
              </a:rPr>
              <a:t>http://snap.stanford.edu/data/</a:t>
            </a:r>
            <a:endParaRPr lang="zh-CN" altLang="en-US" sz="1800">
              <a:latin typeface="Times New Roman Regular" panose="02020503050405090304" charset="0"/>
              <a:cs typeface="Times New Roman Regular" panose="0202050305040509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sz="2400">
                <a:sym typeface="+mn-ea"/>
              </a:rPr>
              <a:t>Forums and communities in specific fields</a:t>
            </a:r>
            <a:endParaRPr kumimoji="1" lang="en-US" altLang="zh-CN" sz="2400" dirty="0">
              <a:sym typeface="+mn-ea"/>
            </a:endParaRPr>
          </a:p>
        </p:txBody>
      </p:sp>
      <p:sp>
        <p:nvSpPr>
          <p:cNvPr id="3" name="内容占位符 2"/>
          <p:cNvSpPr>
            <a:spLocks noGrp="1"/>
          </p:cNvSpPr>
          <p:nvPr>
            <p:ph idx="1"/>
          </p:nvPr>
        </p:nvSpPr>
        <p:spPr>
          <a:xfrm>
            <a:off x="533400" y="819150"/>
            <a:ext cx="4227830" cy="3429000"/>
          </a:xfrm>
        </p:spPr>
        <p:txBody>
          <a:bodyPr/>
          <a:p>
            <a:r>
              <a:rPr lang="en-US" altLang="zh-CN"/>
              <a:t>kaggle competition </a:t>
            </a:r>
            <a:r>
              <a:rPr lang="en-US" altLang="zh-CN"/>
              <a:t>dataset</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381000" y="1400810"/>
            <a:ext cx="4083685" cy="2847340"/>
          </a:xfrm>
          <a:prstGeom prst="rect">
            <a:avLst/>
          </a:prstGeom>
        </p:spPr>
      </p:pic>
      <p:sp>
        <p:nvSpPr>
          <p:cNvPr id="5" name="内容占位符 2"/>
          <p:cNvSpPr>
            <a:spLocks noGrp="1"/>
          </p:cNvSpPr>
          <p:nvPr>
            <p:custDataLst>
              <p:tags r:id="rId3"/>
            </p:custDataLst>
          </p:nvPr>
        </p:nvSpPr>
        <p:spPr>
          <a:xfrm>
            <a:off x="5029200" y="819150"/>
            <a:ext cx="3976370" cy="3429000"/>
          </a:xfrm>
          <a:prstGeom prst="rect">
            <a:avLst/>
          </a:prstGeom>
        </p:spPr>
        <p:txBody>
          <a:bodyPr vert="horz" lIns="91440" tIns="45720" rIns="91440" bIns="45720" rtlCol="0">
            <a:normAutofit/>
          </a:bodyPr>
          <a:lstStyle>
            <a:lvl1pPr marL="5715" indent="-5715" algn="l" defTabSz="342900" rtl="0" eaLnBrk="1" latinLnBrk="0" hangingPunct="1">
              <a:spcBef>
                <a:spcPct val="20000"/>
              </a:spcBef>
              <a:buFont typeface="Arial" panose="020B0604020202090204"/>
              <a:buChar char="•"/>
              <a:defRPr sz="2100" kern="1200" baseline="0">
                <a:solidFill>
                  <a:schemeClr val="tx1"/>
                </a:solidFill>
                <a:latin typeface="Times New Roman Regular" panose="02020503050405090304" charset="0"/>
                <a:ea typeface="+mn-ea"/>
                <a:cs typeface="Times New Roman Regular" panose="02020503050405090304" charset="0"/>
              </a:defRPr>
            </a:lvl1pPr>
            <a:lvl2pPr marL="303530" indent="-190500" algn="l" defTabSz="342900" rtl="0" eaLnBrk="1" latinLnBrk="0" hangingPunct="1">
              <a:spcBef>
                <a:spcPct val="20000"/>
              </a:spcBef>
              <a:buFont typeface="Arial" panose="020B0604020202090204"/>
              <a:buChar char="–"/>
              <a:defRPr sz="1800" kern="1200" baseline="0">
                <a:solidFill>
                  <a:schemeClr val="tx1"/>
                </a:solidFill>
                <a:latin typeface="Times New Roman Regular" panose="02020503050405090304" charset="0"/>
                <a:ea typeface="+mn-ea"/>
                <a:cs typeface="Times New Roman Regular" panose="02020503050405090304" charset="0"/>
              </a:defRPr>
            </a:lvl2pPr>
            <a:lvl3pPr marL="386715" indent="-171450" algn="l" defTabSz="342900" rtl="0" eaLnBrk="1" latinLnBrk="0" hangingPunct="1">
              <a:spcBef>
                <a:spcPct val="20000"/>
              </a:spcBef>
              <a:buFont typeface="Arial" panose="020B0604020202090204"/>
              <a:buChar char="•"/>
              <a:defRPr sz="1500" kern="1200" baseline="0">
                <a:solidFill>
                  <a:schemeClr val="tx1"/>
                </a:solidFill>
                <a:latin typeface="Times New Roman Regular" panose="02020503050405090304" charset="0"/>
                <a:ea typeface="+mn-ea"/>
                <a:cs typeface="Times New Roman Regular" panose="02020503050405090304" charset="0"/>
              </a:defRPr>
            </a:lvl3pPr>
            <a:lvl4pPr marL="518160" indent="-198755" algn="l" defTabSz="342900" rtl="0" eaLnBrk="1" latinLnBrk="0" hangingPunct="1">
              <a:spcBef>
                <a:spcPct val="20000"/>
              </a:spcBef>
              <a:buFont typeface="Arial" panose="020B0604020202090204"/>
              <a:buChar char="–"/>
              <a:defRPr sz="1200" kern="1200" baseline="0">
                <a:solidFill>
                  <a:schemeClr val="tx1"/>
                </a:solidFill>
                <a:latin typeface="Times New Roman Regular" panose="02020503050405090304" charset="0"/>
                <a:ea typeface="+mn-ea"/>
                <a:cs typeface="Times New Roman Regular" panose="02020503050405090304" charset="0"/>
              </a:defRPr>
            </a:lvl4pPr>
            <a:lvl5pPr marL="601345" indent="-179705" algn="l" defTabSz="342900" rtl="0" eaLnBrk="1" latinLnBrk="0" hangingPunct="1">
              <a:spcBef>
                <a:spcPct val="20000"/>
              </a:spcBef>
              <a:buFont typeface="Arial" panose="020B0604020202090204"/>
              <a:buChar char="»"/>
              <a:defRPr sz="1050" kern="1200" baseline="0">
                <a:solidFill>
                  <a:schemeClr val="tx1"/>
                </a:solidFill>
                <a:latin typeface="+mj-lt"/>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a:lstStyle>
          <a:p>
            <a:r>
              <a:rPr lang="en-US" altLang="zh-CN"/>
              <a:t>ccf competition </a:t>
            </a:r>
            <a:r>
              <a:rPr lang="en-US" altLang="zh-CN"/>
              <a:t>dataset</a:t>
            </a:r>
            <a:endParaRPr lang="en-US" altLang="zh-CN"/>
          </a:p>
        </p:txBody>
      </p:sp>
      <p:pic>
        <p:nvPicPr>
          <p:cNvPr id="6" name="图片 5"/>
          <p:cNvPicPr>
            <a:picLocks noChangeAspect="1"/>
          </p:cNvPicPr>
          <p:nvPr>
            <p:custDataLst>
              <p:tags r:id="rId4"/>
            </p:custDataLst>
          </p:nvPr>
        </p:nvPicPr>
        <p:blipFill>
          <a:blip r:embed="rId5"/>
          <a:stretch>
            <a:fillRect/>
          </a:stretch>
        </p:blipFill>
        <p:spPr>
          <a:xfrm>
            <a:off x="4724400" y="1428750"/>
            <a:ext cx="3882390" cy="2571750"/>
          </a:xfrm>
          <a:prstGeom prst="rect">
            <a:avLst/>
          </a:prstGeom>
        </p:spPr>
      </p:pic>
      <p:sp>
        <p:nvSpPr>
          <p:cNvPr id="7" name="文本框 6"/>
          <p:cNvSpPr txBox="1"/>
          <p:nvPr/>
        </p:nvSpPr>
        <p:spPr>
          <a:xfrm>
            <a:off x="4464685" y="4400550"/>
            <a:ext cx="4572000" cy="398780"/>
          </a:xfrm>
          <a:prstGeom prst="rect">
            <a:avLst/>
          </a:prstGeom>
          <a:noFill/>
        </p:spPr>
        <p:txBody>
          <a:bodyPr wrap="square" rtlCol="0" anchor="t">
            <a:spAutoFit/>
          </a:bodyPr>
          <a:p>
            <a:r>
              <a:rPr lang="zh-CN" altLang="en-US" sz="2000">
                <a:solidFill>
                  <a:srgbClr val="FF0000"/>
                </a:solidFill>
                <a:latin typeface="Times New Roman Regular" panose="02020503050405090304" charset="0"/>
                <a:cs typeface="Times New Roman Regular" panose="02020503050405090304" charset="0"/>
              </a:rPr>
              <a:t>https://www.datafountain.cn/datasets</a:t>
            </a:r>
            <a:endParaRPr lang="zh-CN" altLang="en-US" sz="2000">
              <a:solidFill>
                <a:srgbClr val="FF0000"/>
              </a:solidFill>
              <a:latin typeface="Times New Roman Regular" panose="02020503050405090304" charset="0"/>
              <a:cs typeface="Times New Roman Regular" panose="02020503050405090304" charset="0"/>
            </a:endParaRPr>
          </a:p>
        </p:txBody>
      </p:sp>
      <p:sp>
        <p:nvSpPr>
          <p:cNvPr id="8" name="文本框 7"/>
          <p:cNvSpPr txBox="1"/>
          <p:nvPr/>
        </p:nvSpPr>
        <p:spPr>
          <a:xfrm>
            <a:off x="152400" y="4400550"/>
            <a:ext cx="4572000" cy="398780"/>
          </a:xfrm>
          <a:prstGeom prst="rect">
            <a:avLst/>
          </a:prstGeom>
          <a:noFill/>
        </p:spPr>
        <p:txBody>
          <a:bodyPr wrap="square" rtlCol="0" anchor="t">
            <a:spAutoFit/>
          </a:bodyPr>
          <a:p>
            <a:r>
              <a:rPr lang="zh-CN" altLang="en-US" sz="2000">
                <a:solidFill>
                  <a:srgbClr val="FF0000"/>
                </a:solidFill>
              </a:rPr>
              <a:t>https://www.kaggle.com/datasets</a:t>
            </a:r>
            <a:endParaRPr lang="zh-CN" altLang="en-US" sz="200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sz="2400" dirty="0">
                <a:sym typeface="+mn-ea"/>
              </a:rPr>
              <a:t>Read text data from files</a:t>
            </a:r>
            <a:endParaRPr lang="en-US" altLang="zh-CN" sz="2400"/>
          </a:p>
        </p:txBody>
      </p:sp>
      <p:sp>
        <p:nvSpPr>
          <p:cNvPr id="3" name="内容占位符 2"/>
          <p:cNvSpPr>
            <a:spLocks noGrp="1"/>
          </p:cNvSpPr>
          <p:nvPr>
            <p:ph idx="1"/>
          </p:nvPr>
        </p:nvSpPr>
        <p:spPr/>
        <p:txBody>
          <a:bodyPr/>
          <a:p>
            <a:r>
              <a:t>1. Import related data format classes</a:t>
            </a:r>
          </a:p>
          <a:p>
            <a:r>
              <a:t>2. Define the file name as a new variable</a:t>
            </a:r>
          </a:p>
          <a:p>
            <a:r>
              <a:t>3. </a:t>
            </a:r>
            <a:r>
              <a:rPr lang="en-US"/>
              <a:t>U</a:t>
            </a:r>
            <a:r>
              <a:t>se the open function to read file data into a variable</a:t>
            </a:r>
          </a:p>
          <a:p>
            <a:r>
              <a:t>4. Save the required column data to a new variable</a:t>
            </a:r>
          </a:p>
          <a:p>
            <a:r>
              <a:t>5. Print and check if the content of the new variable is correct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sz="2400" dirty="0">
                <a:sym typeface="+mn-ea"/>
              </a:rPr>
              <a:t>Read text data from files</a:t>
            </a:r>
            <a:endParaRPr lang="en-US" altLang="zh-CN" sz="2400"/>
          </a:p>
        </p:txBody>
      </p:sp>
      <p:sp>
        <p:nvSpPr>
          <p:cNvPr id="3" name="内容占位符 2"/>
          <p:cNvSpPr>
            <a:spLocks noGrp="1"/>
          </p:cNvSpPr>
          <p:nvPr>
            <p:ph idx="1"/>
          </p:nvPr>
        </p:nvSpPr>
        <p:spPr>
          <a:xfrm>
            <a:off x="456565" y="753110"/>
            <a:ext cx="7910195" cy="3876040"/>
          </a:xfrm>
        </p:spPr>
        <p:txBody>
          <a:bodyPr>
            <a:noAutofit/>
          </a:bodyPr>
          <a:p>
            <a:pPr marL="0" indent="0">
              <a:buNone/>
            </a:pPr>
            <a:r>
              <a:rPr sz="1000" b="1">
                <a:latin typeface="Times New Roman Bold" panose="02020503050405090304" charset="0"/>
                <a:cs typeface="Times New Roman Bold" panose="02020503050405090304" charset="0"/>
              </a:rPr>
              <a:t>import csv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CSV file path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file_path = 'business_data.csv'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List to hold the second column data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second_column_data = []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Open the CSV file for reading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with open(file_path, mode='r', newline='', encoding='utf-8') as csv_file: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csv_reader = csv.reader(csv_file)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 Skip the header row if present (optional)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 next(csv_reader, None)  # Uncomment this line if your CSV has a header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 Iterate over each row in the CSV file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for row in csv_reader: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if len(row) &gt; 1:  # Ensure there's at least a second column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second_column_data.append(row[1])  # Append the second column data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 second_column_data now contains all the data from the second column  </a:t>
            </a:r>
            <a:endParaRPr sz="1000" b="1">
              <a:latin typeface="Times New Roman Bold" panose="02020503050405090304" charset="0"/>
              <a:cs typeface="Times New Roman Bold" panose="02020503050405090304" charset="0"/>
            </a:endParaRPr>
          </a:p>
          <a:p>
            <a:pPr marL="0" indent="0">
              <a:buNone/>
            </a:pPr>
            <a:r>
              <a:rPr sz="1000" b="1">
                <a:latin typeface="Times New Roman Bold" panose="02020503050405090304" charset="0"/>
                <a:cs typeface="Times New Roman Bold" panose="02020503050405090304" charset="0"/>
              </a:rPr>
              <a:t>print(second_column_data)</a:t>
            </a:r>
            <a:endParaRPr sz="1000" b="1">
              <a:latin typeface="Times New Roman Bold" panose="02020503050405090304" charset="0"/>
              <a:cs typeface="Times New Roman Bold" panose="0202050305040509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8721</Words>
  <Application>WPS 演示</Application>
  <PresentationFormat>全屏显示(16:9)</PresentationFormat>
  <Paragraphs>240</Paragraphs>
  <Slides>27</Slides>
  <Notes>15</Notes>
  <HiddenSlides>0</HiddenSlides>
  <MMClips>1</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27</vt:i4>
      </vt:variant>
    </vt:vector>
  </HeadingPairs>
  <TitlesOfParts>
    <vt:vector size="57"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Times New Roman Italic</vt:lpstr>
      <vt:lpstr>Calibri</vt:lpstr>
      <vt:lpstr>微软雅黑</vt:lpstr>
      <vt:lpstr>汉仪旗黑</vt:lpstr>
      <vt:lpstr>宋体</vt:lpstr>
      <vt:lpstr>Arial Unicode MS</vt:lpstr>
      <vt:lpstr>Calibri Light</vt:lpstr>
      <vt:lpstr>汉仪书宋二KW</vt:lpstr>
      <vt:lpstr>DIN-Regular</vt:lpstr>
      <vt:lpstr>Wingdings</vt:lpstr>
      <vt:lpstr>Times New Roman Bold</vt:lpstr>
      <vt:lpstr>Retrospect</vt:lpstr>
      <vt:lpstr>Default Theme</vt:lpstr>
      <vt:lpstr>Natural Language Processing DTS305TC</vt:lpstr>
      <vt:lpstr>Lab 1 Introduction</vt:lpstr>
      <vt:lpstr>contents</vt:lpstr>
      <vt:lpstr>create and run a project with pycharm</vt:lpstr>
      <vt:lpstr>Start Pycharm</vt:lpstr>
      <vt:lpstr>Create a project</vt:lpstr>
      <vt:lpstr>Create you *.py file</vt:lpstr>
      <vt:lpstr>Implement and run the program</vt:lpstr>
      <vt:lpstr>Check local *.py files</vt:lpstr>
      <vt:lpstr>Information from the User</vt:lpstr>
      <vt:lpstr>NLP competitions</vt:lpstr>
      <vt:lpstr>Find dataset on the internet</vt:lpstr>
      <vt:lpstr>Github</vt:lpstr>
      <vt:lpstr>github</vt:lpstr>
      <vt:lpstr>github</vt:lpstr>
      <vt:lpstr>Hugging Face</vt:lpstr>
      <vt:lpstr>Hugging Face</vt:lpstr>
      <vt:lpstr>Hugging Face</vt:lpstr>
      <vt:lpstr>Hugging Face</vt:lpstr>
      <vt:lpstr>Github</vt:lpstr>
      <vt:lpstr>Github</vt:lpstr>
      <vt:lpstr>Academic databases and paper repositories</vt:lpstr>
      <vt:lpstr>Academic databases and paper repositories</vt:lpstr>
      <vt:lpstr>Github</vt:lpstr>
      <vt:lpstr>create and run a project with pycharm</vt:lpstr>
      <vt:lpstr>Read text data from files</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432</cp:revision>
  <cp:lastPrinted>2024-09-07T14:28:57Z</cp:lastPrinted>
  <dcterms:created xsi:type="dcterms:W3CDTF">2024-09-07T14:28:57Z</dcterms:created>
  <dcterms:modified xsi:type="dcterms:W3CDTF">2024-09-07T14:28:57Z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