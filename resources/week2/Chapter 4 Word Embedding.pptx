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56" r:id="rId3"/>
  </p:sldMasterIdLst>
  <p:notesMasterIdLst>
    <p:notesMasterId r:id="rId5"/>
  </p:notesMasterIdLst>
  <p:handoutMasterIdLst>
    <p:handoutMasterId r:id="rId63"/>
  </p:handoutMasterIdLst>
  <p:sldIdLst>
    <p:sldId id="256" r:id="rId4"/>
    <p:sldId id="1913" r:id="rId6"/>
    <p:sldId id="1964" r:id="rId7"/>
    <p:sldId id="1914" r:id="rId8"/>
    <p:sldId id="1915" r:id="rId9"/>
    <p:sldId id="1916" r:id="rId10"/>
    <p:sldId id="1917" r:id="rId11"/>
    <p:sldId id="1918" r:id="rId12"/>
    <p:sldId id="1919" r:id="rId13"/>
    <p:sldId id="1920" r:id="rId14"/>
    <p:sldId id="1921" r:id="rId15"/>
    <p:sldId id="1922" r:id="rId16"/>
    <p:sldId id="1923" r:id="rId17"/>
    <p:sldId id="1924" r:id="rId18"/>
    <p:sldId id="1925" r:id="rId19"/>
    <p:sldId id="1926" r:id="rId20"/>
    <p:sldId id="1927" r:id="rId21"/>
    <p:sldId id="1866" r:id="rId22"/>
    <p:sldId id="1867" r:id="rId23"/>
    <p:sldId id="1868" r:id="rId24"/>
    <p:sldId id="1869" r:id="rId25"/>
    <p:sldId id="1870" r:id="rId26"/>
    <p:sldId id="1871" r:id="rId27"/>
    <p:sldId id="1872" r:id="rId28"/>
    <p:sldId id="1873" r:id="rId29"/>
    <p:sldId id="1874" r:id="rId30"/>
    <p:sldId id="1875" r:id="rId31"/>
    <p:sldId id="1876" r:id="rId32"/>
    <p:sldId id="1877" r:id="rId33"/>
    <p:sldId id="1878" r:id="rId34"/>
    <p:sldId id="1879" r:id="rId35"/>
    <p:sldId id="1880" r:id="rId36"/>
    <p:sldId id="1881" r:id="rId37"/>
    <p:sldId id="1882" r:id="rId38"/>
    <p:sldId id="1883" r:id="rId39"/>
    <p:sldId id="1884" r:id="rId40"/>
    <p:sldId id="1885" r:id="rId41"/>
    <p:sldId id="1886" r:id="rId42"/>
    <p:sldId id="1887" r:id="rId43"/>
    <p:sldId id="651" r:id="rId44"/>
    <p:sldId id="608" r:id="rId45"/>
    <p:sldId id="610" r:id="rId46"/>
    <p:sldId id="609" r:id="rId47"/>
    <p:sldId id="611" r:id="rId48"/>
    <p:sldId id="1837" r:id="rId49"/>
    <p:sldId id="1835" r:id="rId50"/>
    <p:sldId id="1836" r:id="rId51"/>
    <p:sldId id="612" r:id="rId52"/>
    <p:sldId id="615" r:id="rId53"/>
    <p:sldId id="1965" r:id="rId54"/>
    <p:sldId id="1966" r:id="rId55"/>
    <p:sldId id="1967" r:id="rId56"/>
    <p:sldId id="613" r:id="rId57"/>
    <p:sldId id="1968" r:id="rId58"/>
    <p:sldId id="1969" r:id="rId59"/>
    <p:sldId id="628" r:id="rId60"/>
    <p:sldId id="1838" r:id="rId61"/>
    <p:sldId id="660" r:id="rId62"/>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DDF0FF"/>
    <a:srgbClr val="0000FF"/>
    <a:srgbClr val="ECF3FF"/>
    <a:srgbClr val="CADBFF"/>
    <a:srgbClr val="E3FFE7"/>
    <a:srgbClr val="EAFFF5"/>
    <a:srgbClr val="90FFFA"/>
    <a:srgbClr val="9DFFF9"/>
    <a:srgbClr val="BDFFCF"/>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99" autoAdjust="0"/>
    <p:restoredTop sz="79424" autoAdjust="0"/>
  </p:normalViewPr>
  <p:slideViewPr>
    <p:cSldViewPr showGuides="1">
      <p:cViewPr varScale="1">
        <p:scale>
          <a:sx n="99" d="100"/>
          <a:sy n="99" d="100"/>
        </p:scale>
        <p:origin x="848" y="184"/>
      </p:cViewPr>
      <p:guideLst>
        <p:guide orient="horz" pos="2142"/>
        <p:guide pos="3840"/>
      </p:guideLst>
    </p:cSldViewPr>
  </p:slideViewPr>
  <p:notesTextViewPr>
    <p:cViewPr>
      <p:scale>
        <a:sx n="114" d="100"/>
        <a:sy n="114" d="100"/>
      </p:scale>
      <p:origin x="0" y="0"/>
    </p:cViewPr>
  </p:notesTextViewPr>
  <p:sorterViewPr>
    <p:cViewPr>
      <p:scale>
        <a:sx n="51" d="100"/>
        <a:sy n="51" d="100"/>
      </p:scale>
      <p:origin x="0" y="3768"/>
    </p:cViewPr>
  </p:sorterViewPr>
  <p:notesViewPr>
    <p:cSldViewPr>
      <p:cViewPr varScale="1">
        <p:scale>
          <a:sx n="53" d="100"/>
          <a:sy n="53" d="100"/>
        </p:scale>
        <p:origin x="-1836" y="-84"/>
      </p:cViewPr>
      <p:guideLst>
        <p:guide orient="horz" pos="2999"/>
        <p:guide pos="2304"/>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handoutMaster" Target="handoutMasters/handoutMaster1.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170238" cy="479425"/>
          </a:xfrm>
          <a:prstGeom prst="rect">
            <a:avLst/>
          </a:prstGeom>
        </p:spPr>
        <p:txBody>
          <a:bodyPr vert="horz" lIns="91430" tIns="45715" rIns="91430" bIns="45715" rtlCol="0"/>
          <a:lstStyle>
            <a:lvl1pPr algn="l">
              <a:defRPr sz="1200"/>
            </a:lvl1pPr>
          </a:lstStyle>
          <a:p>
            <a:endParaRPr lang="en-US"/>
          </a:p>
        </p:txBody>
      </p:sp>
      <p:sp>
        <p:nvSpPr>
          <p:cNvPr id="3" name="Date Placeholder 2"/>
          <p:cNvSpPr>
            <a:spLocks noGrp="1"/>
          </p:cNvSpPr>
          <p:nvPr>
            <p:ph type="dt" sz="quarter" idx="1"/>
          </p:nvPr>
        </p:nvSpPr>
        <p:spPr>
          <a:xfrm>
            <a:off x="4143375" y="1"/>
            <a:ext cx="3170238" cy="479425"/>
          </a:xfrm>
          <a:prstGeom prst="rect">
            <a:avLst/>
          </a:prstGeom>
        </p:spPr>
        <p:txBody>
          <a:bodyPr vert="horz" lIns="91430" tIns="45715" rIns="91430" bIns="45715" rtlCol="0"/>
          <a:lstStyle>
            <a:lvl1pPr algn="r">
              <a:defRPr sz="1200"/>
            </a:lvl1pPr>
          </a:lstStyle>
          <a:p>
            <a:fld id="{D3E28C4F-4FE9-4D22-93D8-487A4D01D983}" type="datetimeFigureOut">
              <a:rPr lang="en-US" smtClean="0"/>
            </a:fld>
            <a:endParaRPr lang="en-US"/>
          </a:p>
        </p:txBody>
      </p:sp>
      <p:sp>
        <p:nvSpPr>
          <p:cNvPr id="4" name="Footer Placeholder 3"/>
          <p:cNvSpPr>
            <a:spLocks noGrp="1"/>
          </p:cNvSpPr>
          <p:nvPr>
            <p:ph type="ftr" sz="quarter" idx="2"/>
          </p:nvPr>
        </p:nvSpPr>
        <p:spPr>
          <a:xfrm>
            <a:off x="1" y="9120189"/>
            <a:ext cx="3170238" cy="479425"/>
          </a:xfrm>
          <a:prstGeom prst="rect">
            <a:avLst/>
          </a:prstGeom>
        </p:spPr>
        <p:txBody>
          <a:bodyPr vert="horz" lIns="91430" tIns="45715" rIns="91430" bIns="45715"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9"/>
            <a:ext cx="3170238" cy="479425"/>
          </a:xfrm>
          <a:prstGeom prst="rect">
            <a:avLst/>
          </a:prstGeom>
        </p:spPr>
        <p:txBody>
          <a:bodyPr vert="horz" lIns="91430" tIns="45715" rIns="91430" bIns="45715" rtlCol="0" anchor="b"/>
          <a:lstStyle>
            <a:lvl1pPr algn="r">
              <a:defRPr sz="1200"/>
            </a:lvl1pPr>
          </a:lstStyle>
          <a:p>
            <a:fld id="{BD5F390F-F66B-4732-9C46-6C80D0575FA0}"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6651" tIns="48326" rIns="96651" bIns="48326" rtlCol="0"/>
          <a:lstStyle>
            <a:lvl1pPr algn="l">
              <a:defRPr sz="1300"/>
            </a:lvl1pPr>
          </a:lstStyle>
          <a:p>
            <a:endParaRPr lang="en-US"/>
          </a:p>
        </p:txBody>
      </p:sp>
      <p:sp>
        <p:nvSpPr>
          <p:cNvPr id="3" name="Date Placeholder 2"/>
          <p:cNvSpPr>
            <a:spLocks noGrp="1"/>
          </p:cNvSpPr>
          <p:nvPr>
            <p:ph type="dt" idx="1"/>
          </p:nvPr>
        </p:nvSpPr>
        <p:spPr>
          <a:xfrm>
            <a:off x="4143587" y="1"/>
            <a:ext cx="3169920" cy="480060"/>
          </a:xfrm>
          <a:prstGeom prst="rect">
            <a:avLst/>
          </a:prstGeom>
        </p:spPr>
        <p:txBody>
          <a:bodyPr vert="horz" lIns="96651" tIns="48326" rIns="96651" bIns="48326" rtlCol="0"/>
          <a:lstStyle>
            <a:lvl1pPr algn="r">
              <a:defRPr sz="1300"/>
            </a:lvl1pPr>
          </a:lstStyle>
          <a:p>
            <a:fld id="{EE18CB36-612C-4E4A-AC83-E89476AEC2BF}" type="datetimeFigureOut">
              <a:rPr lang="en-US" smtClean="0"/>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51" tIns="48326" rIns="96651" bIns="48326" rtlCol="0" anchor="ctr"/>
          <a:lstStyle/>
          <a:p>
            <a:endParaRPr lang="en-US"/>
          </a:p>
        </p:txBody>
      </p:sp>
      <p:sp>
        <p:nvSpPr>
          <p:cNvPr id="5" name="Notes Placeholder 4"/>
          <p:cNvSpPr>
            <a:spLocks noGrp="1"/>
          </p:cNvSpPr>
          <p:nvPr>
            <p:ph type="body" sz="quarter" idx="3"/>
          </p:nvPr>
        </p:nvSpPr>
        <p:spPr>
          <a:xfrm>
            <a:off x="731521" y="4560571"/>
            <a:ext cx="5852160" cy="4320540"/>
          </a:xfrm>
          <a:prstGeom prst="rect">
            <a:avLst/>
          </a:prstGeom>
        </p:spPr>
        <p:txBody>
          <a:bodyPr vert="horz" lIns="96651" tIns="48326" rIns="96651" bIns="48326"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9119475"/>
            <a:ext cx="3169920" cy="480060"/>
          </a:xfrm>
          <a:prstGeom prst="rect">
            <a:avLst/>
          </a:prstGeom>
        </p:spPr>
        <p:txBody>
          <a:bodyPr vert="horz" lIns="96651" tIns="48326" rIns="96651" bIns="48326"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5"/>
            <a:ext cx="3169920" cy="480060"/>
          </a:xfrm>
          <a:prstGeom prst="rect">
            <a:avLst/>
          </a:prstGeom>
        </p:spPr>
        <p:txBody>
          <a:bodyPr vert="horz" lIns="96651" tIns="48326" rIns="96651" bIns="48326" rtlCol="0" anchor="b"/>
          <a:lstStyle>
            <a:lvl1pPr algn="r">
              <a:defRPr sz="1300"/>
            </a:lvl1pPr>
          </a:lstStyle>
          <a:p>
            <a:fld id="{EE707532-839C-41A2-9E71-D5288AEAE66A}"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Title:</a:t>
            </a:r>
            <a:r>
              <a:rPr lang="en-US" baseline="0" dirty="0"/>
              <a:t> Uppercase, Calibri size 60, XJTLU Navy</a:t>
            </a:r>
            <a:endParaRPr lang="en-US" baseline="0" dirty="0"/>
          </a:p>
          <a:p>
            <a:r>
              <a:rPr lang="en-US" baseline="0" dirty="0"/>
              <a:t>English Subtitle: Uppercase, Calibri size 36,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Title:</a:t>
            </a:r>
            <a:r>
              <a:rPr lang="en-US" baseline="0" dirty="0"/>
              <a:t> Uppercase, Calibri size 60, XJTLU Navy</a:t>
            </a:r>
            <a:endParaRPr lang="en-US" baseline="0" dirty="0"/>
          </a:p>
          <a:p>
            <a:r>
              <a:rPr lang="en-US" baseline="0" dirty="0"/>
              <a:t>English Subtitle: Uppercase, Calibri size 36,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In the previous lectures we saw how to represent a word as a sparse, long vector with dimensions corresponding to words in the vocabulary or documents in a collection. We now introduce a more powerful word representation: </a:t>
            </a:r>
            <a:r>
              <a:rPr lang="en-US" sz="1200" b="0" kern="1200" dirty="0">
                <a:solidFill>
                  <a:schemeClr val="tx1"/>
                </a:solidFill>
                <a:effectLst/>
                <a:latin typeface="+mn-lt"/>
                <a:ea typeface="+mn-ea"/>
                <a:cs typeface="+mn-cs"/>
              </a:rPr>
              <a:t>embeddings</a:t>
            </a:r>
            <a:r>
              <a:rPr lang="en-US" sz="1200" kern="1200" dirty="0">
                <a:solidFill>
                  <a:schemeClr val="tx1"/>
                </a:solidFill>
                <a:effectLst/>
                <a:latin typeface="+mn-lt"/>
                <a:ea typeface="+mn-ea"/>
                <a:cs typeface="+mn-cs"/>
              </a:rPr>
              <a:t>, short dense vectors. Unlike the vectors we’ve seen so far, embeddings are </a:t>
            </a:r>
            <a:r>
              <a:rPr lang="en-US" sz="1200" b="0" kern="1200" dirty="0">
                <a:solidFill>
                  <a:schemeClr val="tx1"/>
                </a:solidFill>
                <a:effectLst/>
                <a:latin typeface="+mn-lt"/>
                <a:ea typeface="+mn-ea"/>
                <a:cs typeface="+mn-cs"/>
              </a:rPr>
              <a:t>short</a:t>
            </a:r>
            <a:r>
              <a:rPr lang="en-US" sz="1200" kern="1200" dirty="0">
                <a:solidFill>
                  <a:schemeClr val="tx1"/>
                </a:solidFill>
                <a:effectLst/>
                <a:latin typeface="+mn-lt"/>
                <a:ea typeface="+mn-ea"/>
                <a:cs typeface="+mn-cs"/>
              </a:rPr>
              <a:t>, with number of dimensions </a:t>
            </a:r>
            <a:r>
              <a:rPr lang="en-US" sz="1200" i="1" kern="1200" dirty="0">
                <a:solidFill>
                  <a:schemeClr val="tx1"/>
                </a:solidFill>
                <a:effectLst/>
                <a:latin typeface="+mn-lt"/>
                <a:ea typeface="+mn-ea"/>
                <a:cs typeface="+mn-cs"/>
              </a:rPr>
              <a:t>d </a:t>
            </a:r>
            <a:r>
              <a:rPr lang="en-US" sz="1200" kern="1200" dirty="0">
                <a:solidFill>
                  <a:schemeClr val="tx1"/>
                </a:solidFill>
                <a:effectLst/>
                <a:latin typeface="+mn-lt"/>
                <a:ea typeface="+mn-ea"/>
                <a:cs typeface="+mn-cs"/>
              </a:rPr>
              <a:t>ranging from 50-1000, rather than the much larger vocabulary size |</a:t>
            </a:r>
            <a:r>
              <a:rPr lang="en-US" sz="1200" i="1" kern="1200" dirty="0">
                <a:solidFill>
                  <a:schemeClr val="tx1"/>
                </a:solidFill>
                <a:effectLst/>
                <a:latin typeface="+mn-lt"/>
                <a:ea typeface="+mn-ea"/>
                <a:cs typeface="+mn-cs"/>
              </a:rPr>
              <a:t>V </a:t>
            </a:r>
            <a:r>
              <a:rPr lang="en-US" sz="1200" kern="1200" dirty="0">
                <a:solidFill>
                  <a:schemeClr val="tx1"/>
                </a:solidFill>
                <a:effectLst/>
                <a:latin typeface="+mn-lt"/>
                <a:ea typeface="+mn-ea"/>
                <a:cs typeface="+mn-cs"/>
              </a:rPr>
              <a:t>| or number of documents </a:t>
            </a:r>
            <a:r>
              <a:rPr lang="en-US" sz="1200" i="1" kern="1200" dirty="0">
                <a:solidFill>
                  <a:schemeClr val="tx1"/>
                </a:solidFill>
                <a:effectLst/>
                <a:latin typeface="+mn-lt"/>
                <a:ea typeface="+mn-ea"/>
                <a:cs typeface="+mn-cs"/>
              </a:rPr>
              <a:t>D </a:t>
            </a:r>
            <a:r>
              <a:rPr lang="en-US" sz="1200" kern="1200" dirty="0">
                <a:solidFill>
                  <a:schemeClr val="tx1"/>
                </a:solidFill>
                <a:effectLst/>
                <a:latin typeface="+mn-lt"/>
                <a:ea typeface="+mn-ea"/>
                <a:cs typeface="+mn-cs"/>
              </a:rPr>
              <a:t>we’ve seen. These </a:t>
            </a:r>
            <a:r>
              <a:rPr lang="en-US" sz="1200" i="1" kern="1200" dirty="0">
                <a:solidFill>
                  <a:schemeClr val="tx1"/>
                </a:solidFill>
                <a:effectLst/>
                <a:latin typeface="+mn-lt"/>
                <a:ea typeface="+mn-ea"/>
                <a:cs typeface="+mn-cs"/>
              </a:rPr>
              <a:t>d </a:t>
            </a:r>
            <a:r>
              <a:rPr lang="en-US" sz="1200" kern="1200" dirty="0">
                <a:solidFill>
                  <a:schemeClr val="tx1"/>
                </a:solidFill>
                <a:effectLst/>
                <a:latin typeface="+mn-lt"/>
                <a:ea typeface="+mn-ea"/>
                <a:cs typeface="+mn-cs"/>
              </a:rPr>
              <a:t>dimensions don’t have a clear interpretation. And the vectors are </a:t>
            </a:r>
            <a:r>
              <a:rPr lang="en-US" sz="1200" b="0" kern="1200" dirty="0">
                <a:solidFill>
                  <a:schemeClr val="tx1"/>
                </a:solidFill>
                <a:effectLst/>
                <a:latin typeface="+mn-lt"/>
                <a:ea typeface="+mn-ea"/>
                <a:cs typeface="+mn-cs"/>
              </a:rPr>
              <a:t>dense</a:t>
            </a:r>
            <a:r>
              <a:rPr lang="en-US" sz="1200" kern="1200" dirty="0">
                <a:solidFill>
                  <a:schemeClr val="tx1"/>
                </a:solidFill>
                <a:effectLst/>
                <a:latin typeface="+mn-lt"/>
                <a:ea typeface="+mn-ea"/>
                <a:cs typeface="+mn-cs"/>
              </a:rPr>
              <a:t>: instead of vector entries being sparse, mostly-zero counts or functions of counts, the values will be real-valued numbers that can be negative.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It turns out that dense vectors work better in every NLP task than sparse vectors. While we don’t completely understand all the reasons for this, we have some </a:t>
            </a:r>
            <a:r>
              <a:rPr lang="en-US" sz="1200" kern="1200" dirty="0" err="1">
                <a:solidFill>
                  <a:schemeClr val="tx1"/>
                </a:solidFill>
                <a:effectLst/>
                <a:latin typeface="+mn-lt"/>
                <a:ea typeface="+mn-ea"/>
                <a:cs typeface="+mn-cs"/>
              </a:rPr>
              <a:t>intu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itions</a:t>
            </a:r>
            <a:r>
              <a:rPr lang="en-US" sz="1200" kern="1200" dirty="0">
                <a:solidFill>
                  <a:schemeClr val="tx1"/>
                </a:solidFill>
                <a:effectLst/>
                <a:latin typeface="+mn-lt"/>
                <a:ea typeface="+mn-ea"/>
                <a:cs typeface="+mn-cs"/>
              </a:rPr>
              <a:t>. Representing words as 700-dimensional dense vectors requires our classifiers to learn far fewer weights than if we represented words as 50,000-dimensional </a:t>
            </a:r>
            <a:r>
              <a:rPr lang="en-US" sz="1200" kern="1200" dirty="0" err="1">
                <a:solidFill>
                  <a:schemeClr val="tx1"/>
                </a:solidFill>
                <a:effectLst/>
                <a:latin typeface="+mn-lt"/>
                <a:ea typeface="+mn-ea"/>
                <a:cs typeface="+mn-cs"/>
              </a:rPr>
              <a:t>vec</a:t>
            </a:r>
            <a:r>
              <a:rPr lang="en-US" sz="1200" kern="1200" dirty="0">
                <a:solidFill>
                  <a:schemeClr val="tx1"/>
                </a:solidFill>
                <a:effectLst/>
                <a:latin typeface="+mn-lt"/>
                <a:ea typeface="+mn-ea"/>
                <a:cs typeface="+mn-cs"/>
              </a:rPr>
              <a:t>- tors, and the smaller parameter space possibly helps with generalization and avoid- </a:t>
            </a:r>
            <a:r>
              <a:rPr lang="en-US" sz="1200" kern="1200" dirty="0" err="1">
                <a:solidFill>
                  <a:schemeClr val="tx1"/>
                </a:solidFill>
                <a:effectLst/>
                <a:latin typeface="+mn-lt"/>
                <a:ea typeface="+mn-ea"/>
                <a:cs typeface="+mn-cs"/>
              </a:rPr>
              <a:t>ing</a:t>
            </a:r>
            <a:r>
              <a:rPr lang="en-US" sz="1200" kern="1200" dirty="0">
                <a:solidFill>
                  <a:schemeClr val="tx1"/>
                </a:solidFill>
                <a:effectLst/>
                <a:latin typeface="+mn-lt"/>
                <a:ea typeface="+mn-ea"/>
                <a:cs typeface="+mn-cs"/>
              </a:rPr>
              <a:t> overfitting. Dense vectors may also do a better job of capturing synonymy. For example, in a sparse vector representation, dimensions for synonyms like </a:t>
            </a:r>
            <a:r>
              <a:rPr lang="en-US" sz="1200" i="1" kern="1200" dirty="0">
                <a:solidFill>
                  <a:schemeClr val="tx1"/>
                </a:solidFill>
                <a:effectLst/>
                <a:latin typeface="+mn-lt"/>
                <a:ea typeface="+mn-ea"/>
                <a:cs typeface="+mn-cs"/>
              </a:rPr>
              <a:t>car </a:t>
            </a:r>
            <a:r>
              <a:rPr lang="en-US" sz="1200" kern="1200" dirty="0">
                <a:solidFill>
                  <a:schemeClr val="tx1"/>
                </a:solidFill>
                <a:effectLst/>
                <a:latin typeface="+mn-lt"/>
                <a:ea typeface="+mn-ea"/>
                <a:cs typeface="+mn-cs"/>
              </a:rPr>
              <a:t>and </a:t>
            </a:r>
            <a:r>
              <a:rPr lang="en-US" sz="1200" i="1" kern="1200" dirty="0">
                <a:solidFill>
                  <a:schemeClr val="tx1"/>
                </a:solidFill>
                <a:effectLst/>
                <a:latin typeface="+mn-lt"/>
                <a:ea typeface="+mn-ea"/>
                <a:cs typeface="+mn-cs"/>
              </a:rPr>
              <a:t>automobile </a:t>
            </a:r>
            <a:r>
              <a:rPr lang="en-US" sz="1200" kern="1200" dirty="0">
                <a:solidFill>
                  <a:schemeClr val="tx1"/>
                </a:solidFill>
                <a:effectLst/>
                <a:latin typeface="+mn-lt"/>
                <a:ea typeface="+mn-ea"/>
                <a:cs typeface="+mn-cs"/>
              </a:rPr>
              <a:t>dimension are distinct and unrelated; sparse vectors may thus fail to capture the similarity between a word with </a:t>
            </a:r>
            <a:r>
              <a:rPr lang="en-US" sz="1200" i="1" kern="1200" dirty="0">
                <a:solidFill>
                  <a:schemeClr val="tx1"/>
                </a:solidFill>
                <a:effectLst/>
                <a:latin typeface="+mn-lt"/>
                <a:ea typeface="+mn-ea"/>
                <a:cs typeface="+mn-cs"/>
              </a:rPr>
              <a:t>car </a:t>
            </a:r>
            <a:r>
              <a:rPr lang="en-US" sz="1200" kern="1200" dirty="0">
                <a:solidFill>
                  <a:schemeClr val="tx1"/>
                </a:solidFill>
                <a:effectLst/>
                <a:latin typeface="+mn-lt"/>
                <a:ea typeface="+mn-ea"/>
                <a:cs typeface="+mn-cs"/>
              </a:rPr>
              <a:t>as a neighbor and a word with </a:t>
            </a:r>
            <a:r>
              <a:rPr lang="en-US" sz="1200" i="1" kern="1200" dirty="0">
                <a:solidFill>
                  <a:schemeClr val="tx1"/>
                </a:solidFill>
                <a:effectLst/>
                <a:latin typeface="+mn-lt"/>
                <a:ea typeface="+mn-ea"/>
                <a:cs typeface="+mn-cs"/>
              </a:rPr>
              <a:t>automobile </a:t>
            </a:r>
            <a:r>
              <a:rPr lang="en-US" sz="1200" kern="1200" dirty="0">
                <a:solidFill>
                  <a:schemeClr val="tx1"/>
                </a:solidFill>
                <a:effectLst/>
                <a:latin typeface="+mn-lt"/>
                <a:ea typeface="+mn-ea"/>
                <a:cs typeface="+mn-cs"/>
              </a:rPr>
              <a:t>as a </a:t>
            </a:r>
            <a:r>
              <a:rPr lang="en-US" sz="1200" kern="1200" dirty="0" err="1">
                <a:solidFill>
                  <a:schemeClr val="tx1"/>
                </a:solidFill>
                <a:effectLst/>
                <a:latin typeface="+mn-lt"/>
                <a:ea typeface="+mn-ea"/>
                <a:cs typeface="+mn-cs"/>
              </a:rPr>
              <a:t>neighbo</a:t>
            </a:r>
            <a:r>
              <a:rPr lang="en-US" sz="1200" kern="1200" dirty="0">
                <a:solidFill>
                  <a:schemeClr val="tx1"/>
                </a:solidFill>
                <a:effectLst/>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In this section we introduce one method for computing embeddings: </a:t>
            </a:r>
            <a:r>
              <a:rPr lang="en-US" sz="1200" b="0" kern="1200" dirty="0">
                <a:solidFill>
                  <a:schemeClr val="tx1"/>
                </a:solidFill>
                <a:effectLst/>
                <a:latin typeface="+mn-lt"/>
                <a:ea typeface="+mn-ea"/>
                <a:cs typeface="+mn-cs"/>
              </a:rPr>
              <a:t>skip-gram with negative sampling</a:t>
            </a:r>
            <a:r>
              <a:rPr lang="en-US" sz="1200" kern="1200" dirty="0">
                <a:solidFill>
                  <a:schemeClr val="tx1"/>
                </a:solidFill>
                <a:effectLst/>
                <a:latin typeface="+mn-lt"/>
                <a:ea typeface="+mn-ea"/>
                <a:cs typeface="+mn-cs"/>
              </a:rPr>
              <a:t>, sometimes called </a:t>
            </a:r>
            <a:r>
              <a:rPr lang="en-US" sz="1200" b="0" kern="1200" dirty="0">
                <a:solidFill>
                  <a:schemeClr val="tx1"/>
                </a:solidFill>
                <a:effectLst/>
                <a:latin typeface="+mn-lt"/>
                <a:ea typeface="+mn-ea"/>
                <a:cs typeface="+mn-cs"/>
              </a:rPr>
              <a:t>SGNS</a:t>
            </a:r>
            <a:r>
              <a:rPr lang="en-US" sz="1200" kern="1200" dirty="0">
                <a:solidFill>
                  <a:schemeClr val="tx1"/>
                </a:solidFill>
                <a:effectLst/>
                <a:latin typeface="+mn-lt"/>
                <a:ea typeface="+mn-ea"/>
                <a:cs typeface="+mn-cs"/>
              </a:rPr>
              <a:t>. The skip-gram algorithm is one of two algorithms in a software package called </a:t>
            </a:r>
            <a:r>
              <a:rPr lang="en-US" sz="1200" b="0" kern="1200" dirty="0">
                <a:solidFill>
                  <a:schemeClr val="tx1"/>
                </a:solidFill>
                <a:effectLst/>
                <a:latin typeface="+mn-lt"/>
                <a:ea typeface="+mn-ea"/>
                <a:cs typeface="+mn-cs"/>
              </a:rPr>
              <a:t>word2vec</a:t>
            </a:r>
            <a:r>
              <a:rPr lang="en-US" sz="1200" kern="1200" dirty="0">
                <a:solidFill>
                  <a:schemeClr val="tx1"/>
                </a:solidFill>
                <a:effectLst/>
                <a:latin typeface="+mn-lt"/>
                <a:ea typeface="+mn-ea"/>
                <a:cs typeface="+mn-cs"/>
              </a:rPr>
              <a:t>, and so sometimes the al- </a:t>
            </a:r>
            <a:r>
              <a:rPr lang="en-US" sz="1200" kern="1200" dirty="0" err="1">
                <a:solidFill>
                  <a:schemeClr val="tx1"/>
                </a:solidFill>
                <a:effectLst/>
                <a:latin typeface="+mn-lt"/>
                <a:ea typeface="+mn-ea"/>
                <a:cs typeface="+mn-cs"/>
              </a:rPr>
              <a:t>gorithm</a:t>
            </a:r>
            <a:r>
              <a:rPr lang="en-US" sz="1200" kern="1200" dirty="0">
                <a:solidFill>
                  <a:schemeClr val="tx1"/>
                </a:solidFill>
                <a:effectLst/>
                <a:latin typeface="+mn-lt"/>
                <a:ea typeface="+mn-ea"/>
                <a:cs typeface="+mn-cs"/>
              </a:rPr>
              <a:t> is loosely referred to as word2vec. The word2vec methods are fast, efficient to train, and easily available online with code and pretrained embeddings. Word2vec embeddings are </a:t>
            </a:r>
            <a:r>
              <a:rPr lang="en-US" sz="1200" b="0" kern="1200" dirty="0">
                <a:solidFill>
                  <a:schemeClr val="tx1"/>
                </a:solidFill>
                <a:effectLst/>
                <a:latin typeface="+mn-lt"/>
                <a:ea typeface="+mn-ea"/>
                <a:cs typeface="+mn-cs"/>
              </a:rPr>
              <a:t>static embeddings</a:t>
            </a:r>
            <a:r>
              <a:rPr lang="en-US" sz="1200" kern="1200" dirty="0">
                <a:solidFill>
                  <a:schemeClr val="tx1"/>
                </a:solidFill>
                <a:effectLst/>
                <a:latin typeface="+mn-lt"/>
                <a:ea typeface="+mn-ea"/>
                <a:cs typeface="+mn-cs"/>
              </a:rPr>
              <a:t>, meaning that the method learns one fixed embedding for each word in the vocabulary.  An </a:t>
            </a:r>
            <a:r>
              <a:rPr lang="en-US" sz="1200" kern="1200" dirty="0" err="1">
                <a:solidFill>
                  <a:schemeClr val="tx1"/>
                </a:solidFill>
                <a:effectLst/>
                <a:latin typeface="+mn-lt"/>
                <a:ea typeface="+mn-ea"/>
                <a:cs typeface="+mn-cs"/>
              </a:rPr>
              <a:t>lternative</a:t>
            </a:r>
            <a:r>
              <a:rPr lang="en-US" sz="1200" kern="1200" dirty="0">
                <a:solidFill>
                  <a:schemeClr val="tx1"/>
                </a:solidFill>
                <a:effectLst/>
                <a:latin typeface="+mn-lt"/>
                <a:ea typeface="+mn-ea"/>
                <a:cs typeface="+mn-cs"/>
              </a:rPr>
              <a:t> to these static embeddings  are more recent methods for learning dynamic </a:t>
            </a:r>
            <a:r>
              <a:rPr lang="en-US" sz="1200" b="0" kern="1200" dirty="0">
                <a:solidFill>
                  <a:schemeClr val="tx1"/>
                </a:solidFill>
                <a:effectLst/>
                <a:latin typeface="+mn-lt"/>
                <a:ea typeface="+mn-ea"/>
                <a:cs typeface="+mn-cs"/>
              </a:rPr>
              <a:t>contextual </a:t>
            </a:r>
            <a:r>
              <a:rPr lang="en-US" sz="1200" b="0" kern="1200" dirty="0" err="1">
                <a:solidFill>
                  <a:schemeClr val="tx1"/>
                </a:solidFill>
                <a:effectLst/>
                <a:latin typeface="+mn-lt"/>
                <a:ea typeface="+mn-ea"/>
                <a:cs typeface="+mn-cs"/>
              </a:rPr>
              <a:t>em</a:t>
            </a:r>
            <a:r>
              <a:rPr lang="en-US" sz="1200" b="0" kern="1200" dirty="0">
                <a:solidFill>
                  <a:schemeClr val="tx1"/>
                </a:solidFill>
                <a:effectLst/>
                <a:latin typeface="+mn-lt"/>
                <a:ea typeface="+mn-ea"/>
                <a:cs typeface="+mn-cs"/>
              </a:rPr>
              <a:t>-beddings </a:t>
            </a:r>
            <a:r>
              <a:rPr lang="en-US" sz="1200" kern="1200" dirty="0">
                <a:solidFill>
                  <a:schemeClr val="tx1"/>
                </a:solidFill>
                <a:effectLst/>
                <a:latin typeface="+mn-lt"/>
                <a:ea typeface="+mn-ea"/>
                <a:cs typeface="+mn-cs"/>
              </a:rPr>
              <a:t>like the popular </a:t>
            </a:r>
            <a:r>
              <a:rPr lang="en-US" sz="1200" b="0" kern="1200" dirty="0">
                <a:solidFill>
                  <a:schemeClr val="tx1"/>
                </a:solidFill>
                <a:effectLst/>
                <a:latin typeface="+mn-lt"/>
                <a:ea typeface="+mn-ea"/>
                <a:cs typeface="+mn-cs"/>
              </a:rPr>
              <a:t>BERT </a:t>
            </a:r>
            <a:r>
              <a:rPr lang="en-US" sz="1200" kern="1200" dirty="0">
                <a:solidFill>
                  <a:schemeClr val="tx1"/>
                </a:solidFill>
                <a:effectLst/>
                <a:latin typeface="+mn-lt"/>
                <a:ea typeface="+mn-ea"/>
                <a:cs typeface="+mn-cs"/>
              </a:rPr>
              <a:t>representations, in which the vector for each word is different in different contexts.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The intuition of word2vec is that instead of counting how often each word </a:t>
            </a:r>
            <a:r>
              <a:rPr lang="en-US" sz="1200" i="1" kern="1200" dirty="0">
                <a:solidFill>
                  <a:schemeClr val="tx1"/>
                </a:solidFill>
                <a:effectLst/>
                <a:latin typeface="+mn-lt"/>
                <a:ea typeface="+mn-ea"/>
                <a:cs typeface="+mn-cs"/>
              </a:rPr>
              <a:t>w </a:t>
            </a:r>
            <a:r>
              <a:rPr lang="en-US" sz="1200" kern="1200" dirty="0" err="1">
                <a:solidFill>
                  <a:schemeClr val="tx1"/>
                </a:solidFill>
                <a:effectLst/>
                <a:latin typeface="+mn-lt"/>
                <a:ea typeface="+mn-ea"/>
                <a:cs typeface="+mn-cs"/>
              </a:rPr>
              <a:t>oc</a:t>
            </a:r>
            <a:r>
              <a:rPr lang="en-US" sz="1200" kern="1200" dirty="0">
                <a:solidFill>
                  <a:schemeClr val="tx1"/>
                </a:solidFill>
                <a:effectLst/>
                <a:latin typeface="+mn-lt"/>
                <a:ea typeface="+mn-ea"/>
                <a:cs typeface="+mn-cs"/>
              </a:rPr>
              <a:t>- curs near, say, </a:t>
            </a:r>
            <a:r>
              <a:rPr lang="en-US" sz="1200" i="1" kern="1200" dirty="0">
                <a:solidFill>
                  <a:schemeClr val="tx1"/>
                </a:solidFill>
                <a:effectLst/>
                <a:latin typeface="+mn-lt"/>
                <a:ea typeface="+mn-ea"/>
                <a:cs typeface="+mn-cs"/>
              </a:rPr>
              <a:t>apricot</a:t>
            </a:r>
            <a:r>
              <a:rPr lang="en-US" sz="1200" kern="1200" dirty="0">
                <a:solidFill>
                  <a:schemeClr val="tx1"/>
                </a:solidFill>
                <a:effectLst/>
                <a:latin typeface="+mn-lt"/>
                <a:ea typeface="+mn-ea"/>
                <a:cs typeface="+mn-cs"/>
              </a:rPr>
              <a:t>, we’ll instead train a classifier on a binary prediction task: “Is word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likely to show up near </a:t>
            </a:r>
            <a:r>
              <a:rPr lang="en-US" sz="1200" i="1" kern="1200" dirty="0">
                <a:solidFill>
                  <a:schemeClr val="tx1"/>
                </a:solidFill>
                <a:effectLst/>
                <a:latin typeface="+mn-lt"/>
                <a:ea typeface="+mn-ea"/>
                <a:cs typeface="+mn-cs"/>
              </a:rPr>
              <a:t>apricot</a:t>
            </a:r>
            <a:r>
              <a:rPr lang="en-US" sz="1200" kern="1200" dirty="0">
                <a:solidFill>
                  <a:schemeClr val="tx1"/>
                </a:solidFill>
                <a:effectLst/>
                <a:latin typeface="+mn-lt"/>
                <a:ea typeface="+mn-ea"/>
                <a:cs typeface="+mn-cs"/>
              </a:rPr>
              <a:t>?” We don’t actually care about this prediction task; instead we’ll take the learned classifier </a:t>
            </a:r>
            <a:r>
              <a:rPr lang="en-US" sz="1200" i="1" kern="1200" dirty="0">
                <a:solidFill>
                  <a:schemeClr val="tx1"/>
                </a:solidFill>
                <a:effectLst/>
                <a:latin typeface="+mn-lt"/>
                <a:ea typeface="+mn-ea"/>
                <a:cs typeface="+mn-cs"/>
              </a:rPr>
              <a:t>weights </a:t>
            </a:r>
            <a:r>
              <a:rPr lang="en-US" sz="1200" kern="1200" dirty="0">
                <a:solidFill>
                  <a:schemeClr val="tx1"/>
                </a:solidFill>
                <a:effectLst/>
                <a:latin typeface="+mn-lt"/>
                <a:ea typeface="+mn-ea"/>
                <a:cs typeface="+mn-cs"/>
              </a:rPr>
              <a:t>as the word embeddings. The revolutionary intuition here is that we can just use running text as implicitly supervised training data for such a classifier; a word </a:t>
            </a:r>
            <a:r>
              <a:rPr lang="en-US" sz="1200" i="1" kern="1200" dirty="0">
                <a:solidFill>
                  <a:schemeClr val="tx1"/>
                </a:solidFill>
                <a:effectLst/>
                <a:latin typeface="+mn-lt"/>
                <a:ea typeface="+mn-ea"/>
                <a:cs typeface="+mn-cs"/>
              </a:rPr>
              <a:t>c </a:t>
            </a:r>
            <a:r>
              <a:rPr lang="en-US" sz="1200" kern="1200" dirty="0">
                <a:solidFill>
                  <a:schemeClr val="tx1"/>
                </a:solidFill>
                <a:effectLst/>
                <a:latin typeface="+mn-lt"/>
                <a:ea typeface="+mn-ea"/>
                <a:cs typeface="+mn-cs"/>
              </a:rPr>
              <a:t>that occurs near the target word </a:t>
            </a:r>
            <a:r>
              <a:rPr lang="en-US" sz="1200" i="1" kern="1200" dirty="0">
                <a:solidFill>
                  <a:schemeClr val="tx1"/>
                </a:solidFill>
                <a:effectLst/>
                <a:latin typeface="+mn-lt"/>
                <a:ea typeface="+mn-ea"/>
                <a:cs typeface="+mn-cs"/>
              </a:rPr>
              <a:t>apricot </a:t>
            </a:r>
            <a:r>
              <a:rPr lang="en-US" sz="1200" kern="1200" dirty="0">
                <a:solidFill>
                  <a:schemeClr val="tx1"/>
                </a:solidFill>
                <a:effectLst/>
                <a:latin typeface="+mn-lt"/>
                <a:ea typeface="+mn-ea"/>
                <a:cs typeface="+mn-cs"/>
              </a:rPr>
              <a:t>acts as gold ‘correct answer’ to the question “Is word </a:t>
            </a:r>
            <a:r>
              <a:rPr lang="en-US" sz="1200" i="1" kern="1200" dirty="0">
                <a:solidFill>
                  <a:schemeClr val="tx1"/>
                </a:solidFill>
                <a:effectLst/>
                <a:latin typeface="+mn-lt"/>
                <a:ea typeface="+mn-ea"/>
                <a:cs typeface="+mn-cs"/>
              </a:rPr>
              <a:t>c </a:t>
            </a:r>
            <a:r>
              <a:rPr lang="en-US" sz="1200" kern="1200" dirty="0">
                <a:solidFill>
                  <a:schemeClr val="tx1"/>
                </a:solidFill>
                <a:effectLst/>
                <a:latin typeface="+mn-lt"/>
                <a:ea typeface="+mn-ea"/>
                <a:cs typeface="+mn-cs"/>
              </a:rPr>
              <a:t>likely to show up near </a:t>
            </a:r>
            <a:r>
              <a:rPr lang="en-US" sz="1200" i="1" kern="1200" dirty="0">
                <a:solidFill>
                  <a:schemeClr val="tx1"/>
                </a:solidFill>
                <a:effectLst/>
                <a:latin typeface="+mn-lt"/>
                <a:ea typeface="+mn-ea"/>
                <a:cs typeface="+mn-cs"/>
              </a:rPr>
              <a:t>apricot</a:t>
            </a:r>
            <a:r>
              <a:rPr lang="en-US" sz="1200" kern="1200" dirty="0">
                <a:solidFill>
                  <a:schemeClr val="tx1"/>
                </a:solidFill>
                <a:effectLst/>
                <a:latin typeface="+mn-lt"/>
                <a:ea typeface="+mn-ea"/>
                <a:cs typeface="+mn-cs"/>
              </a:rPr>
              <a:t>?” This method, often called </a:t>
            </a:r>
            <a:r>
              <a:rPr lang="en-US" sz="1200" b="0" kern="1200" dirty="0">
                <a:solidFill>
                  <a:schemeClr val="tx1"/>
                </a:solidFill>
                <a:effectLst/>
                <a:latin typeface="+mn-lt"/>
                <a:ea typeface="+mn-ea"/>
                <a:cs typeface="+mn-cs"/>
              </a:rPr>
              <a:t>self-supervision</a:t>
            </a:r>
            <a:r>
              <a:rPr lang="en-US" sz="1200" kern="1200" dirty="0">
                <a:solidFill>
                  <a:schemeClr val="tx1"/>
                </a:solidFill>
                <a:effectLst/>
                <a:latin typeface="+mn-lt"/>
                <a:ea typeface="+mn-ea"/>
                <a:cs typeface="+mn-cs"/>
              </a:rPr>
              <a:t>, avoids the need for any sort of hand-labeled supervision signal. This idea was first proposed in the task of neural language modeling, when </a:t>
            </a:r>
            <a:r>
              <a:rPr lang="en-US" sz="1200" kern="1200" dirty="0" err="1">
                <a:solidFill>
                  <a:schemeClr val="tx1"/>
                </a:solidFill>
                <a:effectLst/>
                <a:latin typeface="+mn-lt"/>
                <a:ea typeface="+mn-ea"/>
                <a:cs typeface="+mn-cs"/>
              </a:rPr>
              <a:t>Bengio</a:t>
            </a:r>
            <a:r>
              <a:rPr lang="en-US" sz="1200" kern="1200" dirty="0">
                <a:solidFill>
                  <a:schemeClr val="tx1"/>
                </a:solidFill>
                <a:effectLst/>
                <a:latin typeface="+mn-lt"/>
                <a:ea typeface="+mn-ea"/>
                <a:cs typeface="+mn-cs"/>
              </a:rPr>
              <a:t> et al. (2003) and </a:t>
            </a:r>
            <a:r>
              <a:rPr lang="en-US" sz="1200" kern="1200" dirty="0" err="1">
                <a:solidFill>
                  <a:schemeClr val="tx1"/>
                </a:solidFill>
                <a:effectLst/>
                <a:latin typeface="+mn-lt"/>
                <a:ea typeface="+mn-ea"/>
                <a:cs typeface="+mn-cs"/>
              </a:rPr>
              <a:t>Collobert</a:t>
            </a:r>
            <a:r>
              <a:rPr lang="en-US" sz="1200" kern="1200" dirty="0">
                <a:solidFill>
                  <a:schemeClr val="tx1"/>
                </a:solidFill>
                <a:effectLst/>
                <a:latin typeface="+mn-lt"/>
                <a:ea typeface="+mn-ea"/>
                <a:cs typeface="+mn-cs"/>
              </a:rPr>
              <a:t> et al. (2011) showed that a neural language model (a neural network that learned to predict the next word from prior words) could just use the next word in running text as its supervision signal, and could be used to learn an embedding representation for each word as part of doing this prediction task. word2vec is a much simpler model than the neural network language model, in two ways. First, word2vec simplifies the task (making it binary classification instead of word pre- diction). Second, word2vec simplifies the architecture (training a logistic regression classifier instead of a multi-layer neural network with hidden layers that demand more sophisticated training algorithms) </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The intuition of skip-gram is: </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Let’s start by thinking about the classification task, and then turn to how to train. Imagine a sentence like the following, with a target word </a:t>
            </a:r>
            <a:r>
              <a:rPr lang="en-US" sz="1200" i="1" kern="1200" dirty="0">
                <a:solidFill>
                  <a:schemeClr val="tx1"/>
                </a:solidFill>
                <a:effectLst/>
                <a:latin typeface="+mn-lt"/>
                <a:ea typeface="+mn-ea"/>
                <a:cs typeface="+mn-cs"/>
              </a:rPr>
              <a:t>apricot</a:t>
            </a:r>
            <a:r>
              <a:rPr lang="en-US" sz="1200" kern="1200" dirty="0">
                <a:solidFill>
                  <a:schemeClr val="tx1"/>
                </a:solidFill>
                <a:effectLst/>
                <a:latin typeface="+mn-lt"/>
                <a:ea typeface="+mn-ea"/>
                <a:cs typeface="+mn-cs"/>
              </a:rPr>
              <a:t>, and assume we’re using a window of ±2 context words: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Our goal is to train a classifier such that, given a tuple (</a:t>
            </a:r>
            <a:r>
              <a:rPr lang="en-US" sz="1200" i="1" kern="1200" dirty="0" err="1">
                <a:solidFill>
                  <a:schemeClr val="tx1"/>
                </a:solidFill>
                <a:effectLst/>
                <a:latin typeface="+mn-lt"/>
                <a:ea typeface="+mn-ea"/>
                <a:cs typeface="+mn-cs"/>
              </a:rPr>
              <a:t>w</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c</a:t>
            </a:r>
            <a:r>
              <a:rPr lang="en-US" sz="1200" kern="1200" dirty="0">
                <a:solidFill>
                  <a:schemeClr val="tx1"/>
                </a:solidFill>
                <a:effectLst/>
                <a:latin typeface="+mn-lt"/>
                <a:ea typeface="+mn-ea"/>
                <a:cs typeface="+mn-cs"/>
              </a:rPr>
              <a:t>) of a target word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paired with a candidate context word </a:t>
            </a:r>
            <a:r>
              <a:rPr lang="en-US" sz="1200" i="1" kern="1200" dirty="0">
                <a:solidFill>
                  <a:schemeClr val="tx1"/>
                </a:solidFill>
                <a:effectLst/>
                <a:latin typeface="+mn-lt"/>
                <a:ea typeface="+mn-ea"/>
                <a:cs typeface="+mn-cs"/>
              </a:rPr>
              <a:t>c </a:t>
            </a:r>
            <a:r>
              <a:rPr lang="en-US" sz="1200" kern="1200" dirty="0">
                <a:solidFill>
                  <a:schemeClr val="tx1"/>
                </a:solidFill>
                <a:effectLst/>
                <a:latin typeface="+mn-lt"/>
                <a:ea typeface="+mn-ea"/>
                <a:cs typeface="+mn-cs"/>
              </a:rPr>
              <a:t>(for example (</a:t>
            </a:r>
            <a:r>
              <a:rPr lang="en-US" sz="1200" i="1" kern="1200" dirty="0">
                <a:solidFill>
                  <a:schemeClr val="tx1"/>
                </a:solidFill>
                <a:effectLst/>
                <a:latin typeface="+mn-lt"/>
                <a:ea typeface="+mn-ea"/>
                <a:cs typeface="+mn-cs"/>
              </a:rPr>
              <a:t>apricot</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jam</a:t>
            </a:r>
            <a:r>
              <a:rPr lang="en-US" sz="1200" kern="1200" dirty="0">
                <a:solidFill>
                  <a:schemeClr val="tx1"/>
                </a:solidFill>
                <a:effectLst/>
                <a:latin typeface="+mn-lt"/>
                <a:ea typeface="+mn-ea"/>
                <a:cs typeface="+mn-cs"/>
              </a:rPr>
              <a:t>), or perhaps (</a:t>
            </a:r>
            <a:r>
              <a:rPr lang="en-US" sz="1200" i="1" kern="1200" dirty="0">
                <a:solidFill>
                  <a:schemeClr val="tx1"/>
                </a:solidFill>
                <a:effectLst/>
                <a:latin typeface="+mn-lt"/>
                <a:ea typeface="+mn-ea"/>
                <a:cs typeface="+mn-cs"/>
              </a:rPr>
              <a:t>apricot</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aardvark</a:t>
            </a:r>
            <a:r>
              <a:rPr lang="en-US" sz="1200" kern="1200" dirty="0">
                <a:solidFill>
                  <a:schemeClr val="tx1"/>
                </a:solidFill>
                <a:effectLst/>
                <a:latin typeface="+mn-lt"/>
                <a:ea typeface="+mn-ea"/>
                <a:cs typeface="+mn-cs"/>
              </a:rPr>
              <a:t>)) it will return the probability that </a:t>
            </a:r>
            <a:r>
              <a:rPr lang="en-US" sz="1200" i="1" kern="1200" dirty="0">
                <a:solidFill>
                  <a:schemeClr val="tx1"/>
                </a:solidFill>
                <a:effectLst/>
                <a:latin typeface="+mn-lt"/>
                <a:ea typeface="+mn-ea"/>
                <a:cs typeface="+mn-cs"/>
              </a:rPr>
              <a:t>c </a:t>
            </a:r>
            <a:r>
              <a:rPr lang="en-US" sz="1200" kern="1200" dirty="0">
                <a:solidFill>
                  <a:schemeClr val="tx1"/>
                </a:solidFill>
                <a:effectLst/>
                <a:latin typeface="+mn-lt"/>
                <a:ea typeface="+mn-ea"/>
                <a:cs typeface="+mn-cs"/>
              </a:rPr>
              <a:t>is a real context word (true for </a:t>
            </a:r>
            <a:r>
              <a:rPr lang="en-US" sz="1200" i="1" kern="1200" dirty="0">
                <a:solidFill>
                  <a:schemeClr val="tx1"/>
                </a:solidFill>
                <a:effectLst/>
                <a:latin typeface="+mn-lt"/>
                <a:ea typeface="+mn-ea"/>
                <a:cs typeface="+mn-cs"/>
              </a:rPr>
              <a:t>jam</a:t>
            </a:r>
            <a:r>
              <a:rPr lang="en-US" sz="1200" kern="1200" dirty="0">
                <a:solidFill>
                  <a:schemeClr val="tx1"/>
                </a:solidFill>
                <a:effectLst/>
                <a:latin typeface="+mn-lt"/>
                <a:ea typeface="+mn-ea"/>
                <a:cs typeface="+mn-cs"/>
              </a:rPr>
              <a:t>, false for </a:t>
            </a:r>
            <a:r>
              <a:rPr lang="en-US" sz="1200" i="1" kern="1200" dirty="0">
                <a:solidFill>
                  <a:schemeClr val="tx1"/>
                </a:solidFill>
                <a:effectLst/>
                <a:latin typeface="+mn-lt"/>
                <a:ea typeface="+mn-ea"/>
                <a:cs typeface="+mn-cs"/>
              </a:rPr>
              <a:t>aardvark</a:t>
            </a:r>
            <a:r>
              <a:rPr lang="en-US"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The probability that word </a:t>
            </a:r>
            <a:r>
              <a:rPr lang="en-US" sz="1200" i="1" kern="1200" dirty="0">
                <a:solidFill>
                  <a:schemeClr val="tx1"/>
                </a:solidFill>
                <a:effectLst/>
                <a:latin typeface="+mn-lt"/>
                <a:ea typeface="+mn-ea"/>
                <a:cs typeface="+mn-cs"/>
              </a:rPr>
              <a:t>c </a:t>
            </a:r>
            <a:r>
              <a:rPr lang="en-US" sz="1200" kern="1200" dirty="0">
                <a:solidFill>
                  <a:schemeClr val="tx1"/>
                </a:solidFill>
                <a:effectLst/>
                <a:latin typeface="+mn-lt"/>
                <a:ea typeface="+mn-ea"/>
                <a:cs typeface="+mn-cs"/>
              </a:rPr>
              <a:t>is not a real context word for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is just 1 minus </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he intuition of the skip- gram model is to base this probability on embedding similarity: a word is likely to occur near the target if its embedding is similar to the target embedding. To compute similarity between these dense embeddings, we rely on the intuition that two vectors are similar if they have a high </a:t>
            </a:r>
            <a:r>
              <a:rPr lang="en-US" sz="1200" b="0" kern="1200" dirty="0">
                <a:solidFill>
                  <a:schemeClr val="tx1"/>
                </a:solidFill>
                <a:effectLst/>
                <a:latin typeface="+mn-lt"/>
                <a:ea typeface="+mn-ea"/>
                <a:cs typeface="+mn-cs"/>
              </a:rPr>
              <a:t>dot product </a:t>
            </a:r>
            <a:r>
              <a:rPr lang="en-US" sz="1200" kern="1200" dirty="0">
                <a:solidFill>
                  <a:schemeClr val="tx1"/>
                </a:solidFill>
                <a:effectLst/>
                <a:latin typeface="+mn-lt"/>
                <a:ea typeface="+mn-ea"/>
                <a:cs typeface="+mn-cs"/>
              </a:rPr>
              <a:t>(after all, cosine is just a normalized dot product). In other words: </a:t>
            </a:r>
            <a:r>
              <a:rPr lang="en-US" sz="1200" dirty="0"/>
              <a:t>Similarity(</a:t>
            </a:r>
            <a:r>
              <a:rPr lang="en-US" sz="1200" dirty="0" err="1"/>
              <a:t>w,c</a:t>
            </a:r>
            <a:r>
              <a:rPr lang="en-US" sz="1200" dirty="0"/>
              <a:t>)  ∝ w</a:t>
            </a:r>
            <a:r>
              <a:rPr lang="en-US" sz="1200" baseline="-25000" dirty="0"/>
              <a:t> </a:t>
            </a:r>
            <a:r>
              <a:rPr lang="en-US" sz="1200" dirty="0"/>
              <a:t>∙ c</a:t>
            </a:r>
            <a:endParaRPr lang="en-US" sz="1200" baseline="-25000" dirty="0"/>
          </a:p>
          <a:p>
            <a:pPr marL="0" marR="0" lvl="0" indent="0" algn="l" defTabSz="914400" rtl="0" eaLnBrk="1" fontAlgn="auto" latinLnBrk="0" hangingPunct="1">
              <a:lnSpc>
                <a:spcPct val="100000"/>
              </a:lnSpc>
              <a:spcBef>
                <a:spcPts val="0"/>
              </a:spcBef>
              <a:spcAft>
                <a:spcPts val="0"/>
              </a:spcAft>
              <a:buClrTx/>
              <a:buSzTx/>
              <a:buFontTx/>
              <a:buNone/>
              <a:defRPr/>
            </a:pP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The dot product </a:t>
            </a:r>
            <a:r>
              <a:rPr lang="en-US" sz="1200" i="1" kern="1200" dirty="0">
                <a:solidFill>
                  <a:schemeClr val="tx1"/>
                </a:solidFill>
                <a:effectLst/>
                <a:latin typeface="+mn-lt"/>
                <a:ea typeface="+mn-ea"/>
                <a:cs typeface="+mn-cs"/>
              </a:rPr>
              <a:t>c </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is not a probability, it’s just a number ranging from −∞ to ∞ (since the elements in word2vec embeddings can be negative, the dot product can be negative). To turn the dot product into a probability, we’ll use the </a:t>
            </a:r>
            <a:r>
              <a:rPr lang="en-US" sz="1200" b="0" kern="1200" dirty="0">
                <a:solidFill>
                  <a:schemeClr val="tx1"/>
                </a:solidFill>
                <a:effectLst/>
                <a:latin typeface="+mn-lt"/>
                <a:ea typeface="+mn-ea"/>
                <a:cs typeface="+mn-cs"/>
              </a:rPr>
              <a:t>logistic </a:t>
            </a:r>
            <a:r>
              <a:rPr lang="en-US" sz="1200" kern="1200" dirty="0">
                <a:solidFill>
                  <a:schemeClr val="tx1"/>
                </a:solidFill>
                <a:effectLst/>
                <a:latin typeface="+mn-lt"/>
                <a:ea typeface="+mn-ea"/>
                <a:cs typeface="+mn-cs"/>
              </a:rPr>
              <a:t>or </a:t>
            </a:r>
            <a:r>
              <a:rPr lang="en-US" sz="1200" b="0" kern="1200" dirty="0">
                <a:solidFill>
                  <a:schemeClr val="tx1"/>
                </a:solidFill>
                <a:effectLst/>
                <a:latin typeface="+mn-lt"/>
                <a:ea typeface="+mn-ea"/>
                <a:cs typeface="+mn-cs"/>
              </a:rPr>
              <a:t>sigmoid </a:t>
            </a:r>
            <a:r>
              <a:rPr lang="en-US" sz="1200" kern="1200" dirty="0">
                <a:solidFill>
                  <a:schemeClr val="tx1"/>
                </a:solidFill>
                <a:effectLst/>
                <a:latin typeface="+mn-lt"/>
                <a:ea typeface="+mn-ea"/>
                <a:cs typeface="+mn-cs"/>
              </a:rPr>
              <a:t>function </a:t>
            </a:r>
            <a:r>
              <a:rPr lang="el-GR" sz="1200" kern="1200" dirty="0">
                <a:solidFill>
                  <a:schemeClr val="tx1"/>
                </a:solidFill>
                <a:effectLst/>
                <a:latin typeface="+mn-lt"/>
                <a:ea typeface="+mn-ea"/>
                <a:cs typeface="+mn-cs"/>
              </a:rPr>
              <a:t>σ (</a:t>
            </a:r>
            <a:r>
              <a:rPr lang="en-US" sz="1200" i="1" kern="1200" dirty="0">
                <a:solidFill>
                  <a:schemeClr val="tx1"/>
                </a:solidFill>
                <a:effectLst/>
                <a:latin typeface="+mn-lt"/>
                <a:ea typeface="+mn-ea"/>
                <a:cs typeface="+mn-cs"/>
              </a:rPr>
              <a:t>x) from </a:t>
            </a:r>
            <a:r>
              <a:rPr lang="en-US" sz="1200" kern="1200" dirty="0">
                <a:solidFill>
                  <a:schemeClr val="tx1"/>
                </a:solidFill>
                <a:effectLst/>
                <a:latin typeface="+mn-lt"/>
                <a:ea typeface="+mn-ea"/>
                <a:cs typeface="+mn-cs"/>
              </a:rPr>
              <a:t>logistic regression</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We model the probability that word </a:t>
            </a:r>
            <a:r>
              <a:rPr lang="en-US" sz="1200" i="1" kern="1200" dirty="0">
                <a:solidFill>
                  <a:schemeClr val="tx1"/>
                </a:solidFill>
                <a:effectLst/>
                <a:latin typeface="+mn-lt"/>
                <a:ea typeface="+mn-ea"/>
                <a:cs typeface="+mn-cs"/>
              </a:rPr>
              <a:t>c </a:t>
            </a:r>
            <a:r>
              <a:rPr lang="en-US" sz="1200" kern="1200" dirty="0">
                <a:solidFill>
                  <a:schemeClr val="tx1"/>
                </a:solidFill>
                <a:effectLst/>
                <a:latin typeface="+mn-lt"/>
                <a:ea typeface="+mn-ea"/>
                <a:cs typeface="+mn-cs"/>
              </a:rPr>
              <a:t>is a real context word for target word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as: </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to make it a probability we’ll also need the total probability of the two possible events (</a:t>
            </a:r>
            <a:r>
              <a:rPr lang="en-US" sz="1200" i="1" kern="1200" dirty="0">
                <a:solidFill>
                  <a:schemeClr val="tx1"/>
                </a:solidFill>
                <a:effectLst/>
                <a:latin typeface="+mn-lt"/>
                <a:ea typeface="+mn-ea"/>
                <a:cs typeface="+mn-cs"/>
              </a:rPr>
              <a:t>c </a:t>
            </a:r>
            <a:r>
              <a:rPr lang="en-US" sz="1200" kern="1200" dirty="0">
                <a:solidFill>
                  <a:schemeClr val="tx1"/>
                </a:solidFill>
                <a:effectLst/>
                <a:latin typeface="+mn-lt"/>
                <a:ea typeface="+mn-ea"/>
                <a:cs typeface="+mn-cs"/>
              </a:rPr>
              <a:t>is a context word, and </a:t>
            </a:r>
            <a:r>
              <a:rPr lang="en-US" sz="1200" i="1" kern="1200" dirty="0">
                <a:solidFill>
                  <a:schemeClr val="tx1"/>
                </a:solidFill>
                <a:effectLst/>
                <a:latin typeface="+mn-lt"/>
                <a:ea typeface="+mn-ea"/>
                <a:cs typeface="+mn-cs"/>
              </a:rPr>
              <a:t>c </a:t>
            </a:r>
            <a:r>
              <a:rPr lang="en-US" sz="1200" kern="1200" dirty="0">
                <a:solidFill>
                  <a:schemeClr val="tx1"/>
                </a:solidFill>
                <a:effectLst/>
                <a:latin typeface="+mn-lt"/>
                <a:ea typeface="+mn-ea"/>
                <a:cs typeface="+mn-cs"/>
              </a:rPr>
              <a:t>isn’t a context word) to sum to 1. We thus estimate the probability that word </a:t>
            </a:r>
            <a:r>
              <a:rPr lang="en-US" sz="1200" i="1" kern="1200" dirty="0">
                <a:solidFill>
                  <a:schemeClr val="tx1"/>
                </a:solidFill>
                <a:effectLst/>
                <a:latin typeface="+mn-lt"/>
                <a:ea typeface="+mn-ea"/>
                <a:cs typeface="+mn-cs"/>
              </a:rPr>
              <a:t>c </a:t>
            </a:r>
            <a:r>
              <a:rPr lang="en-US" sz="1200" kern="1200" dirty="0">
                <a:solidFill>
                  <a:schemeClr val="tx1"/>
                </a:solidFill>
                <a:effectLst/>
                <a:latin typeface="+mn-lt"/>
                <a:ea typeface="+mn-ea"/>
                <a:cs typeface="+mn-cs"/>
              </a:rPr>
              <a:t>is not a real context word for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as: </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This equation gives us the probability for one word, but there are many context words in the window. Skip-gram makes the simplifying assumption that all context words are independent, allowing us to just multiply their probabilities: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In summary, skip-gram trains a probabilistic classifier that, given a test target word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and its context window of </a:t>
            </a:r>
            <a:r>
              <a:rPr lang="en-US" sz="1200" i="1" kern="1200" dirty="0">
                <a:solidFill>
                  <a:schemeClr val="tx1"/>
                </a:solidFill>
                <a:effectLst/>
                <a:latin typeface="+mn-lt"/>
                <a:ea typeface="+mn-ea"/>
                <a:cs typeface="+mn-cs"/>
              </a:rPr>
              <a:t>L </a:t>
            </a:r>
            <a:r>
              <a:rPr lang="en-US" sz="1200" kern="1200" dirty="0">
                <a:solidFill>
                  <a:schemeClr val="tx1"/>
                </a:solidFill>
                <a:effectLst/>
                <a:latin typeface="+mn-lt"/>
                <a:ea typeface="+mn-ea"/>
                <a:cs typeface="+mn-cs"/>
              </a:rPr>
              <a:t>words </a:t>
            </a:r>
            <a:r>
              <a:rPr lang="en-US" sz="1200" i="1" kern="1200" dirty="0">
                <a:solidFill>
                  <a:schemeClr val="tx1"/>
                </a:solidFill>
                <a:effectLst/>
                <a:latin typeface="+mn-lt"/>
                <a:ea typeface="+mn-ea"/>
                <a:cs typeface="+mn-cs"/>
              </a:rPr>
              <a:t>c</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L</a:t>
            </a:r>
            <a:r>
              <a:rPr lang="en-US" sz="1200" kern="1200" dirty="0">
                <a:solidFill>
                  <a:schemeClr val="tx1"/>
                </a:solidFill>
                <a:effectLst/>
                <a:latin typeface="+mn-lt"/>
                <a:ea typeface="+mn-ea"/>
                <a:cs typeface="+mn-cs"/>
              </a:rPr>
              <a:t>, assigns a probability based on how similar this context window is to the target word. The probability is based on applying the logistic (sigmoid) function to the dot product of the embeddings of the target word with each context word. To compute this probability, we just need embeddings for each target word and context word in the vocabulary.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Here's the intuition of parameters we’ll need. Skip-gram actually stores two embeddings for each word, one for the word as a target, and one for the word considered as context. Thus the parameters we need to learn are two matrices </a:t>
            </a:r>
            <a:r>
              <a:rPr 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and </a:t>
            </a:r>
            <a:r>
              <a:rPr lang="en-US" sz="1200" i="1" kern="1200" dirty="0">
                <a:solidFill>
                  <a:schemeClr val="tx1"/>
                </a:solidFill>
                <a:effectLst/>
                <a:latin typeface="+mn-lt"/>
                <a:ea typeface="+mn-ea"/>
                <a:cs typeface="+mn-cs"/>
              </a:rPr>
              <a:t>C</a:t>
            </a:r>
            <a:r>
              <a:rPr lang="en-US" sz="1200" kern="1200" dirty="0">
                <a:solidFill>
                  <a:schemeClr val="tx1"/>
                </a:solidFill>
                <a:effectLst/>
                <a:latin typeface="+mn-lt"/>
                <a:ea typeface="+mn-ea"/>
                <a:cs typeface="+mn-cs"/>
              </a:rPr>
              <a:t>, each containing an embedding for every one of the |</a:t>
            </a:r>
            <a:r>
              <a:rPr lang="en-US" sz="1200" i="1" kern="1200" dirty="0">
                <a:solidFill>
                  <a:schemeClr val="tx1"/>
                </a:solidFill>
                <a:effectLst/>
                <a:latin typeface="+mn-lt"/>
                <a:ea typeface="+mn-ea"/>
                <a:cs typeface="+mn-cs"/>
              </a:rPr>
              <a:t>V </a:t>
            </a:r>
            <a:r>
              <a:rPr lang="en-US" sz="1200" kern="1200" dirty="0">
                <a:solidFill>
                  <a:schemeClr val="tx1"/>
                </a:solidFill>
                <a:effectLst/>
                <a:latin typeface="+mn-lt"/>
                <a:ea typeface="+mn-ea"/>
                <a:cs typeface="+mn-cs"/>
              </a:rPr>
              <a:t>| words in the </a:t>
            </a:r>
            <a:r>
              <a:rPr lang="en-US" sz="1200" kern="1200" dirty="0" err="1">
                <a:solidFill>
                  <a:schemeClr val="tx1"/>
                </a:solidFill>
                <a:effectLst/>
                <a:latin typeface="+mn-lt"/>
                <a:ea typeface="+mn-ea"/>
                <a:cs typeface="+mn-cs"/>
              </a:rPr>
              <a:t>vocbulary</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Title:</a:t>
            </a:r>
            <a:r>
              <a:rPr lang="en-US" baseline="0" dirty="0"/>
              <a:t> Uppercase, Calibri size 60, XJTLU Navy</a:t>
            </a:r>
            <a:endParaRPr lang="en-US" baseline="0" dirty="0"/>
          </a:p>
          <a:p>
            <a:r>
              <a:rPr lang="en-US" baseline="0" dirty="0"/>
              <a:t>English Subtitle: Uppercase, Calibri size 36,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Skip-gram learns embeddings by starting with random embedding vectors and then iteratively shifting the embedding of each word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to be more like the embeddings of words that occur nearby in texts, and less like the embeddings of words that don’t occur nearby. Let’s start by considering a single piece of training data</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This example has a target word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(apricot), and 4 context words in the </a:t>
            </a:r>
            <a:r>
              <a:rPr lang="en-US" sz="1200" i="1" kern="1200" dirty="0">
                <a:solidFill>
                  <a:schemeClr val="tx1"/>
                </a:solidFill>
                <a:effectLst/>
                <a:latin typeface="+mn-lt"/>
                <a:ea typeface="+mn-ea"/>
                <a:cs typeface="+mn-cs"/>
              </a:rPr>
              <a:t>L </a:t>
            </a:r>
            <a:r>
              <a:rPr lang="en-US" sz="1200" kern="1200" dirty="0">
                <a:solidFill>
                  <a:schemeClr val="tx1"/>
                </a:solidFill>
                <a:effectLst/>
                <a:latin typeface="+mn-lt"/>
                <a:ea typeface="+mn-ea"/>
                <a:cs typeface="+mn-cs"/>
              </a:rPr>
              <a:t>= ±2 window, resulting in 4 positive training instances (on the left below): </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For training a binary classifier we also need negative examples. In fact skip- gram with negative sampling (SGNS) uses more negative examples than positive examples (with the ratio between them set by a parameter </a:t>
            </a:r>
            <a:r>
              <a:rPr lang="en-US" sz="1200" i="1" kern="1200" dirty="0">
                <a:solidFill>
                  <a:schemeClr val="tx1"/>
                </a:solidFill>
                <a:effectLst/>
                <a:latin typeface="+mn-lt"/>
                <a:ea typeface="+mn-ea"/>
                <a:cs typeface="+mn-cs"/>
              </a:rPr>
              <a:t>k</a:t>
            </a:r>
            <a:r>
              <a:rPr lang="en-US" sz="1200" kern="1200" dirty="0">
                <a:solidFill>
                  <a:schemeClr val="tx1"/>
                </a:solidFill>
                <a:effectLst/>
                <a:latin typeface="+mn-lt"/>
                <a:ea typeface="+mn-ea"/>
                <a:cs typeface="+mn-cs"/>
              </a:rPr>
              <a:t>). So for each of these (</a:t>
            </a:r>
            <a:r>
              <a:rPr lang="en-US" sz="1200" i="1" kern="1200" dirty="0" err="1">
                <a:solidFill>
                  <a:schemeClr val="tx1"/>
                </a:solidFill>
                <a:effectLst/>
                <a:latin typeface="+mn-lt"/>
                <a:ea typeface="+mn-ea"/>
                <a:cs typeface="+mn-cs"/>
              </a:rPr>
              <a:t>w</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cpos</a:t>
            </a:r>
            <a:r>
              <a:rPr lang="en-US" sz="1200" kern="1200" dirty="0">
                <a:solidFill>
                  <a:schemeClr val="tx1"/>
                </a:solidFill>
                <a:effectLst/>
                <a:latin typeface="+mn-lt"/>
                <a:ea typeface="+mn-ea"/>
                <a:cs typeface="+mn-cs"/>
              </a:rPr>
              <a:t>) training instances we’ll create </a:t>
            </a:r>
            <a:r>
              <a:rPr lang="en-US" sz="1200" i="1" kern="1200" dirty="0">
                <a:solidFill>
                  <a:schemeClr val="tx1"/>
                </a:solidFill>
                <a:effectLst/>
                <a:latin typeface="+mn-lt"/>
                <a:ea typeface="+mn-ea"/>
                <a:cs typeface="+mn-cs"/>
              </a:rPr>
              <a:t>k </a:t>
            </a:r>
            <a:r>
              <a:rPr lang="en-US" sz="1200" kern="1200" dirty="0">
                <a:solidFill>
                  <a:schemeClr val="tx1"/>
                </a:solidFill>
                <a:effectLst/>
                <a:latin typeface="+mn-lt"/>
                <a:ea typeface="+mn-ea"/>
                <a:cs typeface="+mn-cs"/>
              </a:rPr>
              <a:t>negative samples, each consisting of the target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plus a ‘noise word’ </a:t>
            </a:r>
            <a:r>
              <a:rPr lang="en-US" sz="1200" i="1" kern="1200" dirty="0" err="1">
                <a:solidFill>
                  <a:schemeClr val="tx1"/>
                </a:solidFill>
                <a:effectLst/>
                <a:latin typeface="+mn-lt"/>
                <a:ea typeface="+mn-ea"/>
                <a:cs typeface="+mn-cs"/>
              </a:rPr>
              <a:t>cneg</a:t>
            </a:r>
            <a:r>
              <a:rPr lang="en-US" sz="1200" kern="1200" dirty="0">
                <a:solidFill>
                  <a:schemeClr val="tx1"/>
                </a:solidFill>
                <a:effectLst/>
                <a:latin typeface="+mn-lt"/>
                <a:ea typeface="+mn-ea"/>
                <a:cs typeface="+mn-cs"/>
              </a:rPr>
              <a:t>. A noise word is a random word from the lexicon, constrained not to be the target word </a:t>
            </a:r>
            <a:r>
              <a:rPr lang="en-US" sz="1200" i="1" kern="1200" dirty="0">
                <a:solidFill>
                  <a:schemeClr val="tx1"/>
                </a:solidFill>
                <a:effectLst/>
                <a:latin typeface="+mn-lt"/>
                <a:ea typeface="+mn-ea"/>
                <a:cs typeface="+mn-cs"/>
              </a:rPr>
              <a:t>w</a:t>
            </a:r>
            <a:r>
              <a:rPr lang="en-US" sz="1200" kern="1200" dirty="0">
                <a:solidFill>
                  <a:schemeClr val="tx1"/>
                </a:solidFill>
                <a:effectLst/>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Here's the setting where </a:t>
            </a:r>
            <a:r>
              <a:rPr lang="en-US" sz="1200" i="1" kern="1200" dirty="0">
                <a:solidFill>
                  <a:schemeClr val="tx1"/>
                </a:solidFill>
                <a:effectLst/>
                <a:latin typeface="+mn-lt"/>
                <a:ea typeface="+mn-ea"/>
                <a:cs typeface="+mn-cs"/>
              </a:rPr>
              <a:t>k </a:t>
            </a:r>
            <a:r>
              <a:rPr lang="en-US" sz="1200" kern="1200" dirty="0">
                <a:solidFill>
                  <a:schemeClr val="tx1"/>
                </a:solidFill>
                <a:effectLst/>
                <a:latin typeface="+mn-lt"/>
                <a:ea typeface="+mn-ea"/>
                <a:cs typeface="+mn-cs"/>
              </a:rPr>
              <a:t>= 2, so we’ll have 2 negative examples in the negative training set − for each positive example </a:t>
            </a:r>
            <a:r>
              <a:rPr lang="en-US" sz="1200" i="1" kern="1200" dirty="0" err="1">
                <a:solidFill>
                  <a:schemeClr val="tx1"/>
                </a:solidFill>
                <a:effectLst/>
                <a:latin typeface="+mn-lt"/>
                <a:ea typeface="+mn-ea"/>
                <a:cs typeface="+mn-cs"/>
              </a:rPr>
              <a:t>w</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cpos</a:t>
            </a:r>
            <a:r>
              <a:rPr lang="en-US" sz="1200" kern="1200" dirty="0">
                <a:solidFill>
                  <a:schemeClr val="tx1"/>
                </a:solidFill>
                <a:effectLst/>
                <a:latin typeface="+mn-lt"/>
                <a:ea typeface="+mn-ea"/>
                <a:cs typeface="+mn-cs"/>
              </a:rPr>
              <a:t>. The noise words are chosen according to their weighted unigram frequency. </a:t>
            </a:r>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Given the set of positive and negative training instances, and an initial set of embeddings, the goal of the learning algorithm is to adjust those embeddings to </a:t>
            </a:r>
            <a:endParaRPr lang="en-US" dirty="0"/>
          </a:p>
          <a:p>
            <a:r>
              <a:rPr lang="en-US" sz="1200" kern="1200" dirty="0">
                <a:solidFill>
                  <a:schemeClr val="tx1"/>
                </a:solidFill>
                <a:effectLst/>
                <a:latin typeface="+mn-lt"/>
                <a:ea typeface="+mn-ea"/>
                <a:cs typeface="+mn-cs"/>
              </a:rPr>
              <a:t>• Maximize the similarity of the target word, context word pairs (</a:t>
            </a:r>
            <a:r>
              <a:rPr lang="en-US" sz="1200" i="1" kern="1200" dirty="0" err="1">
                <a:solidFill>
                  <a:schemeClr val="tx1"/>
                </a:solidFill>
                <a:effectLst/>
                <a:latin typeface="+mn-lt"/>
                <a:ea typeface="+mn-ea"/>
                <a:cs typeface="+mn-cs"/>
              </a:rPr>
              <a:t>w</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cpos</a:t>
            </a:r>
            <a:r>
              <a:rPr lang="en-US" sz="1200" kern="1200" dirty="0">
                <a:solidFill>
                  <a:schemeClr val="tx1"/>
                </a:solidFill>
                <a:effectLst/>
                <a:latin typeface="+mn-lt"/>
                <a:ea typeface="+mn-ea"/>
                <a:cs typeface="+mn-cs"/>
              </a:rPr>
              <a:t>) drawn from the positive examples </a:t>
            </a:r>
            <a:endParaRPr lang="en-US" dirty="0"/>
          </a:p>
          <a:p>
            <a:r>
              <a:rPr lang="en-US" sz="1200" kern="1200" dirty="0">
                <a:solidFill>
                  <a:schemeClr val="tx1"/>
                </a:solidFill>
                <a:effectLst/>
                <a:latin typeface="+mn-lt"/>
                <a:ea typeface="+mn-ea"/>
                <a:cs typeface="+mn-cs"/>
              </a:rPr>
              <a:t>• Minimize the similarity of the (</a:t>
            </a:r>
            <a:r>
              <a:rPr lang="en-US" sz="1200" i="1" kern="1200" dirty="0" err="1">
                <a:solidFill>
                  <a:schemeClr val="tx1"/>
                </a:solidFill>
                <a:effectLst/>
                <a:latin typeface="+mn-lt"/>
                <a:ea typeface="+mn-ea"/>
                <a:cs typeface="+mn-cs"/>
              </a:rPr>
              <a:t>w</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cneg</a:t>
            </a:r>
            <a:r>
              <a:rPr lang="en-US" sz="1200" kern="1200" dirty="0">
                <a:solidFill>
                  <a:schemeClr val="tx1"/>
                </a:solidFill>
                <a:effectLst/>
                <a:latin typeface="+mn-lt"/>
                <a:ea typeface="+mn-ea"/>
                <a:cs typeface="+mn-cs"/>
              </a:rPr>
              <a:t>) pairs from the negative examples.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we consider one word/context pair (</a:t>
            </a:r>
            <a:r>
              <a:rPr lang="en-US" sz="1200" i="1" kern="1200" dirty="0">
                <a:solidFill>
                  <a:schemeClr val="tx1"/>
                </a:solidFill>
                <a:effectLst/>
                <a:latin typeface="+mn-lt"/>
                <a:ea typeface="+mn-ea"/>
                <a:cs typeface="+mn-cs"/>
              </a:rPr>
              <a:t>w</a:t>
            </a:r>
            <a:r>
              <a:rPr lang="en-US" sz="1200"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cpos</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 with its </a:t>
            </a:r>
            <a:r>
              <a:rPr lang="en-US" sz="1200" i="1" kern="1200" dirty="0">
                <a:solidFill>
                  <a:schemeClr val="tx1"/>
                </a:solidFill>
                <a:effectLst/>
                <a:latin typeface="+mn-lt"/>
                <a:ea typeface="+mn-ea"/>
                <a:cs typeface="+mn-cs"/>
              </a:rPr>
              <a:t>k </a:t>
            </a:r>
            <a:r>
              <a:rPr lang="en-US" sz="1200" kern="1200" dirty="0">
                <a:solidFill>
                  <a:schemeClr val="tx1"/>
                </a:solidFill>
                <a:effectLst/>
                <a:latin typeface="+mn-lt"/>
                <a:ea typeface="+mn-ea"/>
                <a:cs typeface="+mn-cs"/>
              </a:rPr>
              <a:t>noise words </a:t>
            </a:r>
            <a:r>
              <a:rPr lang="en-US" sz="1200" i="1" kern="1200" dirty="0">
                <a:solidFill>
                  <a:schemeClr val="tx1"/>
                </a:solidFill>
                <a:effectLst/>
                <a:latin typeface="+mn-lt"/>
                <a:ea typeface="+mn-ea"/>
                <a:cs typeface="+mn-cs"/>
              </a:rPr>
              <a:t>cneg</a:t>
            </a:r>
            <a:r>
              <a:rPr lang="en-US" sz="1200" kern="1200" dirty="0">
                <a:solidFill>
                  <a:schemeClr val="tx1"/>
                </a:solidFill>
                <a:effectLst/>
                <a:latin typeface="+mn-lt"/>
                <a:ea typeface="+mn-ea"/>
                <a:cs typeface="+mn-cs"/>
              </a:rPr>
              <a:t>1 ...</a:t>
            </a:r>
            <a:r>
              <a:rPr lang="en-US" sz="1200" i="1" kern="1200" dirty="0" err="1">
                <a:solidFill>
                  <a:schemeClr val="tx1"/>
                </a:solidFill>
                <a:effectLst/>
                <a:latin typeface="+mn-lt"/>
                <a:ea typeface="+mn-ea"/>
                <a:cs typeface="+mn-cs"/>
              </a:rPr>
              <a:t>cnegk</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 our goal is to maximize the similarity of the target with the actual context words, </a:t>
            </a:r>
            <a:r>
              <a:rPr lang="en-US" sz="1200" kern="1200" dirty="0" err="1">
                <a:solidFill>
                  <a:schemeClr val="tx1"/>
                </a:solidFill>
                <a:effectLst/>
                <a:latin typeface="+mn-lt"/>
                <a:ea typeface="+mn-ea"/>
                <a:cs typeface="+mn-cs"/>
              </a:rPr>
              <a:t>andn</a:t>
            </a:r>
            <a:r>
              <a:rPr lang="en-US" sz="1200" kern="1200" dirty="0">
                <a:solidFill>
                  <a:schemeClr val="tx1"/>
                </a:solidFill>
                <a:effectLst/>
                <a:latin typeface="+mn-lt"/>
                <a:ea typeface="+mn-ea"/>
                <a:cs typeface="+mn-cs"/>
              </a:rPr>
              <a:t> minimize the similarity of the target with the k negative sampled non-neighbor words. We can express these two goals as the following loss function </a:t>
            </a:r>
            <a:r>
              <a:rPr lang="en-US" sz="1200" i="1" kern="1200" dirty="0">
                <a:solidFill>
                  <a:schemeClr val="tx1"/>
                </a:solidFill>
                <a:effectLst/>
                <a:latin typeface="+mn-lt"/>
                <a:ea typeface="+mn-ea"/>
                <a:cs typeface="+mn-cs"/>
              </a:rPr>
              <a:t>L </a:t>
            </a:r>
            <a:r>
              <a:rPr lang="en-US" sz="1200" kern="1200" dirty="0">
                <a:solidFill>
                  <a:schemeClr val="tx1"/>
                </a:solidFill>
                <a:effectLst/>
                <a:latin typeface="+mn-lt"/>
                <a:ea typeface="+mn-ea"/>
                <a:cs typeface="+mn-cs"/>
              </a:rPr>
              <a:t>to be minimized  (hence the −); here the first term expresses that we want the classifier to assign the real context word </a:t>
            </a:r>
            <a:r>
              <a:rPr lang="en-US" sz="1200" i="1" kern="1200" dirty="0" err="1">
                <a:solidFill>
                  <a:schemeClr val="tx1"/>
                </a:solidFill>
                <a:effectLst/>
                <a:latin typeface="+mn-lt"/>
                <a:ea typeface="+mn-ea"/>
                <a:cs typeface="+mn-cs"/>
              </a:rPr>
              <a:t>cpos</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 high probability of being a neighbor, and the second term expresses that we want to assign each of the noise words </a:t>
            </a:r>
            <a:r>
              <a:rPr lang="en-US" sz="1200" i="1" kern="1200" dirty="0" err="1">
                <a:solidFill>
                  <a:schemeClr val="tx1"/>
                </a:solidFill>
                <a:effectLst/>
                <a:latin typeface="+mn-lt"/>
                <a:ea typeface="+mn-ea"/>
                <a:cs typeface="+mn-cs"/>
              </a:rPr>
              <a:t>cnegi</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 high probability of  being a non-neighbor, all multiplied because we assume independence: </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If we substitute in our sigmoid of the dot product estimate for P, we want to maximize the dot product of the word with the actual context words, and minimize the dot products of the word with the </a:t>
            </a:r>
            <a:r>
              <a:rPr lang="en-US" sz="1200" i="1" kern="1200" dirty="0">
                <a:solidFill>
                  <a:schemeClr val="tx1"/>
                </a:solidFill>
                <a:effectLst/>
                <a:latin typeface="+mn-lt"/>
                <a:ea typeface="+mn-ea"/>
                <a:cs typeface="+mn-cs"/>
              </a:rPr>
              <a:t>k </a:t>
            </a:r>
            <a:r>
              <a:rPr lang="en-US" sz="1200" kern="1200" dirty="0">
                <a:solidFill>
                  <a:schemeClr val="tx1"/>
                </a:solidFill>
                <a:effectLst/>
                <a:latin typeface="+mn-lt"/>
                <a:ea typeface="+mn-ea"/>
                <a:cs typeface="+mn-cs"/>
              </a:rPr>
              <a:t>negative sampled non- neighbor words. </a:t>
            </a:r>
            <a:endParaRPr lang="en-US" dirty="0"/>
          </a:p>
          <a:p>
            <a:endParaRPr lang="en-US" dirty="0"/>
          </a:p>
          <a:p>
            <a:r>
              <a:rPr lang="en-US" sz="120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We minimize this loss function using stochastic gradient descent.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Let's look at the intuition of one step of gradient descent. The skip-gram model tries to shift embeddings so the target embeddings (here for </a:t>
            </a:r>
            <a:r>
              <a:rPr lang="en-US" sz="1200" i="1" kern="1200" dirty="0">
                <a:solidFill>
                  <a:schemeClr val="tx1"/>
                </a:solidFill>
                <a:effectLst/>
                <a:latin typeface="+mn-lt"/>
                <a:ea typeface="+mn-ea"/>
                <a:cs typeface="+mn-cs"/>
              </a:rPr>
              <a:t>apricot</a:t>
            </a:r>
            <a:r>
              <a:rPr lang="en-US" sz="1200" kern="1200" dirty="0">
                <a:solidFill>
                  <a:schemeClr val="tx1"/>
                </a:solidFill>
                <a:effectLst/>
                <a:latin typeface="+mn-lt"/>
                <a:ea typeface="+mn-ea"/>
                <a:cs typeface="+mn-cs"/>
              </a:rPr>
              <a:t>) are closer to (have a higher dot product with) context embeddings for nearby words (here </a:t>
            </a:r>
            <a:r>
              <a:rPr lang="en-US" sz="1200" i="1" kern="1200" dirty="0">
                <a:solidFill>
                  <a:schemeClr val="tx1"/>
                </a:solidFill>
                <a:effectLst/>
                <a:latin typeface="+mn-lt"/>
                <a:ea typeface="+mn-ea"/>
                <a:cs typeface="+mn-cs"/>
              </a:rPr>
              <a:t>jam</a:t>
            </a:r>
            <a:r>
              <a:rPr lang="en-US" sz="1200" kern="1200" dirty="0">
                <a:solidFill>
                  <a:schemeClr val="tx1"/>
                </a:solidFill>
                <a:effectLst/>
                <a:latin typeface="+mn-lt"/>
                <a:ea typeface="+mn-ea"/>
                <a:cs typeface="+mn-cs"/>
              </a:rPr>
              <a:t>) and further from (lower dot product with) context embeddings for noise words that don’t occur nearby (here </a:t>
            </a:r>
            <a:r>
              <a:rPr lang="en-US" sz="1200" i="1" kern="1200" dirty="0">
                <a:solidFill>
                  <a:schemeClr val="tx1"/>
                </a:solidFill>
                <a:effectLst/>
                <a:latin typeface="+mn-lt"/>
                <a:ea typeface="+mn-ea"/>
                <a:cs typeface="+mn-cs"/>
              </a:rPr>
              <a:t>Tolstoy </a:t>
            </a:r>
            <a:r>
              <a:rPr lang="en-US" sz="1200" kern="1200" dirty="0">
                <a:solidFill>
                  <a:schemeClr val="tx1"/>
                </a:solidFill>
                <a:effectLst/>
                <a:latin typeface="+mn-lt"/>
                <a:ea typeface="+mn-ea"/>
                <a:cs typeface="+mn-cs"/>
              </a:rPr>
              <a:t>and </a:t>
            </a:r>
            <a:r>
              <a:rPr lang="en-US" sz="1200" i="1" kern="1200" dirty="0">
                <a:solidFill>
                  <a:schemeClr val="tx1"/>
                </a:solidFill>
                <a:effectLst/>
                <a:latin typeface="+mn-lt"/>
                <a:ea typeface="+mn-ea"/>
                <a:cs typeface="+mn-cs"/>
              </a:rPr>
              <a:t>matrix</a:t>
            </a:r>
            <a:r>
              <a:rPr lang="en-US" sz="1200" kern="1200" dirty="0">
                <a:solidFill>
                  <a:schemeClr val="tx1"/>
                </a:solidFill>
                <a:effectLst/>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To get the gradient, we need to take the derivative of this equation with respect to the different embeddings. We'll need a derivate for the C embeddings and for the W embeddings.  And we'll want a different derivative for the weights for the positive context examples and the </a:t>
            </a:r>
            <a:r>
              <a:rPr lang="en-US" sz="1200" kern="1200" dirty="0" err="1">
                <a:solidFill>
                  <a:schemeClr val="tx1"/>
                </a:solidFill>
                <a:effectLst/>
                <a:latin typeface="+mn-lt"/>
                <a:ea typeface="+mn-ea"/>
                <a:cs typeface="+mn-cs"/>
              </a:rPr>
              <a:t>nevative</a:t>
            </a:r>
            <a:r>
              <a:rPr lang="en-US" sz="1200" kern="1200" dirty="0">
                <a:solidFill>
                  <a:schemeClr val="tx1"/>
                </a:solidFill>
                <a:effectLst/>
                <a:latin typeface="+mn-lt"/>
                <a:ea typeface="+mn-ea"/>
                <a:cs typeface="+mn-cs"/>
              </a:rPr>
              <a:t> context examples, since we want to move them in opposite directions.   It turns out the derivatives are the following elegant functions.   </a:t>
            </a:r>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The update equations going from time step </a:t>
            </a:r>
            <a:r>
              <a:rPr lang="en-US" sz="1200" i="1" kern="1200" dirty="0">
                <a:solidFill>
                  <a:schemeClr val="tx1"/>
                </a:solidFill>
                <a:effectLst/>
                <a:latin typeface="+mn-lt"/>
                <a:ea typeface="+mn-ea"/>
                <a:cs typeface="+mn-cs"/>
              </a:rPr>
              <a:t>t </a:t>
            </a:r>
            <a:r>
              <a:rPr lang="en-US" sz="1200" kern="1200" dirty="0">
                <a:solidFill>
                  <a:schemeClr val="tx1"/>
                </a:solidFill>
                <a:effectLst/>
                <a:latin typeface="+mn-lt"/>
                <a:ea typeface="+mn-ea"/>
                <a:cs typeface="+mn-cs"/>
              </a:rPr>
              <a:t>to </a:t>
            </a:r>
            <a:r>
              <a:rPr lang="en-US" sz="1200" i="1" kern="1200" dirty="0">
                <a:solidFill>
                  <a:schemeClr val="tx1"/>
                </a:solidFill>
                <a:effectLst/>
                <a:latin typeface="+mn-lt"/>
                <a:ea typeface="+mn-ea"/>
                <a:cs typeface="+mn-cs"/>
              </a:rPr>
              <a:t>t </a:t>
            </a:r>
            <a:r>
              <a:rPr lang="en-US" sz="1200" kern="1200" dirty="0">
                <a:solidFill>
                  <a:schemeClr val="tx1"/>
                </a:solidFill>
                <a:effectLst/>
                <a:latin typeface="+mn-lt"/>
                <a:ea typeface="+mn-ea"/>
                <a:cs typeface="+mn-cs"/>
              </a:rPr>
              <a:t>+ 1 in stochastic gradient descent are thus: </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Just as in logistic regression, then, the learning algorithm starts with randomly initialized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and </a:t>
            </a:r>
            <a:r>
              <a:rPr lang="en-US" sz="1200" i="1" kern="1200" dirty="0">
                <a:solidFill>
                  <a:schemeClr val="tx1"/>
                </a:solidFill>
                <a:effectLst/>
                <a:latin typeface="+mn-lt"/>
                <a:ea typeface="+mn-ea"/>
                <a:cs typeface="+mn-cs"/>
              </a:rPr>
              <a:t>C </a:t>
            </a:r>
            <a:r>
              <a:rPr lang="en-US" sz="1200" kern="1200" dirty="0">
                <a:solidFill>
                  <a:schemeClr val="tx1"/>
                </a:solidFill>
                <a:effectLst/>
                <a:latin typeface="+mn-lt"/>
                <a:ea typeface="+mn-ea"/>
                <a:cs typeface="+mn-cs"/>
              </a:rPr>
              <a:t>matrices, and then walks through the training corpus using gradient descent to move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and </a:t>
            </a:r>
            <a:r>
              <a:rPr lang="en-US" sz="1200" i="1" kern="1200" dirty="0">
                <a:solidFill>
                  <a:schemeClr val="tx1"/>
                </a:solidFill>
                <a:effectLst/>
                <a:latin typeface="+mn-lt"/>
                <a:ea typeface="+mn-ea"/>
                <a:cs typeface="+mn-cs"/>
              </a:rPr>
              <a:t>C </a:t>
            </a:r>
            <a:r>
              <a:rPr lang="en-US" sz="1200" kern="1200" dirty="0">
                <a:solidFill>
                  <a:schemeClr val="tx1"/>
                </a:solidFill>
                <a:effectLst/>
                <a:latin typeface="+mn-lt"/>
                <a:ea typeface="+mn-ea"/>
                <a:cs typeface="+mn-cs"/>
              </a:rPr>
              <a:t>so as to maximize the objective we saw earlier by making the updates here.</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As we've just seen, the skip-gram model learns </a:t>
            </a:r>
            <a:r>
              <a:rPr lang="en-US" sz="1200" b="0" kern="1200" dirty="0">
                <a:solidFill>
                  <a:schemeClr val="tx1"/>
                </a:solidFill>
                <a:effectLst/>
                <a:latin typeface="+mn-lt"/>
                <a:ea typeface="+mn-ea"/>
                <a:cs typeface="+mn-cs"/>
              </a:rPr>
              <a:t>two </a:t>
            </a:r>
            <a:r>
              <a:rPr lang="en-US" sz="1200" kern="1200" dirty="0">
                <a:solidFill>
                  <a:schemeClr val="tx1"/>
                </a:solidFill>
                <a:effectLst/>
                <a:latin typeface="+mn-lt"/>
                <a:ea typeface="+mn-ea"/>
                <a:cs typeface="+mn-cs"/>
              </a:rPr>
              <a:t>separate embeddings for each word </a:t>
            </a:r>
            <a:r>
              <a:rPr lang="en-US" sz="1200" i="1"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the </a:t>
            </a:r>
            <a:r>
              <a:rPr lang="en-US" sz="1200" b="0" kern="1200" dirty="0">
                <a:solidFill>
                  <a:schemeClr val="tx1"/>
                </a:solidFill>
                <a:effectLst/>
                <a:latin typeface="+mn-lt"/>
                <a:ea typeface="+mn-ea"/>
                <a:cs typeface="+mn-cs"/>
              </a:rPr>
              <a:t>target embedding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and the </a:t>
            </a:r>
            <a:r>
              <a:rPr lang="en-US" sz="1200" b="0" kern="1200" dirty="0">
                <a:solidFill>
                  <a:schemeClr val="tx1"/>
                </a:solidFill>
                <a:effectLst/>
                <a:latin typeface="+mn-lt"/>
                <a:ea typeface="+mn-ea"/>
                <a:cs typeface="+mn-cs"/>
              </a:rPr>
              <a:t>context embedding </a:t>
            </a:r>
            <a:r>
              <a:rPr lang="en-US" sz="1200" i="1" kern="1200" dirty="0">
                <a:solidFill>
                  <a:schemeClr val="tx1"/>
                </a:solidFill>
                <a:effectLst/>
                <a:latin typeface="+mn-lt"/>
                <a:ea typeface="+mn-ea"/>
                <a:cs typeface="+mn-cs"/>
              </a:rPr>
              <a:t>c </a:t>
            </a:r>
            <a:r>
              <a:rPr lang="en-US" sz="1200" kern="1200" dirty="0">
                <a:solidFill>
                  <a:schemeClr val="tx1"/>
                </a:solidFill>
                <a:effectLst/>
                <a:latin typeface="+mn-lt"/>
                <a:ea typeface="+mn-ea"/>
                <a:cs typeface="+mn-cs"/>
              </a:rPr>
              <a:t>, stored in two matrices, the</a:t>
            </a:r>
            <a:r>
              <a:rPr lang="en-US" sz="1200" b="0" kern="1200" dirty="0">
                <a:solidFill>
                  <a:schemeClr val="tx1"/>
                </a:solidFill>
                <a:effectLst/>
                <a:latin typeface="+mn-lt"/>
                <a:ea typeface="+mn-ea"/>
                <a:cs typeface="+mn-cs"/>
              </a:rPr>
              <a:t> target matrix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and the </a:t>
            </a:r>
            <a:r>
              <a:rPr lang="en-US" sz="1200" b="0" kern="1200" dirty="0">
                <a:solidFill>
                  <a:schemeClr val="tx1"/>
                </a:solidFill>
                <a:effectLst/>
                <a:latin typeface="+mn-lt"/>
                <a:ea typeface="+mn-ea"/>
                <a:cs typeface="+mn-cs"/>
              </a:rPr>
              <a:t>context matrix </a:t>
            </a:r>
            <a:r>
              <a:rPr lang="en-US" sz="1200" i="1" kern="1200" dirty="0">
                <a:solidFill>
                  <a:schemeClr val="tx1"/>
                </a:solidFill>
                <a:effectLst/>
                <a:latin typeface="+mn-lt"/>
                <a:ea typeface="+mn-ea"/>
                <a:cs typeface="+mn-cs"/>
              </a:rPr>
              <a:t>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Ibut</a:t>
            </a:r>
            <a:r>
              <a:rPr lang="en-US" sz="1200" kern="1200" dirty="0">
                <a:solidFill>
                  <a:schemeClr val="tx1"/>
                </a:solidFill>
                <a:effectLst/>
                <a:latin typeface="+mn-lt"/>
                <a:ea typeface="+mn-ea"/>
                <a:cs typeface="+mn-cs"/>
              </a:rPr>
              <a:t> if we just need one vector to represent a word, what should we use?  t’s common to just add them together,  representing word </a:t>
            </a:r>
            <a:r>
              <a:rPr lang="en-US" sz="1200" i="1" kern="1200" dirty="0" err="1">
                <a:solidFill>
                  <a:schemeClr val="tx1"/>
                </a:solidFill>
                <a:effectLst/>
                <a:latin typeface="+mn-lt"/>
                <a:ea typeface="+mn-ea"/>
                <a:cs typeface="+mn-cs"/>
              </a:rPr>
              <a:t>i</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with the vector </a:t>
            </a:r>
            <a:r>
              <a:rPr lang="en-US" sz="1200" i="1" kern="1200" dirty="0" err="1">
                <a:solidFill>
                  <a:schemeClr val="tx1"/>
                </a:solidFill>
                <a:effectLst/>
                <a:latin typeface="+mn-lt"/>
                <a:ea typeface="+mn-ea"/>
                <a:cs typeface="+mn-cs"/>
              </a:rPr>
              <a:t>wi</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ci </a:t>
            </a:r>
            <a:r>
              <a:rPr lang="en-US" sz="1200" kern="1200" dirty="0">
                <a:solidFill>
                  <a:schemeClr val="tx1"/>
                </a:solidFill>
                <a:effectLst/>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Title:</a:t>
            </a:r>
            <a:r>
              <a:rPr lang="en-US" baseline="0" dirty="0"/>
              <a:t> Uppercase, Calibri size 60, XJTLU Navy</a:t>
            </a:r>
            <a:endParaRPr lang="en-US" baseline="0" dirty="0"/>
          </a:p>
          <a:p>
            <a:r>
              <a:rPr lang="en-US" baseline="0" dirty="0"/>
              <a:t>English Subtitle: Uppercase, Calibri size 36,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One parameter of vector semantic models that is relevant to both sparse </a:t>
            </a:r>
            <a:r>
              <a:rPr lang="en-US" sz="1200" kern="1200" dirty="0" err="1">
                <a:solidFill>
                  <a:schemeClr val="tx1"/>
                </a:solidFill>
                <a:effectLst/>
                <a:latin typeface="+mn-lt"/>
                <a:ea typeface="+mn-ea"/>
                <a:cs typeface="+mn-cs"/>
              </a:rPr>
              <a:t>tf-idf</a:t>
            </a:r>
            <a:r>
              <a:rPr lang="en-US" sz="1200" kern="1200" dirty="0">
                <a:solidFill>
                  <a:schemeClr val="tx1"/>
                </a:solidFill>
                <a:effectLst/>
                <a:latin typeface="+mn-lt"/>
                <a:ea typeface="+mn-ea"/>
                <a:cs typeface="+mn-cs"/>
              </a:rPr>
              <a:t> vectors and dense word2vec vectors is the size of the context window used to collect counts. This is generally between 1 and 10 words on each side of the target word (for a total context of 2-20 words). </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The choice depends on the goals of the representation. Shorter context windows tend to lead to representations that are a bit more syntactic, since the information is coming from immediately nearby words. When the vectors are computed from short context windows, the most similar words to a target word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tend to be semantically similar words with the same parts of speech. When vectors are computed from long context windows, the highest cosine words to a target word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tend to be words that are topically related but not similar. For example Levy and Goldberg (2014a) showed that using skip-gram with a window of ±2, the most similar words to the word </a:t>
            </a:r>
            <a:r>
              <a:rPr lang="en-US" sz="1200" i="1" kern="1200" dirty="0">
                <a:solidFill>
                  <a:schemeClr val="tx1"/>
                </a:solidFill>
                <a:effectLst/>
                <a:latin typeface="+mn-lt"/>
                <a:ea typeface="+mn-ea"/>
                <a:cs typeface="+mn-cs"/>
              </a:rPr>
              <a:t>Hogwarts </a:t>
            </a:r>
            <a:r>
              <a:rPr lang="en-US" sz="1200" kern="1200" dirty="0">
                <a:solidFill>
                  <a:schemeClr val="tx1"/>
                </a:solidFill>
                <a:effectLst/>
                <a:latin typeface="+mn-lt"/>
                <a:ea typeface="+mn-ea"/>
                <a:cs typeface="+mn-cs"/>
              </a:rPr>
              <a:t>(from the </a:t>
            </a:r>
            <a:r>
              <a:rPr lang="en-US" sz="1200" i="1" kern="1200" dirty="0">
                <a:solidFill>
                  <a:schemeClr val="tx1"/>
                </a:solidFill>
                <a:effectLst/>
                <a:latin typeface="+mn-lt"/>
                <a:ea typeface="+mn-ea"/>
                <a:cs typeface="+mn-cs"/>
              </a:rPr>
              <a:t>Harry Potter </a:t>
            </a:r>
            <a:r>
              <a:rPr lang="en-US" sz="1200" kern="1200" dirty="0">
                <a:solidFill>
                  <a:schemeClr val="tx1"/>
                </a:solidFill>
                <a:effectLst/>
                <a:latin typeface="+mn-lt"/>
                <a:ea typeface="+mn-ea"/>
                <a:cs typeface="+mn-cs"/>
              </a:rPr>
              <a:t>series) were names of other fictional schools: </a:t>
            </a:r>
            <a:r>
              <a:rPr lang="en-US" sz="1200" i="1" kern="1200" dirty="0">
                <a:solidFill>
                  <a:schemeClr val="tx1"/>
                </a:solidFill>
                <a:effectLst/>
                <a:latin typeface="+mn-lt"/>
                <a:ea typeface="+mn-ea"/>
                <a:cs typeface="+mn-cs"/>
              </a:rPr>
              <a:t>Sunnydale </a:t>
            </a:r>
            <a:r>
              <a:rPr lang="en-US" sz="1200" kern="1200" dirty="0">
                <a:solidFill>
                  <a:schemeClr val="tx1"/>
                </a:solidFill>
                <a:effectLst/>
                <a:latin typeface="+mn-lt"/>
                <a:ea typeface="+mn-ea"/>
                <a:cs typeface="+mn-cs"/>
              </a:rPr>
              <a:t>(from </a:t>
            </a:r>
            <a:r>
              <a:rPr lang="en-US" sz="1200" i="1" kern="1200" dirty="0">
                <a:solidFill>
                  <a:schemeClr val="tx1"/>
                </a:solidFill>
                <a:effectLst/>
                <a:latin typeface="+mn-lt"/>
                <a:ea typeface="+mn-ea"/>
                <a:cs typeface="+mn-cs"/>
              </a:rPr>
              <a:t>Buffy the Vampire Slayer</a:t>
            </a:r>
            <a:r>
              <a:rPr lang="en-US" sz="1200" kern="1200" dirty="0">
                <a:solidFill>
                  <a:schemeClr val="tx1"/>
                </a:solidFill>
                <a:effectLst/>
                <a:latin typeface="+mn-lt"/>
                <a:ea typeface="+mn-ea"/>
                <a:cs typeface="+mn-cs"/>
              </a:rPr>
              <a:t>) or </a:t>
            </a:r>
            <a:r>
              <a:rPr lang="en-US" sz="1200" i="1" kern="1200" dirty="0" err="1">
                <a:solidFill>
                  <a:schemeClr val="tx1"/>
                </a:solidFill>
                <a:effectLst/>
                <a:latin typeface="+mn-lt"/>
                <a:ea typeface="+mn-ea"/>
                <a:cs typeface="+mn-cs"/>
              </a:rPr>
              <a:t>Evernight</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(from a vampire series). With a window of ±5, the most similar words to </a:t>
            </a:r>
            <a:r>
              <a:rPr lang="en-US" sz="1200" i="1" kern="1200" dirty="0">
                <a:solidFill>
                  <a:schemeClr val="tx1"/>
                </a:solidFill>
                <a:effectLst/>
                <a:latin typeface="+mn-lt"/>
                <a:ea typeface="+mn-ea"/>
                <a:cs typeface="+mn-cs"/>
              </a:rPr>
              <a:t>Hogwarts </a:t>
            </a:r>
            <a:r>
              <a:rPr lang="en-US" sz="1200" kern="1200" dirty="0">
                <a:solidFill>
                  <a:schemeClr val="tx1"/>
                </a:solidFill>
                <a:effectLst/>
                <a:latin typeface="+mn-lt"/>
                <a:ea typeface="+mn-ea"/>
                <a:cs typeface="+mn-cs"/>
              </a:rPr>
              <a:t>were other words topically related to the </a:t>
            </a:r>
            <a:r>
              <a:rPr lang="en-US" sz="1200" i="1" kern="1200" dirty="0">
                <a:solidFill>
                  <a:schemeClr val="tx1"/>
                </a:solidFill>
                <a:effectLst/>
                <a:latin typeface="+mn-lt"/>
                <a:ea typeface="+mn-ea"/>
                <a:cs typeface="+mn-cs"/>
              </a:rPr>
              <a:t>Harry Potter </a:t>
            </a:r>
            <a:r>
              <a:rPr lang="en-US" sz="1200" kern="1200" dirty="0">
                <a:solidFill>
                  <a:schemeClr val="tx1"/>
                </a:solidFill>
                <a:effectLst/>
                <a:latin typeface="+mn-lt"/>
                <a:ea typeface="+mn-ea"/>
                <a:cs typeface="+mn-cs"/>
              </a:rPr>
              <a:t>series: </a:t>
            </a:r>
            <a:r>
              <a:rPr lang="en-US" sz="1200" i="1" kern="1200" dirty="0">
                <a:solidFill>
                  <a:schemeClr val="tx1"/>
                </a:solidFill>
                <a:effectLst/>
                <a:latin typeface="+mn-lt"/>
                <a:ea typeface="+mn-ea"/>
                <a:cs typeface="+mn-cs"/>
              </a:rPr>
              <a:t>Dumbledore</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Malfoy</a:t>
            </a:r>
            <a:r>
              <a:rPr lang="en-US" sz="1200" kern="1200" dirty="0">
                <a:solidFill>
                  <a:schemeClr val="tx1"/>
                </a:solidFill>
                <a:effectLst/>
                <a:latin typeface="+mn-lt"/>
                <a:ea typeface="+mn-ea"/>
                <a:cs typeface="+mn-cs"/>
              </a:rPr>
              <a:t>, and </a:t>
            </a:r>
            <a:r>
              <a:rPr lang="en-US" sz="1200" i="1" kern="1200" dirty="0">
                <a:solidFill>
                  <a:schemeClr val="tx1"/>
                </a:solidFill>
                <a:effectLst/>
                <a:latin typeface="+mn-lt"/>
                <a:ea typeface="+mn-ea"/>
                <a:cs typeface="+mn-cs"/>
              </a:rPr>
              <a:t>half-blood</a:t>
            </a:r>
            <a:r>
              <a:rPr lang="en-US" sz="1200" kern="1200" dirty="0">
                <a:solidFill>
                  <a:schemeClr val="tx1"/>
                </a:solidFill>
                <a:effectLst/>
                <a:latin typeface="+mn-lt"/>
                <a:ea typeface="+mn-ea"/>
                <a:cs typeface="+mn-cs"/>
              </a:rPr>
              <a:t>. </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Another semantic property of embeddings is their ability to capture relational meanings. In an important early vector space model of cognition, </a:t>
            </a:r>
            <a:r>
              <a:rPr lang="en-US" sz="1200" kern="1200" dirty="0" err="1">
                <a:solidFill>
                  <a:schemeClr val="tx1"/>
                </a:solidFill>
                <a:effectLst/>
                <a:latin typeface="+mn-lt"/>
                <a:ea typeface="+mn-ea"/>
                <a:cs typeface="+mn-cs"/>
              </a:rPr>
              <a:t>Rumelhart</a:t>
            </a:r>
            <a:r>
              <a:rPr lang="en-US" sz="1200" kern="1200" dirty="0">
                <a:solidFill>
                  <a:schemeClr val="tx1"/>
                </a:solidFill>
                <a:effectLst/>
                <a:latin typeface="+mn-lt"/>
                <a:ea typeface="+mn-ea"/>
                <a:cs typeface="+mn-cs"/>
              </a:rPr>
              <a:t> and Abrahamson (1973) proposed the </a:t>
            </a:r>
            <a:r>
              <a:rPr lang="en-US" sz="1200" b="0" kern="1200" dirty="0">
                <a:solidFill>
                  <a:schemeClr val="tx1"/>
                </a:solidFill>
                <a:effectLst/>
                <a:latin typeface="+mn-lt"/>
                <a:ea typeface="+mn-ea"/>
                <a:cs typeface="+mn-cs"/>
              </a:rPr>
              <a:t>parallelogram model </a:t>
            </a:r>
            <a:r>
              <a:rPr lang="en-US" sz="1200" kern="1200" dirty="0">
                <a:solidFill>
                  <a:schemeClr val="tx1"/>
                </a:solidFill>
                <a:effectLst/>
                <a:latin typeface="+mn-lt"/>
                <a:ea typeface="+mn-ea"/>
                <a:cs typeface="+mn-cs"/>
              </a:rPr>
              <a:t>for solving simple analogy problems of the form </a:t>
            </a:r>
            <a:r>
              <a:rPr lang="en-US" sz="1200" i="1" kern="1200" dirty="0">
                <a:solidFill>
                  <a:schemeClr val="tx1"/>
                </a:solidFill>
                <a:effectLst/>
                <a:latin typeface="+mn-lt"/>
                <a:ea typeface="+mn-ea"/>
                <a:cs typeface="+mn-cs"/>
              </a:rPr>
              <a:t>a is to b as a* is to what?</a:t>
            </a:r>
            <a:r>
              <a:rPr lang="en-US" sz="1200" kern="1200" dirty="0">
                <a:solidFill>
                  <a:schemeClr val="tx1"/>
                </a:solidFill>
                <a:effectLst/>
                <a:latin typeface="+mn-lt"/>
                <a:ea typeface="+mn-ea"/>
                <a:cs typeface="+mn-cs"/>
              </a:rPr>
              <a:t>. In such problems, a system given a problem like </a:t>
            </a:r>
            <a:r>
              <a:rPr lang="en-US" sz="1200" i="1" kern="1200" dirty="0" err="1">
                <a:solidFill>
                  <a:schemeClr val="tx1"/>
                </a:solidFill>
                <a:effectLst/>
                <a:latin typeface="+mn-lt"/>
                <a:ea typeface="+mn-ea"/>
                <a:cs typeface="+mn-cs"/>
              </a:rPr>
              <a:t>apple:tree</a:t>
            </a:r>
            <a:r>
              <a:rPr lang="en-US" sz="1200" i="1" kern="1200" dirty="0">
                <a:solidFill>
                  <a:schemeClr val="tx1"/>
                </a:solidFill>
                <a:effectLst/>
                <a:latin typeface="+mn-lt"/>
                <a:ea typeface="+mn-ea"/>
                <a:cs typeface="+mn-cs"/>
              </a:rPr>
              <a:t>::grape:?</a:t>
            </a:r>
            <a:r>
              <a:rPr lang="en-US" sz="1200" kern="1200" dirty="0">
                <a:solidFill>
                  <a:schemeClr val="tx1"/>
                </a:solidFill>
                <a:effectLst/>
                <a:latin typeface="+mn-lt"/>
                <a:ea typeface="+mn-ea"/>
                <a:cs typeface="+mn-cs"/>
              </a:rPr>
              <a:t>, i.e., </a:t>
            </a:r>
            <a:r>
              <a:rPr lang="en-US" sz="1200" i="1" kern="1200" dirty="0">
                <a:solidFill>
                  <a:schemeClr val="tx1"/>
                </a:solidFill>
                <a:effectLst/>
                <a:latin typeface="+mn-lt"/>
                <a:ea typeface="+mn-ea"/>
                <a:cs typeface="+mn-cs"/>
              </a:rPr>
              <a:t>apple is to tree as </a:t>
            </a:r>
            <a:r>
              <a:rPr 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grape is to </a:t>
            </a:r>
            <a:r>
              <a:rPr lang="en-US" sz="1200" kern="1200" dirty="0">
                <a:solidFill>
                  <a:schemeClr val="tx1"/>
                </a:solidFill>
                <a:effectLst/>
                <a:latin typeface="+mn-lt"/>
                <a:ea typeface="+mn-ea"/>
                <a:cs typeface="+mn-cs"/>
              </a:rPr>
              <a:t>, and must fill in the word </a:t>
            </a:r>
            <a:r>
              <a:rPr lang="en-US" sz="1200" i="1" kern="1200" dirty="0">
                <a:solidFill>
                  <a:schemeClr val="tx1"/>
                </a:solidFill>
                <a:effectLst/>
                <a:latin typeface="+mn-lt"/>
                <a:ea typeface="+mn-ea"/>
                <a:cs typeface="+mn-cs"/>
              </a:rPr>
              <a:t>vine.</a:t>
            </a:r>
            <a:endParaRPr lang="en-US" sz="1200" i="1" kern="1200" dirty="0">
              <a:solidFill>
                <a:schemeClr val="tx1"/>
              </a:solidFill>
              <a:effectLst/>
              <a:latin typeface="+mn-lt"/>
              <a:ea typeface="+mn-ea"/>
              <a:cs typeface="+mn-cs"/>
            </a:endParaRPr>
          </a:p>
          <a:p>
            <a:endParaRPr lang="en-US" sz="1200" i="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the parallelogram model, the vector from the word </a:t>
            </a:r>
            <a:r>
              <a:rPr lang="en-US" sz="1200" i="1" kern="1200" dirty="0">
                <a:solidFill>
                  <a:schemeClr val="tx1"/>
                </a:solidFill>
                <a:effectLst/>
                <a:latin typeface="+mn-lt"/>
                <a:ea typeface="+mn-ea"/>
                <a:cs typeface="+mn-cs"/>
              </a:rPr>
              <a:t>apple </a:t>
            </a:r>
            <a:r>
              <a:rPr lang="en-US" sz="1200" i="1" kern="1200" dirty="0" err="1">
                <a:solidFill>
                  <a:schemeClr val="tx1"/>
                </a:solidFill>
                <a:effectLst/>
                <a:latin typeface="+mn-lt"/>
                <a:ea typeface="+mn-ea"/>
                <a:cs typeface="+mn-cs"/>
              </a:rPr>
              <a:t>ito</a:t>
            </a:r>
            <a:r>
              <a:rPr lang="en-US" sz="1200" kern="1200" dirty="0">
                <a:solidFill>
                  <a:schemeClr val="tx1"/>
                </a:solidFill>
                <a:effectLst/>
                <a:latin typeface="+mn-lt"/>
                <a:ea typeface="+mn-ea"/>
                <a:cs typeface="+mn-cs"/>
              </a:rPr>
              <a:t> the word </a:t>
            </a:r>
            <a:r>
              <a:rPr lang="en-US" sz="1200" i="1" kern="1200" dirty="0">
                <a:solidFill>
                  <a:schemeClr val="tx1"/>
                </a:solidFill>
                <a:effectLst/>
                <a:latin typeface="+mn-lt"/>
                <a:ea typeface="+mn-ea"/>
                <a:cs typeface="+mn-cs"/>
              </a:rPr>
              <a:t>tree </a:t>
            </a:r>
            <a:r>
              <a:rPr lang="en-US" sz="1200" kern="1200" dirty="0">
                <a:solidFill>
                  <a:schemeClr val="tx1"/>
                </a:solidFill>
                <a:effectLst/>
                <a:latin typeface="+mn-lt"/>
                <a:ea typeface="+mn-ea"/>
                <a:cs typeface="+mn-cs"/>
              </a:rPr>
              <a:t>(= apple − tree)  </a:t>
            </a:r>
            <a:endParaRPr lang="en-US" dirty="0"/>
          </a:p>
          <a:p>
            <a:r>
              <a:rPr lang="en-US" sz="1200" kern="1200" dirty="0">
                <a:solidFill>
                  <a:schemeClr val="tx1"/>
                </a:solidFill>
                <a:effectLst/>
                <a:latin typeface="+mn-lt"/>
                <a:ea typeface="+mn-ea"/>
                <a:cs typeface="+mn-cs"/>
              </a:rPr>
              <a:t>is added to the vector for </a:t>
            </a:r>
            <a:r>
              <a:rPr lang="en-US" sz="1200" i="1" kern="1200" dirty="0">
                <a:solidFill>
                  <a:schemeClr val="tx1"/>
                </a:solidFill>
                <a:effectLst/>
                <a:latin typeface="+mn-lt"/>
                <a:ea typeface="+mn-ea"/>
                <a:cs typeface="+mn-cs"/>
              </a:rPr>
              <a:t>grape </a:t>
            </a:r>
            <a:r>
              <a:rPr lang="en-US" sz="1200" kern="1200" dirty="0">
                <a:solidFill>
                  <a:schemeClr val="tx1"/>
                </a:solidFill>
                <a:effectLst/>
                <a:latin typeface="+mn-lt"/>
                <a:ea typeface="+mn-ea"/>
                <a:cs typeface="+mn-cs"/>
              </a:rPr>
              <a:t>(grape); the nearest word to that point is returned </a:t>
            </a:r>
            <a:endParaRPr lang="en-US" dirty="0"/>
          </a:p>
          <a:p>
            <a:r>
              <a:rPr lang="en-US" sz="1200" i="1" kern="1200" dirty="0">
                <a:solidFill>
                  <a:schemeClr val="tx1"/>
                </a:solidFill>
                <a:effectLst/>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For a </a:t>
            </a:r>
            <a:r>
              <a:rPr lang="en-US" sz="1200" i="1" kern="1200" dirty="0" err="1">
                <a:solidFill>
                  <a:schemeClr val="tx1"/>
                </a:solidFill>
                <a:effectLst/>
                <a:latin typeface="+mn-lt"/>
                <a:ea typeface="+mn-ea"/>
                <a:cs typeface="+mn-cs"/>
              </a:rPr>
              <a:t>a:b</a:t>
            </a:r>
            <a:r>
              <a:rPr lang="en-US" sz="1200" i="1" kern="1200" dirty="0">
                <a:solidFill>
                  <a:schemeClr val="tx1"/>
                </a:solidFill>
                <a:effectLst/>
                <a:latin typeface="+mn-lt"/>
                <a:ea typeface="+mn-ea"/>
                <a:cs typeface="+mn-cs"/>
              </a:rPr>
              <a:t>::a*:b* </a:t>
            </a:r>
            <a:r>
              <a:rPr lang="en-US" sz="1200" kern="1200" dirty="0">
                <a:solidFill>
                  <a:schemeClr val="tx1"/>
                </a:solidFill>
                <a:effectLst/>
                <a:latin typeface="+mn-lt"/>
                <a:ea typeface="+mn-ea"/>
                <a:cs typeface="+mn-cs"/>
              </a:rPr>
              <a:t>problem, meaning the algorithm is given </a:t>
            </a:r>
            <a:r>
              <a:rPr lang="en-US" sz="1200" i="1" kern="1200" dirty="0">
                <a:solidFill>
                  <a:schemeClr val="tx1"/>
                </a:solidFill>
                <a:effectLst/>
                <a:latin typeface="+mn-lt"/>
                <a:ea typeface="+mn-ea"/>
                <a:cs typeface="+mn-cs"/>
              </a:rPr>
              <a:t>a, b, </a:t>
            </a:r>
            <a:r>
              <a:rPr lang="en-US" sz="1200" kern="1200" dirty="0">
                <a:solidFill>
                  <a:schemeClr val="tx1"/>
                </a:solidFill>
                <a:effectLst/>
                <a:latin typeface="+mn-lt"/>
                <a:ea typeface="+mn-ea"/>
                <a:cs typeface="+mn-cs"/>
              </a:rPr>
              <a:t>and </a:t>
            </a:r>
            <a:r>
              <a:rPr lang="en-US" sz="1200" i="1" kern="1200" dirty="0">
                <a:solidFill>
                  <a:schemeClr val="tx1"/>
                </a:solidFill>
                <a:effectLst/>
                <a:latin typeface="+mn-lt"/>
                <a:ea typeface="+mn-ea"/>
                <a:cs typeface="+mn-cs"/>
              </a:rPr>
              <a:t>a* </a:t>
            </a:r>
            <a:r>
              <a:rPr lang="en-US" sz="1200" kern="1200" dirty="0">
                <a:solidFill>
                  <a:schemeClr val="tx1"/>
                </a:solidFill>
                <a:effectLst/>
                <a:latin typeface="+mn-lt"/>
                <a:ea typeface="+mn-ea"/>
                <a:cs typeface="+mn-cs"/>
              </a:rPr>
              <a:t>and must find </a:t>
            </a:r>
            <a:r>
              <a:rPr lang="en-US" sz="1200" i="1" kern="1200" dirty="0">
                <a:solidFill>
                  <a:schemeClr val="tx1"/>
                </a:solidFill>
                <a:effectLst/>
                <a:latin typeface="+mn-lt"/>
                <a:ea typeface="+mn-ea"/>
                <a:cs typeface="+mn-cs"/>
              </a:rPr>
              <a:t>b*</a:t>
            </a:r>
            <a:r>
              <a:rPr lang="en-US" sz="1200" kern="1200" dirty="0">
                <a:solidFill>
                  <a:schemeClr val="tx1"/>
                </a:solidFill>
                <a:effectLst/>
                <a:latin typeface="+mn-lt"/>
                <a:ea typeface="+mn-ea"/>
                <a:cs typeface="+mn-cs"/>
              </a:rPr>
              <a:t>, the parallelogram method is thus:   EQUATION</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with the distance function defined either as cosine or as Euclidean distance.</a:t>
            </a:r>
            <a:br>
              <a:rPr lang="en-US" sz="1200" kern="1200" dirty="0">
                <a:solidFill>
                  <a:schemeClr val="tx1"/>
                </a:solidFill>
                <a:effectLst/>
                <a:latin typeface="+mn-lt"/>
                <a:ea typeface="+mn-ea"/>
                <a:cs typeface="+mn-cs"/>
              </a:rPr>
            </a:b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Embeddings can also be a useful tool for studying how meaning changes over time, by computing multiple embedding spaces, each from texts written in a particular time period. For example these figures shows a visualization of changes in meaning in English words over the last two centuries, computed by building separate embedding spaces for each decade from historical corpora like Google N-grams and the Corpus of Historical American English.</a:t>
            </a:r>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In addition to their ability to learn word meaning from text, embeddings, alas, also reproduce the implicit biases and stereotypes that were latent in the text. As the prior section just showed, embeddings can roughly model relational similar- </a:t>
            </a:r>
            <a:r>
              <a:rPr lang="en-US" sz="1200" kern="1200" dirty="0" err="1">
                <a:solidFill>
                  <a:schemeClr val="tx1"/>
                </a:solidFill>
                <a:effectLst/>
                <a:latin typeface="+mn-lt"/>
                <a:ea typeface="+mn-ea"/>
                <a:cs typeface="+mn-cs"/>
              </a:rPr>
              <a:t>ity</a:t>
            </a:r>
            <a:r>
              <a:rPr lang="en-US" sz="1200" kern="1200" dirty="0">
                <a:solidFill>
                  <a:schemeClr val="tx1"/>
                </a:solidFill>
                <a:effectLst/>
                <a:latin typeface="+mn-lt"/>
                <a:ea typeface="+mn-ea"/>
                <a:cs typeface="+mn-cs"/>
              </a:rPr>
              <a:t>: ‘queen’ as the closest word to ‘king’ - ‘man’ + ‘woman’ implies the analogy </a:t>
            </a:r>
            <a:r>
              <a:rPr lang="en-US" sz="1200" i="1" kern="1200" dirty="0" err="1">
                <a:solidFill>
                  <a:schemeClr val="tx1"/>
                </a:solidFill>
                <a:effectLst/>
                <a:latin typeface="+mn-lt"/>
                <a:ea typeface="+mn-ea"/>
                <a:cs typeface="+mn-cs"/>
              </a:rPr>
              <a:t>man:woman</a:t>
            </a:r>
            <a:r>
              <a:rPr lang="en-US" sz="1200" i="1"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king:queen</a:t>
            </a:r>
            <a:r>
              <a:rPr lang="en-US" sz="1200" kern="1200" dirty="0">
                <a:solidFill>
                  <a:schemeClr val="tx1"/>
                </a:solidFill>
                <a:effectLst/>
                <a:latin typeface="+mn-lt"/>
                <a:ea typeface="+mn-ea"/>
                <a:cs typeface="+mn-cs"/>
              </a:rPr>
              <a:t>. But these same embedding analogies also exhibit gender stereotypes. For example the embeddings suggest the analogy ‘father’ is to ‘doctor’ as ‘mother’ is to ‘nurse’, and the closest occupation to ‘man’ - ‘computer programmer’ + ‘woman’ in word2vec embeddings trained on news text is ‘homemaker'</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This could result in what Crawford calls an </a:t>
            </a:r>
            <a:r>
              <a:rPr lang="en-US" sz="1200" b="0" kern="1200" dirty="0">
                <a:solidFill>
                  <a:schemeClr val="tx1"/>
                </a:solidFill>
                <a:effectLst/>
                <a:latin typeface="+mn-lt"/>
                <a:ea typeface="+mn-ea"/>
                <a:cs typeface="+mn-cs"/>
              </a:rPr>
              <a:t>allocational harm</a:t>
            </a:r>
            <a:r>
              <a:rPr lang="en-US" sz="1200" kern="1200" dirty="0">
                <a:solidFill>
                  <a:schemeClr val="tx1"/>
                </a:solidFill>
                <a:effectLst/>
                <a:latin typeface="+mn-lt"/>
                <a:ea typeface="+mn-ea"/>
                <a:cs typeface="+mn-cs"/>
              </a:rPr>
              <a:t>, when a system </a:t>
            </a:r>
            <a:r>
              <a:rPr lang="en-US" sz="1200" kern="1200" dirty="0" err="1">
                <a:solidFill>
                  <a:schemeClr val="tx1"/>
                </a:solidFill>
                <a:effectLst/>
                <a:latin typeface="+mn-lt"/>
                <a:ea typeface="+mn-ea"/>
                <a:cs typeface="+mn-cs"/>
              </a:rPr>
              <a:t>allo</a:t>
            </a:r>
            <a:r>
              <a:rPr lang="en-US" sz="1200" kern="1200" dirty="0">
                <a:solidFill>
                  <a:schemeClr val="tx1"/>
                </a:solidFill>
                <a:effectLst/>
                <a:latin typeface="+mn-lt"/>
                <a:ea typeface="+mn-ea"/>
                <a:cs typeface="+mn-cs"/>
              </a:rPr>
              <a:t>- cates resources (jobs or credit) unfairly to different groups. For example algorithms that use embeddings as part of a search for hiring potential programmers or doctors might thus incorrectly </a:t>
            </a:r>
            <a:r>
              <a:rPr lang="en-US" sz="1200" kern="1200" dirty="0" err="1">
                <a:solidFill>
                  <a:schemeClr val="tx1"/>
                </a:solidFill>
                <a:effectLst/>
                <a:latin typeface="+mn-lt"/>
                <a:ea typeface="+mn-ea"/>
                <a:cs typeface="+mn-cs"/>
              </a:rPr>
              <a:t>downweight</a:t>
            </a:r>
            <a:r>
              <a:rPr lang="en-US" sz="1200" kern="1200" dirty="0">
                <a:solidFill>
                  <a:schemeClr val="tx1"/>
                </a:solidFill>
                <a:effectLst/>
                <a:latin typeface="+mn-lt"/>
                <a:ea typeface="+mn-ea"/>
                <a:cs typeface="+mn-cs"/>
              </a:rPr>
              <a:t> documents with women’s names. </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Historical embeddings are also being used to measure biases in the past. Garg et al. (2018) used embeddings from historical texts to measure the association be- tween embeddings for adjectives and embeddings for names of various </a:t>
            </a:r>
            <a:r>
              <a:rPr lang="en-US" sz="1200" kern="1200" dirty="0" err="1">
                <a:solidFill>
                  <a:schemeClr val="tx1"/>
                </a:solidFill>
                <a:effectLst/>
                <a:latin typeface="+mn-lt"/>
                <a:ea typeface="+mn-ea"/>
                <a:cs typeface="+mn-cs"/>
              </a:rPr>
              <a:t>ethnici</a:t>
            </a:r>
            <a:r>
              <a:rPr lang="en-US" sz="1200" kern="1200" dirty="0">
                <a:solidFill>
                  <a:schemeClr val="tx1"/>
                </a:solidFill>
                <a:effectLst/>
                <a:latin typeface="+mn-lt"/>
                <a:ea typeface="+mn-ea"/>
                <a:cs typeface="+mn-cs"/>
              </a:rPr>
              <a:t>- ties or genders. embeddings for adjectives related to competence (‘smart’, ‘wise’, ‘thoughtful’, ‘resourceful’) had a higher cosine with male than </a:t>
            </a:r>
            <a:r>
              <a:rPr lang="en-US" sz="1200" kern="1200" dirty="0" err="1">
                <a:solidFill>
                  <a:schemeClr val="tx1"/>
                </a:solidFill>
                <a:effectLst/>
                <a:latin typeface="+mn-lt"/>
                <a:ea typeface="+mn-ea"/>
                <a:cs typeface="+mn-cs"/>
              </a:rPr>
              <a:t>fe</a:t>
            </a:r>
            <a:r>
              <a:rPr lang="en-US" sz="1200" kern="1200" dirty="0">
                <a:solidFill>
                  <a:schemeClr val="tx1"/>
                </a:solidFill>
                <a:effectLst/>
                <a:latin typeface="+mn-lt"/>
                <a:ea typeface="+mn-ea"/>
                <a:cs typeface="+mn-cs"/>
              </a:rPr>
              <a:t>- male words, and showed that this bias has been slowly decreasing since 1960, and that   Historical embeddings also </a:t>
            </a:r>
            <a:r>
              <a:rPr lang="en-US" sz="1200" kern="1200" dirty="0" err="1">
                <a:solidFill>
                  <a:schemeClr val="tx1"/>
                </a:solidFill>
                <a:effectLst/>
                <a:latin typeface="+mn-lt"/>
                <a:ea typeface="+mn-ea"/>
                <a:cs typeface="+mn-cs"/>
              </a:rPr>
              <a:t>repli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cated</a:t>
            </a:r>
            <a:r>
              <a:rPr lang="en-US" sz="1200" kern="1200" dirty="0">
                <a:solidFill>
                  <a:schemeClr val="tx1"/>
                </a:solidFill>
                <a:effectLst/>
                <a:latin typeface="+mn-lt"/>
                <a:ea typeface="+mn-ea"/>
                <a:cs typeface="+mn-cs"/>
              </a:rPr>
              <a:t> old surveys of ethnic stereotypes; Embeddings for Chinese names were biased </a:t>
            </a:r>
            <a:r>
              <a:rPr lang="en-US" sz="1200" kern="1200" dirty="0" err="1">
                <a:solidFill>
                  <a:schemeClr val="tx1"/>
                </a:solidFill>
                <a:effectLst/>
                <a:latin typeface="+mn-lt"/>
                <a:ea typeface="+mn-ea"/>
                <a:cs typeface="+mn-cs"/>
              </a:rPr>
              <a:t>twoare</a:t>
            </a:r>
            <a:r>
              <a:rPr lang="en-US" sz="1200" kern="1200" dirty="0">
                <a:solidFill>
                  <a:schemeClr val="tx1"/>
                </a:solidFill>
                <a:effectLst/>
                <a:latin typeface="+mn-lt"/>
                <a:ea typeface="+mn-ea"/>
                <a:cs typeface="+mn-cs"/>
              </a:rPr>
              <a:t> dehumanizing adjectives like ‘barbaric’ in the 1930s, matching the results of old surveys done in the 1930s, but this bias decreased in both text and surveys over the 20</a:t>
            </a:r>
            <a:r>
              <a:rPr lang="en-US" sz="1200" kern="1200" baseline="30000" dirty="0">
                <a:solidFill>
                  <a:schemeClr val="tx1"/>
                </a:solidFill>
                <a:effectLst/>
                <a:latin typeface="+mn-lt"/>
                <a:ea typeface="+mn-ea"/>
                <a:cs typeface="+mn-cs"/>
              </a:rPr>
              <a:t>th</a:t>
            </a:r>
            <a:r>
              <a:rPr lang="en-US" sz="1200" kern="1200" dirty="0">
                <a:solidFill>
                  <a:schemeClr val="tx1"/>
                </a:solidFill>
                <a:effectLst/>
                <a:latin typeface="+mn-lt"/>
                <a:ea typeface="+mn-ea"/>
                <a:cs typeface="+mn-cs"/>
              </a:rPr>
              <a:t> century.</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Title:</a:t>
            </a:r>
            <a:r>
              <a:rPr lang="en-US" baseline="0" dirty="0"/>
              <a:t> Uppercase, Calibri size 60, XJTLU Navy</a:t>
            </a:r>
            <a:endParaRPr lang="en-US" baseline="0" dirty="0"/>
          </a:p>
          <a:p>
            <a:r>
              <a:rPr lang="en-US" baseline="0" dirty="0"/>
              <a:t>English Subtitle: Uppercase, Calibri size 36,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p:txBody>
          <a:bodyPr/>
          <a:lstStyle/>
          <a:p>
            <a:fld id="{46A12441-541C-8049-9EB6-B7944644D433}" type="slidenum">
              <a:rPr lang="en-US"/>
            </a:fld>
            <a:endParaRPr lang="en-US"/>
          </a:p>
        </p:txBody>
      </p:sp>
      <p:sp>
        <p:nvSpPr>
          <p:cNvPr id="6146" name="Rectangle 7"/>
          <p:cNvSpPr txBox="1">
            <a:spLocks noGrp="1" noChangeArrowheads="1"/>
          </p:cNvSpPr>
          <p:nvPr/>
        </p:nvSpPr>
        <p:spPr bwMode="auto">
          <a:xfrm>
            <a:off x="3883758" y="8946168"/>
            <a:ext cx="2985311" cy="463295"/>
          </a:xfrm>
          <a:prstGeom prst="rect">
            <a:avLst/>
          </a:prstGeom>
          <a:noFill/>
          <a:ln>
            <a:noFill/>
          </a:ln>
        </p:spPr>
        <p:txBody>
          <a:bodyPr anchor="b"/>
          <a:lstStyle>
            <a:lvl1pPr>
              <a:defRPr>
                <a:solidFill>
                  <a:schemeClr val="tx1"/>
                </a:solidFill>
                <a:latin typeface="Arial" panose="020B0604020202090204" pitchFamily="34" charset="0"/>
                <a:ea typeface="MS PGothic" charset="0"/>
                <a:cs typeface="Arial" panose="020B0604020202090204" pitchFamily="34" charset="0"/>
              </a:defRPr>
            </a:lvl1pPr>
            <a:lvl2pPr marL="742950" indent="-285750">
              <a:defRPr>
                <a:solidFill>
                  <a:schemeClr val="tx1"/>
                </a:solidFill>
                <a:latin typeface="Arial" panose="020B0604020202090204" pitchFamily="34" charset="0"/>
                <a:ea typeface="Arial" panose="020B0604020202090204" pitchFamily="34" charset="0"/>
                <a:cs typeface="Arial" panose="020B0604020202090204" pitchFamily="34" charset="0"/>
              </a:defRPr>
            </a:lvl2pPr>
            <a:lvl3pPr marL="1143000" indent="-228600">
              <a:defRPr>
                <a:solidFill>
                  <a:schemeClr val="tx1"/>
                </a:solidFill>
                <a:latin typeface="Arial" panose="020B0604020202090204" pitchFamily="34" charset="0"/>
                <a:ea typeface="Arial" panose="020B0604020202090204" pitchFamily="34" charset="0"/>
                <a:cs typeface="Arial" panose="020B0604020202090204" pitchFamily="34" charset="0"/>
              </a:defRPr>
            </a:lvl3pPr>
            <a:lvl4pPr marL="1600200" indent="-228600">
              <a:defRPr>
                <a:solidFill>
                  <a:schemeClr val="tx1"/>
                </a:solidFill>
                <a:latin typeface="Arial" panose="020B0604020202090204" pitchFamily="34" charset="0"/>
                <a:ea typeface="Arial" panose="020B0604020202090204" pitchFamily="34" charset="0"/>
                <a:cs typeface="Arial" panose="020B0604020202090204" pitchFamily="34" charset="0"/>
              </a:defRPr>
            </a:lvl4pPr>
            <a:lvl5pPr marL="2057400" indent="-228600">
              <a:defRPr>
                <a:solidFill>
                  <a:schemeClr val="tx1"/>
                </a:solidFill>
                <a:latin typeface="Arial" panose="020B0604020202090204" pitchFamily="34" charset="0"/>
                <a:ea typeface="Arial" panose="020B0604020202090204" pitchFamily="34" charset="0"/>
                <a:cs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ea typeface="Arial" panose="020B0604020202090204" pitchFamily="34" charset="0"/>
                <a:cs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ea typeface="Arial" panose="020B0604020202090204" pitchFamily="34" charset="0"/>
                <a:cs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ea typeface="Arial" panose="020B0604020202090204" pitchFamily="34" charset="0"/>
                <a:cs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ea typeface="Arial" panose="020B0604020202090204" pitchFamily="34" charset="0"/>
                <a:cs typeface="Arial" panose="020B0604020202090204" pitchFamily="34" charset="0"/>
              </a:defRPr>
            </a:lvl9pPr>
          </a:lstStyle>
          <a:p>
            <a:pPr algn="r" eaLnBrk="0" hangingPunct="0"/>
            <a:fld id="{511E387A-761F-6A49-BCBC-FEFB84592E4B}" type="slidenum">
              <a:rPr lang="en-US" sz="1200">
                <a:latin typeface="Times New Roman" panose="02020503050405090304" pitchFamily="18" charset="0"/>
              </a:rPr>
            </a:fld>
            <a:endParaRPr lang="en-US" sz="1200">
              <a:latin typeface="Times New Roman" panose="02020503050405090304" pitchFamily="18" charset="0"/>
            </a:endParaRPr>
          </a:p>
        </p:txBody>
      </p:sp>
      <p:sp>
        <p:nvSpPr>
          <p:cNvPr id="6147" name="Rectangle 2"/>
          <p:cNvSpPr>
            <a:spLocks noGrp="1" noRot="1" noChangeAspect="1" noChangeArrowheads="1" noTextEdit="1"/>
          </p:cNvSpPr>
          <p:nvPr>
            <p:ph type="sldImg"/>
          </p:nvPr>
        </p:nvSpPr>
        <p:spPr/>
      </p:sp>
      <p:sp>
        <p:nvSpPr>
          <p:cNvPr id="6148" name="Rectangle 3"/>
          <p:cNvSpPr>
            <a:spLocks noGrp="1" noChangeArrowheads="1"/>
          </p:cNvSpPr>
          <p:nvPr>
            <p:ph type="body" idx="1"/>
          </p:nvPr>
        </p:nvSpPr>
        <p:spPr/>
        <p:txBody>
          <a:bodyPr/>
          <a:lstStyle/>
          <a:p>
            <a:r>
              <a:rPr lang="en-US" dirty="0"/>
              <a:t>From the earliest linguistic traditions (the Sanskrit grammarians </a:t>
            </a:r>
            <a:r>
              <a:rPr lang="en-US" dirty="0" err="1"/>
              <a:t>Yaska</a:t>
            </a:r>
            <a:r>
              <a:rPr lang="en-US" dirty="0"/>
              <a:t> and Panini in India, the Aristotle and the Stoics in Greece), came idea that words can be classified into grammatical categories, what we now call parts of speech, word classes, or sometimes just for short, POS or POS tags.</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By 100 BCE, Dionysius </a:t>
            </a:r>
            <a:r>
              <a:rPr lang="en-US" sz="1200" kern="1200" dirty="0" err="1">
                <a:solidFill>
                  <a:schemeClr val="tx1"/>
                </a:solidFill>
                <a:effectLst/>
                <a:latin typeface="+mn-lt"/>
                <a:ea typeface="+mn-ea"/>
                <a:cs typeface="+mn-cs"/>
              </a:rPr>
              <a:t>Thrax</a:t>
            </a:r>
            <a:r>
              <a:rPr lang="en-US" sz="1200" kern="1200" dirty="0">
                <a:solidFill>
                  <a:schemeClr val="tx1"/>
                </a:solidFill>
                <a:effectLst/>
                <a:latin typeface="+mn-lt"/>
                <a:ea typeface="+mn-ea"/>
                <a:cs typeface="+mn-cs"/>
              </a:rPr>
              <a:t> settled on a set of eight that became the basis for descriptions of European languages for the next 2000 years.  </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The durability of parts of speech through two millennia speaks to their centrality in models of human language. </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dirty="0"/>
          </a:p>
          <a:p>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p:txBody>
          <a:bodyPr/>
          <a:lstStyle/>
          <a:p>
            <a:fld id="{707D92F1-8734-4144-B257-88D33EAF4046}" type="slidenum">
              <a:rPr lang="en-US"/>
            </a:fld>
            <a:endParaRPr lang="en-US"/>
          </a:p>
        </p:txBody>
      </p:sp>
      <p:sp>
        <p:nvSpPr>
          <p:cNvPr id="17410" name="Rectangle 7"/>
          <p:cNvSpPr txBox="1">
            <a:spLocks noGrp="1" noChangeArrowheads="1"/>
          </p:cNvSpPr>
          <p:nvPr/>
        </p:nvSpPr>
        <p:spPr bwMode="auto">
          <a:xfrm>
            <a:off x="3883758" y="8946168"/>
            <a:ext cx="2985311" cy="463295"/>
          </a:xfrm>
          <a:prstGeom prst="rect">
            <a:avLst/>
          </a:prstGeom>
          <a:noFill/>
          <a:ln>
            <a:noFill/>
          </a:ln>
        </p:spPr>
        <p:txBody>
          <a:bodyPr anchor="b"/>
          <a:lstStyle>
            <a:lvl1pPr>
              <a:defRPr>
                <a:solidFill>
                  <a:schemeClr val="tx1"/>
                </a:solidFill>
                <a:latin typeface="Arial" panose="020B0604020202090204" pitchFamily="34" charset="0"/>
                <a:ea typeface="MS PGothic" charset="0"/>
                <a:cs typeface="Arial" panose="020B0604020202090204" pitchFamily="34" charset="0"/>
              </a:defRPr>
            </a:lvl1pPr>
            <a:lvl2pPr marL="742950" indent="-285750">
              <a:defRPr>
                <a:solidFill>
                  <a:schemeClr val="tx1"/>
                </a:solidFill>
                <a:latin typeface="Arial" panose="020B0604020202090204" pitchFamily="34" charset="0"/>
                <a:ea typeface="Arial" panose="020B0604020202090204" pitchFamily="34" charset="0"/>
                <a:cs typeface="Arial" panose="020B0604020202090204" pitchFamily="34" charset="0"/>
              </a:defRPr>
            </a:lvl2pPr>
            <a:lvl3pPr marL="1143000" indent="-228600">
              <a:defRPr>
                <a:solidFill>
                  <a:schemeClr val="tx1"/>
                </a:solidFill>
                <a:latin typeface="Arial" panose="020B0604020202090204" pitchFamily="34" charset="0"/>
                <a:ea typeface="Arial" panose="020B0604020202090204" pitchFamily="34" charset="0"/>
                <a:cs typeface="Arial" panose="020B0604020202090204" pitchFamily="34" charset="0"/>
              </a:defRPr>
            </a:lvl3pPr>
            <a:lvl4pPr marL="1600200" indent="-228600">
              <a:defRPr>
                <a:solidFill>
                  <a:schemeClr val="tx1"/>
                </a:solidFill>
                <a:latin typeface="Arial" panose="020B0604020202090204" pitchFamily="34" charset="0"/>
                <a:ea typeface="Arial" panose="020B0604020202090204" pitchFamily="34" charset="0"/>
                <a:cs typeface="Arial" panose="020B0604020202090204" pitchFamily="34" charset="0"/>
              </a:defRPr>
            </a:lvl4pPr>
            <a:lvl5pPr marL="2057400" indent="-228600">
              <a:defRPr>
                <a:solidFill>
                  <a:schemeClr val="tx1"/>
                </a:solidFill>
                <a:latin typeface="Arial" panose="020B0604020202090204" pitchFamily="34" charset="0"/>
                <a:ea typeface="Arial" panose="020B0604020202090204" pitchFamily="34" charset="0"/>
                <a:cs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ea typeface="Arial" panose="020B0604020202090204" pitchFamily="34" charset="0"/>
                <a:cs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ea typeface="Arial" panose="020B0604020202090204" pitchFamily="34" charset="0"/>
                <a:cs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ea typeface="Arial" panose="020B0604020202090204" pitchFamily="34" charset="0"/>
                <a:cs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ea typeface="Arial" panose="020B0604020202090204" pitchFamily="34" charset="0"/>
                <a:cs typeface="Arial" panose="020B0604020202090204" pitchFamily="34" charset="0"/>
              </a:defRPr>
            </a:lvl9pPr>
          </a:lstStyle>
          <a:p>
            <a:pPr algn="r" eaLnBrk="0" hangingPunct="0"/>
            <a:fld id="{5625C148-C31F-2643-B3A9-4F14A87B232E}" type="slidenum">
              <a:rPr lang="en-US" sz="1200">
                <a:latin typeface="Times New Roman" panose="02020503050405090304" pitchFamily="18" charset="0"/>
              </a:rPr>
            </a:fld>
            <a:endParaRPr lang="en-US" sz="1200">
              <a:latin typeface="Times New Roman" panose="02020503050405090304" pitchFamily="18" charset="0"/>
            </a:endParaRPr>
          </a:p>
        </p:txBody>
      </p:sp>
      <p:sp>
        <p:nvSpPr>
          <p:cNvPr id="17411" name="Rectangle 2"/>
          <p:cNvSpPr>
            <a:spLocks noGrp="1" noRot="1" noChangeAspect="1" noChangeArrowheads="1" noTextEdit="1"/>
          </p:cNvSpPr>
          <p:nvPr>
            <p:ph type="sldImg"/>
          </p:nvPr>
        </p:nvSpPr>
        <p:spPr>
          <a:xfrm>
            <a:off x="293688" y="704850"/>
            <a:ext cx="6259512" cy="3522663"/>
          </a:xfrm>
        </p:spPr>
      </p:sp>
      <p:sp>
        <p:nvSpPr>
          <p:cNvPr id="17412" name="Rectangle 3"/>
          <p:cNvSpPr>
            <a:spLocks noGrp="1" noChangeArrowheads="1"/>
          </p:cNvSpPr>
          <p:nvPr>
            <p:ph type="body" idx="1"/>
          </p:nvPr>
        </p:nvSpPr>
        <p:spPr>
          <a:xfrm>
            <a:off x="912707" y="4464928"/>
            <a:ext cx="5019887" cy="4226754"/>
          </a:xfrm>
        </p:spPr>
        <p:txBody>
          <a:bodyPr lIns="92821" tIns="46410" rIns="92821" bIns="46410"/>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Let's talk about some parts of speech. While these word classes do have semantic tendencies—adjectives, for example, often describe </a:t>
            </a:r>
            <a:r>
              <a:rPr lang="en-US" sz="1200" i="1" kern="1200" dirty="0">
                <a:solidFill>
                  <a:schemeClr val="tx1"/>
                </a:solidFill>
                <a:effectLst/>
                <a:latin typeface="+mn-lt"/>
                <a:ea typeface="+mn-ea"/>
                <a:cs typeface="+mn-cs"/>
              </a:rPr>
              <a:t>properties </a:t>
            </a:r>
            <a:r>
              <a:rPr lang="en-US" sz="1200" kern="1200" dirty="0">
                <a:solidFill>
                  <a:schemeClr val="tx1"/>
                </a:solidFill>
                <a:effectLst/>
                <a:latin typeface="+mn-lt"/>
                <a:ea typeface="+mn-ea"/>
                <a:cs typeface="+mn-cs"/>
              </a:rPr>
              <a:t>and nouns </a:t>
            </a:r>
            <a:r>
              <a:rPr lang="en-US" sz="1200" i="1" kern="1200" dirty="0">
                <a:solidFill>
                  <a:schemeClr val="tx1"/>
                </a:solidFill>
                <a:effectLst/>
                <a:latin typeface="+mn-lt"/>
                <a:ea typeface="+mn-ea"/>
                <a:cs typeface="+mn-cs"/>
              </a:rPr>
              <a:t>people</a:t>
            </a:r>
            <a:r>
              <a:rPr lang="en-US" sz="1200" kern="1200" dirty="0">
                <a:solidFill>
                  <a:schemeClr val="tx1"/>
                </a:solidFill>
                <a:effectLst/>
                <a:latin typeface="+mn-lt"/>
                <a:ea typeface="+mn-ea"/>
                <a:cs typeface="+mn-cs"/>
              </a:rPr>
              <a:t>— parts of speech are defined instead based on their grammatical relationship with neighboring words or the morphological properties about their affixes. </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Parts of speech fall into two broad categories: </a:t>
            </a:r>
            <a:r>
              <a:rPr lang="en-US" sz="1200" b="0" kern="1200" dirty="0">
                <a:solidFill>
                  <a:schemeClr val="tx1"/>
                </a:solidFill>
                <a:effectLst/>
                <a:latin typeface="+mn-lt"/>
                <a:ea typeface="+mn-ea"/>
                <a:cs typeface="+mn-cs"/>
              </a:rPr>
              <a:t>closed class </a:t>
            </a:r>
            <a:r>
              <a:rPr lang="en-US" sz="1200" kern="1200" dirty="0">
                <a:solidFill>
                  <a:schemeClr val="tx1"/>
                </a:solidFill>
                <a:effectLst/>
                <a:latin typeface="+mn-lt"/>
                <a:ea typeface="+mn-ea"/>
                <a:cs typeface="+mn-cs"/>
              </a:rPr>
              <a:t>and </a:t>
            </a:r>
            <a:r>
              <a:rPr lang="en-US" sz="1200" b="0" kern="1200" dirty="0">
                <a:solidFill>
                  <a:schemeClr val="tx1"/>
                </a:solidFill>
                <a:effectLst/>
                <a:latin typeface="+mn-lt"/>
                <a:ea typeface="+mn-ea"/>
                <a:cs typeface="+mn-cs"/>
              </a:rPr>
              <a:t>open class</a:t>
            </a:r>
            <a:r>
              <a:rPr lang="en-US" sz="1200" kern="1200" dirty="0">
                <a:solidFill>
                  <a:schemeClr val="tx1"/>
                </a:solidFill>
                <a:effectLst/>
                <a:latin typeface="+mn-lt"/>
                <a:ea typeface="+mn-ea"/>
                <a:cs typeface="+mn-cs"/>
              </a:rPr>
              <a:t>. Closed classes are those with relatively fixed membership, such as prepositions— new prepositions are rarely coined. By contrast, nouns and verbs are open classes— new nouns and verbs like </a:t>
            </a:r>
            <a:r>
              <a:rPr lang="en-US" sz="1200" i="1" kern="1200" dirty="0">
                <a:solidFill>
                  <a:schemeClr val="tx1"/>
                </a:solidFill>
                <a:effectLst/>
                <a:latin typeface="+mn-lt"/>
                <a:ea typeface="+mn-ea"/>
                <a:cs typeface="+mn-cs"/>
              </a:rPr>
              <a:t>iPhone </a:t>
            </a:r>
            <a:r>
              <a:rPr lang="en-US" sz="1200" kern="1200" dirty="0">
                <a:solidFill>
                  <a:schemeClr val="tx1"/>
                </a:solidFill>
                <a:effectLst/>
                <a:latin typeface="+mn-lt"/>
                <a:ea typeface="+mn-ea"/>
                <a:cs typeface="+mn-cs"/>
              </a:rPr>
              <a:t>or </a:t>
            </a:r>
            <a:r>
              <a:rPr lang="en-US" sz="1200" i="1" kern="1200" dirty="0">
                <a:solidFill>
                  <a:schemeClr val="tx1"/>
                </a:solidFill>
                <a:effectLst/>
                <a:latin typeface="+mn-lt"/>
                <a:ea typeface="+mn-ea"/>
                <a:cs typeface="+mn-cs"/>
              </a:rPr>
              <a:t>to fax </a:t>
            </a:r>
            <a:r>
              <a:rPr lang="en-US" sz="1200" kern="1200" dirty="0">
                <a:solidFill>
                  <a:schemeClr val="tx1"/>
                </a:solidFill>
                <a:effectLst/>
                <a:latin typeface="+mn-lt"/>
                <a:ea typeface="+mn-ea"/>
                <a:cs typeface="+mn-cs"/>
              </a:rPr>
              <a:t>are continually being created or borrowed. Closed class words are generally </a:t>
            </a:r>
            <a:r>
              <a:rPr lang="en-US" sz="1200" b="0" kern="1200" dirty="0">
                <a:solidFill>
                  <a:schemeClr val="tx1"/>
                </a:solidFill>
                <a:effectLst/>
                <a:latin typeface="+mn-lt"/>
                <a:ea typeface="+mn-ea"/>
                <a:cs typeface="+mn-cs"/>
              </a:rPr>
              <a:t>function words </a:t>
            </a:r>
            <a:r>
              <a:rPr lang="en-US" sz="1200" kern="1200" dirty="0">
                <a:solidFill>
                  <a:schemeClr val="tx1"/>
                </a:solidFill>
                <a:effectLst/>
                <a:latin typeface="+mn-lt"/>
                <a:ea typeface="+mn-ea"/>
                <a:cs typeface="+mn-cs"/>
              </a:rPr>
              <a:t>like </a:t>
            </a:r>
            <a:r>
              <a:rPr lang="en-US" sz="1200" i="1" kern="1200" dirty="0">
                <a:solidFill>
                  <a:schemeClr val="tx1"/>
                </a:solidFill>
                <a:effectLst/>
                <a:latin typeface="+mn-lt"/>
                <a:ea typeface="+mn-ea"/>
                <a:cs typeface="+mn-cs"/>
              </a:rPr>
              <a:t>of</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it</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and</a:t>
            </a:r>
            <a:r>
              <a:rPr lang="en-US" sz="1200" kern="1200" dirty="0">
                <a:solidFill>
                  <a:schemeClr val="tx1"/>
                </a:solidFill>
                <a:effectLst/>
                <a:latin typeface="+mn-lt"/>
                <a:ea typeface="+mn-ea"/>
                <a:cs typeface="+mn-cs"/>
              </a:rPr>
              <a:t>, or </a:t>
            </a:r>
            <a:r>
              <a:rPr lang="en-US" sz="1200" i="1" kern="1200" dirty="0">
                <a:solidFill>
                  <a:schemeClr val="tx1"/>
                </a:solidFill>
                <a:effectLst/>
                <a:latin typeface="+mn-lt"/>
                <a:ea typeface="+mn-ea"/>
                <a:cs typeface="+mn-cs"/>
              </a:rPr>
              <a:t>you</a:t>
            </a:r>
            <a:r>
              <a:rPr lang="en-US" sz="1200" kern="1200" dirty="0">
                <a:solidFill>
                  <a:schemeClr val="tx1"/>
                </a:solidFill>
                <a:effectLst/>
                <a:latin typeface="+mn-lt"/>
                <a:ea typeface="+mn-ea"/>
                <a:cs typeface="+mn-cs"/>
              </a:rPr>
              <a:t>, which tend to be very short, occur frequently, and often have structuring uses in grammar. </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Four major open classes occur in the languages of the world: </a:t>
            </a:r>
            <a:r>
              <a:rPr lang="en-US" sz="1200" b="0" kern="1200" dirty="0">
                <a:solidFill>
                  <a:schemeClr val="tx1"/>
                </a:solidFill>
                <a:effectLst/>
                <a:latin typeface="+mn-lt"/>
                <a:ea typeface="+mn-ea"/>
                <a:cs typeface="+mn-cs"/>
              </a:rPr>
              <a:t>nouns </a:t>
            </a:r>
            <a:r>
              <a:rPr lang="en-US" sz="1200" kern="1200" dirty="0">
                <a:solidFill>
                  <a:schemeClr val="tx1"/>
                </a:solidFill>
                <a:effectLst/>
                <a:latin typeface="+mn-lt"/>
                <a:ea typeface="+mn-ea"/>
                <a:cs typeface="+mn-cs"/>
              </a:rPr>
              <a:t>(including proper nouns), </a:t>
            </a:r>
            <a:r>
              <a:rPr lang="en-US" sz="1200" b="0" kern="1200" dirty="0">
                <a:solidFill>
                  <a:schemeClr val="tx1"/>
                </a:solidFill>
                <a:effectLst/>
                <a:latin typeface="+mn-lt"/>
                <a:ea typeface="+mn-ea"/>
                <a:cs typeface="+mn-cs"/>
              </a:rPr>
              <a:t>verbs</a:t>
            </a:r>
            <a:r>
              <a:rPr lang="en-US" sz="1200" kern="1200" dirty="0">
                <a:solidFill>
                  <a:schemeClr val="tx1"/>
                </a:solidFill>
                <a:effectLst/>
                <a:latin typeface="+mn-lt"/>
                <a:ea typeface="+mn-ea"/>
                <a:cs typeface="+mn-cs"/>
              </a:rPr>
              <a:t>, </a:t>
            </a:r>
            <a:r>
              <a:rPr lang="en-US" sz="1200" b="0" kern="1200" dirty="0">
                <a:solidFill>
                  <a:schemeClr val="tx1"/>
                </a:solidFill>
                <a:effectLst/>
                <a:latin typeface="+mn-lt"/>
                <a:ea typeface="+mn-ea"/>
                <a:cs typeface="+mn-cs"/>
              </a:rPr>
              <a:t>adjectives</a:t>
            </a:r>
            <a:r>
              <a:rPr lang="en-US" sz="1200" kern="1200" dirty="0">
                <a:solidFill>
                  <a:schemeClr val="tx1"/>
                </a:solidFill>
                <a:effectLst/>
                <a:latin typeface="+mn-lt"/>
                <a:ea typeface="+mn-ea"/>
                <a:cs typeface="+mn-cs"/>
              </a:rPr>
              <a:t>, and </a:t>
            </a:r>
            <a:r>
              <a:rPr lang="en-US" sz="1200" b="0" kern="1200" dirty="0">
                <a:solidFill>
                  <a:schemeClr val="tx1"/>
                </a:solidFill>
                <a:effectLst/>
                <a:latin typeface="+mn-lt"/>
                <a:ea typeface="+mn-ea"/>
                <a:cs typeface="+mn-cs"/>
              </a:rPr>
              <a:t>adverbs</a:t>
            </a:r>
            <a:r>
              <a:rPr lang="en-US" sz="1200" kern="1200" dirty="0">
                <a:solidFill>
                  <a:schemeClr val="tx1"/>
                </a:solidFill>
                <a:effectLst/>
                <a:latin typeface="+mn-lt"/>
                <a:ea typeface="+mn-ea"/>
                <a:cs typeface="+mn-cs"/>
              </a:rPr>
              <a:t>, as well as the smaller open class of </a:t>
            </a:r>
            <a:r>
              <a:rPr lang="en-US" sz="1200" b="0" kern="1200" dirty="0">
                <a:solidFill>
                  <a:schemeClr val="tx1"/>
                </a:solidFill>
                <a:effectLst/>
                <a:latin typeface="+mn-lt"/>
                <a:ea typeface="+mn-ea"/>
                <a:cs typeface="+mn-cs"/>
              </a:rPr>
              <a:t>interjections</a:t>
            </a:r>
            <a:r>
              <a:rPr lang="en-US" sz="1200" kern="1200" dirty="0">
                <a:solidFill>
                  <a:schemeClr val="tx1"/>
                </a:solidFill>
                <a:effectLst/>
                <a:latin typeface="+mn-lt"/>
                <a:ea typeface="+mn-ea"/>
                <a:cs typeface="+mn-cs"/>
              </a:rPr>
              <a:t>. English has all five, although not every language does. </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dirty="0"/>
          </a:p>
          <a:p>
            <a:pPr>
              <a:buFontTx/>
              <a:buNone/>
            </a:pPr>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b="0" kern="1200" dirty="0">
                <a:solidFill>
                  <a:schemeClr val="tx1"/>
                </a:solidFill>
                <a:effectLst/>
                <a:latin typeface="+mn-lt"/>
                <a:ea typeface="+mn-ea"/>
                <a:cs typeface="+mn-cs"/>
              </a:rPr>
              <a:t>Nouns </a:t>
            </a:r>
            <a:r>
              <a:rPr lang="en-US" sz="1200" kern="1200" dirty="0">
                <a:solidFill>
                  <a:schemeClr val="tx1"/>
                </a:solidFill>
                <a:effectLst/>
                <a:latin typeface="+mn-lt"/>
                <a:ea typeface="+mn-ea"/>
                <a:cs typeface="+mn-cs"/>
              </a:rPr>
              <a:t>are words for people, places, or things, but include others as well. </a:t>
            </a:r>
            <a:r>
              <a:rPr lang="en-US" sz="1200" b="0" kern="1200" dirty="0">
                <a:solidFill>
                  <a:schemeClr val="tx1"/>
                </a:solidFill>
                <a:effectLst/>
                <a:latin typeface="+mn-lt"/>
                <a:ea typeface="+mn-ea"/>
                <a:cs typeface="+mn-cs"/>
              </a:rPr>
              <a:t>Common nouns </a:t>
            </a:r>
            <a:r>
              <a:rPr lang="en-US" sz="1200" kern="1200" dirty="0">
                <a:solidFill>
                  <a:schemeClr val="tx1"/>
                </a:solidFill>
                <a:effectLst/>
                <a:latin typeface="+mn-lt"/>
                <a:ea typeface="+mn-ea"/>
                <a:cs typeface="+mn-cs"/>
              </a:rPr>
              <a:t>include concrete terms like </a:t>
            </a:r>
            <a:r>
              <a:rPr lang="en-US" sz="1200" i="1" kern="1200" dirty="0">
                <a:solidFill>
                  <a:schemeClr val="tx1"/>
                </a:solidFill>
                <a:effectLst/>
                <a:latin typeface="+mn-lt"/>
                <a:ea typeface="+mn-ea"/>
                <a:cs typeface="+mn-cs"/>
              </a:rPr>
              <a:t>cat </a:t>
            </a:r>
            <a:r>
              <a:rPr lang="en-US" sz="1200" kern="1200" dirty="0">
                <a:solidFill>
                  <a:schemeClr val="tx1"/>
                </a:solidFill>
                <a:effectLst/>
                <a:latin typeface="+mn-lt"/>
                <a:ea typeface="+mn-ea"/>
                <a:cs typeface="+mn-cs"/>
              </a:rPr>
              <a:t>and </a:t>
            </a:r>
            <a:r>
              <a:rPr lang="en-US" sz="1200" i="1" kern="1200" dirty="0">
                <a:solidFill>
                  <a:schemeClr val="tx1"/>
                </a:solidFill>
                <a:effectLst/>
                <a:latin typeface="+mn-lt"/>
                <a:ea typeface="+mn-ea"/>
                <a:cs typeface="+mn-cs"/>
              </a:rPr>
              <a:t>mango</a:t>
            </a:r>
            <a:r>
              <a:rPr lang="en-US" sz="1200" kern="1200" dirty="0">
                <a:solidFill>
                  <a:schemeClr val="tx1"/>
                </a:solidFill>
                <a:effectLst/>
                <a:latin typeface="+mn-lt"/>
                <a:ea typeface="+mn-ea"/>
                <a:cs typeface="+mn-cs"/>
              </a:rPr>
              <a:t>, abstractions like </a:t>
            </a:r>
            <a:r>
              <a:rPr lang="en-US" sz="1200" i="1" kern="1200" dirty="0">
                <a:solidFill>
                  <a:schemeClr val="tx1"/>
                </a:solidFill>
                <a:effectLst/>
                <a:latin typeface="+mn-lt"/>
                <a:ea typeface="+mn-ea"/>
                <a:cs typeface="+mn-cs"/>
              </a:rPr>
              <a:t>algorithm </a:t>
            </a:r>
            <a:r>
              <a:rPr lang="en-US" sz="1200" kern="1200" dirty="0">
                <a:solidFill>
                  <a:schemeClr val="tx1"/>
                </a:solidFill>
                <a:effectLst/>
                <a:latin typeface="+mn-lt"/>
                <a:ea typeface="+mn-ea"/>
                <a:cs typeface="+mn-cs"/>
              </a:rPr>
              <a:t>and </a:t>
            </a:r>
            <a:r>
              <a:rPr lang="en-US" sz="1200" i="1" kern="1200" dirty="0">
                <a:solidFill>
                  <a:schemeClr val="tx1"/>
                </a:solidFill>
                <a:effectLst/>
                <a:latin typeface="+mn-lt"/>
                <a:ea typeface="+mn-ea"/>
                <a:cs typeface="+mn-cs"/>
              </a:rPr>
              <a:t>beauty</a:t>
            </a:r>
            <a:r>
              <a:rPr lang="en-US" sz="1200" kern="1200" dirty="0">
                <a:solidFill>
                  <a:schemeClr val="tx1"/>
                </a:solidFill>
                <a:effectLst/>
                <a:latin typeface="+mn-lt"/>
                <a:ea typeface="+mn-ea"/>
                <a:cs typeface="+mn-cs"/>
              </a:rPr>
              <a:t>, and verb-like terms like </a:t>
            </a:r>
            <a:r>
              <a:rPr lang="en-US" sz="1200" i="1" kern="1200" dirty="0">
                <a:solidFill>
                  <a:schemeClr val="tx1"/>
                </a:solidFill>
                <a:effectLst/>
                <a:latin typeface="+mn-lt"/>
                <a:ea typeface="+mn-ea"/>
                <a:cs typeface="+mn-cs"/>
              </a:rPr>
              <a:t>pacing </a:t>
            </a:r>
            <a:r>
              <a:rPr lang="en-US" sz="1200" kern="1200" dirty="0">
                <a:solidFill>
                  <a:schemeClr val="tx1"/>
                </a:solidFill>
                <a:effectLst/>
                <a:latin typeface="+mn-lt"/>
                <a:ea typeface="+mn-ea"/>
                <a:cs typeface="+mn-cs"/>
              </a:rPr>
              <a:t>as in </a:t>
            </a:r>
            <a:r>
              <a:rPr lang="en-US" sz="1200" i="1" kern="1200" dirty="0">
                <a:solidFill>
                  <a:schemeClr val="tx1"/>
                </a:solidFill>
                <a:effectLst/>
                <a:latin typeface="+mn-lt"/>
                <a:ea typeface="+mn-ea"/>
                <a:cs typeface="+mn-cs"/>
              </a:rPr>
              <a:t>His pacing to and </a:t>
            </a:r>
            <a:r>
              <a:rPr lang="en-US" sz="1200" i="1" kern="1200" dirty="0" err="1">
                <a:solidFill>
                  <a:schemeClr val="tx1"/>
                </a:solidFill>
                <a:effectLst/>
                <a:latin typeface="+mn-lt"/>
                <a:ea typeface="+mn-ea"/>
                <a:cs typeface="+mn-cs"/>
              </a:rPr>
              <a:t>fro</a:t>
            </a:r>
            <a:r>
              <a:rPr lang="en-US" sz="1200" i="1" kern="1200" dirty="0">
                <a:solidFill>
                  <a:schemeClr val="tx1"/>
                </a:solidFill>
                <a:effectLst/>
                <a:latin typeface="+mn-lt"/>
                <a:ea typeface="+mn-ea"/>
                <a:cs typeface="+mn-cs"/>
              </a:rPr>
              <a:t> became quite annoying</a:t>
            </a:r>
            <a:r>
              <a:rPr lang="en-US"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b="0" kern="1200" dirty="0">
                <a:solidFill>
                  <a:schemeClr val="tx1"/>
                </a:solidFill>
                <a:effectLst/>
                <a:latin typeface="+mn-lt"/>
                <a:ea typeface="+mn-ea"/>
                <a:cs typeface="+mn-cs"/>
              </a:rPr>
              <a:t>Verbs </a:t>
            </a:r>
            <a:r>
              <a:rPr lang="en-US" sz="1200" kern="1200" dirty="0">
                <a:solidFill>
                  <a:schemeClr val="tx1"/>
                </a:solidFill>
                <a:effectLst/>
                <a:latin typeface="+mn-lt"/>
                <a:ea typeface="+mn-ea"/>
                <a:cs typeface="+mn-cs"/>
              </a:rPr>
              <a:t>refer to actions and processes, including open-class main verbs like </a:t>
            </a:r>
            <a:r>
              <a:rPr lang="en-US" sz="1200" i="1" kern="1200" dirty="0">
                <a:solidFill>
                  <a:schemeClr val="tx1"/>
                </a:solidFill>
                <a:effectLst/>
                <a:latin typeface="+mn-lt"/>
                <a:ea typeface="+mn-ea"/>
                <a:cs typeface="+mn-cs"/>
              </a:rPr>
              <a:t>draw</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provide</a:t>
            </a:r>
            <a:r>
              <a:rPr lang="en-US" sz="1200" kern="1200" dirty="0">
                <a:solidFill>
                  <a:schemeClr val="tx1"/>
                </a:solidFill>
                <a:effectLst/>
                <a:latin typeface="+mn-lt"/>
                <a:ea typeface="+mn-ea"/>
                <a:cs typeface="+mn-cs"/>
              </a:rPr>
              <a:t>, and </a:t>
            </a:r>
            <a:r>
              <a:rPr lang="en-US" sz="1200" i="1" kern="1200" dirty="0">
                <a:solidFill>
                  <a:schemeClr val="tx1"/>
                </a:solidFill>
                <a:effectLst/>
                <a:latin typeface="+mn-lt"/>
                <a:ea typeface="+mn-ea"/>
                <a:cs typeface="+mn-cs"/>
              </a:rPr>
              <a:t>go</a:t>
            </a:r>
            <a:r>
              <a:rPr lang="en-US" sz="1200" kern="1200" dirty="0">
                <a:solidFill>
                  <a:schemeClr val="tx1"/>
                </a:solidFill>
                <a:effectLst/>
                <a:latin typeface="+mn-lt"/>
                <a:ea typeface="+mn-ea"/>
                <a:cs typeface="+mn-cs"/>
              </a:rPr>
              <a:t>. and closed-class auxiliary verbs like "can", "will", "had" </a:t>
            </a:r>
            <a:r>
              <a:rPr lang="en-US" sz="1200" b="0" kern="1200" dirty="0">
                <a:solidFill>
                  <a:schemeClr val="tx1"/>
                </a:solidFill>
                <a:effectLst/>
                <a:latin typeface="+mn-lt"/>
                <a:ea typeface="+mn-ea"/>
                <a:cs typeface="+mn-cs"/>
              </a:rPr>
              <a:t>Auxiliary </a:t>
            </a:r>
            <a:r>
              <a:rPr lang="en-US" sz="1200" kern="1200" dirty="0">
                <a:solidFill>
                  <a:schemeClr val="tx1"/>
                </a:solidFill>
                <a:effectLst/>
                <a:latin typeface="+mn-lt"/>
                <a:ea typeface="+mn-ea"/>
                <a:cs typeface="+mn-cs"/>
              </a:rPr>
              <a:t>verbs can mark semantic features of a main verb such as its tense, aspect, or made.</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b="0" kern="1200" dirty="0">
                <a:solidFill>
                  <a:schemeClr val="tx1"/>
                </a:solidFill>
                <a:effectLst/>
                <a:latin typeface="+mn-lt"/>
                <a:ea typeface="+mn-ea"/>
                <a:cs typeface="+mn-cs"/>
              </a:rPr>
              <a:t>Adjectives </a:t>
            </a:r>
            <a:r>
              <a:rPr lang="en-US" sz="1200" kern="1200" dirty="0">
                <a:solidFill>
                  <a:schemeClr val="tx1"/>
                </a:solidFill>
                <a:effectLst/>
                <a:latin typeface="+mn-lt"/>
                <a:ea typeface="+mn-ea"/>
                <a:cs typeface="+mn-cs"/>
              </a:rPr>
              <a:t>often describe properties or qualities of nouns, like color (</a:t>
            </a:r>
            <a:r>
              <a:rPr lang="en-US" sz="1200" i="1" kern="1200" dirty="0">
                <a:solidFill>
                  <a:schemeClr val="tx1"/>
                </a:solidFill>
                <a:effectLst/>
                <a:latin typeface="+mn-lt"/>
                <a:ea typeface="+mn-ea"/>
                <a:cs typeface="+mn-cs"/>
              </a:rPr>
              <a:t>white</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black</a:t>
            </a:r>
            <a:r>
              <a:rPr lang="en-US" sz="1200" kern="1200" dirty="0">
                <a:solidFill>
                  <a:schemeClr val="tx1"/>
                </a:solidFill>
                <a:effectLst/>
                <a:latin typeface="+mn-lt"/>
                <a:ea typeface="+mn-ea"/>
                <a:cs typeface="+mn-cs"/>
              </a:rPr>
              <a:t>), age (</a:t>
            </a:r>
            <a:r>
              <a:rPr lang="en-US" sz="1200" i="1" kern="1200" dirty="0">
                <a:solidFill>
                  <a:schemeClr val="tx1"/>
                </a:solidFill>
                <a:effectLst/>
                <a:latin typeface="+mn-lt"/>
                <a:ea typeface="+mn-ea"/>
                <a:cs typeface="+mn-cs"/>
              </a:rPr>
              <a:t>old</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young</a:t>
            </a:r>
            <a:r>
              <a:rPr lang="en-US" sz="1200" kern="1200" dirty="0">
                <a:solidFill>
                  <a:schemeClr val="tx1"/>
                </a:solidFill>
                <a:effectLst/>
                <a:latin typeface="+mn-lt"/>
                <a:ea typeface="+mn-ea"/>
                <a:cs typeface="+mn-cs"/>
              </a:rPr>
              <a:t>), and value (</a:t>
            </a:r>
            <a:r>
              <a:rPr lang="en-US" sz="1200" i="1" kern="1200" dirty="0">
                <a:solidFill>
                  <a:schemeClr val="tx1"/>
                </a:solidFill>
                <a:effectLst/>
                <a:latin typeface="+mn-lt"/>
                <a:ea typeface="+mn-ea"/>
                <a:cs typeface="+mn-cs"/>
              </a:rPr>
              <a:t>good</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bad</a:t>
            </a:r>
            <a:r>
              <a:rPr lang="en-US" sz="1200"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Other closed class or function words include </a:t>
            </a:r>
            <a:r>
              <a:rPr lang="en-US" sz="1200" b="0" kern="1200" dirty="0">
                <a:solidFill>
                  <a:schemeClr val="tx1"/>
                </a:solidFill>
                <a:effectLst/>
                <a:latin typeface="+mn-lt"/>
                <a:ea typeface="+mn-ea"/>
                <a:cs typeface="+mn-cs"/>
              </a:rPr>
              <a:t>Pronouns </a:t>
            </a:r>
            <a:r>
              <a:rPr lang="en-US" sz="1200" kern="1200" dirty="0">
                <a:solidFill>
                  <a:schemeClr val="tx1"/>
                </a:solidFill>
                <a:effectLst/>
                <a:latin typeface="+mn-lt"/>
                <a:ea typeface="+mn-ea"/>
                <a:cs typeface="+mn-cs"/>
              </a:rPr>
              <a:t>act as a shorthand for referring to an entity or event, or</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conjunctions </a:t>
            </a:r>
            <a:r>
              <a:rPr lang="en-US" sz="1200" b="0" kern="1200" dirty="0">
                <a:solidFill>
                  <a:schemeClr val="tx1"/>
                </a:solidFill>
                <a:effectLst/>
                <a:latin typeface="+mn-lt"/>
                <a:ea typeface="+mn-ea"/>
                <a:cs typeface="+mn-cs"/>
              </a:rPr>
              <a:t>that </a:t>
            </a:r>
            <a:r>
              <a:rPr lang="en-US" sz="1200" kern="1200" dirty="0">
                <a:solidFill>
                  <a:schemeClr val="tx1"/>
                </a:solidFill>
                <a:effectLst/>
                <a:latin typeface="+mn-lt"/>
                <a:ea typeface="+mn-ea"/>
                <a:cs typeface="+mn-cs"/>
              </a:rPr>
              <a:t>join two phrases, clauses, or sentences, including Coordinating </a:t>
            </a:r>
            <a:r>
              <a:rPr lang="en-US" sz="1200" kern="1200" dirty="0" err="1">
                <a:solidFill>
                  <a:schemeClr val="tx1"/>
                </a:solidFill>
                <a:effectLst/>
                <a:latin typeface="+mn-lt"/>
                <a:ea typeface="+mn-ea"/>
                <a:cs typeface="+mn-cs"/>
              </a:rPr>
              <a:t>conjunc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tions</a:t>
            </a:r>
            <a:r>
              <a:rPr lang="en-US" sz="1200" kern="1200" dirty="0">
                <a:solidFill>
                  <a:schemeClr val="tx1"/>
                </a:solidFill>
                <a:effectLst/>
                <a:latin typeface="+mn-lt"/>
                <a:ea typeface="+mn-ea"/>
                <a:cs typeface="+mn-cs"/>
              </a:rPr>
              <a:t> like </a:t>
            </a:r>
            <a:r>
              <a:rPr lang="en-US" sz="1200" i="1" kern="1200" dirty="0">
                <a:solidFill>
                  <a:schemeClr val="tx1"/>
                </a:solidFill>
                <a:effectLst/>
                <a:latin typeface="+mn-lt"/>
                <a:ea typeface="+mn-ea"/>
                <a:cs typeface="+mn-cs"/>
              </a:rPr>
              <a:t>and</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or</a:t>
            </a:r>
            <a:r>
              <a:rPr lang="en-US" sz="1200" kern="1200" dirty="0">
                <a:solidFill>
                  <a:schemeClr val="tx1"/>
                </a:solidFill>
                <a:effectLst/>
                <a:latin typeface="+mn-lt"/>
                <a:ea typeface="+mn-ea"/>
                <a:cs typeface="+mn-cs"/>
              </a:rPr>
              <a:t>, and </a:t>
            </a:r>
            <a:r>
              <a:rPr lang="en-US" sz="1200" i="1" kern="1200" dirty="0">
                <a:solidFill>
                  <a:schemeClr val="tx1"/>
                </a:solidFill>
                <a:effectLst/>
                <a:latin typeface="+mn-lt"/>
                <a:ea typeface="+mn-ea"/>
                <a:cs typeface="+mn-cs"/>
              </a:rPr>
              <a:t>but, or subordinating conjunctions like  that </a:t>
            </a:r>
            <a:r>
              <a:rPr lang="en-US" sz="1200" kern="1200" dirty="0">
                <a:solidFill>
                  <a:schemeClr val="tx1"/>
                </a:solidFill>
                <a:effectLst/>
                <a:latin typeface="+mn-lt"/>
                <a:ea typeface="+mn-ea"/>
                <a:cs typeface="+mn-cs"/>
              </a:rPr>
              <a:t>in </a:t>
            </a:r>
            <a:r>
              <a:rPr lang="en-US" sz="1200" i="1" kern="1200" dirty="0">
                <a:solidFill>
                  <a:schemeClr val="tx1"/>
                </a:solidFill>
                <a:effectLst/>
                <a:latin typeface="+mn-lt"/>
                <a:ea typeface="+mn-ea"/>
                <a:cs typeface="+mn-cs"/>
              </a:rPr>
              <a:t>“I thought that you might like some milk”  that links "the verb thought" with the  clause "you might like some milk".</a:t>
            </a:r>
            <a:endParaRPr lang="en-US" sz="120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sz="120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i="1" kern="1200" dirty="0">
                <a:solidFill>
                  <a:schemeClr val="tx1"/>
                </a:solidFill>
                <a:effectLst/>
                <a:latin typeface="+mn-lt"/>
                <a:ea typeface="+mn-ea"/>
                <a:cs typeface="+mn-cs"/>
              </a:rPr>
              <a:t> </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141BAE1-A481-E94A-B7BA-6707B07F446A}" type="slidenum">
              <a:rPr lang="en-US"/>
            </a:fld>
            <a:endParaRPr lang="en-US"/>
          </a:p>
        </p:txBody>
      </p:sp>
      <p:sp>
        <p:nvSpPr>
          <p:cNvPr id="45058" name="Rectangle 2"/>
          <p:cNvSpPr>
            <a:spLocks noGrp="1" noRot="1" noChangeAspect="1" noChangeArrowheads="1" noTextEdit="1"/>
          </p:cNvSpPr>
          <p:nvPr>
            <p:ph type="sldImg"/>
          </p:nvPr>
        </p:nvSpPr>
        <p:spPr/>
      </p:sp>
      <p:sp>
        <p:nvSpPr>
          <p:cNvPr id="45059" name="Rectangle 3"/>
          <p:cNvSpPr>
            <a:spLocks noGrp="1" noChangeArrowheads="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b="0" kern="1200" dirty="0">
                <a:solidFill>
                  <a:schemeClr val="tx1"/>
                </a:solidFill>
                <a:effectLst/>
                <a:latin typeface="+mn-lt"/>
                <a:ea typeface="+mn-ea"/>
                <a:cs typeface="+mn-cs"/>
              </a:rPr>
              <a:t>Part-of-speech tagging </a:t>
            </a:r>
            <a:r>
              <a:rPr lang="en-US" sz="1200" kern="1200" dirty="0">
                <a:solidFill>
                  <a:schemeClr val="tx1"/>
                </a:solidFill>
                <a:effectLst/>
                <a:latin typeface="+mn-lt"/>
                <a:ea typeface="+mn-ea"/>
                <a:cs typeface="+mn-cs"/>
              </a:rPr>
              <a:t>is the process of assigning a part-of-speech to each word in a text. </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Tagging is a </a:t>
            </a:r>
            <a:r>
              <a:rPr lang="en-US" sz="1200" b="1" kern="1200" dirty="0">
                <a:solidFill>
                  <a:schemeClr val="tx1"/>
                </a:solidFill>
                <a:effectLst/>
                <a:latin typeface="+mn-lt"/>
                <a:ea typeface="+mn-ea"/>
                <a:cs typeface="+mn-cs"/>
              </a:rPr>
              <a:t>disambiguation</a:t>
            </a:r>
            <a:r>
              <a:rPr lang="en-US" sz="1200" b="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task; words are </a:t>
            </a:r>
            <a:r>
              <a:rPr lang="en-US" sz="1200" b="0" kern="1200" dirty="0">
                <a:solidFill>
                  <a:schemeClr val="tx1"/>
                </a:solidFill>
                <a:effectLst/>
                <a:latin typeface="+mn-lt"/>
                <a:ea typeface="+mn-ea"/>
                <a:cs typeface="+mn-cs"/>
              </a:rPr>
              <a:t>ambiguous </a:t>
            </a:r>
            <a:r>
              <a:rPr lang="en-US" sz="1200" kern="1200" dirty="0">
                <a:solidFill>
                  <a:schemeClr val="tx1"/>
                </a:solidFill>
                <a:effectLst/>
                <a:latin typeface="+mn-lt"/>
                <a:ea typeface="+mn-ea"/>
                <a:cs typeface="+mn-cs"/>
              </a:rPr>
              <a:t>—have more than one possible part-of-speech—and the goal is to find the correct tag for the situation. </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For example, </a:t>
            </a:r>
            <a:r>
              <a:rPr lang="en-US" sz="1200" i="1" kern="1200" dirty="0">
                <a:solidFill>
                  <a:schemeClr val="tx1"/>
                </a:solidFill>
                <a:effectLst/>
                <a:latin typeface="+mn-lt"/>
                <a:ea typeface="+mn-ea"/>
                <a:cs typeface="+mn-cs"/>
              </a:rPr>
              <a:t>book </a:t>
            </a:r>
            <a:r>
              <a:rPr lang="en-US" sz="1200" kern="1200" dirty="0">
                <a:solidFill>
                  <a:schemeClr val="tx1"/>
                </a:solidFill>
                <a:effectLst/>
                <a:latin typeface="+mn-lt"/>
                <a:ea typeface="+mn-ea"/>
                <a:cs typeface="+mn-cs"/>
              </a:rPr>
              <a:t>can be a verb (</a:t>
            </a:r>
            <a:r>
              <a:rPr lang="en-US" sz="1200" i="1" kern="1200" dirty="0">
                <a:solidFill>
                  <a:schemeClr val="tx1"/>
                </a:solidFill>
                <a:effectLst/>
                <a:latin typeface="+mn-lt"/>
                <a:ea typeface="+mn-ea"/>
                <a:cs typeface="+mn-cs"/>
              </a:rPr>
              <a:t>book that flight</a:t>
            </a:r>
            <a:r>
              <a:rPr lang="en-US" sz="1200" kern="1200" dirty="0">
                <a:solidFill>
                  <a:schemeClr val="tx1"/>
                </a:solidFill>
                <a:effectLst/>
                <a:latin typeface="+mn-lt"/>
                <a:ea typeface="+mn-ea"/>
                <a:cs typeface="+mn-cs"/>
              </a:rPr>
              <a:t>) or a noun (</a:t>
            </a:r>
            <a:r>
              <a:rPr lang="en-US" sz="1200" i="1" kern="1200" dirty="0">
                <a:solidFill>
                  <a:schemeClr val="tx1"/>
                </a:solidFill>
                <a:effectLst/>
                <a:latin typeface="+mn-lt"/>
                <a:ea typeface="+mn-ea"/>
                <a:cs typeface="+mn-cs"/>
              </a:rPr>
              <a:t>hand me that book</a:t>
            </a:r>
            <a:r>
              <a:rPr lang="en-US" sz="1200" kern="1200" dirty="0">
                <a:solidFill>
                  <a:schemeClr val="tx1"/>
                </a:solidFill>
                <a:effectLst/>
                <a:latin typeface="+mn-lt"/>
                <a:ea typeface="+mn-ea"/>
                <a:cs typeface="+mn-cs"/>
              </a:rPr>
              <a:t>). </a:t>
            </a:r>
            <a:endParaRPr lang="en-US" dirty="0"/>
          </a:p>
          <a:p>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Here's a sketch of part of speech tagging. The input is a sequence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2,...,</a:t>
            </a:r>
            <a:r>
              <a:rPr lang="en-US" sz="1200" i="1" kern="1200" dirty="0" err="1">
                <a:solidFill>
                  <a:schemeClr val="tx1"/>
                </a:solidFill>
                <a:effectLst/>
                <a:latin typeface="+mn-lt"/>
                <a:ea typeface="+mn-ea"/>
                <a:cs typeface="+mn-cs"/>
              </a:rPr>
              <a:t>xn</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of (tokenized) words and a </a:t>
            </a:r>
            <a:r>
              <a:rPr lang="en-US" sz="1200" b="1" kern="1200" dirty="0" err="1">
                <a:solidFill>
                  <a:schemeClr val="tx1"/>
                </a:solidFill>
                <a:effectLst/>
                <a:latin typeface="+mn-lt"/>
                <a:ea typeface="+mn-ea"/>
                <a:cs typeface="+mn-cs"/>
              </a:rPr>
              <a:t>tagset</a:t>
            </a:r>
            <a:r>
              <a:rPr lang="en-US" sz="1200" kern="1200" dirty="0">
                <a:solidFill>
                  <a:schemeClr val="tx1"/>
                </a:solidFill>
                <a:effectLst/>
                <a:latin typeface="+mn-lt"/>
                <a:ea typeface="+mn-ea"/>
                <a:cs typeface="+mn-cs"/>
              </a:rPr>
              <a:t>, and the output is a sequence </a:t>
            </a:r>
            <a:r>
              <a:rPr lang="en-US" sz="1200" i="1" kern="1200" dirty="0">
                <a:solidFill>
                  <a:schemeClr val="tx1"/>
                </a:solidFill>
                <a:effectLst/>
                <a:latin typeface="+mn-lt"/>
                <a:ea typeface="+mn-ea"/>
                <a:cs typeface="+mn-cs"/>
              </a:rPr>
              <a:t>y</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y</a:t>
            </a:r>
            <a:r>
              <a:rPr lang="en-US" sz="1200" kern="1200" dirty="0">
                <a:solidFill>
                  <a:schemeClr val="tx1"/>
                </a:solidFill>
                <a:effectLst/>
                <a:latin typeface="+mn-lt"/>
                <a:ea typeface="+mn-ea"/>
                <a:cs typeface="+mn-cs"/>
              </a:rPr>
              <a:t>2,...,</a:t>
            </a:r>
            <a:r>
              <a:rPr lang="en-US" sz="1200" i="1" kern="1200" dirty="0" err="1">
                <a:solidFill>
                  <a:schemeClr val="tx1"/>
                </a:solidFill>
                <a:effectLst/>
                <a:latin typeface="+mn-lt"/>
                <a:ea typeface="+mn-ea"/>
                <a:cs typeface="+mn-cs"/>
              </a:rPr>
              <a:t>yn</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of tags, each output </a:t>
            </a:r>
            <a:r>
              <a:rPr lang="en-US" sz="1200" i="1" kern="1200" dirty="0" err="1">
                <a:solidFill>
                  <a:schemeClr val="tx1"/>
                </a:solidFill>
                <a:effectLst/>
                <a:latin typeface="+mn-lt"/>
                <a:ea typeface="+mn-ea"/>
                <a:cs typeface="+mn-cs"/>
              </a:rPr>
              <a:t>yi</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corresponding exactly to one input </a:t>
            </a:r>
            <a:r>
              <a:rPr lang="en-US" sz="1200" i="1" kern="1200" dirty="0">
                <a:solidFill>
                  <a:schemeClr val="tx1"/>
                </a:solidFill>
                <a:effectLst/>
                <a:latin typeface="+mn-lt"/>
                <a:ea typeface="+mn-ea"/>
                <a:cs typeface="+mn-cs"/>
              </a:rPr>
              <a:t>xi</a:t>
            </a:r>
            <a:r>
              <a:rPr lang="en-US" sz="1200" kern="1200" dirty="0">
                <a:solidFill>
                  <a:schemeClr val="tx1"/>
                </a:solidFill>
                <a:effectLst/>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sample tagged sentences. Notice that we have to make decisions about segmentation (punctuation, or the English 's is often segmented off as a particular), and the same word can have different tags in different sentences.</a:t>
            </a:r>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of speech tagging is useful for NLP tasks, most notably for parsing, where it has long played a part, but also for machine translation, sentiment, or even text-to-speech systems.  For example "lead" is pronounced "lead" when it is a noun, but "lead" when it is a verb, or "object" is pronounced </a:t>
            </a:r>
            <a:r>
              <a:rPr lang="en-US" dirty="0" err="1"/>
              <a:t>OBject</a:t>
            </a:r>
            <a:r>
              <a:rPr lang="en-US" dirty="0"/>
              <a:t>  when it is a noun, but object when it is a verb.</a:t>
            </a:r>
            <a:endParaRPr lang="en-US" dirty="0"/>
          </a:p>
          <a:p>
            <a:endParaRPr lang="en-US" dirty="0"/>
          </a:p>
          <a:p>
            <a:r>
              <a:rPr lang="en-US" dirty="0"/>
              <a:t>Tagging is also important for linguistic or language-analytic computational tasks, like studying the creation of new words, or measuring meaning similarity or difference.</a:t>
            </a:r>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7265626-52F0-F143-B284-71EA0A24C968}" type="slidenum">
              <a:rPr lang="en-US"/>
            </a:fld>
            <a:endParaRPr lang="en-US"/>
          </a:p>
        </p:txBody>
      </p:sp>
      <p:sp>
        <p:nvSpPr>
          <p:cNvPr id="92162" name="Rectangle 2"/>
          <p:cNvSpPr>
            <a:spLocks noGrp="1" noRot="1" noChangeAspect="1" noChangeArrowheads="1" noTextEdit="1"/>
          </p:cNvSpPr>
          <p:nvPr>
            <p:ph type="sldImg"/>
          </p:nvPr>
        </p:nvSpPr>
        <p:spPr/>
      </p:sp>
      <p:sp>
        <p:nvSpPr>
          <p:cNvPr id="92163" name="Rectangle 3"/>
          <p:cNvSpPr>
            <a:spLocks noGrp="1" noChangeArrowheads="1"/>
          </p:cNvSpPr>
          <p:nvPr>
            <p:ph type="body" idx="1"/>
          </p:nvPr>
        </p:nvSpPr>
        <p:spPr/>
        <p:txBody>
          <a:bodyPr/>
          <a:lstStyle/>
          <a:p>
            <a:r>
              <a:rPr lang="en-US" dirty="0"/>
              <a:t>How hard is POS tagging.  In English, only 15% of word types are ambiguous.  So 85% of words don't need any disambiguating; Janet is always a proper noun, hesitantly is always an adverb.</a:t>
            </a:r>
            <a:endParaRPr lang="en-US" dirty="0"/>
          </a:p>
          <a:p>
            <a:endParaRPr lang="en-US" dirty="0"/>
          </a:p>
          <a:p>
            <a:r>
              <a:rPr lang="en-US" dirty="0"/>
              <a:t>But those 15% ambiguous words tend to be common words, and so they occur far more than 15% of the time; indeed around 60% of word tokens in running text are ambiguous.  So for example the word "back" can have one of 5 part of speech tags. </a:t>
            </a:r>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7265626-52F0-F143-B284-71EA0A24C968}" type="slidenum">
              <a:rPr lang="en-US"/>
            </a:fld>
            <a:endParaRPr lang="en-US"/>
          </a:p>
        </p:txBody>
      </p:sp>
      <p:sp>
        <p:nvSpPr>
          <p:cNvPr id="92162" name="Rectangle 2"/>
          <p:cNvSpPr>
            <a:spLocks noGrp="1" noRot="1" noChangeAspect="1" noChangeArrowheads="1" noTextEdit="1"/>
          </p:cNvSpPr>
          <p:nvPr>
            <p:ph type="sldImg"/>
          </p:nvPr>
        </p:nvSpPr>
        <p:spPr/>
      </p:sp>
      <p:sp>
        <p:nvSpPr>
          <p:cNvPr id="92163" name="Rectangle 3"/>
          <p:cNvSpPr>
            <a:spLocks noGrp="1" noChangeArrowheads="1"/>
          </p:cNvSpPr>
          <p:nvPr>
            <p:ph type="body" idx="1"/>
          </p:nvPr>
        </p:nvSpPr>
        <p:spPr/>
        <p:txBody>
          <a:bodyPr/>
          <a:lstStyle/>
          <a:p>
            <a:r>
              <a:rPr lang="en-US" dirty="0"/>
              <a:t>How hard is POS tagging.  In English, only 15% of word types are ambiguous.  So 85% of words don't need any disambiguating; Janet is always a proper noun, hesitantly is always an adverb.</a:t>
            </a:r>
            <a:endParaRPr lang="en-US" dirty="0"/>
          </a:p>
          <a:p>
            <a:endParaRPr lang="en-US" dirty="0"/>
          </a:p>
          <a:p>
            <a:r>
              <a:rPr lang="en-US" dirty="0"/>
              <a:t>But those 15% ambiguous words tend to be common words, and so they occur far more than 15% of the time; indeed around 60% of word tokens in running text are ambiguous.  So for example the word "back" can have one of 5 part of speech tags. </a:t>
            </a:r>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7265626-52F0-F143-B284-71EA0A24C968}" type="slidenum">
              <a:rPr lang="en-US"/>
            </a:fld>
            <a:endParaRPr lang="en-US"/>
          </a:p>
        </p:txBody>
      </p:sp>
      <p:sp>
        <p:nvSpPr>
          <p:cNvPr id="92162" name="Rectangle 2"/>
          <p:cNvSpPr>
            <a:spLocks noGrp="1" noRot="1" noChangeAspect="1" noChangeArrowheads="1" noTextEdit="1"/>
          </p:cNvSpPr>
          <p:nvPr>
            <p:ph type="sldImg"/>
          </p:nvPr>
        </p:nvSpPr>
        <p:spPr/>
      </p:sp>
      <p:sp>
        <p:nvSpPr>
          <p:cNvPr id="92163" name="Rectangle 3"/>
          <p:cNvSpPr>
            <a:spLocks noGrp="1" noChangeArrowheads="1"/>
          </p:cNvSpPr>
          <p:nvPr>
            <p:ph type="body" idx="1"/>
          </p:nvPr>
        </p:nvSpPr>
        <p:spPr/>
        <p:txBody>
          <a:bodyPr/>
          <a:lstStyle/>
          <a:p>
            <a:r>
              <a:rPr lang="en-US" dirty="0"/>
              <a:t>How hard is POS tagging.  In English, only 15% of word types are ambiguous.  So 85% of words don't need any disambiguating; Janet is always a proper noun, hesitantly is always an adverb.</a:t>
            </a:r>
            <a:endParaRPr lang="en-US" dirty="0"/>
          </a:p>
          <a:p>
            <a:endParaRPr lang="en-US" dirty="0"/>
          </a:p>
          <a:p>
            <a:r>
              <a:rPr lang="en-US" dirty="0"/>
              <a:t>But those 15% ambiguous words tend to be common words, and so they occur far more than 15% of the time; indeed around 60% of word tokens in running text are ambiguous.  So for example the word "back" can have one of 5 part of speech tags. </a:t>
            </a:r>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7265626-52F0-F143-B284-71EA0A24C968}" type="slidenum">
              <a:rPr lang="en-US"/>
            </a:fld>
            <a:endParaRPr lang="en-US"/>
          </a:p>
        </p:txBody>
      </p:sp>
      <p:sp>
        <p:nvSpPr>
          <p:cNvPr id="92162" name="Rectangle 2"/>
          <p:cNvSpPr>
            <a:spLocks noGrp="1" noRot="1" noChangeAspect="1" noChangeArrowheads="1" noTextEdit="1"/>
          </p:cNvSpPr>
          <p:nvPr>
            <p:ph type="sldImg"/>
          </p:nvPr>
        </p:nvSpPr>
        <p:spPr/>
      </p:sp>
      <p:sp>
        <p:nvSpPr>
          <p:cNvPr id="92163" name="Rectangle 3"/>
          <p:cNvSpPr>
            <a:spLocks noGrp="1" noChangeArrowheads="1"/>
          </p:cNvSpPr>
          <p:nvPr>
            <p:ph type="body" idx="1"/>
          </p:nvPr>
        </p:nvSpPr>
        <p:spPr/>
        <p:txBody>
          <a:bodyPr/>
          <a:lstStyle/>
          <a:p>
            <a:r>
              <a:rPr lang="en-US" dirty="0"/>
              <a:t>How hard is POS tagging.  In English, only 15% of word types are ambiguous.  So 85% of words don't need any disambiguating; Janet is always a proper noun, hesitantly is always an adverb.</a:t>
            </a:r>
            <a:endParaRPr lang="en-US" dirty="0"/>
          </a:p>
          <a:p>
            <a:endParaRPr lang="en-US" dirty="0"/>
          </a:p>
          <a:p>
            <a:r>
              <a:rPr lang="en-US" dirty="0"/>
              <a:t>But those 15% ambiguous words tend to be common words, and so they occur far more than 15% of the time; indeed around 60% of word tokens in running text are ambiguous.  So for example the word "back" can have one of 5 part of speech tags. </a:t>
            </a:r>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accurate are modern POS taggers? Quite accurate; for English, and a for a few other languages </a:t>
            </a:r>
            <a:r>
              <a:rPr lang="en-US" dirty="0" err="1"/>
              <a:t>wwhere</a:t>
            </a:r>
            <a:r>
              <a:rPr lang="en-US" dirty="0"/>
              <a:t> we have sufficient hand-labeled training data, and which have sufficiently simple morphology,  tagging is a mostly solved problem.</a:t>
            </a:r>
            <a:endParaRPr lang="en-US" dirty="0"/>
          </a:p>
          <a:p>
            <a:endParaRPr lang="en-US" dirty="0"/>
          </a:p>
          <a:p>
            <a:r>
              <a:rPr lang="en-US" dirty="0"/>
              <a:t>The accuracy, that is, the </a:t>
            </a:r>
            <a:r>
              <a:rPr lang="en-US" dirty="0" err="1"/>
              <a:t>percemtage</a:t>
            </a:r>
            <a:r>
              <a:rPr lang="en-US" dirty="0"/>
              <a:t> of tokens that the tagger assigns the correct tag to, is about 97% </a:t>
            </a:r>
            <a:endParaRPr lang="en-US" dirty="0"/>
          </a:p>
          <a:p>
            <a:endParaRPr lang="en-US" dirty="0"/>
          </a:p>
          <a:p>
            <a:r>
              <a:rPr lang="en-US" dirty="0"/>
              <a:t>Of course, for English, the baseline itself is quite high.  What's called the most frequent class </a:t>
            </a:r>
            <a:r>
              <a:rPr lang="en-US" dirty="0" err="1"/>
              <a:t>baesline</a:t>
            </a:r>
            <a:r>
              <a:rPr lang="en-US" dirty="0"/>
              <a:t> is simply to tag every word with its most frequent tag.  For unknown words, tag them as nouns.  This baseline gets around 92% accuracy, simply because, as we've seen, many words are not ambiguous.</a:t>
            </a:r>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accurate are modern POS taggers? Quite accurate; for English, and a for a few other languages </a:t>
            </a:r>
            <a:r>
              <a:rPr lang="en-US" dirty="0" err="1"/>
              <a:t>wwhere</a:t>
            </a:r>
            <a:r>
              <a:rPr lang="en-US" dirty="0"/>
              <a:t> we have sufficient hand-labeled training data, and which have sufficiently simple morphology,  tagging is a mostly solved problem.</a:t>
            </a:r>
            <a:endParaRPr lang="en-US" dirty="0"/>
          </a:p>
          <a:p>
            <a:endParaRPr lang="en-US" dirty="0"/>
          </a:p>
          <a:p>
            <a:r>
              <a:rPr lang="en-US" dirty="0"/>
              <a:t>The accuracy, that is, the </a:t>
            </a:r>
            <a:r>
              <a:rPr lang="en-US" dirty="0" err="1"/>
              <a:t>percemtage</a:t>
            </a:r>
            <a:r>
              <a:rPr lang="en-US" dirty="0"/>
              <a:t> of tokens that the tagger assigns the correct tag to, is about 97% </a:t>
            </a:r>
            <a:endParaRPr lang="en-US" dirty="0"/>
          </a:p>
          <a:p>
            <a:endParaRPr lang="en-US" dirty="0"/>
          </a:p>
          <a:p>
            <a:r>
              <a:rPr lang="en-US" dirty="0"/>
              <a:t>Of course, for English, the baseline itself is quite high.  What's called the most frequent class </a:t>
            </a:r>
            <a:r>
              <a:rPr lang="en-US" dirty="0" err="1"/>
              <a:t>baesline</a:t>
            </a:r>
            <a:r>
              <a:rPr lang="en-US" dirty="0"/>
              <a:t> is simply to tag every word with its most frequent tag.  For unknown words, tag them as nouns.  This baseline gets around 92% accuracy, simply because, as we've seen, many words are not ambiguous.</a:t>
            </a:r>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accurate are modern POS taggers? Quite accurate; for English, and a for a few other languages </a:t>
            </a:r>
            <a:r>
              <a:rPr lang="en-US" dirty="0" err="1"/>
              <a:t>wwhere</a:t>
            </a:r>
            <a:r>
              <a:rPr lang="en-US" dirty="0"/>
              <a:t> we have sufficient hand-labeled training data, and which have sufficiently simple morphology,  tagging is a mostly solved problem.</a:t>
            </a:r>
            <a:endParaRPr lang="en-US" dirty="0"/>
          </a:p>
          <a:p>
            <a:endParaRPr lang="en-US" dirty="0"/>
          </a:p>
          <a:p>
            <a:r>
              <a:rPr lang="en-US" dirty="0"/>
              <a:t>The accuracy, that is, the </a:t>
            </a:r>
            <a:r>
              <a:rPr lang="en-US" dirty="0" err="1"/>
              <a:t>percemtage</a:t>
            </a:r>
            <a:r>
              <a:rPr lang="en-US" dirty="0"/>
              <a:t> of tokens that the tagger assigns the correct tag to, is about 97% </a:t>
            </a:r>
            <a:endParaRPr lang="en-US" dirty="0"/>
          </a:p>
          <a:p>
            <a:endParaRPr lang="en-US" dirty="0"/>
          </a:p>
          <a:p>
            <a:r>
              <a:rPr lang="en-US" dirty="0"/>
              <a:t>Of course, for English, the baseline itself is quite high.  What's called the most frequent class </a:t>
            </a:r>
            <a:r>
              <a:rPr lang="en-US" dirty="0" err="1"/>
              <a:t>baesline</a:t>
            </a:r>
            <a:r>
              <a:rPr lang="en-US" dirty="0"/>
              <a:t> is simply to tag every word with its most frequent tag.  For unknown words, tag them as nouns.  This baseline gets around 92% accuracy, simply because, as we've seen, many words are not ambiguous.</a:t>
            </a:r>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of speech taggers generally make use of three sources of information:  let's consider disambiguating the words in the sentence "Janet will back the bill".</a:t>
            </a:r>
            <a:endParaRPr lang="en-US" dirty="0"/>
          </a:p>
          <a:p>
            <a:endParaRPr lang="en-US" dirty="0"/>
          </a:p>
          <a:p>
            <a:r>
              <a:rPr lang="en-US" dirty="0"/>
              <a:t>One source is the prior probability of the word having that tag; so the word "will" is usually an AUX, less frequently a Noun (like someone "of strong will") or VERB.  Another source is the neighboring words.  "the" usually precedes adjectives and nouns, not verbs.  And the final is the makeup of the word itself; the </a:t>
            </a:r>
            <a:r>
              <a:rPr lang="en-US" dirty="0" err="1"/>
              <a:t>prefex</a:t>
            </a:r>
            <a:r>
              <a:rPr lang="en-US" dirty="0"/>
              <a:t> "un" often indicates an adjective, the suffix "</a:t>
            </a:r>
            <a:r>
              <a:rPr lang="en-US" dirty="0" err="1"/>
              <a:t>ly</a:t>
            </a:r>
            <a:r>
              <a:rPr lang="en-US" dirty="0"/>
              <a:t>" almost always an adverb, and capitalization is a strong hint word proper nouns.</a:t>
            </a:r>
            <a:endParaRPr lang="en-US" dirty="0"/>
          </a:p>
        </p:txBody>
      </p:sp>
      <p:sp>
        <p:nvSpPr>
          <p:cNvPr id="4" name="Slide Number Placeholder 3"/>
          <p:cNvSpPr>
            <a:spLocks noGrp="1"/>
          </p:cNvSpPr>
          <p:nvPr>
            <p:ph type="sldNum" sz="quarter" idx="10"/>
          </p:nvPr>
        </p:nvSpPr>
        <p:spPr/>
        <p:txBody>
          <a:bodyPr/>
          <a:lstStyle/>
          <a:p>
            <a:fld id="{3EB9031F-EB71-7642-8F3C-6FDC1408CB92}" type="slidenum">
              <a:rPr lang="en-US" smtClean="0"/>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 tagging can be done with classic supervised machine learning algorithms like Hidden Markov Models or Conditional Random Fields, or with neural models, either neural sequence models trained from scratch, or large language models, finetuned.</a:t>
            </a:r>
            <a:endParaRPr lang="en-US" dirty="0"/>
          </a:p>
          <a:p>
            <a:endParaRPr lang="en-US" dirty="0"/>
          </a:p>
          <a:p>
            <a:r>
              <a:rPr lang="en-US" dirty="0"/>
              <a:t>For English, with sufficient training data, all achieve about equal performance.</a:t>
            </a:r>
            <a:endParaRPr lang="en-US" dirty="0"/>
          </a:p>
          <a:p>
            <a:endParaRPr lang="en-US" dirty="0"/>
          </a:p>
          <a:p>
            <a:r>
              <a:rPr lang="en-US" dirty="0"/>
              <a:t>And all make use of the information sources we discussed; HMMs and CRFs via human-created features, and the neural models by inducing these features via representation learning.</a:t>
            </a:r>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a:t>
            </a:r>
            <a:r>
              <a:rPr lang="en-US" baseline="0" dirty="0"/>
              <a:t> Uppercase, Calibri size 60,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7280" y="159603"/>
            <a:ext cx="10058400" cy="907196"/>
          </a:xfrm>
        </p:spPr>
        <p:txBody>
          <a:bodyPr/>
          <a:lstStyle/>
          <a:p>
            <a:r>
              <a:rPr lang="en-US" dirty="0"/>
              <a:t>Click to edit Master title style</a:t>
            </a:r>
            <a:endParaRPr lang="en-US" dirty="0"/>
          </a:p>
        </p:txBody>
      </p:sp>
      <p:sp>
        <p:nvSpPr>
          <p:cNvPr id="3" name="Content Placeholder 2"/>
          <p:cNvSpPr>
            <a:spLocks noGrp="1"/>
          </p:cNvSpPr>
          <p:nvPr>
            <p:ph idx="1"/>
          </p:nvPr>
        </p:nvSpPr>
        <p:spPr>
          <a:xfrm>
            <a:off x="1097281" y="1600200"/>
            <a:ext cx="10058401" cy="4572000"/>
          </a:xfrm>
        </p:spPr>
        <p:txBody>
          <a:bodyPr/>
          <a:lstStyle>
            <a:lvl1pPr marL="10795" indent="-10795">
              <a:buNone/>
              <a:defRPr sz="3735" baseline="0"/>
            </a:lvl1pPr>
            <a:lvl2pPr marL="539750" indent="-338455">
              <a:defRPr sz="3200" baseline="0"/>
            </a:lvl2pPr>
            <a:lvl3pPr marL="687705" indent="-304800">
              <a:defRPr sz="2665" baseline="0"/>
            </a:lvl3pPr>
            <a:lvl4pPr marL="920750" indent="-353695">
              <a:defRPr sz="2135" baseline="0"/>
            </a:lvl4pPr>
            <a:lvl5pPr marL="1068705" indent="-319405">
              <a:defRPr sz="1865" baseline="0">
                <a:latin typeface="+mj-l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a:xfrm>
            <a:off x="3686187" y="6705602"/>
            <a:ext cx="4822804" cy="119311"/>
          </a:xfrm>
        </p:spPr>
        <p:txBody>
          <a:bodyPr/>
          <a:lstStyle>
            <a:lvl1pPr>
              <a:defRPr sz="800">
                <a:solidFill>
                  <a:schemeClr val="tx1"/>
                </a:solidFill>
              </a:defRPr>
            </a:lvl1pPr>
          </a:lstStyle>
          <a:p>
            <a:r>
              <a:rPr lang="en-US" dirty="0"/>
              <a:t>Slides adapted from Jure </a:t>
            </a:r>
            <a:r>
              <a:rPr lang="en-US" dirty="0" err="1"/>
              <a:t>Leskovec</a:t>
            </a:r>
            <a:endParaRPr lang="en-US" sz="700" dirty="0"/>
          </a:p>
          <a:p>
            <a:endParaRPr lang="en-US" dirty="0"/>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7280" y="159603"/>
            <a:ext cx="10058400" cy="907196"/>
          </a:xfrm>
        </p:spPr>
        <p:txBody>
          <a:bodyPr/>
          <a:lstStyle/>
          <a:p>
            <a:r>
              <a:rPr lang="en-US" dirty="0"/>
              <a:t>Click to edit Master title style</a:t>
            </a:r>
            <a:endParaRPr lang="en-US" dirty="0"/>
          </a:p>
        </p:txBody>
      </p:sp>
      <p:sp>
        <p:nvSpPr>
          <p:cNvPr id="3" name="Content Placeholder 2"/>
          <p:cNvSpPr>
            <a:spLocks noGrp="1"/>
          </p:cNvSpPr>
          <p:nvPr>
            <p:ph idx="1"/>
          </p:nvPr>
        </p:nvSpPr>
        <p:spPr>
          <a:xfrm>
            <a:off x="1097281" y="1600200"/>
            <a:ext cx="10058401" cy="4572000"/>
          </a:xfrm>
        </p:spPr>
        <p:txBody>
          <a:bodyPr/>
          <a:lstStyle>
            <a:lvl1pPr marL="10795" indent="-10795">
              <a:buNone/>
              <a:defRPr sz="3735" baseline="0"/>
            </a:lvl1pPr>
            <a:lvl2pPr marL="539750" indent="-338455">
              <a:defRPr sz="3200" baseline="0"/>
            </a:lvl2pPr>
            <a:lvl3pPr marL="687705" indent="-304800">
              <a:defRPr sz="2665" baseline="0"/>
            </a:lvl3pPr>
            <a:lvl4pPr marL="920750" indent="-353695">
              <a:defRPr sz="2135" baseline="0"/>
            </a:lvl4pPr>
            <a:lvl5pPr marL="1068705" indent="-319405">
              <a:defRPr sz="1865" baseline="0">
                <a:latin typeface="+mj-l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a:xfrm>
            <a:off x="3686187" y="6705602"/>
            <a:ext cx="4822804" cy="119311"/>
          </a:xfrm>
        </p:spPr>
        <p:txBody>
          <a:bodyPr/>
          <a:lstStyle>
            <a:lvl1pPr>
              <a:defRPr sz="800">
                <a:solidFill>
                  <a:schemeClr val="tx1"/>
                </a:solidFill>
              </a:defRPr>
            </a:lvl1pPr>
          </a:lstStyle>
          <a:p>
            <a:r>
              <a:rPr lang="en-US" dirty="0"/>
              <a:t>Slides adapted from Jure </a:t>
            </a:r>
            <a:r>
              <a:rPr lang="en-US" dirty="0" err="1"/>
              <a:t>Leskovec</a:t>
            </a:r>
            <a:endParaRPr lang="en-US" sz="700" dirty="0"/>
          </a:p>
          <a:p>
            <a:endParaRPr lang="en-US" dirty="0"/>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4"/>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5"/>
            <a:ext cx="4937760" cy="40233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217920" y="1845738"/>
            <a:ext cx="4937760" cy="402335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4"/>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3"/>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3"/>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217920" y="2582335"/>
            <a:ext cx="4937760" cy="32867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240CDC23-E565-C848-9AF6-12BD09C53D91}" type="datetimeFigureOut">
              <a:rPr lang="en-US" smtClean="0"/>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06400" y="1671637"/>
            <a:ext cx="5386917" cy="639763"/>
          </a:xfr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8400" indent="0">
              <a:buNone/>
              <a:defRPr sz="2135" b="1"/>
            </a:lvl5pPr>
            <a:lvl6pPr marL="3048000" indent="0">
              <a:buNone/>
              <a:defRPr sz="2135" b="1"/>
            </a:lvl6pPr>
            <a:lvl7pPr marL="3657600" indent="0">
              <a:buNone/>
              <a:defRPr sz="2135" b="1"/>
            </a:lvl7pPr>
            <a:lvl8pPr marL="4267200" indent="0">
              <a:buNone/>
              <a:defRPr sz="2135" b="1"/>
            </a:lvl8pPr>
            <a:lvl9pPr marL="4876800" indent="0">
              <a:buNone/>
              <a:defRPr sz="2135" b="1"/>
            </a:lvl9pPr>
          </a:lstStyle>
          <a:p>
            <a:pPr lvl="0"/>
            <a:r>
              <a:rPr lang="en-US"/>
              <a:t>Click to edit Master text styles</a:t>
            </a:r>
            <a:endParaRPr lang="en-US"/>
          </a:p>
        </p:txBody>
      </p:sp>
      <p:sp>
        <p:nvSpPr>
          <p:cNvPr id="4" name="Content Placeholder 3"/>
          <p:cNvSpPr>
            <a:spLocks noGrp="1"/>
          </p:cNvSpPr>
          <p:nvPr>
            <p:ph sz="half" idx="2"/>
          </p:nvPr>
        </p:nvSpPr>
        <p:spPr>
          <a:xfrm>
            <a:off x="406400" y="2311400"/>
            <a:ext cx="5386917" cy="3962400"/>
          </a:xfrm>
        </p:spPr>
        <p:txBody>
          <a:bodyPr/>
          <a:lstStyle>
            <a:lvl1pPr>
              <a:defRPr sz="3200"/>
            </a:lvl1pPr>
            <a:lvl2pPr>
              <a:defRPr sz="2665"/>
            </a:lvl2pPr>
            <a:lvl3pPr>
              <a:defRPr sz="2665"/>
            </a:lvl3pPr>
            <a:lvl4pPr>
              <a:defRPr sz="2400"/>
            </a:lvl4pPr>
            <a:lvl5pPr>
              <a:defRPr sz="2400"/>
            </a:lvl5pPr>
            <a:lvl6pPr>
              <a:defRPr sz="2135"/>
            </a:lvl6pPr>
            <a:lvl7pPr>
              <a:defRPr sz="2135"/>
            </a:lvl7pPr>
            <a:lvl8pPr>
              <a:defRPr sz="2135"/>
            </a:lvl8pPr>
            <a:lvl9pPr>
              <a:defRPr sz="213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990169" y="1671637"/>
            <a:ext cx="5389033" cy="639763"/>
          </a:xfr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8400" indent="0">
              <a:buNone/>
              <a:defRPr sz="2135" b="1"/>
            </a:lvl5pPr>
            <a:lvl6pPr marL="3048000" indent="0">
              <a:buNone/>
              <a:defRPr sz="2135" b="1"/>
            </a:lvl6pPr>
            <a:lvl7pPr marL="3657600" indent="0">
              <a:buNone/>
              <a:defRPr sz="2135" b="1"/>
            </a:lvl7pPr>
            <a:lvl8pPr marL="4267200" indent="0">
              <a:buNone/>
              <a:defRPr sz="2135" b="1"/>
            </a:lvl8pPr>
            <a:lvl9pPr marL="4876800" indent="0">
              <a:buNone/>
              <a:defRPr sz="2135" b="1"/>
            </a:lvl9pPr>
          </a:lstStyle>
          <a:p>
            <a:pPr lvl="0"/>
            <a:r>
              <a:rPr lang="en-US"/>
              <a:t>Click to edit Master text styles</a:t>
            </a:r>
            <a:endParaRPr lang="en-US"/>
          </a:p>
        </p:txBody>
      </p:sp>
      <p:sp>
        <p:nvSpPr>
          <p:cNvPr id="6" name="Content Placeholder 5"/>
          <p:cNvSpPr>
            <a:spLocks noGrp="1"/>
          </p:cNvSpPr>
          <p:nvPr>
            <p:ph sz="quarter" idx="4"/>
          </p:nvPr>
        </p:nvSpPr>
        <p:spPr>
          <a:xfrm>
            <a:off x="5990169" y="2311400"/>
            <a:ext cx="5389033" cy="3962400"/>
          </a:xfrm>
        </p:spPr>
        <p:txBody>
          <a:bodyPr/>
          <a:lstStyle>
            <a:lvl1pPr>
              <a:defRPr sz="3200"/>
            </a:lvl1pPr>
            <a:lvl2pPr>
              <a:defRPr sz="2665"/>
            </a:lvl2pPr>
            <a:lvl3pPr>
              <a:defRPr sz="2665"/>
            </a:lvl3pPr>
            <a:lvl4pPr>
              <a:defRPr sz="2400"/>
            </a:lvl4pPr>
            <a:lvl5pPr>
              <a:defRPr sz="2400"/>
            </a:lvl5pPr>
            <a:lvl6pPr>
              <a:defRPr sz="2135"/>
            </a:lvl6pPr>
            <a:lvl7pPr>
              <a:defRPr sz="2135"/>
            </a:lvl7pPr>
            <a:lvl8pPr>
              <a:defRPr sz="2135"/>
            </a:lvl8pPr>
            <a:lvl9pPr>
              <a:defRPr sz="213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Rectangle 5"/>
          <p:cNvSpPr>
            <a:spLocks noGrp="1" noChangeArrowheads="1"/>
          </p:cNvSpPr>
          <p:nvPr>
            <p:ph type="dt" sz="half" idx="10"/>
          </p:nvPr>
        </p:nvSpPr>
        <p:spPr>
          <a:xfrm>
            <a:off x="8331200" y="6273800"/>
            <a:ext cx="2641600" cy="457200"/>
          </a:xfrm>
        </p:spPr>
        <p:txBody>
          <a:bodyPr/>
          <a:lstStyle>
            <a:lvl1pPr>
              <a:defRPr/>
            </a:lvl1pPr>
          </a:lstStyle>
          <a:p>
            <a:pPr>
              <a:defRPr/>
            </a:pPr>
            <a:endParaRPr lang="en-US"/>
          </a:p>
        </p:txBody>
      </p:sp>
      <p:sp>
        <p:nvSpPr>
          <p:cNvPr id="8" name="Rectangle 6"/>
          <p:cNvSpPr>
            <a:spLocks noGrp="1" noChangeArrowheads="1"/>
          </p:cNvSpPr>
          <p:nvPr>
            <p:ph type="ftr" sz="quarter" idx="11"/>
          </p:nvPr>
        </p:nvSpPr>
        <p:spPr>
          <a:xfrm>
            <a:off x="3759200" y="6273800"/>
            <a:ext cx="3860800" cy="457200"/>
          </a:xfrm>
        </p:spPr>
        <p:txBody>
          <a:bodyPr/>
          <a:lstStyle>
            <a:lvl1pPr>
              <a:defRPr/>
            </a:lvl1pPr>
          </a:lstStyle>
          <a:p>
            <a:pPr>
              <a:defRPr/>
            </a:pPr>
            <a:endParaRPr lang="en-US"/>
          </a:p>
        </p:txBody>
      </p:sp>
      <p:sp>
        <p:nvSpPr>
          <p:cNvPr id="9" name="Rectangle 7"/>
          <p:cNvSpPr>
            <a:spLocks noGrp="1" noChangeArrowheads="1"/>
          </p:cNvSpPr>
          <p:nvPr>
            <p:ph type="sldNum" sz="quarter" idx="12"/>
          </p:nvPr>
        </p:nvSpPr>
        <p:spPr/>
        <p:txBody>
          <a:bodyPr/>
          <a:lstStyle>
            <a:lvl1pPr>
              <a:defRPr/>
            </a:lvl1pPr>
          </a:lstStyle>
          <a:p>
            <a:fld id="{231C68C3-6089-F349-9232-42643877B0CF}" type="slidenum">
              <a:rPr lang="en-US"/>
            </a:fld>
            <a:endParaRPr lang="en-US"/>
          </a:p>
        </p:txBody>
      </p:sp>
      <p:sp>
        <p:nvSpPr>
          <p:cNvPr id="10" name="Rectangle 2"/>
          <p:cNvSpPr>
            <a:spLocks noChangeArrowheads="1"/>
          </p:cNvSpPr>
          <p:nvPr userDrawn="1"/>
        </p:nvSpPr>
        <p:spPr bwMode="auto">
          <a:xfrm rot="5400000">
            <a:off x="-3398523" y="3398522"/>
            <a:ext cx="6858001" cy="60959"/>
          </a:xfrm>
          <a:prstGeom prst="rect">
            <a:avLst/>
          </a:prstGeom>
          <a:solidFill>
            <a:srgbClr val="A40508"/>
          </a:solidFill>
          <a:ln w="9525">
            <a:solidFill>
              <a:srgbClr val="A4001D"/>
            </a:solidFill>
            <a:miter lim="800000"/>
          </a:ln>
          <a:effectLst/>
        </p:spPr>
        <p:txBody>
          <a:bodyPr wrap="none" anchor="ctr"/>
          <a:lstStyle/>
          <a:p>
            <a:pPr algn="ctr">
              <a:defRPr/>
            </a:pPr>
            <a:endParaRPr lang="en-US" sz="2400">
              <a:solidFill>
                <a:srgbClr val="A50021"/>
              </a:solidFill>
              <a:ea typeface="+mn-ea"/>
              <a:cs typeface="+mn-cs"/>
            </a:endParaRPr>
          </a:p>
        </p:txBody>
      </p:sp>
      <p:sp>
        <p:nvSpPr>
          <p:cNvPr id="11" name="Title 1"/>
          <p:cNvSpPr>
            <a:spLocks noGrp="1"/>
          </p:cNvSpPr>
          <p:nvPr>
            <p:ph type="title"/>
          </p:nvPr>
        </p:nvSpPr>
        <p:spPr>
          <a:xfrm>
            <a:off x="1828800" y="508000"/>
            <a:ext cx="9956800" cy="990600"/>
          </a:xfrm>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9"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613651" y="731520"/>
            <a:ext cx="6679191" cy="5257800"/>
          </a:xfrm>
        </p:spPr>
        <p:txBody>
          <a:bodyPr/>
          <a:lstStyle>
            <a:lvl1pPr>
              <a:defRPr sz="4265" baseline="0">
                <a:solidFill>
                  <a:schemeClr val="accent2"/>
                </a:solidFill>
              </a:defRPr>
            </a:lvl1pPr>
            <a:lvl2pPr>
              <a:defRPr sz="3735" baseline="0">
                <a:solidFill>
                  <a:schemeClr val="accent2"/>
                </a:solidFill>
              </a:defRPr>
            </a:lvl2pPr>
            <a:lvl3pPr>
              <a:defRPr sz="3200" baseline="0">
                <a:solidFill>
                  <a:schemeClr val="accent2"/>
                </a:solidFill>
              </a:defRPr>
            </a:lvl3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Text Placeholder 3"/>
          <p:cNvSpPr>
            <a:spLocks noGrp="1"/>
          </p:cNvSpPr>
          <p:nvPr>
            <p:ph type="body" sz="half" idx="2"/>
          </p:nvPr>
        </p:nvSpPr>
        <p:spPr>
          <a:xfrm>
            <a:off x="457200" y="2926081"/>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465514" y="6459787"/>
            <a:ext cx="2618511" cy="365125"/>
          </a:xfrm>
        </p:spPr>
        <p:txBody>
          <a:bodyPr/>
          <a:lstStyle>
            <a:lvl1pPr algn="l">
              <a:defRPr/>
            </a:lvl1pPr>
          </a:lstStyle>
          <a:p>
            <a:fld id="{240CDC23-E565-C848-9AF6-12BD09C53D91}" type="datetimeFigureOut">
              <a:rPr lang="en-US" smtClean="0"/>
            </a:fld>
            <a:endParaRPr lang="en-US"/>
          </a:p>
        </p:txBody>
      </p:sp>
      <p:sp>
        <p:nvSpPr>
          <p:cNvPr id="6" name="Footer Placeholder 5"/>
          <p:cNvSpPr>
            <a:spLocks noGrp="1"/>
          </p:cNvSpPr>
          <p:nvPr>
            <p:ph type="ftr" sz="quarter" idx="11"/>
          </p:nvPr>
        </p:nvSpPr>
        <p:spPr>
          <a:xfrm>
            <a:off x="4800600" y="6459787"/>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07771B2-D7F7-364E-B6F3-F7FE93606BC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showMasterSp="0">
  <p:cSld name="Completely 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lvl1pPr algn="ctr">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
        <p:nvSpPr>
          <p:cNvPr id="7" name="Rectangle 4"/>
          <p:cNvSpPr/>
          <p:nvPr/>
        </p:nvSpPr>
        <p:spPr>
          <a:xfrm rot="10800000">
            <a:off x="0" y="6672581"/>
            <a:ext cx="12192000" cy="184785"/>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7" name="Date Placeholder 6"/>
          <p:cNvSpPr>
            <a:spLocks noGrp="1"/>
          </p:cNvSpPr>
          <p:nvPr>
            <p:ph type="dt" sz="half" idx="10"/>
          </p:nvPr>
        </p:nvSpPr>
        <p:spPr/>
        <p:txBody>
          <a:bodyPr/>
          <a:lstStyle/>
          <a:p>
            <a:fld id="{240CDC23-E565-C848-9AF6-12BD09C53D9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240CDC23-E565-C848-9AF6-12BD09C53D9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0CDC23-E565-C848-9AF6-12BD09C53D91}"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en-US"/>
          </a:p>
        </p:txBody>
      </p:sp>
      <p:sp>
        <p:nvSpPr>
          <p:cNvPr id="3" name="Picture Placeholder 2"/>
          <p:cNvSpPr>
            <a:spLocks noGrp="1"/>
          </p:cNvSpPr>
          <p:nvPr>
            <p:ph type="pic" idx="1" hasCustomPrompt="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Drag picture to placeholder or click icon to add</a:t>
            </a:r>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and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7284" y="1600200"/>
            <a:ext cx="10058401" cy="4572000"/>
          </a:xfrm>
        </p:spPr>
        <p:txBody>
          <a:bodyPr/>
          <a:lstStyle>
            <a:lvl1pPr marL="8255" indent="-8255">
              <a:defRPr sz="2800" baseline="0"/>
            </a:lvl1pPr>
            <a:lvl2pPr marL="404495" indent="-254000">
              <a:defRPr sz="2400" baseline="0"/>
            </a:lvl2pPr>
            <a:lvl3pPr marL="515620" indent="-228600">
              <a:defRPr sz="2000" baseline="0"/>
            </a:lvl3pPr>
            <a:lvl4pPr marL="690245" indent="-264795">
              <a:defRPr sz="1600" baseline="0"/>
            </a:lvl4pPr>
            <a:lvl5pPr marL="801370" indent="-239395">
              <a:defRPr sz="1400" baseline="0">
                <a:latin typeface="+mj-l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标题 6"/>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6.xml"/><Relationship Id="rId8" Type="http://schemas.openxmlformats.org/officeDocument/2006/relationships/slideLayout" Target="../slideLayouts/slideLayout15.xml"/><Relationship Id="rId7" Type="http://schemas.openxmlformats.org/officeDocument/2006/relationships/slideLayout" Target="../slideLayouts/slideLayout14.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 Id="rId3" Type="http://schemas.openxmlformats.org/officeDocument/2006/relationships/slideLayout" Target="../slideLayouts/slideLayout10.xml"/><Relationship Id="rId2"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image" Target="../media/image2.png"/><Relationship Id="rId13" Type="http://schemas.openxmlformats.org/officeDocument/2006/relationships/image" Target="../media/image1.emf"/><Relationship Id="rId12" Type="http://schemas.openxmlformats.org/officeDocument/2006/relationships/slideLayout" Target="../slideLayouts/slideLayout19.xml"/><Relationship Id="rId11" Type="http://schemas.openxmlformats.org/officeDocument/2006/relationships/slideLayout" Target="../slideLayouts/slideLayout18.xml"/><Relationship Id="rId10" Type="http://schemas.openxmlformats.org/officeDocument/2006/relationships/slideLayout" Target="../slideLayouts/slideLayout17.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rot="16200000">
            <a:off x="-3358142" y="3298181"/>
            <a:ext cx="6858003" cy="2616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rot="16200000" flipV="1">
            <a:off x="-3256806" y="3413510"/>
            <a:ext cx="6858003"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4"/>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79" y="1845735"/>
            <a:ext cx="10058401" cy="4023360"/>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97283" y="6459787"/>
            <a:ext cx="2472271" cy="365125"/>
          </a:xfrm>
          <a:prstGeom prst="rect">
            <a:avLst/>
          </a:prstGeom>
        </p:spPr>
        <p:txBody>
          <a:bodyPr vert="horz" lIns="91440" tIns="45720" rIns="91440" bIns="45720" rtlCol="0" anchor="ctr"/>
          <a:lstStyle>
            <a:lvl1pPr algn="l">
              <a:defRPr sz="900">
                <a:solidFill>
                  <a:srgbClr val="FFFFFF"/>
                </a:solidFill>
              </a:defRPr>
            </a:lvl1pPr>
          </a:lstStyle>
          <a:p>
            <a:fld id="{240CDC23-E565-C848-9AF6-12BD09C53D91}" type="datetimeFigureOut">
              <a:rPr lang="en-US" smtClean="0"/>
            </a:fld>
            <a:endParaRPr lang="en-US"/>
          </a:p>
        </p:txBody>
      </p:sp>
      <p:sp>
        <p:nvSpPr>
          <p:cNvPr id="5" name="Footer Placeholder 4"/>
          <p:cNvSpPr>
            <a:spLocks noGrp="1"/>
          </p:cNvSpPr>
          <p:nvPr>
            <p:ph type="ftr" sz="quarter" idx="3"/>
          </p:nvPr>
        </p:nvSpPr>
        <p:spPr>
          <a:xfrm>
            <a:off x="3686187" y="6459787"/>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61" y="6459787"/>
            <a:ext cx="1312025" cy="365125"/>
          </a:xfrm>
          <a:prstGeom prst="rect">
            <a:avLst/>
          </a:prstGeom>
        </p:spPr>
        <p:txBody>
          <a:bodyPr vert="horz" lIns="91440" tIns="45720" rIns="91440" bIns="45720" rtlCol="0" anchor="ctr"/>
          <a:lstStyle>
            <a:lvl1pPr algn="r">
              <a:defRPr sz="1050">
                <a:solidFill>
                  <a:srgbClr val="FFFFFF"/>
                </a:solidFill>
              </a:defRPr>
            </a:lvl1pPr>
          </a:lstStyle>
          <a:p>
            <a:fld id="{D07771B2-D7F7-364E-B6F3-F7FE93606BCE}"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914400" rtl="0" eaLnBrk="1" latinLnBrk="0" hangingPunct="1">
        <a:lnSpc>
          <a:spcPct val="85000"/>
        </a:lnSpc>
        <a:spcBef>
          <a:spcPct val="0"/>
        </a:spcBef>
        <a:buNone/>
        <a:defRPr sz="4800" kern="1200" spc="-51"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83210"/>
            <a:ext cx="11108267" cy="720090"/>
          </a:xfrm>
          <a:prstGeom prst="rect">
            <a:avLst/>
          </a:prstGeom>
        </p:spPr>
        <p:txBody>
          <a:bodyPr vert="horz" lIns="91440" tIns="45720" rIns="91440" bIns="45720" rtlCol="0" anchor="ctr">
            <a:noAutofit/>
          </a:bodyPr>
          <a:lstStyle/>
          <a:p>
            <a:r>
              <a:rPr lang="zh-CN" altLang="en-US"/>
              <a:t>单击此处编辑母版标题样式</a:t>
            </a:r>
            <a:endParaRPr lang="en-GB" dirty="0"/>
          </a:p>
        </p:txBody>
      </p:sp>
      <p:sp>
        <p:nvSpPr>
          <p:cNvPr id="3" name="Text Placeholder 2"/>
          <p:cNvSpPr>
            <a:spLocks noGrp="1"/>
          </p:cNvSpPr>
          <p:nvPr>
            <p:ph type="body" idx="1"/>
          </p:nvPr>
        </p:nvSpPr>
        <p:spPr>
          <a:xfrm>
            <a:off x="609600" y="1203325"/>
            <a:ext cx="10972800" cy="494284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0CDC23-E565-C848-9AF6-12BD09C53D91}" type="datetimeFigureOut">
              <a:rPr lang="en-US" smtClean="0"/>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7771B2-D7F7-364E-B6F3-F7FE93606BCE}" type="slidenum">
              <a:rPr lang="en-US" smtClean="0"/>
            </a:fld>
            <a:endParaRPr lang="en-US"/>
          </a:p>
        </p:txBody>
      </p:sp>
      <p:pic>
        <p:nvPicPr>
          <p:cNvPr id="7" name="Picture 6"/>
          <p:cNvPicPr>
            <a:picLocks noChangeAspect="1"/>
          </p:cNvPicPr>
          <p:nvPr/>
        </p:nvPicPr>
        <p:blipFill>
          <a:blip r:embed="rId13">
            <a:alphaModFix amt="7000"/>
            <a:duotone>
              <a:prstClr val="black"/>
              <a:schemeClr val="accent2">
                <a:tint val="45000"/>
                <a:satMod val="400000"/>
              </a:schemeClr>
            </a:duotone>
            <a:lum bright="-20000" contrast="-40000"/>
          </a:blip>
          <a:stretch>
            <a:fillRect/>
          </a:stretch>
        </p:blipFill>
        <p:spPr>
          <a:xfrm>
            <a:off x="9844194" y="-5715"/>
            <a:ext cx="2440093" cy="6892925"/>
          </a:xfrm>
          <a:prstGeom prst="rect">
            <a:avLst/>
          </a:prstGeom>
        </p:spPr>
      </p:pic>
      <p:pic>
        <p:nvPicPr>
          <p:cNvPr id="12" name="Picture 11" descr="Shield-navy(rgb for online).png"/>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1243374" y="5929019"/>
            <a:ext cx="474852" cy="444524"/>
          </a:xfrm>
          <a:prstGeom prst="rect">
            <a:avLst/>
          </a:prstGeom>
        </p:spPr>
      </p:pic>
      <p:sp>
        <p:nvSpPr>
          <p:cNvPr id="9" name="Rectangle 4"/>
          <p:cNvSpPr/>
          <p:nvPr/>
        </p:nvSpPr>
        <p:spPr>
          <a:xfrm rot="10800000">
            <a:off x="0" y="6672581"/>
            <a:ext cx="12192000" cy="184785"/>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Lst>
  <p:txStyles>
    <p:titleStyle>
      <a:lvl1pPr algn="l" defTabSz="457200" rtl="0" eaLnBrk="1" latinLnBrk="0" hangingPunct="1">
        <a:spcBef>
          <a:spcPct val="0"/>
        </a:spcBef>
        <a:buNone/>
        <a:defRPr sz="3600" u="none" strike="noStrike" kern="1200" cap="all" spc="0" normalizeH="0">
          <a:solidFill>
            <a:schemeClr val="tx1"/>
          </a:solidFill>
          <a:uFillTx/>
          <a:latin typeface="Times New Roman" panose="02020503050405090304" pitchFamily="18" charset="0"/>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Times New Roman Regular" panose="02020503050405090304" charset="0"/>
          <a:ea typeface="+mn-ea"/>
          <a:cs typeface="Times New Roman Regular" panose="02020503050405090304" charset="0"/>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Times New Roman Regular" panose="02020503050405090304" charset="0"/>
          <a:ea typeface="+mn-ea"/>
          <a:cs typeface="Times New Roman Regular" panose="02020503050405090304" charset="0"/>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Times New Roman Regular" panose="02020503050405090304" charset="0"/>
          <a:ea typeface="+mn-ea"/>
          <a:cs typeface="Times New Roman Regular" panose="02020503050405090304" charset="0"/>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Times New Roman Regular" panose="02020503050405090304" charset="0"/>
          <a:ea typeface="+mn-ea"/>
          <a:cs typeface="Times New Roman Regular" panose="02020503050405090304" charset="0"/>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xml"/><Relationship Id="rId1"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image" Target="../media/image3.emf"/></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9.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hyperlink" Target="http://nlp.stanford.edu/projects/glove/" TargetMode="External"/><Relationship Id="rId1" Type="http://schemas.openxmlformats.org/officeDocument/2006/relationships/hyperlink" Target="https://code.google.com/archive/p/word2vec/"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9.xml"/><Relationship Id="rId2" Type="http://schemas.openxmlformats.org/officeDocument/2006/relationships/image" Target="../media/image4.png"/><Relationship Id="rId1" Type="http://schemas.openxmlformats.org/officeDocument/2006/relationships/tags" Target="../tags/tag5.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9.xml"/><Relationship Id="rId2" Type="http://schemas.openxmlformats.org/officeDocument/2006/relationships/image" Target="../media/image5.png"/><Relationship Id="rId1" Type="http://schemas.openxmlformats.org/officeDocument/2006/relationships/tags" Target="../tags/tag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9.xml"/><Relationship Id="rId2" Type="http://schemas.openxmlformats.org/officeDocument/2006/relationships/image" Target="../media/image7.emf"/><Relationship Id="rId1" Type="http://schemas.openxmlformats.org/officeDocument/2006/relationships/image" Target="../media/image6.emf"/></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9.xml"/><Relationship Id="rId2" Type="http://schemas.openxmlformats.org/officeDocument/2006/relationships/image" Target="../media/image8.emf"/><Relationship Id="rId1" Type="http://schemas.openxmlformats.org/officeDocument/2006/relationships/image" Target="../media/image6.e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9.xml"/><Relationship Id="rId3" Type="http://schemas.openxmlformats.org/officeDocument/2006/relationships/image" Target="../media/image8.emf"/><Relationship Id="rId2" Type="http://schemas.openxmlformats.org/officeDocument/2006/relationships/tags" Target="../tags/tag7.xml"/><Relationship Id="rId1" Type="http://schemas.openxmlformats.org/officeDocument/2006/relationships/image" Target="../media/image9.em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8.xml"/><Relationship Id="rId1" Type="http://schemas.openxmlformats.org/officeDocument/2006/relationships/image" Target="../media/image3.emf"/></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9.xml"/><Relationship Id="rId3" Type="http://schemas.openxmlformats.org/officeDocument/2006/relationships/image" Target="../media/image5.png"/><Relationship Id="rId2" Type="http://schemas.openxmlformats.org/officeDocument/2006/relationships/tags" Target="../tags/tag8.xml"/><Relationship Id="rId1" Type="http://schemas.openxmlformats.org/officeDocument/2006/relationships/image" Target="../media/image10.emf"/></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9.xml"/><Relationship Id="rId3" Type="http://schemas.openxmlformats.org/officeDocument/2006/relationships/image" Target="../media/image5.png"/><Relationship Id="rId2" Type="http://schemas.openxmlformats.org/officeDocument/2006/relationships/tags" Target="../tags/tag9.xml"/><Relationship Id="rId1" Type="http://schemas.openxmlformats.org/officeDocument/2006/relationships/image" Target="../media/image10.emf"/></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9.xml"/><Relationship Id="rId4" Type="http://schemas.openxmlformats.org/officeDocument/2006/relationships/image" Target="../media/image5.png"/><Relationship Id="rId3" Type="http://schemas.openxmlformats.org/officeDocument/2006/relationships/tags" Target="../tags/tag10.xml"/><Relationship Id="rId2" Type="http://schemas.openxmlformats.org/officeDocument/2006/relationships/image" Target="../media/image11.emf"/><Relationship Id="rId1" Type="http://schemas.openxmlformats.org/officeDocument/2006/relationships/image" Target="../media/image10.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9.xml"/><Relationship Id="rId1" Type="http://schemas.openxmlformats.org/officeDocument/2006/relationships/image" Target="../media/image12.emf"/></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9.xml"/><Relationship Id="rId2" Type="http://schemas.openxmlformats.org/officeDocument/2006/relationships/image" Target="../media/image13.png"/><Relationship Id="rId1" Type="http://schemas.openxmlformats.org/officeDocument/2006/relationships/tags" Target="../tags/tag1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9.xml"/><Relationship Id="rId1" Type="http://schemas.openxmlformats.org/officeDocument/2006/relationships/image" Target="../media/image14.emf"/></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9.xml"/><Relationship Id="rId4" Type="http://schemas.openxmlformats.org/officeDocument/2006/relationships/image" Target="../media/image13.png"/><Relationship Id="rId3" Type="http://schemas.openxmlformats.org/officeDocument/2006/relationships/tags" Target="../tags/tag12.xml"/><Relationship Id="rId2" Type="http://schemas.openxmlformats.org/officeDocument/2006/relationships/image" Target="../media/image16.emf"/><Relationship Id="rId1" Type="http://schemas.openxmlformats.org/officeDocument/2006/relationships/image" Target="../media/image15.png"/></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slideLayout" Target="../slideLayouts/slideLayout9.xml"/><Relationship Id="rId5" Type="http://schemas.openxmlformats.org/officeDocument/2006/relationships/image" Target="../media/image13.png"/><Relationship Id="rId4" Type="http://schemas.openxmlformats.org/officeDocument/2006/relationships/tags" Target="../tags/tag13.xml"/><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image" Target="../media/image17.emf"/></Relationships>
</file>

<file path=ppt/slides/_rels/slide28.xml.rels><?xml version="1.0" encoding="UTF-8" standalone="yes"?>
<Relationships xmlns="http://schemas.openxmlformats.org/package/2006/relationships"><Relationship Id="rId7" Type="http://schemas.openxmlformats.org/officeDocument/2006/relationships/notesSlide" Target="../notesSlides/notesSlide24.xml"/><Relationship Id="rId6" Type="http://schemas.openxmlformats.org/officeDocument/2006/relationships/slideLayout" Target="../slideLayouts/slideLayout9.xml"/><Relationship Id="rId5" Type="http://schemas.openxmlformats.org/officeDocument/2006/relationships/image" Target="../media/image21.png"/><Relationship Id="rId4" Type="http://schemas.openxmlformats.org/officeDocument/2006/relationships/tags" Target="../tags/tag15.xml"/><Relationship Id="rId3" Type="http://schemas.openxmlformats.org/officeDocument/2006/relationships/image" Target="../media/image13.png"/><Relationship Id="rId2" Type="http://schemas.openxmlformats.org/officeDocument/2006/relationships/tags" Target="../tags/tag14.xml"/><Relationship Id="rId1" Type="http://schemas.openxmlformats.org/officeDocument/2006/relationships/image" Target="../media/image20.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8.xml"/><Relationship Id="rId1" Type="http://schemas.openxmlformats.org/officeDocument/2006/relationships/image" Target="../media/image3.e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9.xml"/><Relationship Id="rId1" Type="http://schemas.openxmlformats.org/officeDocument/2006/relationships/image" Target="../media/image22.emf"/></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9.xml"/><Relationship Id="rId1" Type="http://schemas.openxmlformats.org/officeDocument/2006/relationships/image" Target="../media/image23.emf"/></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4.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9.xml"/><Relationship Id="rId1" Type="http://schemas.openxmlformats.org/officeDocument/2006/relationships/image" Target="../media/image25.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8.xml"/><Relationship Id="rId1" Type="http://schemas.openxmlformats.org/officeDocument/2006/relationships/image" Target="../media/image3.emf"/></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9.xml"/><Relationship Id="rId1" Type="http://schemas.openxmlformats.org/officeDocument/2006/relationships/image" Target="../media/image26.emf"/></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7.emf"/></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7" Type="http://schemas.openxmlformats.org/officeDocument/2006/relationships/notesSlide" Target="../notesSlides/notesSlide50.xml"/><Relationship Id="rId6" Type="http://schemas.openxmlformats.org/officeDocument/2006/relationships/slideLayout" Target="../slideLayouts/slideLayout19.xml"/><Relationship Id="rId5" Type="http://schemas.openxmlformats.org/officeDocument/2006/relationships/hyperlink" Target="http://www.xjtlu.edu.cn/en/" TargetMode="External"/><Relationship Id="rId4" Type="http://schemas.openxmlformats.org/officeDocument/2006/relationships/image" Target="../media/image30.jpeg"/><Relationship Id="rId3" Type="http://schemas.openxmlformats.org/officeDocument/2006/relationships/image" Target="../media/image29.png"/><Relationship Id="rId2" Type="http://schemas.openxmlformats.org/officeDocument/2006/relationships/image" Target="../media/image3.emf"/><Relationship Id="rId1" Type="http://schemas.openxmlformats.org/officeDocument/2006/relationships/image" Target="../media/image2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14600" y="1407584"/>
            <a:ext cx="7391400" cy="1753083"/>
          </a:xfrm>
        </p:spPr>
        <p:txBody>
          <a:bodyPr>
            <a:noAutofit/>
          </a:bodyPr>
          <a:lstStyle/>
          <a:p>
            <a:r>
              <a:rPr lang="en-US" altLang="zh-CN" sz="4265" dirty="0">
                <a:latin typeface="Calibri (Headings)"/>
                <a:cs typeface="Calibri (Headings)"/>
              </a:rPr>
              <a:t>Word </a:t>
            </a:r>
            <a:r>
              <a:rPr lang="en-US" altLang="zh-CN" sz="4265" dirty="0">
                <a:latin typeface="Calibri (Headings)"/>
                <a:cs typeface="Calibri (Headings)"/>
              </a:rPr>
              <a:t>expression</a:t>
            </a:r>
            <a:endParaRPr lang="en-US" altLang="zh-CN" sz="4265" dirty="0">
              <a:latin typeface="Calibri (Headings)"/>
              <a:cs typeface="Calibri (Headings)"/>
            </a:endParaRPr>
          </a:p>
        </p:txBody>
      </p:sp>
      <p:pic>
        <p:nvPicPr>
          <p:cNvPr id="8" name="Picture 7"/>
          <p:cNvPicPr>
            <a:picLocks noChangeAspect="1"/>
          </p:cNvPicPr>
          <p:nvPr/>
        </p:nvPicPr>
        <p:blipFill>
          <a:blip r:embed="rId1"/>
          <a:stretch>
            <a:fillRect/>
          </a:stretch>
        </p:blipFill>
        <p:spPr>
          <a:xfrm>
            <a:off x="5097145" y="4847812"/>
            <a:ext cx="2311400" cy="494417"/>
          </a:xfrm>
          <a:prstGeom prst="rect">
            <a:avLst/>
          </a:prstGeom>
        </p:spPr>
      </p:pic>
      <p:sp>
        <p:nvSpPr>
          <p:cNvPr id="9" name="Subtitle 2"/>
          <p:cNvSpPr txBox="1"/>
          <p:nvPr/>
        </p:nvSpPr>
        <p:spPr>
          <a:xfrm>
            <a:off x="3754583" y="3160668"/>
            <a:ext cx="4800600" cy="1081069"/>
          </a:xfrm>
          <a:prstGeom prst="rect">
            <a:avLst/>
          </a:prstGeom>
        </p:spPr>
        <p:txBody>
          <a:bodyPr vert="horz" lIns="68580" tIns="34291" rIns="68580" bIns="34291" rtlCol="0">
            <a:noAutofit/>
          </a:bodyPr>
          <a:lstStyle>
            <a:lvl1pPr marL="0" indent="0" algn="ctr" defTabSz="457200" rtl="0" eaLnBrk="1" latinLnBrk="0" hangingPunct="1">
              <a:spcBef>
                <a:spcPct val="20000"/>
              </a:spcBef>
              <a:buFont typeface="Arial" panose="020B0604020202090204"/>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panose="020B0604020202090204"/>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panose="020B0604020202090204"/>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9pPr>
          </a:lstStyle>
          <a:p>
            <a:r>
              <a:rPr lang="en-US" altLang="zh-CN" sz="1800" cap="all" dirty="0">
                <a:solidFill>
                  <a:srgbClr val="000044"/>
                </a:solidFill>
                <a:cs typeface="DIN-Regular"/>
              </a:rPr>
              <a:t>DTS305TC</a:t>
            </a:r>
            <a:endParaRPr lang="en-US" altLang="zh-CN" sz="1800" cap="all" dirty="0">
              <a:solidFill>
                <a:srgbClr val="000044"/>
              </a:solidFill>
              <a:cs typeface="DIN-Regular"/>
            </a:endParaRPr>
          </a:p>
          <a:p>
            <a:r>
              <a:rPr lang="en-US" altLang="zh-CN" sz="1800" cap="all" dirty="0" err="1">
                <a:solidFill>
                  <a:srgbClr val="000044"/>
                </a:solidFill>
                <a:cs typeface="DIN-Regular"/>
              </a:rPr>
              <a:t>Huakang</a:t>
            </a:r>
            <a:r>
              <a:rPr lang="zh-CN" altLang="en-US" sz="1800" cap="all" dirty="0">
                <a:solidFill>
                  <a:srgbClr val="000044"/>
                </a:solidFill>
                <a:cs typeface="DIN-Regular"/>
              </a:rPr>
              <a:t> </a:t>
            </a:r>
            <a:r>
              <a:rPr lang="en-US" altLang="zh-CN" sz="1800" cap="all" dirty="0">
                <a:solidFill>
                  <a:srgbClr val="000044"/>
                </a:solidFill>
                <a:cs typeface="DIN-Regular"/>
              </a:rPr>
              <a:t>Li</a:t>
            </a:r>
            <a:endParaRPr lang="en-US" altLang="zh-CN" sz="1800" cap="all" dirty="0">
              <a:solidFill>
                <a:srgbClr val="000044"/>
              </a:solidFill>
              <a:cs typeface="DIN-Regular"/>
            </a:endParaRPr>
          </a:p>
          <a:p>
            <a:r>
              <a:rPr lang="en-US" altLang="zh-CN" sz="1800" cap="all" dirty="0" err="1">
                <a:solidFill>
                  <a:srgbClr val="000044"/>
                </a:solidFill>
                <a:cs typeface="DIN-Regular"/>
              </a:rPr>
              <a:t>Huakang.li@xjtlu.edu.cn</a:t>
            </a:r>
            <a:endParaRPr lang="en-US" altLang="zh-CN" sz="1800" cap="all" dirty="0">
              <a:solidFill>
                <a:srgbClr val="000044"/>
              </a:solidFill>
              <a:cs typeface="DIN-Regular"/>
            </a:endParaRPr>
          </a:p>
          <a:p>
            <a:r>
              <a:rPr lang="en-US" altLang="zh-CN" sz="1800" cap="all" dirty="0">
                <a:solidFill>
                  <a:srgbClr val="000044"/>
                </a:solidFill>
                <a:cs typeface="DIN-Regular"/>
              </a:rPr>
              <a:t>School</a:t>
            </a:r>
            <a:r>
              <a:rPr lang="zh-CN" altLang="en-US" sz="1800" cap="all" dirty="0">
                <a:solidFill>
                  <a:srgbClr val="000044"/>
                </a:solidFill>
                <a:cs typeface="DIN-Regular"/>
              </a:rPr>
              <a:t> </a:t>
            </a:r>
            <a:r>
              <a:rPr lang="en-US" altLang="zh-CN" sz="1800" cap="all" dirty="0">
                <a:solidFill>
                  <a:srgbClr val="000044"/>
                </a:solidFill>
                <a:cs typeface="DIN-Regular"/>
              </a:rPr>
              <a:t>of</a:t>
            </a:r>
            <a:r>
              <a:rPr lang="zh-CN" altLang="en-US" sz="1800" cap="all" dirty="0">
                <a:solidFill>
                  <a:srgbClr val="000044"/>
                </a:solidFill>
                <a:cs typeface="DIN-Regular"/>
              </a:rPr>
              <a:t> </a:t>
            </a:r>
            <a:r>
              <a:rPr lang="en-US" altLang="zh-CN" sz="1800" cap="all" dirty="0">
                <a:solidFill>
                  <a:srgbClr val="000044"/>
                </a:solidFill>
                <a:cs typeface="DIN-Regular"/>
              </a:rPr>
              <a:t>AI</a:t>
            </a:r>
            <a:r>
              <a:rPr lang="zh-CN" altLang="en-US" sz="1800" cap="all" dirty="0">
                <a:solidFill>
                  <a:srgbClr val="000044"/>
                </a:solidFill>
                <a:cs typeface="DIN-Regular"/>
              </a:rPr>
              <a:t> </a:t>
            </a:r>
            <a:r>
              <a:rPr lang="en-US" altLang="zh-CN" sz="1800" cap="all" dirty="0">
                <a:solidFill>
                  <a:srgbClr val="000044"/>
                </a:solidFill>
                <a:cs typeface="DIN-Regular"/>
              </a:rPr>
              <a:t>and</a:t>
            </a:r>
            <a:r>
              <a:rPr lang="zh-CN" altLang="en-US" sz="1800" cap="all" dirty="0">
                <a:solidFill>
                  <a:srgbClr val="000044"/>
                </a:solidFill>
                <a:cs typeface="DIN-Regular"/>
              </a:rPr>
              <a:t> </a:t>
            </a:r>
            <a:r>
              <a:rPr lang="en-US" altLang="zh-CN" sz="1800" cap="all" dirty="0">
                <a:solidFill>
                  <a:srgbClr val="000044"/>
                </a:solidFill>
                <a:cs typeface="DIN-Regular"/>
              </a:rPr>
              <a:t>Advanced</a:t>
            </a:r>
            <a:r>
              <a:rPr lang="zh-CN" altLang="en-US" sz="1800" cap="all" dirty="0">
                <a:solidFill>
                  <a:srgbClr val="000044"/>
                </a:solidFill>
                <a:cs typeface="DIN-Regular"/>
              </a:rPr>
              <a:t> </a:t>
            </a:r>
            <a:r>
              <a:rPr lang="en-US" altLang="zh-CN" sz="1800" cap="all" dirty="0">
                <a:solidFill>
                  <a:srgbClr val="000044"/>
                </a:solidFill>
                <a:cs typeface="DIN-Regular"/>
              </a:rPr>
              <a:t>Computing</a:t>
            </a:r>
            <a:endParaRPr lang="en-US" sz="1800" cap="all" dirty="0">
              <a:solidFill>
                <a:srgbClr val="000044"/>
              </a:solidFill>
              <a:cs typeface="DIN-Regular"/>
            </a:endParaRPr>
          </a:p>
          <a:p>
            <a:endParaRPr lang="en-US" sz="1800" cap="all" dirty="0">
              <a:solidFill>
                <a:srgbClr val="000044"/>
              </a:solidFill>
              <a:cs typeface="DIN-Regular"/>
            </a:endParaRPr>
          </a:p>
        </p:txBody>
      </p:sp>
    </p:spTree>
  </p:cSld>
  <p:clrMapOvr>
    <a:masterClrMapping/>
  </p:clrMapOvr>
  <mc:AlternateContent xmlns:mc="http://schemas.openxmlformats.org/markup-compatibility/2006">
    <mc:Choice xmlns:p14="http://schemas.microsoft.com/office/powerpoint/2010/main" Requires="p14">
      <p:transition spd="slow" p14:dur="2000" advTm="20103"/>
    </mc:Choice>
    <mc:Fallback>
      <p:transition spd="slow" advTm="2010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ctrTitle"/>
          </p:nvPr>
        </p:nvSpPr>
        <p:spPr>
          <a:xfrm>
            <a:off x="1905000" y="2128765"/>
            <a:ext cx="8610600" cy="1753083"/>
          </a:xfrm>
        </p:spPr>
        <p:txBody>
          <a:bodyPr>
            <a:noAutofit/>
          </a:bodyPr>
          <a:lstStyle/>
          <a:p>
            <a:r>
              <a:rPr lang="en-US" altLang="zh-CN" sz="4800" dirty="0">
                <a:solidFill>
                  <a:schemeClr val="tx2"/>
                </a:solidFill>
              </a:rPr>
              <a:t>Word2vec</a:t>
            </a:r>
            <a:endParaRPr lang="en-US" altLang="zh-CN" sz="4800" dirty="0">
              <a:solidFill>
                <a:schemeClr val="tx2"/>
              </a:solidFill>
            </a:endParaRPr>
          </a:p>
        </p:txBody>
      </p:sp>
      <p:pic>
        <p:nvPicPr>
          <p:cNvPr id="7" name="Picture 6"/>
          <p:cNvPicPr>
            <a:picLocks noChangeAspect="1"/>
          </p:cNvPicPr>
          <p:nvPr/>
        </p:nvPicPr>
        <p:blipFill>
          <a:blip r:embed="rId1"/>
          <a:stretch>
            <a:fillRect/>
          </a:stretch>
        </p:blipFill>
        <p:spPr>
          <a:xfrm>
            <a:off x="4838596" y="4817143"/>
            <a:ext cx="2517131" cy="53842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662"/>
    </mc:Choice>
    <mc:Fallback>
      <p:transition spd="slow" advTm="10662"/>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zh-CN"/>
              <a:t>TF-IDF</a:t>
            </a:r>
            <a:endParaRPr lang="en-US" altLang="zh-CN"/>
          </a:p>
        </p:txBody>
      </p:sp>
      <p:sp>
        <p:nvSpPr>
          <p:cNvPr id="2" name="灯片编号占位符 1"/>
          <p:cNvSpPr>
            <a:spLocks noGrp="1"/>
          </p:cNvSpPr>
          <p:nvPr>
            <p:ph type="sldNum" sz="quarter" idx="12"/>
          </p:nvPr>
        </p:nvSpPr>
        <p:spPr/>
        <p:txBody>
          <a:bodyPr/>
          <a:p>
            <a:fld id="{D07771B2-D7F7-364E-B6F3-F7FE93606BCE}" type="slidenum">
              <a:rPr lang="en-US" sz="1600" smtClean="0"/>
            </a:fld>
            <a:endParaRPr lang="en-US" sz="1600"/>
          </a:p>
        </p:txBody>
      </p:sp>
      <p:sp>
        <p:nvSpPr>
          <p:cNvPr id="6" name="Content Placeholder 2"/>
          <p:cNvSpPr>
            <a:spLocks noGrp="1"/>
          </p:cNvSpPr>
          <p:nvPr>
            <p:ph idx="1"/>
            <p:custDataLst>
              <p:tags r:id="rId1"/>
            </p:custDataLst>
          </p:nvPr>
        </p:nvSpPr>
        <p:spPr>
          <a:xfrm>
            <a:off x="609600" y="2108200"/>
            <a:ext cx="5089313" cy="3681307"/>
          </a:xfrm>
        </p:spPr>
        <p:txBody>
          <a:bodyPr>
            <a:normAutofit fontScale="70000"/>
          </a:bodyPr>
          <a:lstStyle/>
          <a:p>
            <a:pPr marL="0" indent="0">
              <a:buNone/>
            </a:pPr>
            <a:r>
              <a:rPr lang="en-US" sz="2135" dirty="0"/>
              <a:t>from sklearn.feature_extraction.text import TfidfVectorizer </a:t>
            </a:r>
            <a:endParaRPr lang="en-US" sz="2135" dirty="0"/>
          </a:p>
          <a:p>
            <a:pPr marL="0" indent="0">
              <a:buNone/>
            </a:pPr>
            <a:endParaRPr lang="en-US" sz="2135" dirty="0"/>
          </a:p>
          <a:p>
            <a:pPr marL="0" indent="0">
              <a:buNone/>
            </a:pPr>
            <a:r>
              <a:rPr lang="en-US" sz="2135" dirty="0"/>
              <a:t>corpus = [ "The quick brown fox jumps over the lazy dog.", </a:t>
            </a:r>
            <a:endParaRPr lang="en-US" sz="2135" dirty="0"/>
          </a:p>
          <a:p>
            <a:pPr marL="0" indent="0">
              <a:buNone/>
            </a:pPr>
            <a:r>
              <a:rPr lang="en-US" sz="2135" dirty="0"/>
              <a:t>           "The quick brown foxes jump over the lazy dogs and cats.", </a:t>
            </a:r>
            <a:endParaRPr lang="en-US" sz="2135" dirty="0"/>
          </a:p>
          <a:p>
            <a:pPr marL="0" indent="0">
              <a:buNone/>
            </a:pPr>
            <a:r>
              <a:rPr lang="en-US" sz="2135" dirty="0"/>
              <a:t>           "The lazy dogs and cats watch the quick brown foxes jump over the moon."] </a:t>
            </a:r>
            <a:endParaRPr lang="en-US" sz="2135" dirty="0"/>
          </a:p>
          <a:p>
            <a:pPr marL="0" indent="0">
              <a:buNone/>
            </a:pPr>
            <a:endParaRPr lang="en-US" sz="2135" dirty="0"/>
          </a:p>
          <a:p>
            <a:pPr marL="0" indent="0">
              <a:buNone/>
            </a:pPr>
            <a:r>
              <a:rPr lang="en-US" sz="2135" dirty="0"/>
              <a:t>tfidf_vectorizer = TfidfVectorizer() </a:t>
            </a:r>
            <a:endParaRPr lang="en-US" sz="2135" dirty="0"/>
          </a:p>
          <a:p>
            <a:pPr marL="0" indent="0">
              <a:buNone/>
            </a:pPr>
            <a:r>
              <a:rPr lang="en-US" sz="2135" dirty="0"/>
              <a:t>tfidf_matrix = tfidf_vectorizer.fit_transform(corpus) </a:t>
            </a:r>
            <a:endParaRPr lang="en-US" sz="2135" dirty="0"/>
          </a:p>
          <a:p>
            <a:pPr marL="0" indent="0">
              <a:buNone/>
            </a:pPr>
            <a:r>
              <a:rPr lang="en-US" sz="2135" dirty="0"/>
              <a:t>print(tfidf_matrix.toarray())</a:t>
            </a:r>
            <a:endParaRPr lang="en-US" sz="2135" dirty="0"/>
          </a:p>
        </p:txBody>
      </p:sp>
      <p:sp>
        <p:nvSpPr>
          <p:cNvPr id="7" name="内容占位符 3"/>
          <p:cNvSpPr>
            <a:spLocks noGrp="1"/>
          </p:cNvSpPr>
          <p:nvPr>
            <p:custDataLst>
              <p:tags r:id="rId2"/>
            </p:custDataLst>
          </p:nvPr>
        </p:nvSpPr>
        <p:spPr>
          <a:xfrm>
            <a:off x="609600" y="1203113"/>
            <a:ext cx="6009640" cy="4942840"/>
          </a:xfrm>
          <a:prstGeom prst="rect">
            <a:avLst/>
          </a:prstGeom>
        </p:spPr>
        <p:txBody>
          <a:bodyPr vert="horz" lIns="121920" tIns="60960" rIns="121920" bIns="6096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r>
              <a:rPr lang="zh-CN" altLang="en-US" sz="3200"/>
              <a:t>Example</a:t>
            </a:r>
            <a:endParaRPr lang="zh-CN" altLang="en-US" sz="3200"/>
          </a:p>
        </p:txBody>
      </p:sp>
      <p:sp>
        <p:nvSpPr>
          <p:cNvPr id="8" name="内容占位符 3"/>
          <p:cNvSpPr>
            <a:spLocks noGrp="1"/>
          </p:cNvSpPr>
          <p:nvPr>
            <p:custDataLst>
              <p:tags r:id="rId3"/>
            </p:custDataLst>
          </p:nvPr>
        </p:nvSpPr>
        <p:spPr>
          <a:xfrm>
            <a:off x="6197600" y="1209040"/>
            <a:ext cx="6009640" cy="4942840"/>
          </a:xfrm>
          <a:prstGeom prst="rect">
            <a:avLst/>
          </a:prstGeom>
        </p:spPr>
        <p:txBody>
          <a:bodyPr vert="horz" lIns="121920" tIns="60960" rIns="121920" bIns="6096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r>
              <a:rPr lang="en-US" altLang="zh-CN" sz="3200"/>
              <a:t>Output</a:t>
            </a:r>
            <a:endParaRPr lang="en-US" altLang="zh-CN" sz="3200"/>
          </a:p>
        </p:txBody>
      </p:sp>
      <p:sp>
        <p:nvSpPr>
          <p:cNvPr id="9" name="Content Placeholder 2"/>
          <p:cNvSpPr>
            <a:spLocks noGrp="1"/>
          </p:cNvSpPr>
          <p:nvPr>
            <p:custDataLst>
              <p:tags r:id="rId4"/>
            </p:custDataLst>
          </p:nvPr>
        </p:nvSpPr>
        <p:spPr>
          <a:xfrm>
            <a:off x="6299200" y="2277533"/>
            <a:ext cx="4747260" cy="3064087"/>
          </a:xfrm>
          <a:prstGeom prst="rect">
            <a:avLst/>
          </a:prstGeom>
        </p:spPr>
        <p:txBody>
          <a:bodyPr vert="horz" lIns="121920" tIns="60960" rIns="121920" bIns="60960" rtlCol="0">
            <a:normAutofit/>
          </a:bodyPr>
          <a:lst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pPr marL="0" indent="0">
              <a:buNone/>
            </a:pPr>
            <a:r>
              <a:rPr lang="en-US" sz="2135" dirty="0"/>
              <a:t>[[0. 0. 0. 0.51785612 0. 0. 0. 0. 0. 0. 0.68091856 0.51785612 0. ] </a:t>
            </a:r>
            <a:endParaRPr lang="en-US" sz="2135" dirty="0"/>
          </a:p>
          <a:p>
            <a:pPr marL="0" indent="0">
              <a:buNone/>
            </a:pPr>
            <a:r>
              <a:rPr lang="en-US" sz="2135" dirty="0"/>
              <a:t>[0. 0. 0. 0.46519584 0. 0. 0.59817854 0. 0. 0. 0. 0.46519584 0.59817854] </a:t>
            </a:r>
            <a:endParaRPr lang="en-US" sz="2135" dirty="0"/>
          </a:p>
          <a:p>
            <a:pPr marL="0" indent="0">
              <a:buNone/>
            </a:pPr>
            <a:r>
              <a:rPr lang="en-US" sz="2135" dirty="0"/>
              <a:t>[0.33682422 0.33682422 0.33682422 0.30794004 0.33682422 0.33682422 0. 0.33682422 0.33682422 0.33682422 0. 0.30794004 0. ]]</a:t>
            </a:r>
            <a:endParaRPr lang="en-US" sz="213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6895" y="381000"/>
            <a:ext cx="8756015" cy="965200"/>
          </a:xfrm>
        </p:spPr>
        <p:txBody>
          <a:bodyPr/>
          <a:lstStyle/>
          <a:p>
            <a:r>
              <a:rPr lang="en-US" b="0" dirty="0"/>
              <a:t>Sparse versus dense vectors</a:t>
            </a:r>
            <a:endParaRPr lang="en-US" b="0" dirty="0"/>
          </a:p>
        </p:txBody>
      </p:sp>
      <p:sp>
        <p:nvSpPr>
          <p:cNvPr id="3" name="Content Placeholder 2"/>
          <p:cNvSpPr>
            <a:spLocks noGrp="1"/>
          </p:cNvSpPr>
          <p:nvPr>
            <p:ph idx="1"/>
          </p:nvPr>
        </p:nvSpPr>
        <p:spPr>
          <a:xfrm>
            <a:off x="914591" y="1524000"/>
            <a:ext cx="8534400" cy="4368800"/>
          </a:xfrm>
        </p:spPr>
        <p:txBody>
          <a:bodyPr/>
          <a:lstStyle/>
          <a:p>
            <a:pPr>
              <a:lnSpc>
                <a:spcPct val="100000"/>
              </a:lnSpc>
            </a:pPr>
            <a:r>
              <a:rPr lang="en-US" sz="3600" dirty="0" err="1"/>
              <a:t>tf-idf</a:t>
            </a:r>
            <a:r>
              <a:rPr lang="en-US" sz="3600" dirty="0"/>
              <a:t> (or PMI) vectors are</a:t>
            </a:r>
            <a:endParaRPr lang="en-US" sz="3600" dirty="0"/>
          </a:p>
          <a:p>
            <a:pPr lvl="1">
              <a:lnSpc>
                <a:spcPct val="100000"/>
              </a:lnSpc>
            </a:pPr>
            <a:r>
              <a:rPr lang="en-US" sz="3200" b="1" dirty="0"/>
              <a:t>long</a:t>
            </a:r>
            <a:r>
              <a:rPr lang="en-US" sz="3200" dirty="0"/>
              <a:t> (length |V|= 20,000 to 50,000)</a:t>
            </a:r>
            <a:endParaRPr lang="en-US" sz="3200" dirty="0"/>
          </a:p>
          <a:p>
            <a:pPr lvl="1">
              <a:lnSpc>
                <a:spcPct val="100000"/>
              </a:lnSpc>
            </a:pPr>
            <a:r>
              <a:rPr lang="en-US" sz="3200" b="1" dirty="0"/>
              <a:t>sparse </a:t>
            </a:r>
            <a:r>
              <a:rPr lang="en-US" sz="3200" dirty="0"/>
              <a:t>(most elements are zero)</a:t>
            </a:r>
            <a:endParaRPr lang="en-US" sz="3200" dirty="0"/>
          </a:p>
          <a:p>
            <a:pPr>
              <a:lnSpc>
                <a:spcPct val="100000"/>
              </a:lnSpc>
            </a:pPr>
            <a:r>
              <a:rPr lang="en-US" sz="3600" dirty="0"/>
              <a:t>Alternative: learn vectors which are</a:t>
            </a:r>
            <a:endParaRPr lang="en-US" sz="3600" dirty="0"/>
          </a:p>
          <a:p>
            <a:pPr lvl="1">
              <a:lnSpc>
                <a:spcPct val="100000"/>
              </a:lnSpc>
            </a:pPr>
            <a:r>
              <a:rPr lang="en-US" sz="3200" b="1" dirty="0"/>
              <a:t>short</a:t>
            </a:r>
            <a:r>
              <a:rPr lang="en-US" sz="3200" dirty="0"/>
              <a:t> (length 50-1000)</a:t>
            </a:r>
            <a:endParaRPr lang="en-US" sz="3200" dirty="0"/>
          </a:p>
          <a:p>
            <a:pPr lvl="1">
              <a:lnSpc>
                <a:spcPct val="100000"/>
              </a:lnSpc>
            </a:pPr>
            <a:r>
              <a:rPr lang="en-US" sz="3200" b="1" dirty="0"/>
              <a:t>dense</a:t>
            </a:r>
            <a:r>
              <a:rPr lang="en-US" sz="3200" dirty="0"/>
              <a:t> (most elements are non-zero)</a:t>
            </a:r>
            <a:endParaRPr lang="en-US"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81000"/>
            <a:ext cx="8577580" cy="742950"/>
          </a:xfrm>
        </p:spPr>
        <p:txBody>
          <a:bodyPr/>
          <a:lstStyle/>
          <a:p>
            <a:r>
              <a:rPr lang="en-US"/>
              <a:t>Sparse VS</a:t>
            </a:r>
            <a:r>
              <a:rPr lang="en-US"/>
              <a:t> dense </a:t>
            </a:r>
            <a:r>
              <a:rPr lang="en-US" dirty="0"/>
              <a:t>vectors</a:t>
            </a:r>
            <a:endParaRPr lang="en-US" dirty="0"/>
          </a:p>
        </p:txBody>
      </p:sp>
      <p:sp>
        <p:nvSpPr>
          <p:cNvPr id="3" name="Content Placeholder 2"/>
          <p:cNvSpPr>
            <a:spLocks noGrp="1"/>
          </p:cNvSpPr>
          <p:nvPr>
            <p:ph idx="1"/>
          </p:nvPr>
        </p:nvSpPr>
        <p:spPr>
          <a:xfrm>
            <a:off x="982683" y="1600200"/>
            <a:ext cx="10363200" cy="5029200"/>
          </a:xfrm>
        </p:spPr>
        <p:txBody>
          <a:bodyPr>
            <a:normAutofit/>
          </a:bodyPr>
          <a:lstStyle/>
          <a:p>
            <a:r>
              <a:rPr lang="en-US" sz="3600" dirty="0"/>
              <a:t>Why dense vectors?</a:t>
            </a:r>
            <a:endParaRPr lang="en-US" sz="3600" dirty="0"/>
          </a:p>
          <a:p>
            <a:pPr lvl="1"/>
            <a:r>
              <a:rPr lang="en-US" dirty="0"/>
              <a:t>Short vectors may be easier to use as </a:t>
            </a:r>
            <a:r>
              <a:rPr lang="en-US" b="1" dirty="0"/>
              <a:t>features</a:t>
            </a:r>
            <a:r>
              <a:rPr lang="en-US" dirty="0"/>
              <a:t> in machine learning (fewer weights to tune)</a:t>
            </a:r>
            <a:endParaRPr lang="en-US" dirty="0"/>
          </a:p>
          <a:p>
            <a:pPr lvl="1"/>
            <a:r>
              <a:rPr lang="en-US" dirty="0"/>
              <a:t>Dense vectors may </a:t>
            </a:r>
            <a:r>
              <a:rPr lang="en-US" b="1" dirty="0"/>
              <a:t>generalize</a:t>
            </a:r>
            <a:r>
              <a:rPr lang="en-US" dirty="0"/>
              <a:t> better than explicit counts</a:t>
            </a:r>
            <a:endParaRPr lang="en-US" dirty="0"/>
          </a:p>
          <a:p>
            <a:pPr lvl="1"/>
            <a:r>
              <a:rPr lang="en-US" dirty="0"/>
              <a:t>Dense vectors may do better at capturing synonymy:</a:t>
            </a:r>
            <a:endParaRPr lang="en-US" dirty="0"/>
          </a:p>
          <a:p>
            <a:pPr lvl="2"/>
            <a:r>
              <a:rPr lang="en-US" sz="2800" i="1" dirty="0"/>
              <a:t>car</a:t>
            </a:r>
            <a:r>
              <a:rPr lang="en-US" sz="2800" dirty="0"/>
              <a:t> and </a:t>
            </a:r>
            <a:r>
              <a:rPr lang="en-US" sz="2800" i="1" dirty="0"/>
              <a:t>automobile</a:t>
            </a:r>
            <a:r>
              <a:rPr lang="en-US" sz="2800" dirty="0"/>
              <a:t> are synonyms; but are distinct dimensions</a:t>
            </a:r>
            <a:endParaRPr lang="en-US" sz="2800" dirty="0"/>
          </a:p>
          <a:p>
            <a:pPr lvl="3"/>
            <a:r>
              <a:rPr lang="en-US" sz="2800" dirty="0"/>
              <a:t>a word with </a:t>
            </a:r>
            <a:r>
              <a:rPr lang="en-US" sz="2800" i="1" dirty="0"/>
              <a:t>car</a:t>
            </a:r>
            <a:r>
              <a:rPr lang="en-US" sz="2800" dirty="0"/>
              <a:t> as a neighbor and a word with </a:t>
            </a:r>
            <a:r>
              <a:rPr lang="en-US" sz="2800" i="1" dirty="0"/>
              <a:t>automobile</a:t>
            </a:r>
            <a:r>
              <a:rPr lang="en-US" sz="2800" dirty="0"/>
              <a:t> as a neighbor should be similar, but aren't</a:t>
            </a:r>
            <a:endParaRPr lang="en-US" sz="2800" dirty="0"/>
          </a:p>
          <a:p>
            <a:pPr lvl="1"/>
            <a:r>
              <a:rPr lang="en-US" b="1" dirty="0"/>
              <a:t>In practice, they work better</a:t>
            </a:r>
            <a:endParaRPr lang="en-US" b="1" dirty="0"/>
          </a:p>
        </p:txBody>
      </p:sp>
      <p:sp>
        <p:nvSpPr>
          <p:cNvPr id="4" name="Slide Number Placeholder 3"/>
          <p:cNvSpPr>
            <a:spLocks noGrp="1"/>
          </p:cNvSpPr>
          <p:nvPr>
            <p:ph type="sldNum" sz="quarter" idx="12"/>
          </p:nvPr>
        </p:nvSpPr>
        <p:spPr>
          <a:xfrm>
            <a:off x="1524000" y="5562600"/>
            <a:ext cx="1981200" cy="342900"/>
          </a:xfrm>
          <a:prstGeom prst="rect">
            <a:avLst/>
          </a:prstGeom>
        </p:spPr>
        <p:txBody>
          <a:bodyPr/>
          <a:lstStyle/>
          <a:p>
            <a:fld id="{10F35DC5-7E65-8247-99AB-4E984F8A921E}" type="slidenum">
              <a:rPr lang="en-US" smtClean="0"/>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4025" y="188595"/>
            <a:ext cx="11638915" cy="907415"/>
          </a:xfrm>
        </p:spPr>
        <p:txBody>
          <a:bodyPr>
            <a:noAutofit/>
          </a:bodyPr>
          <a:lstStyle/>
          <a:p>
            <a:r>
              <a:rPr lang="en-US" dirty="0"/>
              <a:t>Common methods for getting short dense vectors</a:t>
            </a:r>
            <a:endParaRPr lang="en-US" dirty="0"/>
          </a:p>
        </p:txBody>
      </p:sp>
      <p:sp>
        <p:nvSpPr>
          <p:cNvPr id="3" name="Content Placeholder 2"/>
          <p:cNvSpPr>
            <a:spLocks noGrp="1"/>
          </p:cNvSpPr>
          <p:nvPr>
            <p:ph idx="1"/>
          </p:nvPr>
        </p:nvSpPr>
        <p:spPr>
          <a:xfrm>
            <a:off x="1097281" y="1600200"/>
            <a:ext cx="10058401" cy="4876800"/>
          </a:xfrm>
        </p:spPr>
        <p:txBody>
          <a:bodyPr>
            <a:normAutofit/>
          </a:bodyPr>
          <a:lstStyle/>
          <a:p>
            <a:r>
              <a:rPr lang="en-US" dirty="0"/>
              <a:t>“Neural Language Model”-inspired models</a:t>
            </a:r>
            <a:endParaRPr lang="en-US" dirty="0"/>
          </a:p>
          <a:p>
            <a:pPr lvl="1"/>
            <a:r>
              <a:rPr lang="en-US" dirty="0"/>
              <a:t>Word2vec (</a:t>
            </a:r>
            <a:r>
              <a:rPr lang="en-US" dirty="0" err="1"/>
              <a:t>skipgram</a:t>
            </a:r>
            <a:r>
              <a:rPr lang="en-US" dirty="0"/>
              <a:t>, CBOW), </a:t>
            </a:r>
            <a:r>
              <a:rPr lang="en-US" dirty="0" err="1"/>
              <a:t>GloVe</a:t>
            </a:r>
            <a:endParaRPr lang="en-US" dirty="0"/>
          </a:p>
          <a:p>
            <a:r>
              <a:rPr lang="en-US" dirty="0">
                <a:solidFill>
                  <a:schemeClr val="bg1">
                    <a:lumMod val="50000"/>
                  </a:schemeClr>
                </a:solidFill>
              </a:rPr>
              <a:t>Singular Value Decomposition (SVD)</a:t>
            </a:r>
            <a:endParaRPr lang="en-US" dirty="0">
              <a:solidFill>
                <a:schemeClr val="bg1">
                  <a:lumMod val="50000"/>
                </a:schemeClr>
              </a:solidFill>
            </a:endParaRPr>
          </a:p>
          <a:p>
            <a:pPr lvl="1"/>
            <a:r>
              <a:rPr lang="en-US" dirty="0">
                <a:solidFill>
                  <a:schemeClr val="bg1">
                    <a:lumMod val="50000"/>
                  </a:schemeClr>
                </a:solidFill>
              </a:rPr>
              <a:t>A special case of this is called LSA – Latent Semantic Analysis</a:t>
            </a:r>
            <a:endParaRPr lang="en-US" dirty="0">
              <a:solidFill>
                <a:schemeClr val="bg1">
                  <a:lumMod val="50000"/>
                </a:schemeClr>
              </a:solidFill>
            </a:endParaRPr>
          </a:p>
          <a:p>
            <a:r>
              <a:rPr lang="en-US" dirty="0">
                <a:solidFill>
                  <a:schemeClr val="bg1">
                    <a:lumMod val="50000"/>
                  </a:schemeClr>
                </a:solidFill>
              </a:rPr>
              <a:t>Alternative to these "static embeddings":</a:t>
            </a:r>
            <a:endParaRPr lang="en-US" dirty="0">
              <a:solidFill>
                <a:schemeClr val="bg1">
                  <a:lumMod val="50000"/>
                </a:schemeClr>
              </a:solidFill>
            </a:endParaRPr>
          </a:p>
          <a:p>
            <a:pPr marL="1100455" lvl="1" indent="-571500">
              <a:buFont typeface="Arial" panose="020B0604020202090204" pitchFamily="34" charset="0"/>
              <a:buChar char="•"/>
            </a:pPr>
            <a:r>
              <a:rPr lang="en-US" dirty="0">
                <a:solidFill>
                  <a:schemeClr val="bg1">
                    <a:lumMod val="50000"/>
                  </a:schemeClr>
                </a:solidFill>
              </a:rPr>
              <a:t>Contextual Embeddings (</a:t>
            </a:r>
            <a:r>
              <a:rPr lang="en-US" dirty="0" err="1">
                <a:solidFill>
                  <a:schemeClr val="bg1">
                    <a:lumMod val="50000"/>
                  </a:schemeClr>
                </a:solidFill>
              </a:rPr>
              <a:t>ELMo</a:t>
            </a:r>
            <a:r>
              <a:rPr lang="en-US" dirty="0">
                <a:solidFill>
                  <a:schemeClr val="bg1">
                    <a:lumMod val="50000"/>
                  </a:schemeClr>
                </a:solidFill>
              </a:rPr>
              <a:t>, BERT)</a:t>
            </a:r>
            <a:endParaRPr lang="en-US" dirty="0">
              <a:solidFill>
                <a:schemeClr val="bg1">
                  <a:lumMod val="50000"/>
                </a:schemeClr>
              </a:solidFill>
            </a:endParaRPr>
          </a:p>
          <a:p>
            <a:pPr marL="1100455" lvl="1" indent="-571500">
              <a:buFont typeface="Arial" panose="020B0604020202090204" pitchFamily="34" charset="0"/>
              <a:buChar char="•"/>
            </a:pPr>
            <a:r>
              <a:rPr lang="en-US" dirty="0">
                <a:solidFill>
                  <a:schemeClr val="bg1">
                    <a:lumMod val="50000"/>
                  </a:schemeClr>
                </a:solidFill>
              </a:rPr>
              <a:t>Compute distinct embeddings for a word in its context</a:t>
            </a:r>
            <a:endParaRPr lang="en-US" dirty="0">
              <a:solidFill>
                <a:schemeClr val="bg1">
                  <a:lumMod val="50000"/>
                </a:schemeClr>
              </a:solidFill>
            </a:endParaRPr>
          </a:p>
          <a:p>
            <a:pPr marL="1100455" lvl="1" indent="-571500">
              <a:buFont typeface="Arial" panose="020B0604020202090204" pitchFamily="34" charset="0"/>
              <a:buChar char="•"/>
            </a:pPr>
            <a:r>
              <a:rPr lang="en-US" dirty="0">
                <a:solidFill>
                  <a:schemeClr val="bg1">
                    <a:lumMod val="50000"/>
                  </a:schemeClr>
                </a:solidFill>
              </a:rPr>
              <a:t>Separate embeddings for each token of a word</a:t>
            </a:r>
            <a:endParaRPr lang="en-US" dirty="0">
              <a:solidFill>
                <a:schemeClr val="bg1">
                  <a:lumMod val="5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28600"/>
            <a:ext cx="10363200" cy="990600"/>
          </a:xfrm>
        </p:spPr>
        <p:txBody>
          <a:bodyPr>
            <a:normAutofit fontScale="90000"/>
          </a:bodyPr>
          <a:lstStyle/>
          <a:p>
            <a:r>
              <a:rPr lang="en-US" dirty="0"/>
              <a:t>Simple static embeddings you can download!</a:t>
            </a:r>
            <a:endParaRPr lang="en-US" dirty="0"/>
          </a:p>
        </p:txBody>
      </p:sp>
      <p:sp>
        <p:nvSpPr>
          <p:cNvPr id="3" name="Content Placeholder 2"/>
          <p:cNvSpPr>
            <a:spLocks noGrp="1"/>
          </p:cNvSpPr>
          <p:nvPr>
            <p:ph idx="1"/>
          </p:nvPr>
        </p:nvSpPr>
        <p:spPr>
          <a:xfrm>
            <a:off x="1371600" y="2038814"/>
            <a:ext cx="9220200" cy="3811694"/>
          </a:xfrm>
        </p:spPr>
        <p:txBody>
          <a:bodyPr/>
          <a:lstStyle/>
          <a:p>
            <a:r>
              <a:rPr lang="en-US" sz="3200" dirty="0"/>
              <a:t>Word2vec (</a:t>
            </a:r>
            <a:r>
              <a:rPr lang="en-US" sz="3200" dirty="0" err="1"/>
              <a:t>Mikolov</a:t>
            </a:r>
            <a:r>
              <a:rPr lang="en-US" sz="3200" dirty="0"/>
              <a:t> et al)</a:t>
            </a:r>
            <a:endParaRPr lang="en-US" sz="3200" dirty="0"/>
          </a:p>
          <a:p>
            <a:r>
              <a:rPr lang="en-US" sz="3200" dirty="0">
                <a:hlinkClick r:id="rId1"/>
              </a:rPr>
              <a:t>https://code.google.com/archive/p/word2vec/</a:t>
            </a:r>
            <a:endParaRPr lang="en-US" sz="3200" dirty="0"/>
          </a:p>
          <a:p>
            <a:endParaRPr lang="en-US" sz="3200" dirty="0"/>
          </a:p>
          <a:p>
            <a:r>
              <a:rPr lang="en-US" sz="3200" dirty="0" err="1"/>
              <a:t>GloVe</a:t>
            </a:r>
            <a:r>
              <a:rPr lang="en-US" sz="3200" dirty="0"/>
              <a:t> (Pennington, </a:t>
            </a:r>
            <a:r>
              <a:rPr lang="en-US" sz="3200" dirty="0" err="1"/>
              <a:t>Socher</a:t>
            </a:r>
            <a:r>
              <a:rPr lang="en-US" sz="3200" dirty="0"/>
              <a:t>, Manning)</a:t>
            </a:r>
            <a:endParaRPr lang="en-US" sz="3200" dirty="0"/>
          </a:p>
          <a:p>
            <a:r>
              <a:rPr lang="en-US" sz="3200" dirty="0">
                <a:hlinkClick r:id="rId2"/>
              </a:rPr>
              <a:t>http://nlp.stanford.edu/projects/glove/</a:t>
            </a:r>
            <a:endParaRPr lang="en-US" sz="3200"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86605"/>
            <a:ext cx="8900160" cy="1084996"/>
          </a:xfrm>
        </p:spPr>
        <p:txBody>
          <a:bodyPr/>
          <a:lstStyle/>
          <a:p>
            <a:r>
              <a:rPr lang="en-US" b="0" dirty="0"/>
              <a:t>Word2vec</a:t>
            </a:r>
            <a:endParaRPr lang="en-US" b="0" dirty="0"/>
          </a:p>
        </p:txBody>
      </p:sp>
      <p:sp>
        <p:nvSpPr>
          <p:cNvPr id="3" name="Content Placeholder 2"/>
          <p:cNvSpPr>
            <a:spLocks noGrp="1"/>
          </p:cNvSpPr>
          <p:nvPr>
            <p:ph idx="1"/>
          </p:nvPr>
        </p:nvSpPr>
        <p:spPr>
          <a:xfrm>
            <a:off x="1019298" y="1524000"/>
            <a:ext cx="10867901" cy="4555066"/>
          </a:xfrm>
        </p:spPr>
        <p:txBody>
          <a:bodyPr/>
          <a:lstStyle/>
          <a:p>
            <a:r>
              <a:rPr lang="en-US" sz="3600" dirty="0"/>
              <a:t>Popular embedding method</a:t>
            </a:r>
            <a:endParaRPr lang="en-US" sz="3600" dirty="0"/>
          </a:p>
          <a:p>
            <a:r>
              <a:rPr lang="en-US" sz="3600" dirty="0"/>
              <a:t>Very fast to train</a:t>
            </a:r>
            <a:endParaRPr lang="en-US" sz="3600" dirty="0"/>
          </a:p>
          <a:p>
            <a:r>
              <a:rPr lang="en-US" sz="3600" dirty="0"/>
              <a:t>Code available on the web</a:t>
            </a:r>
            <a:endParaRPr lang="en-US" sz="3600" dirty="0"/>
          </a:p>
          <a:p>
            <a:r>
              <a:rPr lang="en-US" sz="3600" dirty="0"/>
              <a:t>Idea: </a:t>
            </a:r>
            <a:r>
              <a:rPr lang="en-US" sz="3600" b="1" dirty="0"/>
              <a:t>predict</a:t>
            </a:r>
            <a:r>
              <a:rPr lang="en-US" sz="3600" dirty="0"/>
              <a:t> rather than </a:t>
            </a:r>
            <a:r>
              <a:rPr lang="en-US" sz="3600" b="1" dirty="0"/>
              <a:t>count</a:t>
            </a:r>
            <a:endParaRPr lang="en-US" sz="3600" b="1" dirty="0"/>
          </a:p>
          <a:p>
            <a:r>
              <a:rPr lang="en-US" sz="3600" dirty="0"/>
              <a:t>Word2vec provides various options. We'll do:</a:t>
            </a:r>
            <a:endParaRPr lang="en-US" sz="3600" dirty="0"/>
          </a:p>
          <a:p>
            <a:pPr lvl="1"/>
            <a:r>
              <a:rPr lang="en-US" b="1" dirty="0">
                <a:solidFill>
                  <a:srgbClr val="0000FF"/>
                </a:solidFill>
              </a:rPr>
              <a:t>Skip-gram with negative sampling (SGNS)</a:t>
            </a:r>
            <a:endParaRPr lang="en-US" b="1" dirty="0">
              <a:solidFill>
                <a:srgbClr val="0000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86605"/>
            <a:ext cx="8823960" cy="1237396"/>
          </a:xfrm>
        </p:spPr>
        <p:txBody>
          <a:bodyPr/>
          <a:lstStyle/>
          <a:p>
            <a:r>
              <a:rPr lang="en-US" dirty="0"/>
              <a:t>Word2vec</a:t>
            </a:r>
            <a:endParaRPr lang="en-US" dirty="0"/>
          </a:p>
        </p:txBody>
      </p:sp>
      <p:sp>
        <p:nvSpPr>
          <p:cNvPr id="3" name="Content Placeholder 2"/>
          <p:cNvSpPr>
            <a:spLocks noGrp="1"/>
          </p:cNvSpPr>
          <p:nvPr>
            <p:ph idx="1"/>
          </p:nvPr>
        </p:nvSpPr>
        <p:spPr>
          <a:xfrm>
            <a:off x="685800" y="1371600"/>
            <a:ext cx="11277600" cy="5181600"/>
          </a:xfrm>
        </p:spPr>
        <p:txBody>
          <a:bodyPr>
            <a:normAutofit fontScale="92500"/>
          </a:bodyPr>
          <a:lstStyle/>
          <a:p>
            <a:r>
              <a:rPr lang="en-US" sz="3300" i="1" dirty="0">
                <a:latin typeface="Times New Roman Italic" panose="02020503050405090304" charset="0"/>
                <a:cs typeface="Times New Roman Italic" panose="02020503050405090304" charset="0"/>
              </a:rPr>
              <a:t>Instead of counting how often each word w occurs near "apricot"</a:t>
            </a:r>
            <a:endParaRPr lang="en-US" sz="3300" i="1" dirty="0">
              <a:latin typeface="Times New Roman Italic" panose="02020503050405090304" charset="0"/>
              <a:cs typeface="Times New Roman Italic" panose="02020503050405090304" charset="0"/>
            </a:endParaRPr>
          </a:p>
          <a:p>
            <a:pPr lvl="1"/>
            <a:r>
              <a:rPr lang="en-US" i="1" dirty="0">
                <a:latin typeface="Times New Roman Italic" panose="02020503050405090304" charset="0"/>
                <a:cs typeface="Times New Roman Italic" panose="02020503050405090304" charset="0"/>
              </a:rPr>
              <a:t>Train a classifier on a binary prediction task:</a:t>
            </a:r>
            <a:endParaRPr lang="en-US" i="1" dirty="0">
              <a:latin typeface="Times New Roman Italic" panose="02020503050405090304" charset="0"/>
              <a:cs typeface="Times New Roman Italic" panose="02020503050405090304" charset="0"/>
            </a:endParaRPr>
          </a:p>
          <a:p>
            <a:pPr lvl="2"/>
            <a:r>
              <a:rPr lang="en-US" sz="2800" i="1" dirty="0">
                <a:latin typeface="Times New Roman Italic" panose="02020503050405090304" charset="0"/>
                <a:cs typeface="Times New Roman Italic" panose="02020503050405090304" charset="0"/>
              </a:rPr>
              <a:t>Is w likely to show up near "apricot"?</a:t>
            </a:r>
            <a:endParaRPr lang="en-US" i="1" dirty="0">
              <a:latin typeface="Times New Roman Italic" panose="02020503050405090304" charset="0"/>
              <a:cs typeface="Times New Roman Italic" panose="02020503050405090304" charset="0"/>
            </a:endParaRPr>
          </a:p>
          <a:p>
            <a:r>
              <a:rPr lang="en-US" sz="3300" i="1" dirty="0">
                <a:latin typeface="Times New Roman Italic" panose="02020503050405090304" charset="0"/>
                <a:cs typeface="Times New Roman Italic" panose="02020503050405090304" charset="0"/>
              </a:rPr>
              <a:t>We don’t actually care about this task</a:t>
            </a:r>
            <a:endParaRPr lang="en-US" sz="3300" i="1" dirty="0">
              <a:latin typeface="Times New Roman Italic" panose="02020503050405090304" charset="0"/>
              <a:cs typeface="Times New Roman Italic" panose="02020503050405090304" charset="0"/>
            </a:endParaRPr>
          </a:p>
          <a:p>
            <a:pPr lvl="2"/>
            <a:r>
              <a:rPr lang="en-US" sz="2800" i="1" dirty="0">
                <a:latin typeface="Times New Roman Italic" panose="02020503050405090304" charset="0"/>
                <a:cs typeface="Times New Roman Italic" panose="02020503050405090304" charset="0"/>
              </a:rPr>
              <a:t>But we'll take the learned classifier weights as the word embeddings</a:t>
            </a:r>
            <a:endParaRPr lang="en-US" sz="2800" i="1" dirty="0">
              <a:latin typeface="Times New Roman Italic" panose="02020503050405090304" charset="0"/>
              <a:cs typeface="Times New Roman Italic" panose="02020503050405090304" charset="0"/>
            </a:endParaRPr>
          </a:p>
          <a:p>
            <a:r>
              <a:rPr lang="en-US" sz="3300" i="1" dirty="0">
                <a:latin typeface="Times New Roman Italic" panose="02020503050405090304" charset="0"/>
                <a:cs typeface="Times New Roman Italic" panose="02020503050405090304" charset="0"/>
              </a:rPr>
              <a:t>Big idea:  </a:t>
            </a:r>
            <a:r>
              <a:rPr lang="en-US" sz="3300" i="1" dirty="0">
                <a:solidFill>
                  <a:srgbClr val="0000FF"/>
                </a:solidFill>
                <a:latin typeface="Times New Roman Italic" panose="02020503050405090304" charset="0"/>
                <a:cs typeface="Times New Roman Italic" panose="02020503050405090304" charset="0"/>
              </a:rPr>
              <a:t>self-supervision</a:t>
            </a:r>
            <a:r>
              <a:rPr lang="en-US" sz="3300" i="1" dirty="0">
                <a:latin typeface="Times New Roman Italic" panose="02020503050405090304" charset="0"/>
                <a:cs typeface="Times New Roman Italic" panose="02020503050405090304" charset="0"/>
              </a:rPr>
              <a:t>: </a:t>
            </a:r>
            <a:endParaRPr lang="en-US" sz="3300" i="1" dirty="0">
              <a:latin typeface="Times New Roman Italic" panose="02020503050405090304" charset="0"/>
              <a:cs typeface="Times New Roman Italic" panose="02020503050405090304" charset="0"/>
            </a:endParaRPr>
          </a:p>
          <a:p>
            <a:pPr lvl="2"/>
            <a:r>
              <a:rPr lang="en-US" sz="2800" i="1" dirty="0">
                <a:latin typeface="Times New Roman Italic" panose="02020503050405090304" charset="0"/>
                <a:cs typeface="Times New Roman Italic" panose="02020503050405090304" charset="0"/>
              </a:rPr>
              <a:t>A word c that occurs near apricot in the corpus cats as the gold "correct answer" for supervised learning</a:t>
            </a:r>
            <a:endParaRPr lang="en-US" sz="2800" i="1" dirty="0">
              <a:latin typeface="Times New Roman Italic" panose="02020503050405090304" charset="0"/>
              <a:cs typeface="Times New Roman Italic" panose="02020503050405090304" charset="0"/>
            </a:endParaRPr>
          </a:p>
          <a:p>
            <a:pPr lvl="2"/>
            <a:r>
              <a:rPr lang="en-US" sz="2800" i="1" dirty="0">
                <a:latin typeface="Times New Roman Italic" panose="02020503050405090304" charset="0"/>
                <a:cs typeface="Times New Roman Italic" panose="02020503050405090304" charset="0"/>
              </a:rPr>
              <a:t>No need for human labels</a:t>
            </a:r>
            <a:endParaRPr lang="en-US" sz="2800" i="1" dirty="0">
              <a:latin typeface="Times New Roman Italic" panose="02020503050405090304" charset="0"/>
              <a:cs typeface="Times New Roman Italic" panose="02020503050405090304" charset="0"/>
            </a:endParaRPr>
          </a:p>
          <a:p>
            <a:pPr lvl="2"/>
            <a:r>
              <a:rPr lang="en-US" i="1" dirty="0" err="1">
                <a:latin typeface="Times New Roman Italic" panose="02020503050405090304" charset="0"/>
                <a:cs typeface="Times New Roman Italic" panose="02020503050405090304" charset="0"/>
              </a:rPr>
              <a:t>Bengio</a:t>
            </a:r>
            <a:r>
              <a:rPr lang="en-US" i="1" dirty="0">
                <a:latin typeface="Times New Roman Italic" panose="02020503050405090304" charset="0"/>
                <a:cs typeface="Times New Roman Italic" panose="02020503050405090304" charset="0"/>
              </a:rPr>
              <a:t> et al. (2003); </a:t>
            </a:r>
            <a:r>
              <a:rPr lang="en-US" i="1" dirty="0" err="1">
                <a:latin typeface="Times New Roman Italic" panose="02020503050405090304" charset="0"/>
                <a:cs typeface="Times New Roman Italic" panose="02020503050405090304" charset="0"/>
              </a:rPr>
              <a:t>Collobert</a:t>
            </a:r>
            <a:r>
              <a:rPr lang="en-US" i="1" dirty="0">
                <a:latin typeface="Times New Roman Italic" panose="02020503050405090304" charset="0"/>
                <a:cs typeface="Times New Roman Italic" panose="02020503050405090304" charset="0"/>
              </a:rPr>
              <a:t> et al. (2011) </a:t>
            </a:r>
            <a:endParaRPr lang="en-US" i="1" dirty="0">
              <a:latin typeface="Times New Roman Italic" panose="02020503050405090304" charset="0"/>
              <a:cs typeface="Times New Roman Italic" panose="02020503050405090304" charset="0"/>
            </a:endParaRPr>
          </a:p>
          <a:p>
            <a:pPr lvl="2"/>
            <a:endParaRPr lang="en-US" sz="2800" i="1" dirty="0">
              <a:latin typeface="Times New Roman Italic" panose="02020503050405090304" charset="0"/>
              <a:cs typeface="Times New Roman Italic" panose="02020503050405090304" charset="0"/>
            </a:endParaRPr>
          </a:p>
          <a:p>
            <a:endParaRPr lang="en-US" i="1" dirty="0">
              <a:latin typeface="Times New Roman Italic" panose="02020503050405090304" charset="0"/>
              <a:cs typeface="Times New Roman Italic" panose="02020503050405090304" charset="0"/>
            </a:endParaRPr>
          </a:p>
          <a:p>
            <a:endParaRPr lang="en-US" i="1" dirty="0">
              <a:latin typeface="Times New Roman Italic" panose="02020503050405090304" charset="0"/>
              <a:cs typeface="Times New Roman Italic" panose="0202050305040509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90500"/>
            <a:ext cx="11247119" cy="990600"/>
          </a:xfrm>
        </p:spPr>
        <p:txBody>
          <a:bodyPr>
            <a:normAutofit fontScale="90000"/>
          </a:bodyPr>
          <a:lstStyle/>
          <a:p>
            <a:r>
              <a:rPr lang="en-US" sz="4200" b="0" dirty="0"/>
              <a:t>Approach: predict if candidate word </a:t>
            </a:r>
            <a:r>
              <a:rPr lang="en-US" sz="4200" b="0" i="1" dirty="0"/>
              <a:t>c</a:t>
            </a:r>
            <a:r>
              <a:rPr lang="en-US" sz="4200" b="0" dirty="0"/>
              <a:t> is a "neighbor"</a:t>
            </a:r>
            <a:endParaRPr lang="en-US" sz="4200" b="0" dirty="0"/>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sz="3200" dirty="0"/>
              <a:t>Treat the target word </a:t>
            </a:r>
            <a:r>
              <a:rPr lang="en-US" sz="3200" i="1" dirty="0">
                <a:solidFill>
                  <a:srgbClr val="00B0F0"/>
                </a:solidFill>
              </a:rPr>
              <a:t>t</a:t>
            </a:r>
            <a:r>
              <a:rPr lang="en-US" sz="3200" dirty="0">
                <a:solidFill>
                  <a:srgbClr val="00B0F0"/>
                </a:solidFill>
              </a:rPr>
              <a:t> </a:t>
            </a:r>
            <a:r>
              <a:rPr lang="en-US" sz="3200" dirty="0"/>
              <a:t>and a neighboring context word </a:t>
            </a:r>
            <a:r>
              <a:rPr lang="en-US" sz="3200" i="1" dirty="0">
                <a:solidFill>
                  <a:srgbClr val="00B0F0"/>
                </a:solidFill>
              </a:rPr>
              <a:t>c</a:t>
            </a:r>
            <a:r>
              <a:rPr lang="en-US" sz="3200" dirty="0"/>
              <a:t> as </a:t>
            </a:r>
            <a:r>
              <a:rPr lang="en-US" sz="3200" b="1" dirty="0"/>
              <a:t>positive examples</a:t>
            </a:r>
            <a:r>
              <a:rPr lang="en-US" sz="3200" dirty="0"/>
              <a:t>.</a:t>
            </a:r>
            <a:endParaRPr lang="en-US" sz="3200" dirty="0"/>
          </a:p>
          <a:p>
            <a:pPr marL="514350" indent="-514350">
              <a:buFont typeface="+mj-lt"/>
              <a:buAutoNum type="arabicPeriod"/>
            </a:pPr>
            <a:r>
              <a:rPr lang="en-US" sz="3200" dirty="0"/>
              <a:t>Randomly sample other words in the lexicon to get negative examples</a:t>
            </a:r>
            <a:endParaRPr lang="en-US" sz="3200" dirty="0"/>
          </a:p>
          <a:p>
            <a:pPr marL="514350" indent="-514350">
              <a:buFont typeface="+mj-lt"/>
              <a:buAutoNum type="arabicPeriod"/>
            </a:pPr>
            <a:r>
              <a:rPr lang="en-US" sz="3200" dirty="0"/>
              <a:t>Use logistic regression to train a classifier to distinguish those two cases</a:t>
            </a:r>
            <a:endParaRPr lang="en-US" sz="3200" dirty="0"/>
          </a:p>
          <a:p>
            <a:pPr marL="514350" indent="-514350">
              <a:buFont typeface="+mj-lt"/>
              <a:buAutoNum type="arabicPeriod"/>
            </a:pPr>
            <a:r>
              <a:rPr lang="en-US" sz="3200" dirty="0"/>
              <a:t>Use the learned weights as the embeddings</a:t>
            </a:r>
            <a:endParaRPr lang="en-US" sz="3200" dirty="0"/>
          </a:p>
          <a:p>
            <a:endParaRPr lang="en-US" dirty="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Skip-Gram Training Data</a:t>
            </a:r>
            <a:endParaRPr lang="en-US" b="0" dirty="0"/>
          </a:p>
        </p:txBody>
      </p:sp>
      <p:sp>
        <p:nvSpPr>
          <p:cNvPr id="3" name="Content Placeholder 2"/>
          <p:cNvSpPr>
            <a:spLocks noGrp="1"/>
          </p:cNvSpPr>
          <p:nvPr>
            <p:ph idx="1"/>
          </p:nvPr>
        </p:nvSpPr>
        <p:spPr>
          <a:xfrm>
            <a:off x="1014730" y="2150745"/>
            <a:ext cx="9606915" cy="4707255"/>
          </a:xfrm>
        </p:spPr>
        <p:txBody>
          <a:bodyPr>
            <a:normAutofit/>
          </a:bodyPr>
          <a:lstStyle/>
          <a:p>
            <a:r>
              <a:rPr lang="en-US" sz="3200" dirty="0"/>
              <a:t>Assume a +/- 2 word window, given training sentence:</a:t>
            </a:r>
            <a:endParaRPr lang="en-US" sz="3200" dirty="0"/>
          </a:p>
          <a:p>
            <a:endParaRPr lang="en-US" sz="3200" dirty="0"/>
          </a:p>
          <a:p>
            <a:pPr marL="201295" lvl="1" indent="0">
              <a:spcAft>
                <a:spcPts val="0"/>
              </a:spcAft>
              <a:buNone/>
            </a:pPr>
            <a:endParaRPr lang="en-US" sz="3200" dirty="0"/>
          </a:p>
          <a:p>
            <a:pPr marL="0" indent="0">
              <a:buNone/>
            </a:pPr>
            <a:endParaRPr lang="en-US" sz="3200" dirty="0"/>
          </a:p>
        </p:txBody>
      </p:sp>
      <p:sp>
        <p:nvSpPr>
          <p:cNvPr id="6" name="Rounded Rectangle 5"/>
          <p:cNvSpPr/>
          <p:nvPr/>
        </p:nvSpPr>
        <p:spPr bwMode="auto">
          <a:xfrm>
            <a:off x="3808771" y="3048000"/>
            <a:ext cx="5142310" cy="374571"/>
          </a:xfrm>
          <a:prstGeom prst="roundRect">
            <a:avLst/>
          </a:prstGeom>
          <a:solidFill>
            <a:srgbClr val="FFFF00">
              <a:alpha val="26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fontAlgn="base">
              <a:spcBef>
                <a:spcPct val="0"/>
              </a:spcBef>
              <a:spcAft>
                <a:spcPct val="0"/>
              </a:spcAft>
              <a:defRPr/>
            </a:pPr>
            <a:endParaRPr lang="en-US" sz="1600" dirty="0">
              <a:solidFill>
                <a:srgbClr val="009900"/>
              </a:solidFill>
              <a:latin typeface="Tahoma" panose="020B0604030504040204" charset="0"/>
            </a:endParaRPr>
          </a:p>
        </p:txBody>
      </p:sp>
      <p:sp>
        <p:nvSpPr>
          <p:cNvPr id="7" name="Rounded Rectangle 6"/>
          <p:cNvSpPr/>
          <p:nvPr/>
        </p:nvSpPr>
        <p:spPr bwMode="auto">
          <a:xfrm>
            <a:off x="6400800" y="3048000"/>
            <a:ext cx="1163875" cy="374571"/>
          </a:xfrm>
          <a:prstGeom prst="roundRect">
            <a:avLst/>
          </a:prstGeom>
          <a:solidFill>
            <a:srgbClr val="FF0066">
              <a:alpha val="26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fontAlgn="base">
              <a:spcBef>
                <a:spcPct val="0"/>
              </a:spcBef>
              <a:spcAft>
                <a:spcPct val="0"/>
              </a:spcAft>
              <a:defRPr/>
            </a:pPr>
            <a:endParaRPr lang="en-US" sz="1600">
              <a:solidFill>
                <a:srgbClr val="009900"/>
              </a:solidFill>
              <a:latin typeface="Tahoma" panose="020B0604030504040204" charset="0"/>
            </a:endParaRPr>
          </a:p>
        </p:txBody>
      </p:sp>
      <p:sp>
        <p:nvSpPr>
          <p:cNvPr id="4" name="Rectangle 3"/>
          <p:cNvSpPr/>
          <p:nvPr/>
        </p:nvSpPr>
        <p:spPr>
          <a:xfrm>
            <a:off x="1666191" y="3352800"/>
            <a:ext cx="5953809" cy="523220"/>
          </a:xfrm>
          <a:prstGeom prst="rect">
            <a:avLst/>
          </a:prstGeom>
        </p:spPr>
        <p:txBody>
          <a:bodyPr wrap="none">
            <a:spAutoFit/>
          </a:bodyPr>
          <a:lstStyle/>
          <a:p>
            <a:r>
              <a:rPr lang="en-US" sz="2800" dirty="0">
                <a:latin typeface="Times New Roman" panose="02020503050405090304" pitchFamily="18" charset="0"/>
                <a:cs typeface="Times New Roman" panose="02020503050405090304" pitchFamily="18" charset="0"/>
              </a:rPr>
              <a:t>		                                </a:t>
            </a:r>
            <a:r>
              <a:rPr lang="en-US" sz="2800" dirty="0">
                <a:solidFill>
                  <a:srgbClr val="FF0000"/>
                </a:solidFill>
                <a:latin typeface="Times New Roman" panose="02020503050405090304" pitchFamily="18" charset="0"/>
                <a:cs typeface="Times New Roman" panose="02020503050405090304" pitchFamily="18" charset="0"/>
              </a:rPr>
              <a:t>[target]</a:t>
            </a:r>
            <a:endParaRPr lang="en-US" sz="2800" dirty="0">
              <a:latin typeface="Times New Roman" panose="02020503050405090304" pitchFamily="18" charset="0"/>
              <a:cs typeface="Times New Roman" panose="02020503050405090304" pitchFamily="18" charset="0"/>
            </a:endParaRPr>
          </a:p>
        </p:txBody>
      </p:sp>
      <p:pic>
        <p:nvPicPr>
          <p:cNvPr id="8" name="图片 7"/>
          <p:cNvPicPr>
            <a:picLocks noChangeAspect="1"/>
          </p:cNvPicPr>
          <p:nvPr>
            <p:custDataLst>
              <p:tags r:id="rId1"/>
            </p:custDataLst>
          </p:nvPr>
        </p:nvPicPr>
        <p:blipFill>
          <a:blip r:embed="rId2"/>
          <a:stretch>
            <a:fillRect/>
          </a:stretch>
        </p:blipFill>
        <p:spPr>
          <a:xfrm>
            <a:off x="1600200" y="4267200"/>
            <a:ext cx="8902700" cy="939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Skip-Gram Classifier</a:t>
            </a:r>
            <a:endParaRPr lang="en-US" b="0" dirty="0"/>
          </a:p>
        </p:txBody>
      </p:sp>
      <p:sp>
        <p:nvSpPr>
          <p:cNvPr id="3" name="Content Placeholder 2"/>
          <p:cNvSpPr>
            <a:spLocks noGrp="1"/>
          </p:cNvSpPr>
          <p:nvPr>
            <p:ph idx="1"/>
          </p:nvPr>
        </p:nvSpPr>
        <p:spPr>
          <a:xfrm>
            <a:off x="838200" y="1219199"/>
            <a:ext cx="10972800" cy="5326797"/>
          </a:xfrm>
        </p:spPr>
        <p:txBody>
          <a:bodyPr>
            <a:normAutofit/>
          </a:bodyPr>
          <a:lstStyle/>
          <a:p>
            <a:r>
              <a:rPr lang="en-US" sz="3200" dirty="0"/>
              <a:t>(assuming a +/- 2 word window)</a:t>
            </a:r>
            <a:endParaRPr lang="en-US" sz="3200" dirty="0"/>
          </a:p>
          <a:p>
            <a:endParaRPr lang="en-US" sz="3200" dirty="0"/>
          </a:p>
          <a:p>
            <a:pPr marL="0" indent="0">
              <a:spcBef>
                <a:spcPts val="0"/>
              </a:spcBef>
            </a:pPr>
            <a:endParaRPr lang="en-US" sz="2800" dirty="0">
              <a:latin typeface="Times New Roman" panose="02020503050405090304" pitchFamily="18" charset="0"/>
              <a:cs typeface="Times New Roman" panose="02020503050405090304" pitchFamily="18" charset="0"/>
            </a:endParaRPr>
          </a:p>
          <a:p>
            <a:pPr marL="0" indent="0">
              <a:spcBef>
                <a:spcPts val="0"/>
              </a:spcBef>
            </a:pPr>
            <a:endParaRPr lang="en-US" sz="2800" dirty="0">
              <a:latin typeface="Times New Roman" panose="02020503050405090304" pitchFamily="18" charset="0"/>
              <a:cs typeface="Times New Roman" panose="02020503050405090304" pitchFamily="18" charset="0"/>
            </a:endParaRPr>
          </a:p>
          <a:p>
            <a:pPr marL="0" indent="0">
              <a:spcBef>
                <a:spcPts val="0"/>
              </a:spcBef>
            </a:pPr>
            <a:r>
              <a:rPr lang="en-US" sz="2800" dirty="0">
                <a:latin typeface="Calibri" panose="020F0502020204030204" pitchFamily="34" charset="0"/>
                <a:cs typeface="Calibri" panose="020F0502020204030204" pitchFamily="34" charset="0"/>
              </a:rPr>
              <a:t>Goal: train a classifier that is given a candidate (</a:t>
            </a:r>
            <a:r>
              <a:rPr lang="en-US" sz="2800" b="1" dirty="0">
                <a:latin typeface="Calibri" panose="020F0502020204030204" pitchFamily="34" charset="0"/>
                <a:cs typeface="Calibri" panose="020F0502020204030204" pitchFamily="34" charset="0"/>
              </a:rPr>
              <a:t>w</a:t>
            </a:r>
            <a:r>
              <a:rPr lang="en-US" sz="2800" dirty="0">
                <a:latin typeface="Calibri" panose="020F0502020204030204" pitchFamily="34" charset="0"/>
                <a:cs typeface="Calibri" panose="020F0502020204030204" pitchFamily="34" charset="0"/>
              </a:rPr>
              <a:t>ord, </a:t>
            </a:r>
            <a:r>
              <a:rPr lang="en-US" sz="2800" b="1" dirty="0">
                <a:latin typeface="Calibri" panose="020F0502020204030204" pitchFamily="34" charset="0"/>
                <a:cs typeface="Calibri" panose="020F0502020204030204" pitchFamily="34" charset="0"/>
              </a:rPr>
              <a:t>c</a:t>
            </a:r>
            <a:r>
              <a:rPr lang="en-US" sz="2800" dirty="0">
                <a:latin typeface="Calibri" panose="020F0502020204030204" pitchFamily="34" charset="0"/>
                <a:cs typeface="Calibri" panose="020F0502020204030204" pitchFamily="34" charset="0"/>
              </a:rPr>
              <a:t>ontext) pair</a:t>
            </a:r>
            <a:endParaRPr lang="en-US" sz="2800" dirty="0">
              <a:latin typeface="Calibri" panose="020F0502020204030204" pitchFamily="34" charset="0"/>
              <a:cs typeface="Calibri" panose="020F0502020204030204" pitchFamily="34" charset="0"/>
            </a:endParaRPr>
          </a:p>
          <a:p>
            <a:pPr marL="0" indent="0">
              <a:spcBef>
                <a:spcPts val="0"/>
              </a:spcBef>
              <a:buNone/>
            </a:pPr>
            <a:r>
              <a:rPr lang="en-US" sz="2800" dirty="0">
                <a:latin typeface="Calibri" panose="020F0502020204030204" pitchFamily="34" charset="0"/>
                <a:cs typeface="Calibri" panose="020F0502020204030204" pitchFamily="34" charset="0"/>
              </a:rPr>
              <a:t>          (apricot, jam)</a:t>
            </a:r>
            <a:endParaRPr lang="en-US" sz="2800" dirty="0">
              <a:latin typeface="Calibri" panose="020F0502020204030204" pitchFamily="34" charset="0"/>
              <a:cs typeface="Calibri" panose="020F0502020204030204" pitchFamily="34" charset="0"/>
            </a:endParaRPr>
          </a:p>
          <a:p>
            <a:pPr marL="0" indent="0">
              <a:spcBef>
                <a:spcPts val="0"/>
              </a:spcBef>
              <a:buNone/>
            </a:pPr>
            <a:r>
              <a:rPr lang="en-US" sz="2800" dirty="0">
                <a:latin typeface="Calibri" panose="020F0502020204030204" pitchFamily="34" charset="0"/>
                <a:cs typeface="Calibri" panose="020F0502020204030204" pitchFamily="34" charset="0"/>
              </a:rPr>
              <a:t>          (apricot, aardvark)</a:t>
            </a:r>
            <a:endParaRPr lang="en-US" sz="2800" dirty="0">
              <a:latin typeface="Calibri" panose="020F0502020204030204" pitchFamily="34" charset="0"/>
              <a:cs typeface="Calibri" panose="020F0502020204030204" pitchFamily="34" charset="0"/>
            </a:endParaRPr>
          </a:p>
          <a:p>
            <a:pPr marL="0" indent="0">
              <a:spcBef>
                <a:spcPts val="0"/>
              </a:spcBef>
              <a:buNone/>
            </a:pPr>
            <a:r>
              <a:rPr lang="en-US" sz="2800" dirty="0">
                <a:latin typeface="Calibri" panose="020F0502020204030204" pitchFamily="34" charset="0"/>
                <a:cs typeface="Calibri" panose="020F0502020204030204" pitchFamily="34" charset="0"/>
              </a:rPr>
              <a:t>And assigns each pair a probability:</a:t>
            </a:r>
            <a:endParaRPr lang="en-US" sz="2800" dirty="0">
              <a:latin typeface="Calibri" panose="020F0502020204030204" pitchFamily="34" charset="0"/>
              <a:cs typeface="Calibri" panose="020F0502020204030204" pitchFamily="34" charset="0"/>
            </a:endParaRPr>
          </a:p>
          <a:p>
            <a:pPr marL="457200" lvl="1" indent="0">
              <a:spcBef>
                <a:spcPts val="0"/>
              </a:spcBef>
            </a:pPr>
            <a:r>
              <a:rPr lang="en-US" sz="2625" i="1" dirty="0"/>
              <a:t>P</a:t>
            </a:r>
            <a:r>
              <a:rPr lang="en-US" sz="2625" dirty="0"/>
              <a:t>(+|</a:t>
            </a:r>
            <a:r>
              <a:rPr lang="en-US" sz="2625" i="1" dirty="0"/>
              <a:t>w</a:t>
            </a:r>
            <a:r>
              <a:rPr lang="en-US" sz="2625" dirty="0"/>
              <a:t>, </a:t>
            </a:r>
            <a:r>
              <a:rPr lang="en-US" sz="2625" i="1" dirty="0"/>
              <a:t>c</a:t>
            </a:r>
            <a:r>
              <a:rPr lang="en-US" sz="2625" dirty="0"/>
              <a:t>)</a:t>
            </a:r>
            <a:endParaRPr lang="en-US" sz="2625" dirty="0"/>
          </a:p>
          <a:p>
            <a:pPr marL="457200" lvl="1" indent="0">
              <a:spcBef>
                <a:spcPts val="0"/>
              </a:spcBef>
            </a:pPr>
            <a:r>
              <a:rPr lang="en-US" sz="3000" i="1" dirty="0"/>
              <a:t>P</a:t>
            </a:r>
            <a:r>
              <a:rPr lang="en-US" sz="3000" dirty="0"/>
              <a:t>(−|</a:t>
            </a:r>
            <a:r>
              <a:rPr lang="en-US" sz="3000" i="1" dirty="0"/>
              <a:t>w</a:t>
            </a:r>
            <a:r>
              <a:rPr lang="en-US" sz="3000" dirty="0"/>
              <a:t>, </a:t>
            </a:r>
            <a:r>
              <a:rPr lang="en-US" sz="3000" i="1" dirty="0"/>
              <a:t>c</a:t>
            </a:r>
            <a:r>
              <a:rPr lang="en-US" sz="3000" dirty="0"/>
              <a:t>) = 1 − </a:t>
            </a:r>
            <a:r>
              <a:rPr lang="en-US" sz="3000" i="1" dirty="0"/>
              <a:t>P</a:t>
            </a:r>
            <a:r>
              <a:rPr lang="en-US" sz="3000" dirty="0"/>
              <a:t>(+|</a:t>
            </a:r>
            <a:r>
              <a:rPr lang="en-US" sz="3000" i="1" dirty="0"/>
              <a:t>w</a:t>
            </a:r>
            <a:r>
              <a:rPr lang="en-US" sz="3000" dirty="0"/>
              <a:t>, </a:t>
            </a:r>
            <a:r>
              <a:rPr lang="en-US" sz="3000" i="1" dirty="0"/>
              <a:t>c</a:t>
            </a:r>
            <a:r>
              <a:rPr lang="en-US" sz="3000" dirty="0"/>
              <a:t>) </a:t>
            </a:r>
            <a:endParaRPr lang="en-US" sz="3000" dirty="0"/>
          </a:p>
          <a:p>
            <a:pPr marL="0" indent="0">
              <a:spcBef>
                <a:spcPts val="0"/>
              </a:spcBef>
            </a:pPr>
            <a:endParaRPr lang="en-US" sz="3000" dirty="0"/>
          </a:p>
          <a:p>
            <a:pPr marL="0" indent="0">
              <a:spcBef>
                <a:spcPts val="0"/>
              </a:spcBef>
            </a:pPr>
            <a:endParaRPr lang="en-US" sz="2800" dirty="0">
              <a:latin typeface="Calibri" panose="020F0502020204030204" pitchFamily="34" charset="0"/>
              <a:cs typeface="Calibri" panose="020F0502020204030204" pitchFamily="34" charset="0"/>
            </a:endParaRPr>
          </a:p>
          <a:p>
            <a:pPr marL="0" indent="0">
              <a:spcBef>
                <a:spcPts val="0"/>
              </a:spcBef>
            </a:pPr>
            <a:endParaRPr lang="en-US" sz="2800" dirty="0">
              <a:latin typeface="Calibri" panose="020F0502020204030204" pitchFamily="34" charset="0"/>
              <a:cs typeface="Calibri" panose="020F0502020204030204" pitchFamily="34" charset="0"/>
            </a:endParaRPr>
          </a:p>
          <a:p>
            <a:endParaRPr lang="en-US" sz="3200" dirty="0"/>
          </a:p>
        </p:txBody>
      </p:sp>
      <p:pic>
        <p:nvPicPr>
          <p:cNvPr id="4" name="图片 3"/>
          <p:cNvPicPr>
            <a:picLocks noChangeAspect="1"/>
          </p:cNvPicPr>
          <p:nvPr>
            <p:custDataLst>
              <p:tags r:id="rId1"/>
            </p:custDataLst>
          </p:nvPr>
        </p:nvPicPr>
        <p:blipFill>
          <a:blip r:embed="rId2"/>
          <a:stretch>
            <a:fillRect/>
          </a:stretch>
        </p:blipFill>
        <p:spPr>
          <a:xfrm>
            <a:off x="1371600" y="1905000"/>
            <a:ext cx="8902700" cy="11049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Similarity is computed from dot product</a:t>
            </a:r>
            <a:endParaRPr lang="en-US" dirty="0"/>
          </a:p>
        </p:txBody>
      </p:sp>
      <p:sp>
        <p:nvSpPr>
          <p:cNvPr id="3" name="Content Placeholder 2"/>
          <p:cNvSpPr>
            <a:spLocks noGrp="1"/>
          </p:cNvSpPr>
          <p:nvPr>
            <p:ph idx="1"/>
          </p:nvPr>
        </p:nvSpPr>
        <p:spPr>
          <a:xfrm>
            <a:off x="609600" y="1203325"/>
            <a:ext cx="11165840" cy="4942840"/>
          </a:xfrm>
        </p:spPr>
        <p:txBody>
          <a:bodyPr>
            <a:noAutofit/>
          </a:bodyPr>
          <a:lstStyle/>
          <a:p>
            <a:r>
              <a:rPr lang="en-US" dirty="0"/>
              <a:t>Remember: two vectors are similar if they have a high dot product</a:t>
            </a:r>
            <a:endParaRPr lang="en-US" dirty="0"/>
          </a:p>
          <a:p>
            <a:pPr lvl="1"/>
            <a:r>
              <a:rPr lang="en-US" sz="3200" dirty="0"/>
              <a:t>Cosine is just a normalized dot product</a:t>
            </a:r>
            <a:endParaRPr lang="en-US" sz="3200" dirty="0"/>
          </a:p>
          <a:p>
            <a:r>
              <a:rPr lang="en-US" dirty="0"/>
              <a:t>So:</a:t>
            </a:r>
            <a:endParaRPr lang="en-US" dirty="0"/>
          </a:p>
          <a:p>
            <a:pPr lvl="1"/>
            <a:r>
              <a:rPr lang="en-US" sz="3200" dirty="0"/>
              <a:t>Similarity(</a:t>
            </a:r>
            <a:r>
              <a:rPr lang="en-US" sz="3200" dirty="0" err="1"/>
              <a:t>w,c</a:t>
            </a:r>
            <a:r>
              <a:rPr lang="en-US" sz="3200" dirty="0"/>
              <a:t>)  ∝ w</a:t>
            </a:r>
            <a:r>
              <a:rPr lang="en-US" sz="3200" baseline="-25000" dirty="0"/>
              <a:t> </a:t>
            </a:r>
            <a:r>
              <a:rPr lang="en-US" sz="3200" dirty="0"/>
              <a:t>∙ c</a:t>
            </a:r>
            <a:endParaRPr lang="en-US" sz="3200" baseline="-25000" dirty="0"/>
          </a:p>
          <a:p>
            <a:r>
              <a:rPr lang="en-US" dirty="0"/>
              <a:t>We’ll need to normalize to get a probability </a:t>
            </a:r>
            <a:endParaRPr lang="en-US" dirty="0"/>
          </a:p>
          <a:p>
            <a:pPr lvl="1"/>
            <a:r>
              <a:rPr lang="en-US" sz="3200" dirty="0"/>
              <a:t>(cosine isn't a probability either)</a:t>
            </a:r>
            <a:endParaRPr lang="en-US" sz="3200" dirty="0"/>
          </a:p>
        </p:txBody>
      </p:sp>
      <p:sp>
        <p:nvSpPr>
          <p:cNvPr id="4" name="Slide Number Placeholder 3"/>
          <p:cNvSpPr>
            <a:spLocks noGrp="1"/>
          </p:cNvSpPr>
          <p:nvPr>
            <p:ph type="sldNum" sz="quarter" idx="12"/>
          </p:nvPr>
        </p:nvSpPr>
        <p:spPr>
          <a:xfrm>
            <a:off x="1828800" y="5562600"/>
            <a:ext cx="1981200" cy="342900"/>
          </a:xfrm>
          <a:prstGeom prst="rect">
            <a:avLst/>
          </a:prstGeom>
        </p:spPr>
        <p:txBody>
          <a:bodyPr/>
          <a:lstStyle/>
          <a:p>
            <a:fld id="{10F35DC5-7E65-8247-99AB-4E984F8A921E}" type="slidenum">
              <a:rPr lang="en-US" smtClean="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Turning dot products into probabilities</a:t>
            </a:r>
            <a:endParaRPr lang="en-US" dirty="0"/>
          </a:p>
        </p:txBody>
      </p:sp>
      <p:sp>
        <p:nvSpPr>
          <p:cNvPr id="3" name="Content Placeholder 2"/>
          <p:cNvSpPr>
            <a:spLocks noGrp="1"/>
          </p:cNvSpPr>
          <p:nvPr>
            <p:ph idx="1"/>
          </p:nvPr>
        </p:nvSpPr>
        <p:spPr>
          <a:xfrm>
            <a:off x="914400" y="1143000"/>
            <a:ext cx="10287000" cy="4023360"/>
          </a:xfrm>
        </p:spPr>
        <p:txBody>
          <a:bodyPr/>
          <a:lstStyle/>
          <a:p>
            <a:r>
              <a:rPr lang="en-US" sz="3600" dirty="0">
                <a:latin typeface="Times New Roman" panose="02020503050405090304" pitchFamily="18" charset="0"/>
                <a:ea typeface="Times New Roman" panose="02020503050405090304" pitchFamily="18" charset="0"/>
                <a:cs typeface="Times New Roman" panose="02020503050405090304" pitchFamily="18" charset="0"/>
              </a:rPr>
              <a:t>Sim(</a:t>
            </a:r>
            <a:r>
              <a:rPr lang="en-US" sz="3600" dirty="0" err="1">
                <a:latin typeface="Times New Roman" panose="02020503050405090304" pitchFamily="18" charset="0"/>
                <a:ea typeface="Times New Roman" panose="02020503050405090304" pitchFamily="18" charset="0"/>
                <a:cs typeface="Times New Roman" panose="02020503050405090304" pitchFamily="18" charset="0"/>
              </a:rPr>
              <a:t>w,c</a:t>
            </a:r>
            <a:r>
              <a:rPr lang="en-US" sz="3600" dirty="0">
                <a:latin typeface="Times New Roman" panose="02020503050405090304" pitchFamily="18" charset="0"/>
                <a:ea typeface="Times New Roman" panose="02020503050405090304" pitchFamily="18" charset="0"/>
                <a:cs typeface="Times New Roman" panose="02020503050405090304" pitchFamily="18" charset="0"/>
              </a:rPr>
              <a:t>) </a:t>
            </a:r>
            <a:r>
              <a:rPr lang="en-US" sz="3600" dirty="0"/>
              <a:t>≈ </a:t>
            </a:r>
            <a:r>
              <a:rPr lang="en-US" sz="3600" dirty="0">
                <a:latin typeface="Times New Roman" panose="02020503050405090304" pitchFamily="18" charset="0"/>
                <a:cs typeface="Times New Roman" panose="02020503050405090304" pitchFamily="18" charset="0"/>
              </a:rPr>
              <a:t>w</a:t>
            </a:r>
            <a:r>
              <a:rPr lang="en-US" sz="3600" i="1" dirty="0">
                <a:latin typeface="Times New Roman" panose="02020503050405090304" pitchFamily="18" charset="0"/>
                <a:ea typeface="Times New Roman" panose="02020503050405090304" pitchFamily="18" charset="0"/>
                <a:cs typeface="Times New Roman" panose="02020503050405090304" pitchFamily="18" charset="0"/>
              </a:rPr>
              <a:t> ∙ c</a:t>
            </a:r>
            <a:endParaRPr lang="en-US" sz="3600" i="1" dirty="0">
              <a:latin typeface="Times New Roman" panose="02020503050405090304" pitchFamily="18" charset="0"/>
              <a:ea typeface="Times New Roman" panose="02020503050405090304" pitchFamily="18" charset="0"/>
              <a:cs typeface="Times New Roman" panose="02020503050405090304" pitchFamily="18" charset="0"/>
            </a:endParaRPr>
          </a:p>
          <a:p>
            <a:r>
              <a:rPr lang="en-US" sz="3600" dirty="0">
                <a:latin typeface="Calibri" panose="020F0502020204030204" pitchFamily="34" charset="0"/>
                <a:ea typeface="Calibri" panose="020F0502020204030204" pitchFamily="34" charset="0"/>
                <a:cs typeface="Calibri" panose="020F0502020204030204" pitchFamily="34" charset="0"/>
              </a:rPr>
              <a:t>To turn this into a probability </a:t>
            </a:r>
            <a:endParaRPr lang="en-US" sz="3600" dirty="0">
              <a:latin typeface="Calibri" panose="020F0502020204030204" pitchFamily="34" charset="0"/>
              <a:ea typeface="Calibri" panose="020F0502020204030204" pitchFamily="34" charset="0"/>
              <a:cs typeface="Calibri" panose="020F0502020204030204" pitchFamily="34" charset="0"/>
            </a:endParaRPr>
          </a:p>
          <a:p>
            <a:r>
              <a:rPr lang="en-US" sz="3600" dirty="0">
                <a:latin typeface="Calibri" panose="020F0502020204030204" pitchFamily="34" charset="0"/>
                <a:ea typeface="Calibri" panose="020F0502020204030204" pitchFamily="34" charset="0"/>
                <a:cs typeface="Calibri" panose="020F0502020204030204" pitchFamily="34" charset="0"/>
              </a:rPr>
              <a:t>We'll use the sigmoid from logistic regression:</a:t>
            </a:r>
            <a:endParaRPr lang="en-US" sz="3600" dirty="0">
              <a:latin typeface="Calibri" panose="020F0502020204030204" pitchFamily="34" charset="0"/>
              <a:ea typeface="Calibri" panose="020F0502020204030204" pitchFamily="34" charset="0"/>
              <a:cs typeface="Calibri" panose="020F0502020204030204" pitchFamily="34" charset="0"/>
            </a:endParaRPr>
          </a:p>
          <a:p>
            <a:endParaRPr lang="en-US" sz="36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81291" y="3276633"/>
            <a:ext cx="7324725" cy="1028032"/>
          </a:xfrm>
          <a:prstGeom prst="rect">
            <a:avLst/>
          </a:prstGeom>
        </p:spPr>
      </p:pic>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334" y="4304933"/>
            <a:ext cx="7375421" cy="183294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9603"/>
            <a:ext cx="11231880" cy="907196"/>
          </a:xfrm>
        </p:spPr>
        <p:txBody>
          <a:bodyPr>
            <a:normAutofit/>
          </a:bodyPr>
          <a:lstStyle/>
          <a:p>
            <a:r>
              <a:rPr lang="en-US" b="0" dirty="0"/>
              <a:t>How Skip-Gram Classifier computes </a:t>
            </a:r>
            <a:r>
              <a:rPr lang="en-US" i="1" dirty="0"/>
              <a:t>P</a:t>
            </a:r>
            <a:r>
              <a:rPr lang="en-US" dirty="0"/>
              <a:t>(+|</a:t>
            </a:r>
            <a:r>
              <a:rPr lang="en-US" i="1" dirty="0"/>
              <a:t>w</a:t>
            </a:r>
            <a:r>
              <a:rPr lang="en-US" dirty="0"/>
              <a:t>, </a:t>
            </a:r>
            <a:r>
              <a:rPr lang="en-US" i="1" dirty="0"/>
              <a:t>c</a:t>
            </a:r>
            <a:r>
              <a:rPr lang="en-US" dirty="0"/>
              <a:t>) </a:t>
            </a:r>
            <a:endParaRPr lang="en-US" b="0" dirty="0"/>
          </a:p>
        </p:txBody>
      </p:sp>
      <p:sp>
        <p:nvSpPr>
          <p:cNvPr id="3" name="Content Placeholder 2"/>
          <p:cNvSpPr>
            <a:spLocks noGrp="1"/>
          </p:cNvSpPr>
          <p:nvPr>
            <p:ph idx="1"/>
          </p:nvPr>
        </p:nvSpPr>
        <p:spPr>
          <a:xfrm>
            <a:off x="1066800" y="2005965"/>
            <a:ext cx="10972800" cy="4191000"/>
          </a:xfrm>
        </p:spPr>
        <p:txBody>
          <a:bodyPr>
            <a:normAutofit/>
          </a:bodyPr>
          <a:lstStyle/>
          <a:p>
            <a:pPr marL="0" indent="0">
              <a:spcBef>
                <a:spcPts val="0"/>
              </a:spcBef>
              <a:buNone/>
            </a:pPr>
            <a:r>
              <a:rPr lang="en-US" sz="2800" dirty="0">
                <a:latin typeface="Calibri" panose="020F0502020204030204" pitchFamily="34" charset="0"/>
                <a:cs typeface="Calibri" panose="020F0502020204030204" pitchFamily="34" charset="0"/>
              </a:rPr>
              <a:t>This is for one context word, but we have lots of context words.</a:t>
            </a:r>
            <a:endParaRPr lang="en-US" sz="2800" dirty="0">
              <a:latin typeface="Calibri" panose="020F0502020204030204" pitchFamily="34" charset="0"/>
              <a:cs typeface="Calibri" panose="020F0502020204030204" pitchFamily="34" charset="0"/>
            </a:endParaRPr>
          </a:p>
          <a:p>
            <a:pPr marL="0" indent="0">
              <a:spcBef>
                <a:spcPts val="0"/>
              </a:spcBef>
              <a:buNone/>
            </a:pPr>
            <a:r>
              <a:rPr lang="en-US" sz="2800" dirty="0">
                <a:latin typeface="Calibri" panose="020F0502020204030204" pitchFamily="34" charset="0"/>
                <a:cs typeface="Calibri" panose="020F0502020204030204" pitchFamily="34" charset="0"/>
              </a:rPr>
              <a:t>We'll assume independence and just multiply them:</a:t>
            </a:r>
            <a:endParaRPr lang="en-US" sz="2800" dirty="0">
              <a:latin typeface="Calibri" panose="020F0502020204030204" pitchFamily="34" charset="0"/>
              <a:cs typeface="Calibri" panose="020F0502020204030204" pitchFamily="34" charset="0"/>
            </a:endParaRPr>
          </a:p>
          <a:p>
            <a:pPr marL="0" indent="0">
              <a:spcBef>
                <a:spcPts val="0"/>
              </a:spcBef>
            </a:pPr>
            <a:endParaRPr lang="en-US" sz="2800" dirty="0"/>
          </a:p>
          <a:p>
            <a:pPr marL="0" indent="0">
              <a:spcBef>
                <a:spcPts val="0"/>
              </a:spcBef>
            </a:pPr>
            <a:endParaRPr lang="en-US" sz="2800" dirty="0">
              <a:latin typeface="Calibri" panose="020F0502020204030204" pitchFamily="34" charset="0"/>
              <a:cs typeface="Calibri" panose="020F0502020204030204" pitchFamily="34" charset="0"/>
            </a:endParaRPr>
          </a:p>
          <a:p>
            <a:endParaRPr lang="en-US" sz="3200" dirty="0"/>
          </a:p>
        </p:txBody>
      </p:sp>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743200" y="1257300"/>
            <a:ext cx="4886318" cy="685799"/>
          </a:xfrm>
          <a:prstGeom prst="rect">
            <a:avLst/>
          </a:prstGeom>
        </p:spPr>
      </p:pic>
      <p:pic>
        <p:nvPicPr>
          <p:cNvPr id="6"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2666791" y="3048000"/>
            <a:ext cx="5571063" cy="253919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Skip-gram classifier: summary</a:t>
            </a:r>
            <a:endParaRPr lang="en-US" dirty="0"/>
          </a:p>
        </p:txBody>
      </p:sp>
      <p:sp>
        <p:nvSpPr>
          <p:cNvPr id="3" name="Content Placeholder 2"/>
          <p:cNvSpPr>
            <a:spLocks noGrp="1"/>
          </p:cNvSpPr>
          <p:nvPr>
            <p:ph idx="1"/>
          </p:nvPr>
        </p:nvSpPr>
        <p:spPr>
          <a:xfrm>
            <a:off x="762001" y="1143000"/>
            <a:ext cx="11094719" cy="4572000"/>
          </a:xfrm>
        </p:spPr>
        <p:txBody>
          <a:bodyPr>
            <a:normAutofit/>
          </a:bodyPr>
          <a:lstStyle/>
          <a:p>
            <a:r>
              <a:rPr lang="en-US" dirty="0"/>
              <a:t>A probabilistic classifier, given </a:t>
            </a:r>
            <a:endParaRPr lang="en-US" dirty="0"/>
          </a:p>
          <a:p>
            <a:pPr marL="1100455" lvl="1" indent="-571500">
              <a:buFont typeface="Arial" panose="020B0604020202090204" pitchFamily="34" charset="0"/>
              <a:buChar char="•"/>
            </a:pPr>
            <a:r>
              <a:rPr lang="en-US" sz="3600" dirty="0"/>
              <a:t>a test target word </a:t>
            </a:r>
            <a:r>
              <a:rPr lang="en-US" sz="3600" i="1" dirty="0">
                <a:solidFill>
                  <a:srgbClr val="FF0000"/>
                </a:solidFill>
              </a:rPr>
              <a:t>w </a:t>
            </a:r>
            <a:endParaRPr lang="en-US" sz="3600" i="1" dirty="0"/>
          </a:p>
          <a:p>
            <a:pPr marL="1100455" lvl="1" indent="-571500">
              <a:buFont typeface="Arial" panose="020B0604020202090204" pitchFamily="34" charset="0"/>
              <a:buChar char="•"/>
            </a:pPr>
            <a:r>
              <a:rPr lang="en-US" sz="3600" dirty="0"/>
              <a:t>its context window of </a:t>
            </a:r>
            <a:r>
              <a:rPr lang="en-US" sz="3600" i="1" dirty="0">
                <a:solidFill>
                  <a:srgbClr val="FF0000"/>
                </a:solidFill>
              </a:rPr>
              <a:t>L</a:t>
            </a:r>
            <a:r>
              <a:rPr lang="en-US" sz="3600" i="1" dirty="0"/>
              <a:t> </a:t>
            </a:r>
            <a:r>
              <a:rPr lang="en-US" sz="3600" dirty="0"/>
              <a:t>words </a:t>
            </a:r>
            <a:r>
              <a:rPr lang="en-US" sz="3600" i="1" dirty="0">
                <a:solidFill>
                  <a:srgbClr val="FF0000"/>
                </a:solidFill>
              </a:rPr>
              <a:t>c</a:t>
            </a:r>
            <a:r>
              <a:rPr lang="en-US" sz="3600" baseline="-25000" dirty="0">
                <a:solidFill>
                  <a:srgbClr val="FF0000"/>
                </a:solidFill>
              </a:rPr>
              <a:t>1:</a:t>
            </a:r>
            <a:r>
              <a:rPr lang="en-US" sz="3600" i="1" baseline="-25000" dirty="0">
                <a:solidFill>
                  <a:srgbClr val="FF0000"/>
                </a:solidFill>
              </a:rPr>
              <a:t>L</a:t>
            </a:r>
            <a:endParaRPr lang="en-US" sz="3600" dirty="0"/>
          </a:p>
          <a:p>
            <a:r>
              <a:rPr lang="en-US" dirty="0"/>
              <a:t>Estimates probability that </a:t>
            </a:r>
            <a:r>
              <a:rPr lang="en-US" i="1" dirty="0">
                <a:solidFill>
                  <a:srgbClr val="FF0000"/>
                </a:solidFill>
                <a:latin typeface="Times New Roman Italic" panose="02020503050405090304" charset="0"/>
                <a:cs typeface="Times New Roman Italic" panose="02020503050405090304" charset="0"/>
              </a:rPr>
              <a:t>w</a:t>
            </a:r>
            <a:r>
              <a:rPr lang="en-US" dirty="0"/>
              <a:t> occurs in this window based on similarity of </a:t>
            </a:r>
            <a:r>
              <a:rPr lang="en-US" dirty="0">
                <a:solidFill>
                  <a:srgbClr val="FF0000"/>
                </a:solidFill>
              </a:rPr>
              <a:t>w</a:t>
            </a:r>
            <a:r>
              <a:rPr lang="en-US" dirty="0"/>
              <a:t> (embeddings) to </a:t>
            </a:r>
            <a:r>
              <a:rPr lang="en-US" sz="4000" i="1" dirty="0">
                <a:solidFill>
                  <a:srgbClr val="FF0000"/>
                </a:solidFill>
                <a:latin typeface="Times New Roman Italic" panose="02020503050405090304" charset="0"/>
                <a:cs typeface="Times New Roman Italic" panose="02020503050405090304" charset="0"/>
              </a:rPr>
              <a:t>c</a:t>
            </a:r>
            <a:r>
              <a:rPr lang="en-US" sz="4000" i="1" baseline="-25000" dirty="0">
                <a:solidFill>
                  <a:srgbClr val="FF0000"/>
                </a:solidFill>
                <a:latin typeface="Times New Roman Italic" panose="02020503050405090304" charset="0"/>
                <a:cs typeface="Times New Roman Italic" panose="02020503050405090304" charset="0"/>
              </a:rPr>
              <a:t>1:L</a:t>
            </a:r>
            <a:r>
              <a:rPr lang="en-US" sz="4000" dirty="0"/>
              <a:t> </a:t>
            </a:r>
            <a:r>
              <a:rPr lang="en-US" dirty="0"/>
              <a:t>(embeddings).</a:t>
            </a:r>
            <a:endParaRPr lang="en-US" dirty="0"/>
          </a:p>
          <a:p>
            <a:endParaRPr lang="en-US" dirty="0"/>
          </a:p>
          <a:p>
            <a:r>
              <a:rPr lang="en-US" dirty="0"/>
              <a:t>To compute this, we just need embeddings for all the words.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9603"/>
            <a:ext cx="11430000" cy="907196"/>
          </a:xfrm>
        </p:spPr>
        <p:txBody>
          <a:bodyPr>
            <a:normAutofit fontScale="90000"/>
          </a:bodyPr>
          <a:lstStyle/>
          <a:p>
            <a:r>
              <a:rPr lang="en-US" dirty="0"/>
              <a:t>These embeddings we'll need: a set for </a:t>
            </a:r>
            <a:r>
              <a:rPr lang="en-US" i="1" dirty="0">
                <a:solidFill>
                  <a:srgbClr val="FF0000"/>
                </a:solidFill>
                <a:latin typeface="Times New Roman Italic" panose="02020503050405090304" charset="0"/>
                <a:cs typeface="Times New Roman Italic" panose="02020503050405090304" charset="0"/>
              </a:rPr>
              <a:t>w</a:t>
            </a:r>
            <a:r>
              <a:rPr lang="en-US" dirty="0"/>
              <a:t>, a set for </a:t>
            </a:r>
            <a:r>
              <a:rPr lang="en-US" i="1" dirty="0">
                <a:solidFill>
                  <a:srgbClr val="FF0000"/>
                </a:solidFill>
                <a:latin typeface="Times New Roman Italic" panose="02020503050405090304" charset="0"/>
                <a:cs typeface="Times New Roman Italic" panose="02020503050405090304" charset="0"/>
              </a:rPr>
              <a:t>c</a:t>
            </a:r>
            <a:endParaRPr lang="en-US" i="1" dirty="0">
              <a:solidFill>
                <a:srgbClr val="FF0000"/>
              </a:solidFill>
              <a:latin typeface="Times New Roman Italic" panose="02020503050405090304" charset="0"/>
              <a:cs typeface="Times New Roman Italic" panose="02020503050405090304" charset="0"/>
            </a:endParaRPr>
          </a:p>
        </p:txBody>
      </p:sp>
      <p:pic>
        <p:nvPicPr>
          <p:cNvPr id="5" name="Content Placeholder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457078" y="1295596"/>
            <a:ext cx="7358623" cy="5105401"/>
          </a:xfrm>
        </p:spPr>
      </p:pic>
      <p:pic>
        <p:nvPicPr>
          <p:cNvPr id="6" name="Picture 5"/>
          <p:cNvPicPr>
            <a:picLocks noChangeAspect="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a:xfrm>
            <a:off x="7467600" y="1219200"/>
            <a:ext cx="4251325" cy="1938020"/>
          </a:xfrm>
          <a:prstGeom prst="rect">
            <a:avLst/>
          </a:prstGeom>
        </p:spPr>
      </p:pic>
      <p:sp>
        <p:nvSpPr>
          <p:cNvPr id="3" name="矩形 2"/>
          <p:cNvSpPr/>
          <p:nvPr/>
        </p:nvSpPr>
        <p:spPr>
          <a:xfrm>
            <a:off x="2667000" y="2819400"/>
            <a:ext cx="762000" cy="314960"/>
          </a:xfrm>
          <a:prstGeom prst="rect">
            <a:avLst/>
          </a:prstGeom>
        </p:spPr>
        <p:style>
          <a:lnRef idx="1">
            <a:schemeClr val="accent1"/>
          </a:lnRef>
          <a:fillRef idx="3">
            <a:schemeClr val="accent1"/>
          </a:fillRef>
          <a:effectRef idx="2">
            <a:schemeClr val="accent1"/>
          </a:effectRef>
          <a:fontRef idx="minor">
            <a:schemeClr val="lt1"/>
          </a:fontRef>
        </p:style>
        <p:txBody>
          <a:bodyPr/>
          <a:p>
            <a:pPr algn="ctr"/>
            <a:r>
              <a:rPr lang="en-US" altLang="zh-CN" i="1">
                <a:solidFill>
                  <a:srgbClr val="FF0000"/>
                </a:solidFill>
              </a:rPr>
              <a:t> w</a:t>
            </a:r>
            <a:endParaRPr lang="en-US" altLang="zh-CN" i="1">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ctrTitle"/>
          </p:nvPr>
        </p:nvSpPr>
        <p:spPr>
          <a:xfrm>
            <a:off x="1905000" y="2128765"/>
            <a:ext cx="8610600" cy="1753083"/>
          </a:xfrm>
        </p:spPr>
        <p:txBody>
          <a:bodyPr>
            <a:noAutofit/>
          </a:bodyPr>
          <a:lstStyle/>
          <a:p>
            <a:r>
              <a:rPr lang="en-US" altLang="zh-CN" sz="4800" dirty="0">
                <a:solidFill>
                  <a:schemeClr val="tx2"/>
                </a:solidFill>
              </a:rPr>
              <a:t>Word2vec: Learning the embeddings</a:t>
            </a:r>
            <a:endParaRPr lang="en-US" altLang="zh-CN" sz="4800" dirty="0">
              <a:solidFill>
                <a:schemeClr val="tx2"/>
              </a:solidFill>
            </a:endParaRPr>
          </a:p>
        </p:txBody>
      </p:sp>
      <p:pic>
        <p:nvPicPr>
          <p:cNvPr id="7" name="Picture 6"/>
          <p:cNvPicPr>
            <a:picLocks noChangeAspect="1"/>
          </p:cNvPicPr>
          <p:nvPr/>
        </p:nvPicPr>
        <p:blipFill>
          <a:blip r:embed="rId1"/>
          <a:stretch>
            <a:fillRect/>
          </a:stretch>
        </p:blipFill>
        <p:spPr>
          <a:xfrm>
            <a:off x="4838596" y="4817143"/>
            <a:ext cx="2517131" cy="53842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662"/>
    </mc:Choice>
    <mc:Fallback>
      <p:transition spd="slow" advTm="10662"/>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Skip-Gram Training data</a:t>
            </a:r>
            <a:endParaRPr lang="en-US" b="0" dirty="0"/>
          </a:p>
        </p:txBody>
      </p:sp>
      <p:sp>
        <p:nvSpPr>
          <p:cNvPr id="6" name="Slide Number Placeholder 5"/>
          <p:cNvSpPr>
            <a:spLocks noGrp="1"/>
          </p:cNvSpPr>
          <p:nvPr>
            <p:ph type="sldNum" sz="quarter" idx="12"/>
          </p:nvPr>
        </p:nvSpPr>
        <p:spPr>
          <a:xfrm>
            <a:off x="10210800" y="5772150"/>
            <a:ext cx="457200" cy="228600"/>
          </a:xfrm>
          <a:prstGeom prst="rect">
            <a:avLst/>
          </a:prstGeom>
        </p:spPr>
        <p:txBody>
          <a:bodyPr/>
          <a:lstStyle/>
          <a:p>
            <a:pPr>
              <a:defRPr/>
            </a:pPr>
            <a:fld id="{713DD8BE-556E-3440-9013-11CC5588178D}" type="slidenum">
              <a:rPr lang="en-US" sz="1050">
                <a:latin typeface="Calibri"/>
              </a:rPr>
            </a:fld>
            <a:endParaRPr lang="en-US" sz="1050">
              <a:latin typeface="Calibri"/>
            </a:endParaRPr>
          </a:p>
        </p:txBody>
      </p:sp>
      <p:pic>
        <p:nvPicPr>
          <p:cNvPr id="14" name="Picture 1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05001" y="2895600"/>
            <a:ext cx="3060526" cy="2538846"/>
          </a:xfrm>
          <a:prstGeom prst="rect">
            <a:avLst/>
          </a:prstGeom>
        </p:spPr>
      </p:pic>
      <p:pic>
        <p:nvPicPr>
          <p:cNvPr id="5" name="图片 4"/>
          <p:cNvPicPr>
            <a:picLocks noChangeAspect="1"/>
          </p:cNvPicPr>
          <p:nvPr>
            <p:custDataLst>
              <p:tags r:id="rId2"/>
            </p:custDataLst>
          </p:nvPr>
        </p:nvPicPr>
        <p:blipFill>
          <a:blip r:embed="rId3"/>
          <a:stretch>
            <a:fillRect/>
          </a:stretch>
        </p:blipFill>
        <p:spPr>
          <a:xfrm>
            <a:off x="1219200" y="1600200"/>
            <a:ext cx="10130155" cy="1257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Skip-Gram Training data</a:t>
            </a:r>
            <a:endParaRPr lang="en-US" b="0" dirty="0"/>
          </a:p>
        </p:txBody>
      </p:sp>
      <p:sp>
        <p:nvSpPr>
          <p:cNvPr id="6" name="Slide Number Placeholder 5"/>
          <p:cNvSpPr>
            <a:spLocks noGrp="1"/>
          </p:cNvSpPr>
          <p:nvPr>
            <p:ph type="sldNum" sz="quarter" idx="12"/>
          </p:nvPr>
        </p:nvSpPr>
        <p:spPr>
          <a:xfrm>
            <a:off x="10210800" y="5772150"/>
            <a:ext cx="457200" cy="228600"/>
          </a:xfrm>
          <a:prstGeom prst="rect">
            <a:avLst/>
          </a:prstGeom>
        </p:spPr>
        <p:txBody>
          <a:bodyPr/>
          <a:lstStyle/>
          <a:p>
            <a:pPr>
              <a:defRPr/>
            </a:pPr>
            <a:fld id="{713DD8BE-556E-3440-9013-11CC5588178D}" type="slidenum">
              <a:rPr lang="en-US" sz="1050">
                <a:latin typeface="Calibri"/>
              </a:rPr>
            </a:fld>
            <a:endParaRPr lang="en-US" sz="1050">
              <a:latin typeface="Calibri"/>
            </a:endParaRPr>
          </a:p>
        </p:txBody>
      </p:sp>
      <p:sp>
        <p:nvSpPr>
          <p:cNvPr id="4" name="TextBox 3"/>
          <p:cNvSpPr txBox="1"/>
          <p:nvPr/>
        </p:nvSpPr>
        <p:spPr>
          <a:xfrm>
            <a:off x="5562600" y="2895600"/>
            <a:ext cx="4779010" cy="2726055"/>
          </a:xfrm>
          <a:prstGeom prst="rect">
            <a:avLst/>
          </a:prstGeom>
          <a:noFill/>
        </p:spPr>
        <p:txBody>
          <a:bodyPr wrap="square" rtlCol="0">
            <a:noAutofit/>
          </a:bodyPr>
          <a:lstStyle/>
          <a:p>
            <a:r>
              <a:rPr lang="en-US" sz="2800" dirty="0">
                <a:latin typeface="Times New Roman Regular" panose="02020503050405090304" charset="0"/>
                <a:cs typeface="Times New Roman Regular" panose="02020503050405090304" charset="0"/>
              </a:rPr>
              <a:t>For each positive example we'll grab </a:t>
            </a:r>
            <a:r>
              <a:rPr lang="en-US" sz="2800" i="1" dirty="0">
                <a:solidFill>
                  <a:srgbClr val="FF0000"/>
                </a:solidFill>
                <a:latin typeface="Times New Roman Italic" panose="02020503050405090304" charset="0"/>
                <a:cs typeface="Times New Roman Italic" panose="02020503050405090304" charset="0"/>
              </a:rPr>
              <a:t>k</a:t>
            </a:r>
            <a:r>
              <a:rPr lang="en-US" sz="2800" dirty="0">
                <a:latin typeface="Times New Roman Regular" panose="02020503050405090304" charset="0"/>
                <a:cs typeface="Times New Roman Regular" panose="02020503050405090304" charset="0"/>
              </a:rPr>
              <a:t> negative examples, sampling by frequency</a:t>
            </a:r>
            <a:endParaRPr lang="en-US" sz="2800" dirty="0">
              <a:latin typeface="Times New Roman Regular" panose="02020503050405090304" charset="0"/>
              <a:cs typeface="Times New Roman Regular" panose="02020503050405090304" charset="0"/>
            </a:endParaRPr>
          </a:p>
        </p:txBody>
      </p:sp>
      <p:pic>
        <p:nvPicPr>
          <p:cNvPr id="14" name="Picture 1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47801" y="2819400"/>
            <a:ext cx="3060526" cy="2538846"/>
          </a:xfrm>
          <a:prstGeom prst="rect">
            <a:avLst/>
          </a:prstGeom>
        </p:spPr>
      </p:pic>
      <p:pic>
        <p:nvPicPr>
          <p:cNvPr id="9" name="图片 8"/>
          <p:cNvPicPr>
            <a:picLocks noChangeAspect="1"/>
          </p:cNvPicPr>
          <p:nvPr>
            <p:custDataLst>
              <p:tags r:id="rId2"/>
            </p:custDataLst>
          </p:nvPr>
        </p:nvPicPr>
        <p:blipFill>
          <a:blip r:embed="rId3"/>
          <a:stretch>
            <a:fillRect/>
          </a:stretch>
        </p:blipFill>
        <p:spPr>
          <a:xfrm>
            <a:off x="990600" y="1524000"/>
            <a:ext cx="10130155" cy="12573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Skip-Gram Training data</a:t>
            </a:r>
            <a:endParaRPr lang="en-US" b="0" dirty="0"/>
          </a:p>
        </p:txBody>
      </p:sp>
      <p:sp>
        <p:nvSpPr>
          <p:cNvPr id="6" name="Slide Number Placeholder 5"/>
          <p:cNvSpPr>
            <a:spLocks noGrp="1"/>
          </p:cNvSpPr>
          <p:nvPr>
            <p:ph type="sldNum" sz="quarter" idx="12"/>
          </p:nvPr>
        </p:nvSpPr>
        <p:spPr>
          <a:xfrm>
            <a:off x="10210800" y="5772150"/>
            <a:ext cx="457200" cy="228600"/>
          </a:xfrm>
          <a:prstGeom prst="rect">
            <a:avLst/>
          </a:prstGeom>
        </p:spPr>
        <p:txBody>
          <a:bodyPr/>
          <a:lstStyle/>
          <a:p>
            <a:pPr>
              <a:defRPr/>
            </a:pPr>
            <a:fld id="{713DD8BE-556E-3440-9013-11CC5588178D}" type="slidenum">
              <a:rPr lang="en-US" sz="1050">
                <a:latin typeface="Calibri"/>
              </a:rPr>
            </a:fld>
            <a:endParaRPr lang="en-US" sz="1050">
              <a:latin typeface="Calibri"/>
            </a:endParaRPr>
          </a:p>
        </p:txBody>
      </p:sp>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24001" y="2971800"/>
            <a:ext cx="3060526" cy="2538846"/>
          </a:xfrm>
          <a:prstGeom prst="rect">
            <a:avLst/>
          </a:prstGeom>
        </p:spPr>
      </p:pic>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24805" y="2895476"/>
            <a:ext cx="5242922" cy="2621461"/>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990600" y="1524000"/>
            <a:ext cx="10130155" cy="12573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5470" y="286385"/>
            <a:ext cx="9305290" cy="1085215"/>
          </a:xfrm>
        </p:spPr>
        <p:txBody>
          <a:bodyPr>
            <a:normAutofit/>
          </a:bodyPr>
          <a:lstStyle/>
          <a:p>
            <a:r>
              <a:rPr lang="en-US" b="0" dirty="0"/>
              <a:t>Word2vec: how to learn vectors</a:t>
            </a:r>
            <a:endParaRPr lang="en-US" b="0" dirty="0"/>
          </a:p>
        </p:txBody>
      </p:sp>
      <p:sp>
        <p:nvSpPr>
          <p:cNvPr id="3" name="Content Placeholder 2"/>
          <p:cNvSpPr>
            <a:spLocks noGrp="1"/>
          </p:cNvSpPr>
          <p:nvPr>
            <p:ph idx="1"/>
          </p:nvPr>
        </p:nvSpPr>
        <p:spPr>
          <a:xfrm>
            <a:off x="533400" y="1219200"/>
            <a:ext cx="10881361" cy="4614052"/>
          </a:xfrm>
        </p:spPr>
        <p:txBody>
          <a:bodyPr>
            <a:normAutofit/>
          </a:bodyPr>
          <a:lstStyle/>
          <a:p>
            <a:r>
              <a:rPr lang="en-US" dirty="0"/>
              <a:t>Given the set of positive and negative training instances, and an initial set of embedding vectors </a:t>
            </a:r>
            <a:endParaRPr lang="en-US" dirty="0"/>
          </a:p>
          <a:p>
            <a:r>
              <a:rPr lang="en-US" dirty="0"/>
              <a:t>The goal of learning is to adjust those word vectors such that we:</a:t>
            </a:r>
            <a:endParaRPr lang="en-US" dirty="0"/>
          </a:p>
          <a:p>
            <a:pPr lvl="1"/>
            <a:r>
              <a:rPr lang="en-US" sz="2400" b="1" dirty="0"/>
              <a:t>Maximize</a:t>
            </a:r>
            <a:r>
              <a:rPr lang="en-US" sz="2400" dirty="0"/>
              <a:t> the similarity of the </a:t>
            </a:r>
            <a:r>
              <a:rPr lang="en-US" sz="2400" dirty="0">
                <a:solidFill>
                  <a:srgbClr val="009900"/>
                </a:solidFill>
              </a:rPr>
              <a:t>target word</a:t>
            </a:r>
            <a:r>
              <a:rPr lang="en-US" sz="2400" dirty="0"/>
              <a:t>, </a:t>
            </a:r>
            <a:r>
              <a:rPr lang="en-US" sz="2400" dirty="0">
                <a:solidFill>
                  <a:srgbClr val="009900"/>
                </a:solidFill>
              </a:rPr>
              <a:t>context word</a:t>
            </a:r>
            <a:r>
              <a:rPr lang="en-US" sz="2400" dirty="0"/>
              <a:t> pairs </a:t>
            </a:r>
            <a:r>
              <a:rPr lang="en-US" sz="2400" i="1" dirty="0">
                <a:solidFill>
                  <a:srgbClr val="FF0000"/>
                </a:solidFill>
                <a:latin typeface="Times New Roman Italic" panose="02020503050405090304" charset="0"/>
                <a:cs typeface="Times New Roman Italic" panose="02020503050405090304" charset="0"/>
              </a:rPr>
              <a:t>(w , </a:t>
            </a:r>
            <a:r>
              <a:rPr lang="en-US" sz="2400" i="1" dirty="0" err="1">
                <a:solidFill>
                  <a:srgbClr val="FF0000"/>
                </a:solidFill>
                <a:latin typeface="Times New Roman Italic" panose="02020503050405090304" charset="0"/>
                <a:cs typeface="Times New Roman Italic" panose="02020503050405090304" charset="0"/>
              </a:rPr>
              <a:t>c</a:t>
            </a:r>
            <a:r>
              <a:rPr lang="en-US" sz="2400" i="1" baseline="-25000" dirty="0" err="1">
                <a:solidFill>
                  <a:srgbClr val="FF0000"/>
                </a:solidFill>
                <a:latin typeface="Times New Roman Italic" panose="02020503050405090304" charset="0"/>
                <a:cs typeface="Times New Roman Italic" panose="02020503050405090304" charset="0"/>
              </a:rPr>
              <a:t>pos</a:t>
            </a:r>
            <a:r>
              <a:rPr lang="en-US" sz="2400" i="1" dirty="0">
                <a:solidFill>
                  <a:srgbClr val="FF0000"/>
                </a:solidFill>
                <a:latin typeface="Times New Roman Italic" panose="02020503050405090304" charset="0"/>
                <a:cs typeface="Times New Roman Italic" panose="02020503050405090304" charset="0"/>
              </a:rPr>
              <a:t>)</a:t>
            </a:r>
            <a:r>
              <a:rPr lang="en-US" sz="2400" dirty="0"/>
              <a:t> drawn from the positive data</a:t>
            </a:r>
            <a:endParaRPr lang="en-US" sz="2400" dirty="0"/>
          </a:p>
          <a:p>
            <a:pPr lvl="1"/>
            <a:r>
              <a:rPr lang="en-US" sz="2400" b="1" dirty="0"/>
              <a:t>Minimize</a:t>
            </a:r>
            <a:r>
              <a:rPr lang="en-US" sz="2400" dirty="0"/>
              <a:t> the similarity of the </a:t>
            </a:r>
            <a:r>
              <a:rPr lang="en-US" sz="2400" i="1" dirty="0">
                <a:solidFill>
                  <a:srgbClr val="FF0000"/>
                </a:solidFill>
                <a:latin typeface="Times New Roman Italic" panose="02020503050405090304" charset="0"/>
                <a:cs typeface="Times New Roman Italic" panose="02020503050405090304" charset="0"/>
              </a:rPr>
              <a:t>(w , </a:t>
            </a:r>
            <a:r>
              <a:rPr lang="en-US" sz="2400" i="1" dirty="0" err="1">
                <a:solidFill>
                  <a:srgbClr val="FF0000"/>
                </a:solidFill>
                <a:latin typeface="Times New Roman Italic" panose="02020503050405090304" charset="0"/>
                <a:cs typeface="Times New Roman Italic" panose="02020503050405090304" charset="0"/>
              </a:rPr>
              <a:t>c</a:t>
            </a:r>
            <a:r>
              <a:rPr lang="en-US" sz="2400" i="1" baseline="-25000" dirty="0" err="1">
                <a:solidFill>
                  <a:srgbClr val="FF0000"/>
                </a:solidFill>
                <a:latin typeface="Times New Roman Italic" panose="02020503050405090304" charset="0"/>
                <a:cs typeface="Times New Roman Italic" panose="02020503050405090304" charset="0"/>
              </a:rPr>
              <a:t>neg</a:t>
            </a:r>
            <a:r>
              <a:rPr lang="en-US" sz="2400" i="1" dirty="0">
                <a:solidFill>
                  <a:srgbClr val="FF0000"/>
                </a:solidFill>
                <a:latin typeface="Times New Roman Italic" panose="02020503050405090304" charset="0"/>
                <a:cs typeface="Times New Roman Italic" panose="02020503050405090304" charset="0"/>
              </a:rPr>
              <a:t>)</a:t>
            </a:r>
            <a:r>
              <a:rPr lang="en-US" sz="2400" i="1" dirty="0">
                <a:latin typeface="Times New Roman Italic" panose="02020503050405090304" charset="0"/>
                <a:cs typeface="Times New Roman Italic" panose="02020503050405090304" charset="0"/>
              </a:rPr>
              <a:t> </a:t>
            </a:r>
            <a:r>
              <a:rPr lang="en-US" sz="2400" dirty="0"/>
              <a:t>pairs drawn from the negative data</a:t>
            </a:r>
            <a:r>
              <a:rPr lang="en-US" sz="3200" dirty="0"/>
              <a:t>. </a:t>
            </a:r>
            <a:endParaRPr lang="en-US" sz="3200" dirty="0"/>
          </a:p>
          <a:p>
            <a:pPr lvl="1"/>
            <a:endParaRPr lang="en-US" sz="3200" dirty="0"/>
          </a:p>
        </p:txBody>
      </p:sp>
      <p:sp>
        <p:nvSpPr>
          <p:cNvPr id="4" name="Date Placeholder 3"/>
          <p:cNvSpPr>
            <a:spLocks noGrp="1"/>
          </p:cNvSpPr>
          <p:nvPr>
            <p:ph type="dt" sz="half" idx="10"/>
          </p:nvPr>
        </p:nvSpPr>
        <p:spPr>
          <a:xfrm>
            <a:off x="1524000" y="6459539"/>
            <a:ext cx="1854200" cy="365125"/>
          </a:xfrm>
          <a:prstGeom prst="rect">
            <a:avLst/>
          </a:prstGeom>
        </p:spPr>
        <p:txBody>
          <a:bodyPr/>
          <a:lstStyle/>
          <a:p>
            <a:pPr>
              <a:defRPr/>
            </a:pPr>
            <a:fld id="{6E1A785C-C965-5D40-AAFE-C6AFD50D11D0}" type="datetime1">
              <a:rPr lang="en-US" smtClean="0"/>
            </a:fld>
            <a:endParaRPr lang="en-US"/>
          </a:p>
        </p:txBody>
      </p:sp>
      <p:sp>
        <p:nvSpPr>
          <p:cNvPr id="6" name="Slide Number Placeholder 5"/>
          <p:cNvSpPr>
            <a:spLocks noGrp="1"/>
          </p:cNvSpPr>
          <p:nvPr>
            <p:ph type="sldNum" sz="quarter" idx="12"/>
          </p:nvPr>
        </p:nvSpPr>
        <p:spPr>
          <a:xfrm>
            <a:off x="9683750" y="6459539"/>
            <a:ext cx="984250" cy="365125"/>
          </a:xfrm>
          <a:prstGeom prst="rect">
            <a:avLst/>
          </a:prstGeom>
        </p:spPr>
        <p:txBody>
          <a:bodyPr/>
          <a:lstStyle/>
          <a:p>
            <a:pPr>
              <a:defRPr/>
            </a:pPr>
            <a:fld id="{713DD8BE-556E-3440-9013-11CC5588178D}" type="slidenum">
              <a:rPr lang="en-US" smtClean="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Loss function for one </a:t>
            </a:r>
            <a:r>
              <a:rPr lang="en-US" i="1" dirty="0"/>
              <a:t>w with </a:t>
            </a:r>
            <a:r>
              <a:rPr lang="en-US" i="1" dirty="0" err="1"/>
              <a:t>c</a:t>
            </a:r>
            <a:r>
              <a:rPr lang="en-US" i="1" baseline="-25000" dirty="0" err="1"/>
              <a:t>pos</a:t>
            </a:r>
            <a:r>
              <a:rPr lang="en-US" i="1" dirty="0"/>
              <a:t> , c</a:t>
            </a:r>
            <a:r>
              <a:rPr lang="en-US" i="1" baseline="-25000" dirty="0"/>
              <a:t>neg</a:t>
            </a:r>
            <a:r>
              <a:rPr lang="en-US" baseline="-25000" dirty="0"/>
              <a:t>1</a:t>
            </a:r>
            <a:r>
              <a:rPr lang="en-US" dirty="0"/>
              <a:t> ...</a:t>
            </a:r>
            <a:r>
              <a:rPr lang="en-US" i="1" dirty="0" err="1"/>
              <a:t>c</a:t>
            </a:r>
            <a:r>
              <a:rPr lang="en-US" i="1" baseline="-25000" dirty="0" err="1"/>
              <a:t>negk</a:t>
            </a:r>
            <a:r>
              <a:rPr lang="en-US" i="1" dirty="0"/>
              <a:t> </a:t>
            </a:r>
            <a:endParaRPr lang="en-US" dirty="0"/>
          </a:p>
        </p:txBody>
      </p:sp>
      <p:sp>
        <p:nvSpPr>
          <p:cNvPr id="3" name="Content Placeholder 2"/>
          <p:cNvSpPr>
            <a:spLocks noGrp="1"/>
          </p:cNvSpPr>
          <p:nvPr>
            <p:ph idx="1"/>
          </p:nvPr>
        </p:nvSpPr>
        <p:spPr>
          <a:xfrm>
            <a:off x="914399" y="1066800"/>
            <a:ext cx="10088881" cy="4572000"/>
          </a:xfrm>
        </p:spPr>
        <p:txBody>
          <a:bodyPr>
            <a:normAutofit/>
          </a:bodyPr>
          <a:lstStyle/>
          <a:p>
            <a:pPr algn="just"/>
            <a:r>
              <a:rPr lang="en-US" sz="2800" dirty="0"/>
              <a:t>Maximize the similarity of the target with the actual context words, and minimize the similarity of the target with the </a:t>
            </a:r>
            <a:r>
              <a:rPr lang="en-US" sz="2800" b="1" i="1" dirty="0">
                <a:solidFill>
                  <a:srgbClr val="FF0000"/>
                </a:solidFill>
                <a:latin typeface="Times New Roman Bold Italic" panose="02020503050405090304" charset="0"/>
                <a:cs typeface="Times New Roman Bold Italic" panose="02020503050405090304" charset="0"/>
              </a:rPr>
              <a:t>k</a:t>
            </a:r>
            <a:r>
              <a:rPr lang="en-US" sz="2800" i="1" dirty="0"/>
              <a:t> </a:t>
            </a:r>
            <a:r>
              <a:rPr lang="en-US" sz="2800" dirty="0"/>
              <a:t>negative sampled non-neighbor words. </a:t>
            </a:r>
            <a:endParaRPr lang="en-US" sz="2800" dirty="0"/>
          </a:p>
          <a:p>
            <a:pPr algn="just"/>
            <a:endParaRPr lang="en-US" sz="2800"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590800" y="2438400"/>
            <a:ext cx="6746875" cy="400240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the classifier</a:t>
            </a:r>
            <a:endParaRPr lang="en-US" dirty="0"/>
          </a:p>
        </p:txBody>
      </p:sp>
      <p:sp>
        <p:nvSpPr>
          <p:cNvPr id="3" name="Content Placeholder 2"/>
          <p:cNvSpPr>
            <a:spLocks noGrp="1"/>
          </p:cNvSpPr>
          <p:nvPr>
            <p:ph idx="1"/>
          </p:nvPr>
        </p:nvSpPr>
        <p:spPr>
          <a:xfrm>
            <a:off x="609600" y="1203325"/>
            <a:ext cx="5579745" cy="4942840"/>
          </a:xfrm>
        </p:spPr>
        <p:txBody>
          <a:bodyPr>
            <a:normAutofit/>
          </a:bodyPr>
          <a:lstStyle/>
          <a:p>
            <a:r>
              <a:rPr lang="en-US" sz="2800" dirty="0"/>
              <a:t>How to learn?</a:t>
            </a:r>
            <a:endParaRPr lang="en-US" sz="2800" dirty="0"/>
          </a:p>
          <a:p>
            <a:pPr lvl="1"/>
            <a:r>
              <a:rPr lang="en-US" sz="2400" dirty="0"/>
              <a:t>Stochastic gradient descent!</a:t>
            </a:r>
            <a:endParaRPr lang="en-US" sz="2400" dirty="0"/>
          </a:p>
          <a:p>
            <a:endParaRPr lang="en-US" sz="2800" dirty="0"/>
          </a:p>
          <a:p>
            <a:r>
              <a:rPr lang="en-US" sz="2800" dirty="0"/>
              <a:t>We’ll adjust the word weights to</a:t>
            </a:r>
            <a:endParaRPr lang="en-US" sz="2800" dirty="0"/>
          </a:p>
          <a:p>
            <a:pPr lvl="1"/>
            <a:r>
              <a:rPr lang="en-US" sz="2400" dirty="0"/>
              <a:t>make the positive pairs more likely </a:t>
            </a:r>
            <a:endParaRPr lang="en-US" sz="2400" dirty="0"/>
          </a:p>
          <a:p>
            <a:pPr lvl="1"/>
            <a:r>
              <a:rPr lang="en-US" sz="2400" dirty="0"/>
              <a:t>and the negative pairs less likely, </a:t>
            </a:r>
            <a:endParaRPr lang="en-US" sz="2400" dirty="0"/>
          </a:p>
          <a:p>
            <a:pPr lvl="1"/>
            <a:r>
              <a:rPr lang="en-US" sz="2400" dirty="0"/>
              <a:t>over the entire training set.</a:t>
            </a:r>
            <a:endParaRPr lang="en-US" sz="2400" dirty="0"/>
          </a:p>
          <a:p>
            <a:endParaRPr lang="en-US" sz="2400" dirty="0"/>
          </a:p>
        </p:txBody>
      </p:sp>
      <p:pic>
        <p:nvPicPr>
          <p:cNvPr id="4" name="图片 3"/>
          <p:cNvPicPr>
            <a:picLocks noChangeAspect="1"/>
          </p:cNvPicPr>
          <p:nvPr>
            <p:custDataLst>
              <p:tags r:id="rId1"/>
            </p:custDataLst>
          </p:nvPr>
        </p:nvPicPr>
        <p:blipFill>
          <a:blip r:embed="rId2"/>
          <a:stretch>
            <a:fillRect/>
          </a:stretch>
        </p:blipFill>
        <p:spPr>
          <a:xfrm>
            <a:off x="6400800" y="1143000"/>
            <a:ext cx="5470525" cy="3203575"/>
          </a:xfrm>
          <a:prstGeom prst="rect">
            <a:avLst/>
          </a:prstGeom>
        </p:spPr>
      </p:pic>
      <p:sp>
        <p:nvSpPr>
          <p:cNvPr id="5" name="文本框 4"/>
          <p:cNvSpPr txBox="1"/>
          <p:nvPr/>
        </p:nvSpPr>
        <p:spPr>
          <a:xfrm>
            <a:off x="6617970" y="4648200"/>
            <a:ext cx="5269230" cy="645160"/>
          </a:xfrm>
          <a:prstGeom prst="rect">
            <a:avLst/>
          </a:prstGeom>
          <a:noFill/>
        </p:spPr>
        <p:txBody>
          <a:bodyPr wrap="square" rtlCol="0" anchor="t">
            <a:spAutoFit/>
          </a:bodyPr>
          <a:p>
            <a:r>
              <a:rPr lang="zh-CN" altLang="en-US"/>
              <a:t>https://www.xenonstack.com/glossary/stochastic-gradient-descent</a:t>
            </a:r>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Intuition of one step of gradient descent</a:t>
            </a:r>
            <a:endParaRPr lang="en-US" dirty="0"/>
          </a:p>
        </p:txBody>
      </p:sp>
      <p:pic>
        <p:nvPicPr>
          <p:cNvPr id="5" name="Content Placeholder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689989" y="1447800"/>
            <a:ext cx="8812021" cy="5158510"/>
          </a:xfr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Reminder: gradient descent</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marL="457200" indent="-457200">
                  <a:buFont typeface="Arial" panose="020B0604020202090204" pitchFamily="34" charset="0"/>
                  <a:buChar char="•"/>
                </a:pPr>
                <a:r>
                  <a:rPr lang="en-US" sz="2800" dirty="0"/>
                  <a:t>At each step</a:t>
                </a:r>
                <a:endParaRPr lang="en-US" sz="2800" dirty="0"/>
              </a:p>
              <a:p>
                <a:pPr marL="986155" lvl="1" indent="-457200">
                  <a:buFont typeface="Arial" panose="020B0604020202090204" pitchFamily="34" charset="0"/>
                  <a:buChar char="•"/>
                </a:pPr>
                <a:r>
                  <a:rPr lang="en-US" sz="2400" dirty="0"/>
                  <a:t>Direction: We move in the reverse direction from the gradient of the loss function</a:t>
                </a:r>
                <a:endParaRPr lang="en-US" sz="2400" dirty="0"/>
              </a:p>
              <a:p>
                <a:pPr marL="986155" lvl="1" indent="-457200">
                  <a:buFont typeface="Arial" panose="020B0604020202090204" pitchFamily="34" charset="0"/>
                  <a:buChar char="•"/>
                </a:pPr>
                <a:r>
                  <a:rPr lang="en-US" sz="2400" dirty="0"/>
                  <a:t>Magnitude: we move the value of this gradient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𝑑</m:t>
                        </m:r>
                      </m:num>
                      <m:den>
                        <m:r>
                          <a:rPr lang="en-US" sz="2400" i="1">
                            <a:latin typeface="Cambria Math" panose="02040503050406030204" pitchFamily="18" charset="0"/>
                          </a:rPr>
                          <m:t>𝑑𝑤</m:t>
                        </m:r>
                      </m:den>
                    </m:f>
                    <m:r>
                      <a:rPr lang="en-US" sz="2400" i="1">
                        <a:latin typeface="Cambria Math" panose="02040503050406030204" pitchFamily="18" charset="0"/>
                      </a:rPr>
                      <m:t>𝐿</m:t>
                    </m:r>
                    <m:r>
                      <a:rPr lang="en-US" sz="2400" i="1">
                        <a:latin typeface="Cambria Math" panose="02040503050406030204" pitchFamily="18" charset="0"/>
                      </a:rPr>
                      <m:t>(</m:t>
                    </m:r>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𝑥</m:t>
                        </m:r>
                        <m:r>
                          <a:rPr lang="en-US" sz="2400" i="1">
                            <a:latin typeface="Cambria Math" panose="02040503050406030204" pitchFamily="18" charset="0"/>
                          </a:rPr>
                          <m:t>;</m:t>
                        </m:r>
                        <m:r>
                          <a:rPr lang="en-US" sz="2400" i="1">
                            <a:latin typeface="Cambria Math" panose="02040503050406030204" pitchFamily="18" charset="0"/>
                          </a:rPr>
                          <m:t>𝑤</m:t>
                        </m:r>
                      </m:e>
                    </m:d>
                    <m:r>
                      <a:rPr lang="en-US" sz="2400" i="1">
                        <a:latin typeface="Cambria Math" panose="02040503050406030204" pitchFamily="18" charset="0"/>
                      </a:rPr>
                      <m:t>,</m:t>
                    </m:r>
                    <m:r>
                      <a:rPr lang="en-US" sz="2400" i="1">
                        <a:latin typeface="Cambria Math" panose="02040503050406030204" pitchFamily="18" charset="0"/>
                      </a:rPr>
                      <m:t>𝑦</m:t>
                    </m:r>
                    <m:r>
                      <a:rPr lang="en-US" sz="2400" i="1">
                        <a:latin typeface="Cambria Math" panose="02040503050406030204" pitchFamily="18" charset="0"/>
                      </a:rPr>
                      <m:t>)</m:t>
                    </m:r>
                  </m:oMath>
                </a14:m>
                <a:r>
                  <a:rPr lang="en-US" sz="2400" dirty="0"/>
                  <a:t> weighted by a </a:t>
                </a:r>
                <a:r>
                  <a:rPr lang="en-US" sz="2400" b="1" dirty="0"/>
                  <a:t>learning rate </a:t>
                </a:r>
                <a:r>
                  <a:rPr lang="el-GR" sz="2400" dirty="0"/>
                  <a:t>η </a:t>
                </a:r>
                <a:endParaRPr lang="en-US" sz="2400" dirty="0"/>
              </a:p>
              <a:p>
                <a:pPr marL="986155" lvl="1" indent="-457200">
                  <a:buFont typeface="Arial" panose="020B0604020202090204" pitchFamily="34" charset="0"/>
                  <a:buChar char="•"/>
                </a:pPr>
                <a:r>
                  <a:rPr lang="en-US" sz="2400" dirty="0"/>
                  <a:t>Higher learning rate means move </a:t>
                </a:r>
                <a:r>
                  <a:rPr lang="en-US" sz="2400" i="1" dirty="0">
                    <a:solidFill>
                      <a:srgbClr val="FF0000"/>
                    </a:solidFill>
                  </a:rPr>
                  <a:t>w</a:t>
                </a:r>
                <a:r>
                  <a:rPr lang="en-US" sz="2400" dirty="0"/>
                  <a:t> faster</a:t>
                </a:r>
                <a:endParaRPr lang="en-US" sz="2400" dirty="0"/>
              </a:p>
              <a:p>
                <a:endParaRPr lang="en-US" sz="24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a:stretch>
              </a:blipFill>
            </p:spPr>
            <p:txBody>
              <a:bodyPr/>
              <a:lstStyle/>
              <a:p>
                <a:r>
                  <a:rPr lang="zh-CN" altLang="en-US">
                    <a:noFill/>
                  </a:rPr>
                  <a:t> </a:t>
                </a:r>
              </a:p>
            </p:txBody>
          </p:sp>
        </mc:Fallback>
      </mc:AlternateContent>
      <p:pic>
        <p:nvPicPr>
          <p:cNvPr id="4" name="Picture 3"/>
          <p:cNvPicPr>
            <a:picLocks noChangeAspect="1"/>
          </p:cNvPicPr>
          <p:nvPr/>
        </p:nvPicPr>
        <p:blipFill>
          <a:blip r:embed="rId2"/>
          <a:srcRect/>
          <a:stretch>
            <a:fillRect/>
          </a:stretch>
        </p:blipFill>
        <p:spPr>
          <a:xfrm>
            <a:off x="1295400" y="4343400"/>
            <a:ext cx="5797832" cy="1066800"/>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7772400" y="3886200"/>
            <a:ext cx="3723640" cy="218059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derivatives of the loss function</a:t>
            </a:r>
            <a:endParaRPr lang="en-US" dirty="0"/>
          </a:p>
        </p:txBody>
      </p:sp>
      <p:pic>
        <p:nvPicPr>
          <p:cNvPr id="5" name="Content Placeholder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752600" y="2819400"/>
            <a:ext cx="7225665" cy="3106420"/>
          </a:xfrm>
        </p:spPr>
      </p:pic>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6835" y="1571898"/>
            <a:ext cx="1438835" cy="639482"/>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400" y="1212189"/>
            <a:ext cx="6794500" cy="1358900"/>
          </a:xfrm>
          <a:prstGeom prst="rect">
            <a:avLst/>
          </a:prstGeom>
        </p:spPr>
      </p:pic>
      <p:pic>
        <p:nvPicPr>
          <p:cNvPr id="3" name="图片 2"/>
          <p:cNvPicPr>
            <a:picLocks noChangeAspect="1"/>
          </p:cNvPicPr>
          <p:nvPr>
            <p:custDataLst>
              <p:tags r:id="rId4"/>
            </p:custDataLst>
          </p:nvPr>
        </p:nvPicPr>
        <p:blipFill>
          <a:blip r:embed="rId5"/>
          <a:stretch>
            <a:fillRect/>
          </a:stretch>
        </p:blipFill>
        <p:spPr>
          <a:xfrm>
            <a:off x="7772400" y="2667000"/>
            <a:ext cx="3723640" cy="218059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Update equation in SGD</a:t>
            </a:r>
            <a:endParaRPr lang="en-US" dirty="0"/>
          </a:p>
        </p:txBody>
      </p:sp>
      <p:pic>
        <p:nvPicPr>
          <p:cNvPr id="5" name="Content Placeholder 4"/>
          <p:cNvPicPr>
            <a:picLocks noGrp="1" noChangeAspect="1"/>
          </p:cNvPicPr>
          <p:nvPr>
            <p:ph idx="1"/>
          </p:nvPr>
        </p:nvPicPr>
        <p:blipFill>
          <a:blip r:embed="rId1">
            <a:extLst>
              <a:ext uri="{28A0092B-C50C-407E-A947-70E740481C1C}">
                <a14:useLocalDpi xmlns:a14="http://schemas.microsoft.com/office/drawing/2010/main" val="0"/>
              </a:ext>
            </a:extLst>
          </a:blip>
          <a:srcRect/>
          <a:stretch>
            <a:fillRect/>
          </a:stretch>
        </p:blipFill>
        <p:spPr>
          <a:xfrm>
            <a:off x="838200" y="1993265"/>
            <a:ext cx="7494905" cy="2091690"/>
          </a:xfrm>
        </p:spPr>
      </p:pic>
      <p:sp>
        <p:nvSpPr>
          <p:cNvPr id="6" name="TextBox 5"/>
          <p:cNvSpPr txBox="1"/>
          <p:nvPr/>
        </p:nvSpPr>
        <p:spPr>
          <a:xfrm>
            <a:off x="609419" y="1371781"/>
            <a:ext cx="10152203" cy="461665"/>
          </a:xfrm>
          <a:prstGeom prst="rect">
            <a:avLst/>
          </a:prstGeom>
          <a:noFill/>
        </p:spPr>
        <p:txBody>
          <a:bodyPr wrap="none" rtlCol="0">
            <a:spAutoFit/>
          </a:bodyPr>
          <a:lstStyle/>
          <a:p>
            <a:r>
              <a:rPr lang="en-US" sz="2400" dirty="0"/>
              <a:t>Start with randomly initialized C and W matrices, then incrementally do updates</a:t>
            </a:r>
            <a:endParaRPr lang="en-US" sz="2400" dirty="0"/>
          </a:p>
        </p:txBody>
      </p:sp>
      <p:pic>
        <p:nvPicPr>
          <p:cNvPr id="3" name="图片 2"/>
          <p:cNvPicPr>
            <a:picLocks noChangeAspect="1"/>
          </p:cNvPicPr>
          <p:nvPr>
            <p:custDataLst>
              <p:tags r:id="rId2"/>
            </p:custDataLst>
          </p:nvPr>
        </p:nvPicPr>
        <p:blipFill>
          <a:blip r:embed="rId3"/>
          <a:stretch>
            <a:fillRect/>
          </a:stretch>
        </p:blipFill>
        <p:spPr>
          <a:xfrm>
            <a:off x="1676400" y="4343400"/>
            <a:ext cx="3723640" cy="2180590"/>
          </a:xfrm>
          <a:prstGeom prst="rect">
            <a:avLst/>
          </a:prstGeom>
        </p:spPr>
      </p:pic>
      <p:pic>
        <p:nvPicPr>
          <p:cNvPr id="4" name="图片 3"/>
          <p:cNvPicPr>
            <a:picLocks noChangeAspect="1"/>
          </p:cNvPicPr>
          <p:nvPr>
            <p:custDataLst>
              <p:tags r:id="rId4"/>
            </p:custDataLst>
          </p:nvPr>
        </p:nvPicPr>
        <p:blipFill>
          <a:blip r:embed="rId5"/>
          <a:stretch>
            <a:fillRect/>
          </a:stretch>
        </p:blipFill>
        <p:spPr>
          <a:xfrm>
            <a:off x="8763000" y="1833245"/>
            <a:ext cx="3000375" cy="444119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 sets of embeddings</a:t>
            </a:r>
            <a:endParaRPr lang="en-US" dirty="0"/>
          </a:p>
        </p:txBody>
      </p:sp>
      <p:sp>
        <p:nvSpPr>
          <p:cNvPr id="3" name="Content Placeholder 2"/>
          <p:cNvSpPr>
            <a:spLocks noGrp="1"/>
          </p:cNvSpPr>
          <p:nvPr>
            <p:ph idx="1"/>
          </p:nvPr>
        </p:nvSpPr>
        <p:spPr/>
        <p:txBody>
          <a:bodyPr/>
          <a:lstStyle/>
          <a:p>
            <a:r>
              <a:rPr lang="en-US" dirty="0"/>
              <a:t>SGNS learns two sets of embeddings</a:t>
            </a:r>
            <a:endParaRPr lang="en-US" dirty="0"/>
          </a:p>
          <a:p>
            <a:pPr lvl="1"/>
            <a:r>
              <a:rPr lang="en-US" dirty="0"/>
              <a:t>Target embeddings matrix </a:t>
            </a:r>
            <a:r>
              <a:rPr lang="en-US" i="1" dirty="0">
                <a:solidFill>
                  <a:srgbClr val="FF0000"/>
                </a:solidFill>
                <a:latin typeface="Times New Roman Italic" panose="02020503050405090304" charset="0"/>
                <a:cs typeface="Times New Roman Italic" panose="02020503050405090304" charset="0"/>
              </a:rPr>
              <a:t>W</a:t>
            </a:r>
            <a:endParaRPr lang="en-US" dirty="0"/>
          </a:p>
          <a:p>
            <a:pPr lvl="1"/>
            <a:r>
              <a:rPr lang="en-US" dirty="0"/>
              <a:t>Context embedding matrix </a:t>
            </a:r>
            <a:r>
              <a:rPr lang="en-US" i="1" dirty="0">
                <a:solidFill>
                  <a:srgbClr val="FF0000"/>
                </a:solidFill>
                <a:latin typeface="Times New Roman Italic" panose="02020503050405090304" charset="0"/>
                <a:cs typeface="Times New Roman Italic" panose="02020503050405090304" charset="0"/>
              </a:rPr>
              <a:t>C</a:t>
            </a:r>
            <a:r>
              <a:rPr lang="en-US" dirty="0"/>
              <a:t> </a:t>
            </a:r>
            <a:endParaRPr lang="en-US" dirty="0"/>
          </a:p>
          <a:p>
            <a:r>
              <a:rPr lang="en-US" dirty="0"/>
              <a:t>It's common to just add them together, representing </a:t>
            </a:r>
            <a:r>
              <a:rPr lang="en-US" i="1" dirty="0">
                <a:solidFill>
                  <a:srgbClr val="FF0000"/>
                </a:solidFill>
                <a:latin typeface="Times New Roman Italic" panose="02020503050405090304" charset="0"/>
                <a:cs typeface="Times New Roman Italic" panose="02020503050405090304" charset="0"/>
              </a:rPr>
              <a:t>i-</a:t>
            </a:r>
            <a:r>
              <a:rPr lang="en-US" i="1" dirty="0">
                <a:latin typeface="Times New Roman Italic" panose="02020503050405090304" charset="0"/>
                <a:cs typeface="Times New Roman Italic" panose="02020503050405090304" charset="0"/>
              </a:rPr>
              <a:t>th</a:t>
            </a:r>
            <a:r>
              <a:rPr lang="en-US" dirty="0"/>
              <a:t> word as the vector  </a:t>
            </a:r>
            <a:r>
              <a:rPr lang="en-US" i="1" dirty="0" err="1">
                <a:solidFill>
                  <a:srgbClr val="FF0000"/>
                </a:solidFill>
                <a:latin typeface="Times New Roman Italic" panose="02020503050405090304" charset="0"/>
                <a:cs typeface="Times New Roman Italic" panose="02020503050405090304" charset="0"/>
              </a:rPr>
              <a:t>w</a:t>
            </a:r>
            <a:r>
              <a:rPr lang="en-US" i="1" baseline="-25000" dirty="0" err="1">
                <a:solidFill>
                  <a:srgbClr val="FF0000"/>
                </a:solidFill>
                <a:latin typeface="Times New Roman Italic" panose="02020503050405090304" charset="0"/>
                <a:cs typeface="Times New Roman Italic" panose="02020503050405090304" charset="0"/>
              </a:rPr>
              <a:t>i</a:t>
            </a:r>
            <a:r>
              <a:rPr lang="en-US" i="1" baseline="-25000" dirty="0">
                <a:solidFill>
                  <a:srgbClr val="FF0000"/>
                </a:solidFill>
                <a:latin typeface="Times New Roman Italic" panose="02020503050405090304" charset="0"/>
                <a:cs typeface="Times New Roman Italic" panose="02020503050405090304" charset="0"/>
              </a:rPr>
              <a:t> </a:t>
            </a:r>
            <a:r>
              <a:rPr lang="en-US" i="1" dirty="0">
                <a:solidFill>
                  <a:srgbClr val="FF0000"/>
                </a:solidFill>
                <a:latin typeface="Times New Roman Italic" panose="02020503050405090304" charset="0"/>
                <a:cs typeface="Times New Roman Italic" panose="02020503050405090304" charset="0"/>
              </a:rPr>
              <a:t>+ c</a:t>
            </a:r>
            <a:r>
              <a:rPr lang="en-US" i="1" baseline="-25000" dirty="0">
                <a:solidFill>
                  <a:srgbClr val="FF0000"/>
                </a:solidFill>
                <a:latin typeface="Times New Roman Italic" panose="02020503050405090304" charset="0"/>
                <a:cs typeface="Times New Roman Italic" panose="02020503050405090304" charset="0"/>
              </a:rPr>
              <a:t>i</a:t>
            </a:r>
            <a:endParaRPr lang="en-US" i="1" baseline="-25000" dirty="0">
              <a:solidFill>
                <a:srgbClr val="FF0000"/>
              </a:solidFill>
              <a:latin typeface="Times New Roman Italic" panose="02020503050405090304" charset="0"/>
              <a:cs typeface="Times New Roman Italic" panose="0202050305040509030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325" y="609600"/>
            <a:ext cx="10683875" cy="907415"/>
          </a:xfrm>
        </p:spPr>
        <p:txBody>
          <a:bodyPr>
            <a:normAutofit fontScale="90000"/>
          </a:bodyPr>
          <a:lstStyle/>
          <a:p>
            <a:r>
              <a:rPr lang="en-US" dirty="0"/>
              <a:t>Summary: How to learn word2vec (skip-gram) </a:t>
            </a:r>
            <a:r>
              <a:rPr lang="en-US" dirty="0" err="1"/>
              <a:t>embeddings</a:t>
            </a:r>
            <a:endParaRPr lang="en-US" dirty="0"/>
          </a:p>
        </p:txBody>
      </p:sp>
      <p:sp>
        <p:nvSpPr>
          <p:cNvPr id="3" name="Content Placeholder 2"/>
          <p:cNvSpPr>
            <a:spLocks noGrp="1"/>
          </p:cNvSpPr>
          <p:nvPr>
            <p:ph idx="1"/>
          </p:nvPr>
        </p:nvSpPr>
        <p:spPr>
          <a:xfrm>
            <a:off x="1097280" y="1600200"/>
            <a:ext cx="10789920" cy="5181600"/>
          </a:xfrm>
        </p:spPr>
        <p:txBody>
          <a:bodyPr>
            <a:noAutofit/>
          </a:bodyPr>
          <a:lstStyle/>
          <a:p>
            <a:r>
              <a:rPr lang="en-US" sz="2800" dirty="0"/>
              <a:t>Start with </a:t>
            </a:r>
            <a:r>
              <a:rPr lang="en-US" sz="2800" dirty="0">
                <a:solidFill>
                  <a:srgbClr val="FF0000"/>
                </a:solidFill>
              </a:rPr>
              <a:t>V</a:t>
            </a:r>
            <a:r>
              <a:rPr lang="en-US" sz="2800" dirty="0"/>
              <a:t> random d-dimensional vectors as initial embeddings</a:t>
            </a:r>
            <a:endParaRPr lang="en-US" sz="2800" dirty="0"/>
          </a:p>
          <a:p>
            <a:r>
              <a:rPr lang="en-US" sz="2800" dirty="0"/>
              <a:t>Train a classifier based on embedding similarity</a:t>
            </a:r>
            <a:endParaRPr lang="en-US" sz="2800" dirty="0"/>
          </a:p>
          <a:p>
            <a:pPr marL="409575" lvl="1" indent="-173355"/>
            <a:r>
              <a:rPr lang="en-US" sz="2400" dirty="0"/>
              <a:t>Take a corpus and take pairs of words that co-occur as positive examples</a:t>
            </a:r>
            <a:endParaRPr lang="en-US" sz="2400" dirty="0"/>
          </a:p>
          <a:p>
            <a:pPr marL="409575" lvl="1" indent="-173355"/>
            <a:r>
              <a:rPr lang="en-US" sz="2400" dirty="0"/>
              <a:t>Take pairs of words that don't co-occur as negative examples</a:t>
            </a:r>
            <a:endParaRPr lang="en-US" sz="2400" dirty="0"/>
          </a:p>
          <a:p>
            <a:pPr marL="409575" lvl="1" indent="-173355"/>
            <a:r>
              <a:rPr lang="en-US" sz="2400" dirty="0"/>
              <a:t>Train the classifier to distinguish these by slowly adjusting all the </a:t>
            </a:r>
            <a:r>
              <a:rPr lang="en-US" sz="2400" dirty="0" err="1"/>
              <a:t>embeddings</a:t>
            </a:r>
            <a:r>
              <a:rPr lang="en-US" sz="2400" dirty="0"/>
              <a:t> to improve the classifier performance</a:t>
            </a:r>
            <a:endParaRPr lang="en-US" sz="2400" dirty="0"/>
          </a:p>
          <a:p>
            <a:pPr marL="409575" lvl="1" indent="-173355"/>
            <a:r>
              <a:rPr lang="en-US" sz="2400" dirty="0"/>
              <a:t>Throw away the classifier code and keep the </a:t>
            </a:r>
            <a:r>
              <a:rPr lang="en-US" sz="2400" dirty="0" err="1"/>
              <a:t>embeddings</a:t>
            </a:r>
            <a:r>
              <a:rPr lang="en-US" sz="2400" dirty="0"/>
              <a:t>.</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ctrTitle"/>
          </p:nvPr>
        </p:nvSpPr>
        <p:spPr>
          <a:xfrm>
            <a:off x="857250" y="2128520"/>
            <a:ext cx="9658350" cy="1753235"/>
          </a:xfrm>
        </p:spPr>
        <p:txBody>
          <a:bodyPr>
            <a:noAutofit/>
          </a:bodyPr>
          <a:lstStyle/>
          <a:p>
            <a:r>
              <a:rPr lang="en-US" altLang="zh-CN" sz="4800" dirty="0">
                <a:solidFill>
                  <a:schemeClr val="tx2"/>
                </a:solidFill>
              </a:rPr>
              <a:t>Properties of Embeddings</a:t>
            </a:r>
            <a:endParaRPr lang="en-US" altLang="zh-CN" sz="4800" dirty="0">
              <a:solidFill>
                <a:schemeClr val="tx2"/>
              </a:solidFill>
            </a:endParaRPr>
          </a:p>
        </p:txBody>
      </p:sp>
      <p:pic>
        <p:nvPicPr>
          <p:cNvPr id="7" name="Picture 6"/>
          <p:cNvPicPr>
            <a:picLocks noChangeAspect="1"/>
          </p:cNvPicPr>
          <p:nvPr/>
        </p:nvPicPr>
        <p:blipFill>
          <a:blip r:embed="rId1"/>
          <a:stretch>
            <a:fillRect/>
          </a:stretch>
        </p:blipFill>
        <p:spPr>
          <a:xfrm>
            <a:off x="4838596" y="4817143"/>
            <a:ext cx="2517131" cy="53842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662"/>
    </mc:Choice>
    <mc:Fallback>
      <p:transition spd="slow" advTm="10662"/>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9603"/>
            <a:ext cx="11506200" cy="907196"/>
          </a:xfrm>
        </p:spPr>
        <p:txBody>
          <a:bodyPr>
            <a:normAutofit fontScale="90000"/>
          </a:bodyPr>
          <a:lstStyle/>
          <a:p>
            <a:r>
              <a:rPr lang="en-US" dirty="0"/>
              <a:t>The kinds of neighbors depend on window size</a:t>
            </a:r>
            <a:endParaRPr lang="en-US" dirty="0"/>
          </a:p>
        </p:txBody>
      </p:sp>
      <p:sp>
        <p:nvSpPr>
          <p:cNvPr id="6" name="Content Placeholder 5"/>
          <p:cNvSpPr>
            <a:spLocks noGrp="1"/>
          </p:cNvSpPr>
          <p:nvPr>
            <p:ph idx="1"/>
          </p:nvPr>
        </p:nvSpPr>
        <p:spPr>
          <a:xfrm>
            <a:off x="762000" y="1143000"/>
            <a:ext cx="11506200" cy="5105400"/>
          </a:xfrm>
        </p:spPr>
        <p:txBody>
          <a:bodyPr>
            <a:normAutofit/>
          </a:bodyPr>
          <a:lstStyle/>
          <a:p>
            <a:pPr marL="0" indent="0"/>
            <a:r>
              <a:rPr lang="en-US" sz="2800" i="1" dirty="0">
                <a:latin typeface="Times New Roman Italic" panose="02020503050405090304" charset="0"/>
                <a:cs typeface="Times New Roman Italic" panose="02020503050405090304" charset="0"/>
              </a:rPr>
              <a:t>Small windows (C= +/- 2) : nearest words are syntactically similar words in same taxonomy</a:t>
            </a:r>
            <a:endParaRPr lang="en-US" sz="2800" i="1" dirty="0">
              <a:latin typeface="Times New Roman Italic" panose="02020503050405090304" charset="0"/>
              <a:cs typeface="Times New Roman Italic" panose="02020503050405090304" charset="0"/>
            </a:endParaRPr>
          </a:p>
          <a:p>
            <a:pPr marL="528955" lvl="1" indent="0"/>
            <a:r>
              <a:rPr lang="en-US" sz="3200" i="1" dirty="0">
                <a:latin typeface="Times New Roman Italic" panose="02020503050405090304" charset="0"/>
                <a:cs typeface="Times New Roman Italic" panose="02020503050405090304" charset="0"/>
              </a:rPr>
              <a:t>Hogwarts nearest neighbors are other fictional schools</a:t>
            </a:r>
            <a:endParaRPr lang="en-US" sz="3200" i="1" dirty="0">
              <a:latin typeface="Times New Roman Italic" panose="02020503050405090304" charset="0"/>
              <a:cs typeface="Times New Roman Italic" panose="02020503050405090304" charset="0"/>
            </a:endParaRPr>
          </a:p>
          <a:p>
            <a:pPr marL="986155" lvl="2" indent="0"/>
            <a:r>
              <a:rPr lang="en-US" sz="2740" i="1" dirty="0">
                <a:latin typeface="Times New Roman Italic" panose="02020503050405090304" charset="0"/>
                <a:cs typeface="Times New Roman Italic" panose="02020503050405090304" charset="0"/>
              </a:rPr>
              <a:t>Sunnydale, </a:t>
            </a:r>
            <a:r>
              <a:rPr lang="en-US" sz="2740" i="1" dirty="0" err="1">
                <a:latin typeface="Times New Roman Italic" panose="02020503050405090304" charset="0"/>
                <a:cs typeface="Times New Roman Italic" panose="02020503050405090304" charset="0"/>
              </a:rPr>
              <a:t>Evernight</a:t>
            </a:r>
            <a:r>
              <a:rPr lang="en-US" sz="2740" i="1" dirty="0">
                <a:latin typeface="Times New Roman Italic" panose="02020503050405090304" charset="0"/>
                <a:cs typeface="Times New Roman Italic" panose="02020503050405090304" charset="0"/>
              </a:rPr>
              <a:t>, </a:t>
            </a:r>
            <a:r>
              <a:rPr lang="en-US" sz="2740" i="1" dirty="0" err="1">
                <a:latin typeface="Times New Roman Italic" panose="02020503050405090304" charset="0"/>
                <a:cs typeface="Times New Roman Italic" panose="02020503050405090304" charset="0"/>
              </a:rPr>
              <a:t>Blandings</a:t>
            </a:r>
            <a:endParaRPr lang="en-US" sz="2740" i="1" dirty="0">
              <a:latin typeface="Times New Roman Italic" panose="02020503050405090304" charset="0"/>
              <a:cs typeface="Times New Roman Italic" panose="02020503050405090304" charset="0"/>
            </a:endParaRPr>
          </a:p>
          <a:p>
            <a:pPr marL="0" indent="0"/>
            <a:r>
              <a:rPr lang="en-US" sz="2800" i="1" dirty="0">
                <a:latin typeface="Times New Roman Italic" panose="02020503050405090304" charset="0"/>
                <a:cs typeface="Times New Roman Italic" panose="02020503050405090304" charset="0"/>
              </a:rPr>
              <a:t>Large windows (C= +/- 5) :  nearest words are related words in same semantic field</a:t>
            </a:r>
            <a:endParaRPr lang="en-US" sz="2800" i="1" dirty="0">
              <a:latin typeface="Times New Roman Italic" panose="02020503050405090304" charset="0"/>
              <a:cs typeface="Times New Roman Italic" panose="02020503050405090304" charset="0"/>
            </a:endParaRPr>
          </a:p>
          <a:p>
            <a:pPr marL="528955" lvl="1" indent="0"/>
            <a:r>
              <a:rPr lang="en-US" sz="3200" i="1" dirty="0">
                <a:latin typeface="Times New Roman Italic" panose="02020503050405090304" charset="0"/>
                <a:cs typeface="Times New Roman Italic" panose="02020503050405090304" charset="0"/>
              </a:rPr>
              <a:t>Hogwarts nearest neighbors are Harry Potter world:</a:t>
            </a:r>
            <a:endParaRPr lang="en-US" sz="3200" i="1" dirty="0">
              <a:latin typeface="Times New Roman Italic" panose="02020503050405090304" charset="0"/>
              <a:cs typeface="Times New Roman Italic" panose="02020503050405090304" charset="0"/>
            </a:endParaRPr>
          </a:p>
          <a:p>
            <a:pPr marL="986155" lvl="2" indent="0"/>
            <a:r>
              <a:rPr lang="en-US" sz="2740" i="1" dirty="0">
                <a:latin typeface="Times New Roman Italic" panose="02020503050405090304" charset="0"/>
                <a:cs typeface="Times New Roman Italic" panose="02020503050405090304" charset="0"/>
              </a:rPr>
              <a:t>Dumbledore, half-blood,  Malfoy</a:t>
            </a:r>
            <a:endParaRPr lang="en-US" sz="2740" i="1" dirty="0">
              <a:latin typeface="Times New Roman Italic" panose="02020503050405090304" charset="0"/>
              <a:cs typeface="Times New Roman Italic" panose="02020503050405090304" charset="0"/>
            </a:endParaRPr>
          </a:p>
          <a:p>
            <a:pPr marL="0" indent="0"/>
            <a:endParaRPr lang="en-US" sz="3200" i="1" dirty="0">
              <a:latin typeface="Times New Roman Italic" panose="02020503050405090304" charset="0"/>
              <a:cs typeface="Times New Roman Italic" panose="0202050305040509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24200" y="3581400"/>
            <a:ext cx="5238115" cy="2974975"/>
          </a:xfrm>
          <a:prstGeom prst="rect">
            <a:avLst/>
          </a:prstGeom>
        </p:spPr>
      </p:pic>
      <p:sp>
        <p:nvSpPr>
          <p:cNvPr id="2" name="Title 1"/>
          <p:cNvSpPr>
            <a:spLocks noGrp="1"/>
          </p:cNvSpPr>
          <p:nvPr>
            <p:ph type="title"/>
          </p:nvPr>
        </p:nvSpPr>
        <p:spPr/>
        <p:txBody>
          <a:bodyPr/>
          <a:lstStyle/>
          <a:p>
            <a:r>
              <a:rPr lang="en-US" dirty="0"/>
              <a:t>Analogical relations</a:t>
            </a:r>
            <a:endParaRPr lang="en-US" dirty="0"/>
          </a:p>
        </p:txBody>
      </p:sp>
      <p:sp>
        <p:nvSpPr>
          <p:cNvPr id="3" name="Content Placeholder 2"/>
          <p:cNvSpPr>
            <a:spLocks noGrp="1"/>
          </p:cNvSpPr>
          <p:nvPr>
            <p:ph idx="1"/>
          </p:nvPr>
        </p:nvSpPr>
        <p:spPr>
          <a:xfrm>
            <a:off x="1097280" y="1295400"/>
            <a:ext cx="10942320" cy="4572000"/>
          </a:xfrm>
        </p:spPr>
        <p:txBody>
          <a:bodyPr>
            <a:normAutofit/>
          </a:bodyPr>
          <a:lstStyle/>
          <a:p>
            <a:r>
              <a:rPr lang="en-US" dirty="0"/>
              <a:t>The classic parallelogram model of analogical reasoning </a:t>
            </a:r>
            <a:r>
              <a:rPr lang="en-US" sz="3200" dirty="0"/>
              <a:t>(</a:t>
            </a:r>
            <a:r>
              <a:rPr lang="en-US" sz="3200" dirty="0" err="1"/>
              <a:t>Rumelhart</a:t>
            </a:r>
            <a:r>
              <a:rPr lang="en-US" sz="3200" dirty="0"/>
              <a:t> and Abrahamson 1973)</a:t>
            </a:r>
            <a:endParaRPr lang="en-US" sz="3200" dirty="0"/>
          </a:p>
          <a:p>
            <a:r>
              <a:rPr lang="en-US" dirty="0"/>
              <a:t>To solve: </a:t>
            </a:r>
            <a:r>
              <a:rPr lang="en-US" i="1" dirty="0"/>
              <a:t>"apple is to tree as grape is to  _____"</a:t>
            </a:r>
            <a:endParaRPr lang="en-US" i="1" dirty="0"/>
          </a:p>
          <a:p>
            <a:r>
              <a:rPr lang="en-US" i="1" dirty="0"/>
              <a:t>Add tree – apple  to grape to get </a:t>
            </a:r>
            <a:r>
              <a:rPr lang="en-US" i="1" dirty="0">
                <a:solidFill>
                  <a:srgbClr val="0000FF"/>
                </a:solidFill>
              </a:rPr>
              <a:t>vine</a:t>
            </a:r>
            <a:endParaRPr lang="en-US" dirty="0"/>
          </a:p>
        </p:txBody>
      </p:sp>
      <p:cxnSp>
        <p:nvCxnSpPr>
          <p:cNvPr id="8" name="Straight Arrow Connector 7"/>
          <p:cNvCxnSpPr/>
          <p:nvPr/>
        </p:nvCxnSpPr>
        <p:spPr>
          <a:xfrm>
            <a:off x="3352800" y="3048000"/>
            <a:ext cx="990600" cy="0"/>
          </a:xfrm>
          <a:prstGeom prst="straightConnector1">
            <a:avLst/>
          </a:prstGeom>
          <a:ln w="285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2362200" y="3048000"/>
            <a:ext cx="838200" cy="0"/>
          </a:xfrm>
          <a:prstGeom prst="straightConnector1">
            <a:avLst/>
          </a:prstGeom>
          <a:ln w="285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4876800" y="3048000"/>
            <a:ext cx="990600" cy="0"/>
          </a:xfrm>
          <a:prstGeom prst="straightConnector1">
            <a:avLst/>
          </a:prstGeom>
          <a:ln w="285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934200" y="3048000"/>
            <a:ext cx="838200" cy="0"/>
          </a:xfrm>
          <a:prstGeom prst="straightConnector1">
            <a:avLst/>
          </a:prstGeom>
          <a:ln w="285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Analogical relations via parallelogram</a:t>
            </a:r>
            <a:endParaRPr lang="en-US" dirty="0"/>
          </a:p>
        </p:txBody>
      </p:sp>
      <p:sp>
        <p:nvSpPr>
          <p:cNvPr id="3" name="Content Placeholder 2"/>
          <p:cNvSpPr>
            <a:spLocks noGrp="1"/>
          </p:cNvSpPr>
          <p:nvPr>
            <p:ph idx="1"/>
          </p:nvPr>
        </p:nvSpPr>
        <p:spPr>
          <a:xfrm>
            <a:off x="914401" y="1219200"/>
            <a:ext cx="10637519" cy="4572000"/>
          </a:xfrm>
        </p:spPr>
        <p:txBody>
          <a:bodyPr/>
          <a:lstStyle/>
          <a:p>
            <a:r>
              <a:rPr lang="en-US" dirty="0"/>
              <a:t>The parallelogram method can solve analogies with both sparse and dense embeddings (Turney and Littman 2005, </a:t>
            </a:r>
            <a:r>
              <a:rPr lang="en-US" dirty="0" err="1"/>
              <a:t>Mikolov</a:t>
            </a:r>
            <a:r>
              <a:rPr lang="en-US" dirty="0"/>
              <a:t> et al. 2013b)</a:t>
            </a:r>
            <a:endParaRPr lang="en-US" dirty="0"/>
          </a:p>
          <a:p>
            <a:r>
              <a:rPr lang="en-US" dirty="0"/>
              <a:t>		king – man + woman is close to queen</a:t>
            </a:r>
            <a:endParaRPr lang="en-US" dirty="0"/>
          </a:p>
          <a:p>
            <a:r>
              <a:rPr lang="en-US" dirty="0"/>
              <a:t>		Paris – France + Italy is close to Rome</a:t>
            </a:r>
            <a:endParaRPr lang="en-US" dirty="0"/>
          </a:p>
          <a:p>
            <a:r>
              <a:rPr lang="en-US" dirty="0"/>
              <a:t>For a problem </a:t>
            </a:r>
            <a:r>
              <a:rPr lang="en-US" i="1" dirty="0" err="1">
                <a:solidFill>
                  <a:srgbClr val="FF0000"/>
                </a:solidFill>
                <a:latin typeface="Times New Roman Italic" panose="02020503050405090304" charset="0"/>
                <a:cs typeface="Times New Roman Italic" panose="02020503050405090304" charset="0"/>
              </a:rPr>
              <a:t>a:a</a:t>
            </a:r>
            <a:r>
              <a:rPr lang="en-US" i="1" dirty="0">
                <a:solidFill>
                  <a:srgbClr val="FF0000"/>
                </a:solidFill>
                <a:latin typeface="Times New Roman Italic" panose="02020503050405090304" charset="0"/>
                <a:cs typeface="Times New Roman Italic" panose="02020503050405090304" charset="0"/>
              </a:rPr>
              <a:t>*::</a:t>
            </a:r>
            <a:r>
              <a:rPr lang="en-US" i="1" dirty="0" err="1">
                <a:solidFill>
                  <a:srgbClr val="FF0000"/>
                </a:solidFill>
                <a:latin typeface="Times New Roman Italic" panose="02020503050405090304" charset="0"/>
                <a:cs typeface="Times New Roman Italic" panose="02020503050405090304" charset="0"/>
              </a:rPr>
              <a:t>b:b</a:t>
            </a:r>
            <a:r>
              <a:rPr lang="en-US" i="1" dirty="0">
                <a:solidFill>
                  <a:srgbClr val="FF0000"/>
                </a:solidFill>
                <a:latin typeface="Times New Roman Italic" panose="02020503050405090304" charset="0"/>
                <a:cs typeface="Times New Roman Italic" panose="02020503050405090304" charset="0"/>
              </a:rPr>
              <a:t>*</a:t>
            </a:r>
            <a:r>
              <a:rPr lang="en-US" dirty="0"/>
              <a:t>, the parallelogram method is:</a:t>
            </a:r>
            <a:endParaRPr lang="en-US" dirty="0"/>
          </a:p>
          <a:p>
            <a:endParaRPr lang="en-US" dirty="0"/>
          </a:p>
        </p:txBody>
      </p:sp>
      <p:cxnSp>
        <p:nvCxnSpPr>
          <p:cNvPr id="4" name="Straight Arrow Connector 3"/>
          <p:cNvCxnSpPr/>
          <p:nvPr/>
        </p:nvCxnSpPr>
        <p:spPr>
          <a:xfrm>
            <a:off x="1752600" y="2819400"/>
            <a:ext cx="990600" cy="0"/>
          </a:xfrm>
          <a:prstGeom prst="straightConnector1">
            <a:avLst/>
          </a:prstGeom>
          <a:ln w="285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2971800" y="2819400"/>
            <a:ext cx="990600" cy="0"/>
          </a:xfrm>
          <a:prstGeom prst="straightConnector1">
            <a:avLst/>
          </a:prstGeom>
          <a:ln w="285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4191000" y="2819400"/>
            <a:ext cx="1295400" cy="0"/>
          </a:xfrm>
          <a:prstGeom prst="straightConnector1">
            <a:avLst/>
          </a:prstGeom>
          <a:ln w="285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7162800" y="2819400"/>
            <a:ext cx="1295400" cy="0"/>
          </a:xfrm>
          <a:prstGeom prst="straightConnector1">
            <a:avLst/>
          </a:prstGeom>
          <a:ln w="285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3048000" y="3429000"/>
            <a:ext cx="1295400" cy="0"/>
          </a:xfrm>
          <a:prstGeom prst="straightConnector1">
            <a:avLst/>
          </a:prstGeom>
          <a:ln w="285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853565" y="3429000"/>
            <a:ext cx="914400" cy="0"/>
          </a:xfrm>
          <a:prstGeom prst="straightConnector1">
            <a:avLst/>
          </a:prstGeom>
          <a:ln w="285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4572000" y="3352800"/>
            <a:ext cx="914400" cy="0"/>
          </a:xfrm>
          <a:prstGeom prst="straightConnector1">
            <a:avLst/>
          </a:prstGeom>
          <a:ln w="285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7239000" y="3429000"/>
            <a:ext cx="914400" cy="0"/>
          </a:xfrm>
          <a:prstGeom prst="straightConnector1">
            <a:avLst/>
          </a:prstGeom>
          <a:ln w="285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pic>
        <p:nvPicPr>
          <p:cNvPr id="15" name="Picture 1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09800" y="4724099"/>
            <a:ext cx="6928427" cy="942643"/>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600200" y="990600"/>
            <a:ext cx="6828155" cy="5292090"/>
          </a:xfrm>
        </p:spPr>
      </p:pic>
      <p:sp>
        <p:nvSpPr>
          <p:cNvPr id="3" name="TextBox 2"/>
          <p:cNvSpPr txBox="1"/>
          <p:nvPr/>
        </p:nvSpPr>
        <p:spPr>
          <a:xfrm>
            <a:off x="533401" y="246390"/>
            <a:ext cx="5495479" cy="523220"/>
          </a:xfrm>
          <a:prstGeom prst="rect">
            <a:avLst/>
          </a:prstGeom>
          <a:noFill/>
        </p:spPr>
        <p:txBody>
          <a:bodyPr wrap="none" rtlCol="0">
            <a:spAutoFit/>
          </a:bodyPr>
          <a:lstStyle/>
          <a:p>
            <a:r>
              <a:rPr lang="en-US" sz="2800" dirty="0"/>
              <a:t>Structure in </a:t>
            </a:r>
            <a:r>
              <a:rPr lang="en-US" sz="2800" dirty="0" err="1"/>
              <a:t>GloVE</a:t>
            </a:r>
            <a:r>
              <a:rPr lang="en-US" sz="2800" dirty="0"/>
              <a:t> Embedding space</a:t>
            </a:r>
            <a:endParaRPr lang="en-US" sz="2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Caveats with the parallelogram method</a:t>
            </a:r>
            <a:endParaRPr lang="en-US" dirty="0"/>
          </a:p>
        </p:txBody>
      </p:sp>
      <p:sp>
        <p:nvSpPr>
          <p:cNvPr id="3" name="Content Placeholder 2"/>
          <p:cNvSpPr>
            <a:spLocks noGrp="1"/>
          </p:cNvSpPr>
          <p:nvPr>
            <p:ph idx="1"/>
          </p:nvPr>
        </p:nvSpPr>
        <p:spPr/>
        <p:txBody>
          <a:bodyPr/>
          <a:lstStyle/>
          <a:p>
            <a:pPr algn="just"/>
            <a:r>
              <a:rPr lang="en-US" sz="2800" dirty="0"/>
              <a:t>It only seems to work for frequent words, small distances and certain relations (relating countries to capitals, or parts of speech), but not others. (</a:t>
            </a:r>
            <a:r>
              <a:rPr lang="en-US" sz="2800" dirty="0" err="1"/>
              <a:t>Linzen</a:t>
            </a:r>
            <a:r>
              <a:rPr lang="en-US" sz="2800" dirty="0"/>
              <a:t> 2016, </a:t>
            </a:r>
            <a:r>
              <a:rPr lang="en-US" sz="2800" dirty="0" err="1"/>
              <a:t>Gladkova</a:t>
            </a:r>
            <a:r>
              <a:rPr lang="en-US" sz="2800" dirty="0"/>
              <a:t> et al. 2016, </a:t>
            </a:r>
            <a:r>
              <a:rPr lang="en-US" sz="2800" dirty="0" err="1"/>
              <a:t>Ethayarajh</a:t>
            </a:r>
            <a:r>
              <a:rPr lang="en-US" sz="2800" dirty="0"/>
              <a:t> et al. 2019a) </a:t>
            </a:r>
            <a:endParaRPr lang="en-US" sz="2800" dirty="0"/>
          </a:p>
          <a:p>
            <a:pPr algn="just"/>
            <a:endParaRPr lang="en-US" sz="2800" dirty="0"/>
          </a:p>
          <a:p>
            <a:pPr algn="just"/>
            <a:r>
              <a:rPr lang="en-US" sz="2800" dirty="0"/>
              <a:t>Understanding analogy is an open area of research (Peterson et al. 2020)</a:t>
            </a:r>
            <a:endParaRPr lang="en-US" sz="2800" dirty="0"/>
          </a:p>
          <a:p>
            <a:pPr algn="just"/>
            <a:endParaRPr lang="en-US" sz="2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wordpaths-final.png"/>
          <p:cNvPicPr>
            <a:picLocks noChangeAspect="1"/>
          </p:cNvPicPr>
          <p:nvPr/>
        </p:nvPicPr>
        <p:blipFill>
          <a:blip r:embed="rId1"/>
          <a:stretch>
            <a:fillRect/>
          </a:stretch>
        </p:blipFill>
        <p:spPr>
          <a:xfrm>
            <a:off x="914400" y="2322195"/>
            <a:ext cx="10691495" cy="3690620"/>
          </a:xfrm>
          <a:prstGeom prst="rect">
            <a:avLst/>
          </a:prstGeom>
          <a:ln w="12700">
            <a:miter lim="400000"/>
            <a:headEnd/>
            <a:tailEnd/>
          </a:ln>
        </p:spPr>
      </p:pic>
      <p:sp>
        <p:nvSpPr>
          <p:cNvPr id="5" name="TextBox 4"/>
          <p:cNvSpPr txBox="1"/>
          <p:nvPr/>
        </p:nvSpPr>
        <p:spPr>
          <a:xfrm>
            <a:off x="692529" y="1209802"/>
            <a:ext cx="12983101" cy="460375"/>
          </a:xfrm>
          <a:prstGeom prst="rect">
            <a:avLst/>
          </a:prstGeom>
          <a:noFill/>
        </p:spPr>
        <p:txBody>
          <a:bodyPr wrap="square" rtlCol="0">
            <a:spAutoFit/>
          </a:bodyPr>
          <a:lstStyle/>
          <a:p>
            <a:r>
              <a:rPr lang="en-US" sz="2400" dirty="0">
                <a:latin typeface="Times New Roman Regular" panose="02020503050405090304" charset="0"/>
                <a:cs typeface="Times New Roman Regular" panose="02020503050405090304" charset="0"/>
              </a:rPr>
              <a:t>Train embeddings on different decades of historical text to see meanings shift</a:t>
            </a:r>
            <a:endParaRPr lang="en-US" sz="2400" dirty="0">
              <a:latin typeface="Times New Roman Regular" panose="02020503050405090304" charset="0"/>
              <a:cs typeface="Times New Roman Regular" panose="02020503050405090304" charset="0"/>
            </a:endParaRPr>
          </a:p>
        </p:txBody>
      </p:sp>
      <p:sp>
        <p:nvSpPr>
          <p:cNvPr id="6" name="Shape 168"/>
          <p:cNvSpPr/>
          <p:nvPr/>
        </p:nvSpPr>
        <p:spPr>
          <a:xfrm>
            <a:off x="3352800" y="1850648"/>
            <a:ext cx="4700710" cy="349135"/>
          </a:xfrm>
          <a:prstGeom prst="rect">
            <a:avLst/>
          </a:prstGeom>
          <a:ln w="12700">
            <a:miter lim="400000"/>
          </a:ln>
        </p:spPr>
        <p:txBody>
          <a:bodyPr wrap="none" lIns="35719" tIns="35719" rIns="35719" bIns="35719" anchor="ctr">
            <a:spAutoFit/>
          </a:bodyPr>
          <a:lstStyle>
            <a:lvl1pPr>
              <a:defRPr sz="2400"/>
            </a:lvl1pPr>
          </a:lstStyle>
          <a:p>
            <a:r>
              <a:rPr lang="en-US" sz="1800" dirty="0"/>
              <a:t>~30 million books, 1850-1990, Google Books data</a:t>
            </a:r>
            <a:endParaRPr lang="en-US" sz="1800" dirty="0"/>
          </a:p>
        </p:txBody>
      </p:sp>
      <p:sp>
        <p:nvSpPr>
          <p:cNvPr id="8" name="Title 1"/>
          <p:cNvSpPr txBox="1"/>
          <p:nvPr/>
        </p:nvSpPr>
        <p:spPr bwMode="auto">
          <a:xfrm>
            <a:off x="2044778" y="304801"/>
            <a:ext cx="8066207" cy="612807"/>
          </a:xfrm>
          <a:prstGeom prst="rect">
            <a:avLst/>
          </a:prstGeom>
          <a:noFill/>
          <a:ln>
            <a:noFill/>
          </a:ln>
        </p:spPr>
        <p:txBody>
          <a:bodyPr vert="horz" wrap="square" lIns="91440" tIns="45720" rIns="91440" bIns="45720" numCol="1" anchor="b" anchorCtr="0" compatLnSpc="1">
            <a:normAutofit fontScale="90000" lnSpcReduction="10000"/>
          </a:bodyPr>
          <a:lstStyle>
            <a:lvl1pPr algn="l" rtl="0" eaLnBrk="1" fontAlgn="base" hangingPunct="1">
              <a:spcBef>
                <a:spcPct val="0"/>
              </a:spcBef>
              <a:spcAft>
                <a:spcPct val="0"/>
              </a:spcAft>
              <a:defRPr sz="4000" b="0" baseline="0">
                <a:solidFill>
                  <a:schemeClr val="tx1"/>
                </a:solidFill>
                <a:latin typeface="+mj-lt"/>
                <a:ea typeface="MS PGothic" charset="-128"/>
                <a:cs typeface="MS PGothic" charset="-128"/>
              </a:defRPr>
            </a:lvl1pPr>
            <a:lvl2pPr algn="l" rtl="0" eaLnBrk="1" fontAlgn="base" hangingPunct="1">
              <a:spcBef>
                <a:spcPct val="0"/>
              </a:spcBef>
              <a:spcAft>
                <a:spcPct val="0"/>
              </a:spcAft>
              <a:defRPr sz="3600">
                <a:solidFill>
                  <a:schemeClr val="tx1"/>
                </a:solidFill>
                <a:latin typeface="Lucida Sans" pitchFamily="-65" charset="0"/>
                <a:ea typeface="MS PGothic" charset="-128"/>
                <a:cs typeface="MS PGothic" charset="-128"/>
              </a:defRPr>
            </a:lvl2pPr>
            <a:lvl3pPr algn="l" rtl="0" eaLnBrk="1" fontAlgn="base" hangingPunct="1">
              <a:spcBef>
                <a:spcPct val="0"/>
              </a:spcBef>
              <a:spcAft>
                <a:spcPct val="0"/>
              </a:spcAft>
              <a:defRPr sz="3600">
                <a:solidFill>
                  <a:schemeClr val="tx1"/>
                </a:solidFill>
                <a:latin typeface="Lucida Sans" pitchFamily="-65" charset="0"/>
                <a:ea typeface="MS PGothic" charset="-128"/>
                <a:cs typeface="MS PGothic" charset="-128"/>
              </a:defRPr>
            </a:lvl3pPr>
            <a:lvl4pPr algn="l" rtl="0" eaLnBrk="1" fontAlgn="base" hangingPunct="1">
              <a:spcBef>
                <a:spcPct val="0"/>
              </a:spcBef>
              <a:spcAft>
                <a:spcPct val="0"/>
              </a:spcAft>
              <a:defRPr sz="3600">
                <a:solidFill>
                  <a:schemeClr val="tx1"/>
                </a:solidFill>
                <a:latin typeface="Lucida Sans" pitchFamily="-65" charset="0"/>
                <a:ea typeface="MS PGothic" charset="-128"/>
                <a:cs typeface="MS PGothic" charset="-128"/>
              </a:defRPr>
            </a:lvl4pPr>
            <a:lvl5pPr algn="l" rtl="0" eaLnBrk="1" fontAlgn="base" hangingPunct="1">
              <a:spcBef>
                <a:spcPct val="0"/>
              </a:spcBef>
              <a:spcAft>
                <a:spcPct val="0"/>
              </a:spcAft>
              <a:defRPr sz="3600">
                <a:solidFill>
                  <a:schemeClr val="tx1"/>
                </a:solidFill>
                <a:latin typeface="Lucida Sans" pitchFamily="-65" charset="0"/>
                <a:ea typeface="MS PGothic" charset="-128"/>
                <a:cs typeface="MS PGothic" charset="-128"/>
              </a:defRPr>
            </a:lvl5pPr>
            <a:lvl6pPr marL="457200" algn="l" rtl="0" eaLnBrk="1" fontAlgn="base" hangingPunct="1">
              <a:spcBef>
                <a:spcPct val="0"/>
              </a:spcBef>
              <a:spcAft>
                <a:spcPct val="0"/>
              </a:spcAft>
              <a:defRPr sz="3600">
                <a:solidFill>
                  <a:schemeClr val="tx1"/>
                </a:solidFill>
                <a:latin typeface="Lucida Sans" pitchFamily="-65" charset="0"/>
              </a:defRPr>
            </a:lvl6pPr>
            <a:lvl7pPr marL="914400" algn="l" rtl="0" eaLnBrk="1" fontAlgn="base" hangingPunct="1">
              <a:spcBef>
                <a:spcPct val="0"/>
              </a:spcBef>
              <a:spcAft>
                <a:spcPct val="0"/>
              </a:spcAft>
              <a:defRPr sz="3600">
                <a:solidFill>
                  <a:schemeClr val="tx1"/>
                </a:solidFill>
                <a:latin typeface="Lucida Sans" pitchFamily="-65" charset="0"/>
              </a:defRPr>
            </a:lvl7pPr>
            <a:lvl8pPr marL="1371600" algn="l" rtl="0" eaLnBrk="1" fontAlgn="base" hangingPunct="1">
              <a:spcBef>
                <a:spcPct val="0"/>
              </a:spcBef>
              <a:spcAft>
                <a:spcPct val="0"/>
              </a:spcAft>
              <a:defRPr sz="3600">
                <a:solidFill>
                  <a:schemeClr val="tx1"/>
                </a:solidFill>
                <a:latin typeface="Lucida Sans" pitchFamily="-65" charset="0"/>
              </a:defRPr>
            </a:lvl8pPr>
            <a:lvl9pPr marL="1828800" algn="l" rtl="0" eaLnBrk="1" fontAlgn="base" hangingPunct="1">
              <a:spcBef>
                <a:spcPct val="0"/>
              </a:spcBef>
              <a:spcAft>
                <a:spcPct val="0"/>
              </a:spcAft>
              <a:defRPr sz="3600">
                <a:solidFill>
                  <a:schemeClr val="tx1"/>
                </a:solidFill>
                <a:latin typeface="Lucida Sans" pitchFamily="-65" charset="0"/>
              </a:defRPr>
            </a:lvl9pPr>
          </a:lstStyle>
          <a:p>
            <a:endParaRPr lang="en-US" kern="0" dirty="0"/>
          </a:p>
        </p:txBody>
      </p:sp>
      <p:sp>
        <p:nvSpPr>
          <p:cNvPr id="9" name="Title 8"/>
          <p:cNvSpPr>
            <a:spLocks noGrp="1"/>
          </p:cNvSpPr>
          <p:nvPr>
            <p:ph type="title"/>
          </p:nvPr>
        </p:nvSpPr>
        <p:spPr>
          <a:xfrm>
            <a:off x="341630" y="152400"/>
            <a:ext cx="11469370" cy="990600"/>
          </a:xfrm>
        </p:spPr>
        <p:txBody>
          <a:bodyPr>
            <a:normAutofit fontScale="90000"/>
          </a:bodyPr>
          <a:lstStyle/>
          <a:p>
            <a:r>
              <a:rPr lang="en-US" dirty="0"/>
              <a:t>Embeddings as a window onto historical semantics</a:t>
            </a:r>
            <a:endParaRPr lang="en-US" dirty="0"/>
          </a:p>
        </p:txBody>
      </p:sp>
      <p:sp>
        <p:nvSpPr>
          <p:cNvPr id="2" name="Rectangle 1"/>
          <p:cNvSpPr/>
          <p:nvPr/>
        </p:nvSpPr>
        <p:spPr>
          <a:xfrm>
            <a:off x="1447877" y="5943699"/>
            <a:ext cx="9918623" cy="646331"/>
          </a:xfrm>
          <a:prstGeom prst="rect">
            <a:avLst/>
          </a:prstGeom>
        </p:spPr>
        <p:txBody>
          <a:bodyPr wrap="square">
            <a:spAutoFit/>
          </a:bodyPr>
          <a:lstStyle/>
          <a:p>
            <a:r>
              <a:rPr lang="en-US" dirty="0"/>
              <a:t>William L. Hamilton, Jure </a:t>
            </a:r>
            <a:r>
              <a:rPr lang="en-US" dirty="0" err="1"/>
              <a:t>Leskovec</a:t>
            </a:r>
            <a:r>
              <a:rPr lang="en-US" dirty="0"/>
              <a:t>, and Dan Jurafsky. 2016. Diachronic Word Embeddings Reveal Statistical Laws of Semantic Change. Proceedings of ACL.</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86605"/>
            <a:ext cx="8976360" cy="703996"/>
          </a:xfrm>
        </p:spPr>
        <p:txBody>
          <a:bodyPr>
            <a:normAutofit fontScale="90000"/>
          </a:bodyPr>
          <a:lstStyle/>
          <a:p>
            <a:r>
              <a:rPr lang="en-US" dirty="0"/>
              <a:t>Embeddings reflect cultural bias!</a:t>
            </a:r>
            <a:endParaRPr lang="en-US" dirty="0"/>
          </a:p>
        </p:txBody>
      </p:sp>
      <p:sp>
        <p:nvSpPr>
          <p:cNvPr id="3" name="Content Placeholder 2"/>
          <p:cNvSpPr>
            <a:spLocks noGrp="1"/>
          </p:cNvSpPr>
          <p:nvPr>
            <p:ph idx="1"/>
          </p:nvPr>
        </p:nvSpPr>
        <p:spPr>
          <a:xfrm>
            <a:off x="838200" y="1219200"/>
            <a:ext cx="9296400" cy="4023360"/>
          </a:xfrm>
        </p:spPr>
        <p:txBody>
          <a:bodyPr>
            <a:normAutofit/>
          </a:bodyPr>
          <a:lstStyle/>
          <a:p>
            <a:r>
              <a:rPr lang="en-US" sz="2800" dirty="0"/>
              <a:t>Ask “Paris : France :: Tokyo : x” </a:t>
            </a:r>
            <a:endParaRPr lang="en-US" sz="2800" dirty="0"/>
          </a:p>
          <a:p>
            <a:pPr lvl="1"/>
            <a:r>
              <a:rPr lang="en-US" sz="2400" dirty="0"/>
              <a:t>x = Japan</a:t>
            </a:r>
            <a:endParaRPr lang="en-US" sz="2400" dirty="0"/>
          </a:p>
          <a:p>
            <a:r>
              <a:rPr lang="en-US" sz="2800" dirty="0"/>
              <a:t>Ask “father : doctor :: mother : x” </a:t>
            </a:r>
            <a:endParaRPr lang="en-US" sz="2800" dirty="0"/>
          </a:p>
          <a:p>
            <a:pPr lvl="1"/>
            <a:r>
              <a:rPr lang="en-US" sz="2400" dirty="0"/>
              <a:t>x = nurse</a:t>
            </a:r>
            <a:endParaRPr lang="en-US" sz="2400" dirty="0"/>
          </a:p>
          <a:p>
            <a:r>
              <a:rPr lang="en-US" sz="2800" dirty="0"/>
              <a:t>Ask “man : computer programmer :: woman : x” </a:t>
            </a:r>
            <a:endParaRPr lang="en-US" sz="2800" dirty="0"/>
          </a:p>
          <a:p>
            <a:pPr lvl="1"/>
            <a:r>
              <a:rPr lang="en-US" sz="2400" dirty="0"/>
              <a:t>x = homemaker</a:t>
            </a:r>
            <a:endParaRPr lang="en-US" sz="2400" dirty="0"/>
          </a:p>
          <a:p>
            <a:endParaRPr lang="en-US" sz="2400" dirty="0"/>
          </a:p>
        </p:txBody>
      </p:sp>
      <p:sp>
        <p:nvSpPr>
          <p:cNvPr id="4" name="TextBox 3"/>
          <p:cNvSpPr txBox="1"/>
          <p:nvPr/>
        </p:nvSpPr>
        <p:spPr>
          <a:xfrm>
            <a:off x="762000" y="5410260"/>
            <a:ext cx="9144000" cy="584775"/>
          </a:xfrm>
          <a:prstGeom prst="rect">
            <a:avLst/>
          </a:prstGeom>
          <a:noFill/>
        </p:spPr>
        <p:txBody>
          <a:bodyPr wrap="square" rtlCol="0">
            <a:spAutoFit/>
          </a:bodyPr>
          <a:lstStyle/>
          <a:p>
            <a:r>
              <a:rPr lang="en-US" sz="1600" dirty="0" err="1"/>
              <a:t>Bolukbasi</a:t>
            </a:r>
            <a:r>
              <a:rPr lang="en-US" sz="1600" dirty="0"/>
              <a:t>, </a:t>
            </a:r>
            <a:r>
              <a:rPr lang="en-US" sz="1600" dirty="0" err="1"/>
              <a:t>Tolga</a:t>
            </a:r>
            <a:r>
              <a:rPr lang="en-US" sz="1600" dirty="0"/>
              <a:t>, Kai-Wei Chang, James Y. Zou, </a:t>
            </a:r>
            <a:r>
              <a:rPr lang="en-US" sz="1600" dirty="0" err="1"/>
              <a:t>Venkatesh</a:t>
            </a:r>
            <a:r>
              <a:rPr lang="en-US" sz="1600" dirty="0"/>
              <a:t> </a:t>
            </a:r>
            <a:r>
              <a:rPr lang="en-US" sz="1600" dirty="0" err="1"/>
              <a:t>Saligrama</a:t>
            </a:r>
            <a:r>
              <a:rPr lang="en-US" sz="1600" dirty="0"/>
              <a:t>, and Adam T. </a:t>
            </a:r>
            <a:r>
              <a:rPr lang="en-US" sz="1600" dirty="0" err="1"/>
              <a:t>Kalai</a:t>
            </a:r>
            <a:r>
              <a:rPr lang="en-US" sz="1600" dirty="0"/>
              <a:t>. "Man is to computer programmer as woman is to homemaker? debiasing word embeddings." In </a:t>
            </a:r>
            <a:r>
              <a:rPr lang="en-US" sz="1600" i="1" dirty="0" err="1"/>
              <a:t>NeurIPS</a:t>
            </a:r>
            <a:r>
              <a:rPr lang="en-US" sz="1600" dirty="0"/>
              <a:t>, pp. 4349-4357. 2016.</a:t>
            </a:r>
            <a:endParaRPr lang="en-US" sz="1600" dirty="0"/>
          </a:p>
        </p:txBody>
      </p:sp>
      <p:sp>
        <p:nvSpPr>
          <p:cNvPr id="5" name="TextBox 4"/>
          <p:cNvSpPr txBox="1"/>
          <p:nvPr/>
        </p:nvSpPr>
        <p:spPr>
          <a:xfrm>
            <a:off x="609600" y="4267418"/>
            <a:ext cx="10668000" cy="954107"/>
          </a:xfrm>
          <a:prstGeom prst="rect">
            <a:avLst/>
          </a:prstGeom>
          <a:noFill/>
        </p:spPr>
        <p:txBody>
          <a:bodyPr wrap="square" rtlCol="0">
            <a:spAutoFit/>
          </a:bodyPr>
          <a:lstStyle/>
          <a:p>
            <a:r>
              <a:rPr lang="en-US" sz="2800" dirty="0">
                <a:solidFill>
                  <a:srgbClr val="0000FF"/>
                </a:solidFill>
              </a:rPr>
              <a:t>Algorithms that use embeddings as part of e.g., hiring searches for programmers, might lead to bias in hiring</a:t>
            </a:r>
            <a:endParaRPr lang="en-US" sz="2800"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157303"/>
            <a:ext cx="11671300" cy="1285875"/>
          </a:xfrm>
        </p:spPr>
        <p:txBody>
          <a:bodyPr>
            <a:normAutofit/>
          </a:bodyPr>
          <a:lstStyle/>
          <a:p>
            <a:r>
              <a:rPr lang="en-US" sz="2700" dirty="0"/>
              <a:t>Historical embedding as a tool to study cultural biases</a:t>
            </a:r>
            <a:endParaRPr lang="en-US" sz="2700" dirty="0"/>
          </a:p>
        </p:txBody>
      </p:sp>
      <p:sp>
        <p:nvSpPr>
          <p:cNvPr id="3" name="Rectangle 2"/>
          <p:cNvSpPr/>
          <p:nvPr/>
        </p:nvSpPr>
        <p:spPr>
          <a:xfrm>
            <a:off x="685800" y="1066799"/>
            <a:ext cx="10972799" cy="4831080"/>
          </a:xfrm>
          <a:prstGeom prst="rect">
            <a:avLst/>
          </a:prstGeom>
        </p:spPr>
        <p:txBody>
          <a:bodyPr wrap="square">
            <a:spAutoFit/>
          </a:bodyPr>
          <a:lstStyle/>
          <a:p>
            <a:pPr lvl="1" indent="-457200" algn="just">
              <a:buFont typeface="Arial" panose="020B0604020202090204" pitchFamily="34" charset="0"/>
              <a:buChar char="•"/>
            </a:pPr>
            <a:r>
              <a:rPr lang="en-US" sz="2800" dirty="0">
                <a:latin typeface="Times New Roman Regular" panose="02020503050405090304" charset="0"/>
                <a:cs typeface="Times New Roman Regular" panose="02020503050405090304" charset="0"/>
              </a:rPr>
              <a:t>Compute a gender or ethnic bias for each adjective: e.g., how much closer the adjective is to "woman" synonyms than "man" synonyms, or names of particular ethnicities</a:t>
            </a:r>
            <a:endParaRPr lang="en-US" sz="2800" dirty="0">
              <a:latin typeface="Times New Roman Regular" panose="02020503050405090304" charset="0"/>
              <a:cs typeface="Times New Roman Regular" panose="02020503050405090304" charset="0"/>
            </a:endParaRPr>
          </a:p>
          <a:p>
            <a:pPr lvl="2" indent="-457200" algn="just">
              <a:buFont typeface="Arial" panose="020B0604020202090204" pitchFamily="34" charset="0"/>
              <a:buChar char="•"/>
            </a:pPr>
            <a:r>
              <a:rPr lang="en-US" sz="2800" dirty="0">
                <a:latin typeface="Times New Roman Regular" panose="02020503050405090304" charset="0"/>
                <a:cs typeface="Times New Roman Regular" panose="02020503050405090304" charset="0"/>
              </a:rPr>
              <a:t>Embeddings for competence adjective (smart, wise, brilliant, resourceful, thoughtful, logical) are biased toward men, a bias slowly decreasing 1960-1990</a:t>
            </a:r>
            <a:endParaRPr lang="en-US" sz="2800" dirty="0">
              <a:latin typeface="Times New Roman Regular" panose="02020503050405090304" charset="0"/>
              <a:cs typeface="Times New Roman Regular" panose="02020503050405090304" charset="0"/>
            </a:endParaRPr>
          </a:p>
          <a:p>
            <a:pPr marL="914400" lvl="1" indent="-457200" algn="just">
              <a:buFont typeface="Arial" panose="020B0604020202090204" pitchFamily="34" charset="0"/>
              <a:buChar char="•"/>
            </a:pPr>
            <a:r>
              <a:rPr lang="en-US" sz="2800" dirty="0">
                <a:latin typeface="Times New Roman Regular" panose="02020503050405090304" charset="0"/>
                <a:cs typeface="Times New Roman Regular" panose="02020503050405090304" charset="0"/>
              </a:rPr>
              <a:t>Embeddings for dehumanizing adjectives (barbaric, monstrous, bizarre)  were biased toward Asians in the 1930s, bias decreasing over the 20</a:t>
            </a:r>
            <a:r>
              <a:rPr lang="en-US" sz="2800" baseline="30000" dirty="0">
                <a:latin typeface="Times New Roman Regular" panose="02020503050405090304" charset="0"/>
                <a:cs typeface="Times New Roman Regular" panose="02020503050405090304" charset="0"/>
              </a:rPr>
              <a:t>th</a:t>
            </a:r>
            <a:r>
              <a:rPr lang="en-US" sz="2800" dirty="0">
                <a:latin typeface="Times New Roman Regular" panose="02020503050405090304" charset="0"/>
                <a:cs typeface="Times New Roman Regular" panose="02020503050405090304" charset="0"/>
              </a:rPr>
              <a:t> century.</a:t>
            </a:r>
            <a:endParaRPr lang="en-US" sz="2800" dirty="0">
              <a:latin typeface="Times New Roman Regular" panose="02020503050405090304" charset="0"/>
              <a:cs typeface="Times New Roman Regular" panose="02020503050405090304" charset="0"/>
            </a:endParaRPr>
          </a:p>
          <a:p>
            <a:pPr marL="457200" indent="-457200" algn="just">
              <a:buFont typeface="Arial" panose="020B0604020202090204" pitchFamily="34" charset="0"/>
              <a:buChar char="•"/>
            </a:pPr>
            <a:r>
              <a:rPr lang="en-US" sz="2800" dirty="0">
                <a:latin typeface="Times New Roman Regular" panose="02020503050405090304" charset="0"/>
                <a:cs typeface="Times New Roman Regular" panose="02020503050405090304" charset="0"/>
              </a:rPr>
              <a:t>These match the results of old surveys done in the 1930s</a:t>
            </a:r>
            <a:endParaRPr lang="en-US" sz="2800" dirty="0">
              <a:latin typeface="Times New Roman Regular" panose="02020503050405090304" charset="0"/>
              <a:cs typeface="Times New Roman Regular" panose="02020503050405090304" charset="0"/>
            </a:endParaRPr>
          </a:p>
          <a:p>
            <a:pPr lvl="1" indent="-457200" algn="just">
              <a:buFont typeface="Arial" panose="020B0604020202090204" pitchFamily="34" charset="0"/>
              <a:buChar char="•"/>
            </a:pPr>
            <a:endParaRPr lang="en-US" sz="2800" dirty="0">
              <a:latin typeface="Times New Roman Regular" panose="02020503050405090304" charset="0"/>
              <a:cs typeface="Times New Roman Regular" panose="02020503050405090304" charset="0"/>
            </a:endParaRPr>
          </a:p>
        </p:txBody>
      </p:sp>
      <p:sp>
        <p:nvSpPr>
          <p:cNvPr id="6" name="Rectangle 5"/>
          <p:cNvSpPr/>
          <p:nvPr/>
        </p:nvSpPr>
        <p:spPr>
          <a:xfrm>
            <a:off x="838147" y="5867121"/>
            <a:ext cx="10330868" cy="553998"/>
          </a:xfrm>
          <a:prstGeom prst="rect">
            <a:avLst/>
          </a:prstGeom>
        </p:spPr>
        <p:txBody>
          <a:bodyPr wrap="square">
            <a:spAutoFit/>
          </a:bodyPr>
          <a:lstStyle/>
          <a:p>
            <a:r>
              <a:rPr lang="en-US" sz="1500" dirty="0">
                <a:solidFill>
                  <a:srgbClr val="000000"/>
                </a:solidFill>
                <a:latin typeface="Calibri" panose="020F0502020204030204" pitchFamily="34" charset="0"/>
                <a:cs typeface="Calibri" panose="020F0502020204030204" pitchFamily="34" charset="0"/>
              </a:rPr>
              <a:t>Garg, N., </a:t>
            </a:r>
            <a:r>
              <a:rPr lang="en-US" sz="1500" dirty="0" err="1">
                <a:solidFill>
                  <a:srgbClr val="000000"/>
                </a:solidFill>
                <a:latin typeface="Calibri" panose="020F0502020204030204" pitchFamily="34" charset="0"/>
                <a:cs typeface="Calibri" panose="020F0502020204030204" pitchFamily="34" charset="0"/>
              </a:rPr>
              <a:t>Schiebinger</a:t>
            </a:r>
            <a:r>
              <a:rPr lang="en-US" sz="1500" dirty="0">
                <a:solidFill>
                  <a:srgbClr val="000000"/>
                </a:solidFill>
                <a:latin typeface="Calibri" panose="020F0502020204030204" pitchFamily="34" charset="0"/>
                <a:cs typeface="Calibri" panose="020F0502020204030204" pitchFamily="34" charset="0"/>
              </a:rPr>
              <a:t>, L., Jurafsky, D., and Zou, J. (2018). Word embeddings quantify 100 years of gender and ethnic stereotypes. Proceedings of the National Academy of Sciences 115(16), E3635–E3644.</a:t>
            </a:r>
            <a:endParaRPr lang="en-US" sz="1500" dirty="0">
              <a:solidFill>
                <a:srgbClr val="000000"/>
              </a:solidFill>
              <a:latin typeface="Calibri" panose="020F0502020204030204" pitchFamily="34" charset="0"/>
              <a:cs typeface="Calibri" panose="020F050202020403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ctrTitle"/>
          </p:nvPr>
        </p:nvSpPr>
        <p:spPr>
          <a:xfrm>
            <a:off x="1905000" y="2128765"/>
            <a:ext cx="8610600" cy="1753083"/>
          </a:xfrm>
        </p:spPr>
        <p:txBody>
          <a:bodyPr>
            <a:noAutofit/>
          </a:bodyPr>
          <a:lstStyle/>
          <a:p>
            <a:r>
              <a:rPr lang="en-US" altLang="zh-CN" sz="4800" dirty="0">
                <a:solidFill>
                  <a:schemeClr val="tx2"/>
                </a:solidFill>
              </a:rPr>
              <a:t>Part of Speech Tagging</a:t>
            </a:r>
            <a:endParaRPr lang="en-US" altLang="zh-CN" sz="4800" dirty="0">
              <a:solidFill>
                <a:schemeClr val="tx2"/>
              </a:solidFill>
            </a:endParaRPr>
          </a:p>
        </p:txBody>
      </p:sp>
      <p:pic>
        <p:nvPicPr>
          <p:cNvPr id="7" name="Picture 6"/>
          <p:cNvPicPr>
            <a:picLocks noChangeAspect="1"/>
          </p:cNvPicPr>
          <p:nvPr/>
        </p:nvPicPr>
        <p:blipFill>
          <a:blip r:embed="rId1"/>
          <a:stretch>
            <a:fillRect/>
          </a:stretch>
        </p:blipFill>
        <p:spPr>
          <a:xfrm>
            <a:off x="4838595" y="4817142"/>
            <a:ext cx="2517131" cy="53842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662"/>
    </mc:Choice>
    <mc:Fallback>
      <p:transition spd="slow" advTm="10662"/>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noChangeArrowheads="1"/>
          </p:cNvSpPr>
          <p:nvPr>
            <p:ph type="title"/>
          </p:nvPr>
        </p:nvSpPr>
        <p:spPr/>
        <p:txBody>
          <a:bodyPr vert="horz" lIns="122767" tIns="61384" rIns="122767" bIns="61384" rtlCol="0" anchor="ctr">
            <a:normAutofit/>
          </a:bodyPr>
          <a:lstStyle/>
          <a:p>
            <a:r>
              <a:rPr lang="en-US" dirty="0"/>
              <a:t>Parts of Speech</a:t>
            </a:r>
            <a:endParaRPr lang="en-US" dirty="0"/>
          </a:p>
        </p:txBody>
      </p:sp>
      <p:sp>
        <p:nvSpPr>
          <p:cNvPr id="5125" name="Rectangle 3"/>
          <p:cNvSpPr>
            <a:spLocks noGrp="1" noChangeArrowheads="1"/>
          </p:cNvSpPr>
          <p:nvPr>
            <p:ph idx="1"/>
          </p:nvPr>
        </p:nvSpPr>
        <p:spPr>
          <a:xfrm>
            <a:off x="914401" y="1142999"/>
            <a:ext cx="10866119" cy="5098197"/>
          </a:xfrm>
        </p:spPr>
        <p:txBody>
          <a:bodyPr vert="horz" lIns="122767" tIns="61384" rIns="122767" bIns="61384" rtlCol="0">
            <a:normAutofit/>
          </a:bodyPr>
          <a:lstStyle/>
          <a:p>
            <a:r>
              <a:rPr lang="en-US" sz="2800" dirty="0"/>
              <a:t>From the earliest linguistic traditions (</a:t>
            </a:r>
            <a:r>
              <a:rPr lang="en-US" sz="2800" dirty="0" err="1"/>
              <a:t>Yaska</a:t>
            </a:r>
            <a:r>
              <a:rPr lang="en-US" sz="2800" dirty="0"/>
              <a:t> and Panini 5</a:t>
            </a:r>
            <a:r>
              <a:rPr lang="en-US" sz="2800" baseline="30000" dirty="0"/>
              <a:t>th</a:t>
            </a:r>
            <a:r>
              <a:rPr lang="en-US" sz="2800" dirty="0"/>
              <a:t> C. BCE, Aristotle 4</a:t>
            </a:r>
            <a:r>
              <a:rPr lang="en-US" sz="2800" baseline="30000" dirty="0"/>
              <a:t>th</a:t>
            </a:r>
            <a:r>
              <a:rPr lang="en-US" sz="2800" dirty="0"/>
              <a:t> C. BCE), the idea that words can be classified into grammatical categories</a:t>
            </a:r>
            <a:endParaRPr lang="en-US" sz="2800" dirty="0"/>
          </a:p>
          <a:p>
            <a:pPr lvl="1"/>
            <a:r>
              <a:rPr lang="en-US" sz="2450" dirty="0"/>
              <a:t>part of speech, word classes, POS, POS tags</a:t>
            </a:r>
            <a:endParaRPr lang="en-US" sz="2450" dirty="0"/>
          </a:p>
          <a:p>
            <a:r>
              <a:rPr lang="en-US" sz="2800" dirty="0"/>
              <a:t>8 parts of speech attributed to Dionysius </a:t>
            </a:r>
            <a:r>
              <a:rPr lang="en-US" sz="2800" dirty="0" err="1"/>
              <a:t>Thrax</a:t>
            </a:r>
            <a:r>
              <a:rPr lang="en-US" sz="2800" dirty="0"/>
              <a:t> of Alexandria (c. 1</a:t>
            </a:r>
            <a:r>
              <a:rPr lang="en-US" sz="2800" baseline="30000" dirty="0"/>
              <a:t>st</a:t>
            </a:r>
            <a:r>
              <a:rPr lang="en-US" sz="2800" dirty="0"/>
              <a:t> C. BCE): </a:t>
            </a:r>
            <a:endParaRPr lang="en-US" sz="2800" dirty="0"/>
          </a:p>
          <a:p>
            <a:pPr lvl="1"/>
            <a:r>
              <a:rPr lang="en-US" sz="2450" dirty="0"/>
              <a:t>noun, verb, pronoun, preposition, adverb, conjunction, participle, article</a:t>
            </a:r>
            <a:endParaRPr lang="en-US" sz="2450" dirty="0"/>
          </a:p>
          <a:p>
            <a:pPr lvl="1"/>
            <a:r>
              <a:rPr lang="en-US" sz="2800" dirty="0"/>
              <a:t>These categories are relevant for NLP today.</a:t>
            </a:r>
            <a:endParaRPr lang="en-US" sz="2800" dirty="0"/>
          </a:p>
          <a:p>
            <a:endParaRPr lang="en-US" sz="2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a:xfrm>
            <a:off x="1097280" y="159603"/>
            <a:ext cx="10942320" cy="907196"/>
          </a:xfrm>
        </p:spPr>
        <p:txBody>
          <a:bodyPr vert="horz" lIns="122767" tIns="61384" rIns="122767" bIns="61384" rtlCol="0" anchor="ctr">
            <a:normAutofit/>
          </a:bodyPr>
          <a:lstStyle/>
          <a:p>
            <a:r>
              <a:rPr lang="en-US" dirty="0"/>
              <a:t>Two classes of words: Open vs. Closed</a:t>
            </a:r>
            <a:endParaRPr lang="en-US" dirty="0"/>
          </a:p>
        </p:txBody>
      </p:sp>
      <p:sp>
        <p:nvSpPr>
          <p:cNvPr id="300035" name="Rectangle 3"/>
          <p:cNvSpPr>
            <a:spLocks noGrp="1" noChangeArrowheads="1"/>
          </p:cNvSpPr>
          <p:nvPr>
            <p:ph idx="1"/>
          </p:nvPr>
        </p:nvSpPr>
        <p:spPr>
          <a:xfrm>
            <a:off x="990601" y="1143000"/>
            <a:ext cx="10713719" cy="5257800"/>
          </a:xfrm>
        </p:spPr>
        <p:txBody>
          <a:bodyPr vert="horz" lIns="122767" tIns="61384" rIns="122767" bIns="61384" rtlCol="0">
            <a:normAutofit lnSpcReduction="10000"/>
          </a:bodyPr>
          <a:lstStyle/>
          <a:p>
            <a:r>
              <a:rPr lang="en-US" sz="3600" dirty="0"/>
              <a:t>Closed class words</a:t>
            </a:r>
            <a:endParaRPr lang="en-US" sz="3600" dirty="0"/>
          </a:p>
          <a:p>
            <a:pPr lvl="1">
              <a:buFont typeface="Arial" panose="020B0604020202090204" pitchFamily="34" charset="0"/>
              <a:buChar char="•"/>
            </a:pPr>
            <a:r>
              <a:rPr lang="en-US" dirty="0"/>
              <a:t>Relatively fixed membership</a:t>
            </a:r>
            <a:endParaRPr lang="en-US" b="1" i="1" dirty="0">
              <a:solidFill>
                <a:srgbClr val="0070C0"/>
              </a:solidFill>
            </a:endParaRPr>
          </a:p>
          <a:p>
            <a:pPr lvl="1">
              <a:buFont typeface="Arial" panose="020B0604020202090204" pitchFamily="34" charset="0"/>
              <a:buChar char="•"/>
            </a:pPr>
            <a:r>
              <a:rPr lang="en-US" dirty="0"/>
              <a:t>Usually </a:t>
            </a:r>
            <a:r>
              <a:rPr lang="en-US" b="1" dirty="0"/>
              <a:t>function</a:t>
            </a:r>
            <a:r>
              <a:rPr lang="en-US" dirty="0"/>
              <a:t> words: short, frequent words with grammatical function</a:t>
            </a:r>
            <a:endParaRPr lang="en-US" b="1" i="1" dirty="0">
              <a:solidFill>
                <a:srgbClr val="0070C0"/>
              </a:solidFill>
            </a:endParaRPr>
          </a:p>
          <a:p>
            <a:pPr lvl="3">
              <a:buFont typeface="Arial" panose="020B0604020202090204" pitchFamily="34" charset="0"/>
              <a:buChar char="•"/>
            </a:pPr>
            <a:r>
              <a:rPr lang="en-US" sz="2400" dirty="0"/>
              <a:t>determiners: </a:t>
            </a:r>
            <a:r>
              <a:rPr lang="en-US" sz="2400" b="1" i="1" dirty="0">
                <a:solidFill>
                  <a:srgbClr val="0070C0"/>
                </a:solidFill>
              </a:rPr>
              <a:t>a, an, the</a:t>
            </a:r>
            <a:endParaRPr lang="en-US" sz="2400" b="1" i="1" dirty="0">
              <a:solidFill>
                <a:srgbClr val="0070C0"/>
              </a:solidFill>
            </a:endParaRPr>
          </a:p>
          <a:p>
            <a:pPr lvl="3">
              <a:buFont typeface="Arial" panose="020B0604020202090204" pitchFamily="34" charset="0"/>
              <a:buChar char="•"/>
            </a:pPr>
            <a:r>
              <a:rPr lang="en-US" sz="2400" dirty="0"/>
              <a:t>pronouns: </a:t>
            </a:r>
            <a:r>
              <a:rPr lang="en-US" sz="2400" b="1" i="1" dirty="0">
                <a:solidFill>
                  <a:srgbClr val="0070C0"/>
                </a:solidFill>
              </a:rPr>
              <a:t>she, he, I</a:t>
            </a:r>
            <a:endParaRPr lang="en-US" sz="2400" b="1" i="1" dirty="0">
              <a:solidFill>
                <a:srgbClr val="0070C0"/>
              </a:solidFill>
            </a:endParaRPr>
          </a:p>
          <a:p>
            <a:pPr lvl="3">
              <a:buFont typeface="Arial" panose="020B0604020202090204" pitchFamily="34" charset="0"/>
              <a:buChar char="•"/>
            </a:pPr>
            <a:r>
              <a:rPr lang="en-US" sz="2400" dirty="0"/>
              <a:t>prepositions: </a:t>
            </a:r>
            <a:r>
              <a:rPr lang="en-US" sz="2400" b="1" i="1" dirty="0">
                <a:solidFill>
                  <a:srgbClr val="0070C0"/>
                </a:solidFill>
              </a:rPr>
              <a:t>on, under, over, near, by, …</a:t>
            </a:r>
            <a:endParaRPr lang="en-US" sz="2400" b="1" i="1" dirty="0">
              <a:solidFill>
                <a:srgbClr val="0070C0"/>
              </a:solidFill>
            </a:endParaRPr>
          </a:p>
          <a:p>
            <a:r>
              <a:rPr lang="en-US" sz="3600" dirty="0"/>
              <a:t>Open class words</a:t>
            </a:r>
            <a:endParaRPr lang="en-US" sz="3600" dirty="0"/>
          </a:p>
          <a:p>
            <a:pPr lvl="2">
              <a:buFont typeface="Arial" panose="020B0604020202090204" pitchFamily="34" charset="0"/>
              <a:buChar char="•"/>
            </a:pPr>
            <a:r>
              <a:rPr lang="en-US" sz="2800" dirty="0"/>
              <a:t>Usually </a:t>
            </a:r>
            <a:r>
              <a:rPr lang="en-US" sz="2800" b="1" dirty="0"/>
              <a:t>content</a:t>
            </a:r>
            <a:r>
              <a:rPr lang="en-US" sz="2800" dirty="0"/>
              <a:t> words: Nouns, Verbs, Adjectives, Adverbs</a:t>
            </a:r>
            <a:endParaRPr lang="en-US" sz="2800" dirty="0"/>
          </a:p>
          <a:p>
            <a:pPr lvl="3">
              <a:buFont typeface="Arial" panose="020B0604020202090204" pitchFamily="34" charset="0"/>
              <a:buChar char="•"/>
            </a:pPr>
            <a:r>
              <a:rPr lang="en-US" sz="2400" dirty="0"/>
              <a:t>Plus interjections: </a:t>
            </a:r>
            <a:r>
              <a:rPr lang="en-US" sz="2400" b="1" dirty="0">
                <a:solidFill>
                  <a:srgbClr val="0070C0"/>
                </a:solidFill>
              </a:rPr>
              <a:t>oh, ouch, uh-huh, yes, hello</a:t>
            </a:r>
            <a:endParaRPr lang="en-US" sz="2400" b="1" dirty="0">
              <a:solidFill>
                <a:srgbClr val="0070C0"/>
              </a:solidFill>
            </a:endParaRPr>
          </a:p>
          <a:p>
            <a:pPr lvl="2">
              <a:buFont typeface="Arial" panose="020B0604020202090204" pitchFamily="34" charset="0"/>
              <a:buChar char="•"/>
            </a:pPr>
            <a:r>
              <a:rPr lang="en-US" sz="2800" dirty="0"/>
              <a:t>New nouns and verbs like </a:t>
            </a:r>
            <a:r>
              <a:rPr lang="en-US" sz="2800" i="1" dirty="0">
                <a:solidFill>
                  <a:srgbClr val="0070C0"/>
                </a:solidFill>
              </a:rPr>
              <a:t>iPhone</a:t>
            </a:r>
            <a:r>
              <a:rPr lang="en-US" sz="2800" i="1" dirty="0"/>
              <a:t> </a:t>
            </a:r>
            <a:r>
              <a:rPr lang="en-US" sz="2800" dirty="0"/>
              <a:t>or </a:t>
            </a:r>
            <a:r>
              <a:rPr lang="en-US" sz="2800" i="1" dirty="0">
                <a:solidFill>
                  <a:srgbClr val="0070C0"/>
                </a:solidFill>
              </a:rPr>
              <a:t>to fax</a:t>
            </a:r>
            <a:endParaRPr lang="en-US" dirty="0">
              <a:solidFill>
                <a:srgbClr val="0070C0"/>
              </a:solidFill>
            </a:endParaRPr>
          </a:p>
          <a:p>
            <a:pPr lvl="2"/>
            <a:endParaRPr lang="en-US" dirty="0">
              <a:solidFill>
                <a:srgbClr val="0070C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p:cNvSpPr>
            <a:spLocks noChangeArrowheads="1"/>
          </p:cNvSpPr>
          <p:nvPr/>
        </p:nvSpPr>
        <p:spPr bwMode="auto">
          <a:xfrm>
            <a:off x="406400" y="3632200"/>
            <a:ext cx="11277600" cy="3048000"/>
          </a:xfrm>
          <a:prstGeom prst="rect">
            <a:avLst/>
          </a:prstGeom>
          <a:solidFill>
            <a:srgbClr val="BDFFCF"/>
          </a:solidFill>
          <a:ln w="9525">
            <a:solidFill>
              <a:schemeClr val="tx1"/>
            </a:solidFill>
            <a:miter lim="800000"/>
          </a:ln>
          <a:effectLst>
            <a:outerShdw blurRad="50800" dist="38100" dir="2700000" algn="tl" rotWithShape="0">
              <a:srgbClr val="000000">
                <a:alpha val="43000"/>
              </a:srgbClr>
            </a:outerShdw>
          </a:effectLst>
        </p:spPr>
        <p:txBody>
          <a:bodyPr wrap="none" anchor="ctr"/>
          <a:lstStyle/>
          <a:p>
            <a:endParaRPr lang="en-US" sz="2400"/>
          </a:p>
        </p:txBody>
      </p:sp>
      <p:sp>
        <p:nvSpPr>
          <p:cNvPr id="4" name="Rectangle 8"/>
          <p:cNvSpPr>
            <a:spLocks noChangeArrowheads="1"/>
          </p:cNvSpPr>
          <p:nvPr/>
        </p:nvSpPr>
        <p:spPr bwMode="auto">
          <a:xfrm>
            <a:off x="406400" y="381000"/>
            <a:ext cx="11277600" cy="3048000"/>
          </a:xfrm>
          <a:prstGeom prst="rect">
            <a:avLst/>
          </a:prstGeom>
          <a:solidFill>
            <a:srgbClr val="CADBFF"/>
          </a:solidFill>
          <a:ln w="9525">
            <a:solidFill>
              <a:schemeClr val="tx1"/>
            </a:solidFill>
            <a:miter lim="800000"/>
          </a:ln>
          <a:effectLst>
            <a:outerShdw blurRad="50800" dist="38100" dir="2700000" algn="tl" rotWithShape="0">
              <a:srgbClr val="000000">
                <a:alpha val="43000"/>
              </a:srgbClr>
            </a:outerShdw>
          </a:effectLst>
        </p:spPr>
        <p:txBody>
          <a:bodyPr wrap="none" anchor="ctr"/>
          <a:lstStyle/>
          <a:p>
            <a:endParaRPr lang="en-US" sz="2400" dirty="0">
              <a:solidFill>
                <a:srgbClr val="FF0000"/>
              </a:solidFill>
            </a:endParaRPr>
          </a:p>
        </p:txBody>
      </p:sp>
      <p:sp>
        <p:nvSpPr>
          <p:cNvPr id="2" name="Text Box 5"/>
          <p:cNvSpPr txBox="1">
            <a:spLocks noChangeArrowheads="1"/>
          </p:cNvSpPr>
          <p:nvPr/>
        </p:nvSpPr>
        <p:spPr bwMode="auto">
          <a:xfrm>
            <a:off x="406400" y="381001"/>
            <a:ext cx="4368800" cy="461665"/>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50000"/>
              </a:spcBef>
            </a:pPr>
            <a:r>
              <a:rPr lang="en-US" b="1" dirty="0"/>
              <a:t>Open class </a:t>
            </a:r>
            <a:r>
              <a:rPr lang="en-US" dirty="0"/>
              <a:t>("content") words</a:t>
            </a:r>
            <a:endParaRPr lang="en-US" dirty="0"/>
          </a:p>
        </p:txBody>
      </p:sp>
      <p:sp>
        <p:nvSpPr>
          <p:cNvPr id="3" name="Text Box 7"/>
          <p:cNvSpPr txBox="1">
            <a:spLocks noChangeArrowheads="1"/>
          </p:cNvSpPr>
          <p:nvPr/>
        </p:nvSpPr>
        <p:spPr bwMode="auto">
          <a:xfrm>
            <a:off x="406400" y="3632201"/>
            <a:ext cx="4876800" cy="461665"/>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50000"/>
              </a:spcBef>
            </a:pPr>
            <a:r>
              <a:rPr lang="en-US" b="1" dirty="0"/>
              <a:t>Closed class </a:t>
            </a:r>
            <a:r>
              <a:rPr lang="en-US" dirty="0"/>
              <a:t>("function")</a:t>
            </a:r>
            <a:endParaRPr lang="en-US" dirty="0"/>
          </a:p>
        </p:txBody>
      </p:sp>
      <p:sp>
        <p:nvSpPr>
          <p:cNvPr id="6" name="Rectangle 10"/>
          <p:cNvSpPr>
            <a:spLocks noChangeArrowheads="1"/>
          </p:cNvSpPr>
          <p:nvPr/>
        </p:nvSpPr>
        <p:spPr bwMode="auto">
          <a:xfrm>
            <a:off x="508000" y="889000"/>
            <a:ext cx="3556000" cy="2438400"/>
          </a:xfrm>
          <a:prstGeom prst="rect">
            <a:avLst/>
          </a:prstGeom>
          <a:solidFill>
            <a:srgbClr val="ECF3FF"/>
          </a:solidFill>
          <a:ln w="9525">
            <a:solidFill>
              <a:schemeClr val="tx1"/>
            </a:solidFill>
            <a:miter lim="800000"/>
          </a:ln>
        </p:spPr>
        <p:txBody>
          <a:bodyPr wrap="none" anchor="ctr"/>
          <a:lstStyle/>
          <a:p>
            <a:endParaRPr lang="en-US" sz="2400"/>
          </a:p>
        </p:txBody>
      </p:sp>
      <p:sp>
        <p:nvSpPr>
          <p:cNvPr id="7" name="Text Box 11"/>
          <p:cNvSpPr txBox="1">
            <a:spLocks noChangeArrowheads="1"/>
          </p:cNvSpPr>
          <p:nvPr/>
        </p:nvSpPr>
        <p:spPr bwMode="auto">
          <a:xfrm>
            <a:off x="508000" y="908052"/>
            <a:ext cx="1930400" cy="461665"/>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50000"/>
              </a:spcBef>
            </a:pPr>
            <a:r>
              <a:rPr lang="en-US"/>
              <a:t>Nouns</a:t>
            </a:r>
            <a:endParaRPr lang="en-US"/>
          </a:p>
        </p:txBody>
      </p:sp>
      <p:sp>
        <p:nvSpPr>
          <p:cNvPr id="8" name="Rectangle 12"/>
          <p:cNvSpPr>
            <a:spLocks noChangeArrowheads="1"/>
          </p:cNvSpPr>
          <p:nvPr/>
        </p:nvSpPr>
        <p:spPr bwMode="auto">
          <a:xfrm>
            <a:off x="4165600" y="889000"/>
            <a:ext cx="2133600" cy="4775200"/>
          </a:xfrm>
          <a:prstGeom prst="rect">
            <a:avLst/>
          </a:prstGeom>
          <a:solidFill>
            <a:srgbClr val="ECF3FF"/>
          </a:solidFill>
          <a:ln w="9525">
            <a:solidFill>
              <a:schemeClr val="tx1"/>
            </a:solidFill>
            <a:miter lim="800000"/>
          </a:ln>
          <a:effectLst>
            <a:outerShdw blurRad="50800" dist="38100" dir="2700000" algn="tl" rotWithShape="0">
              <a:srgbClr val="000000">
                <a:alpha val="43000"/>
              </a:srgbClr>
            </a:outerShdw>
          </a:effectLst>
        </p:spPr>
        <p:txBody>
          <a:bodyPr wrap="none" anchor="ctr"/>
          <a:lstStyle/>
          <a:p>
            <a:endParaRPr lang="en-US" sz="2400"/>
          </a:p>
        </p:txBody>
      </p:sp>
      <p:sp>
        <p:nvSpPr>
          <p:cNvPr id="9" name="Text Box 13"/>
          <p:cNvSpPr txBox="1">
            <a:spLocks noChangeArrowheads="1"/>
          </p:cNvSpPr>
          <p:nvPr/>
        </p:nvSpPr>
        <p:spPr bwMode="auto">
          <a:xfrm>
            <a:off x="4165600" y="908052"/>
            <a:ext cx="2336800" cy="461665"/>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50000"/>
              </a:spcBef>
            </a:pPr>
            <a:r>
              <a:rPr lang="en-US"/>
              <a:t>Verbs</a:t>
            </a:r>
            <a:endParaRPr lang="en-US"/>
          </a:p>
        </p:txBody>
      </p:sp>
      <p:sp>
        <p:nvSpPr>
          <p:cNvPr id="10" name="Rectangle 14"/>
          <p:cNvSpPr>
            <a:spLocks noChangeArrowheads="1"/>
          </p:cNvSpPr>
          <p:nvPr/>
        </p:nvSpPr>
        <p:spPr bwMode="auto">
          <a:xfrm>
            <a:off x="609600" y="1498600"/>
            <a:ext cx="1625600" cy="1625600"/>
          </a:xfrm>
          <a:prstGeom prst="rect">
            <a:avLst/>
          </a:prstGeom>
          <a:noFill/>
          <a:ln w="9525">
            <a:solidFill>
              <a:schemeClr val="tx1"/>
            </a:solidFill>
            <a:miter lim="800000"/>
          </a:ln>
        </p:spPr>
        <p:txBody>
          <a:bodyPr wrap="none" anchor="ctr"/>
          <a:lstStyle/>
          <a:p>
            <a:endParaRPr lang="en-US" sz="2400"/>
          </a:p>
        </p:txBody>
      </p:sp>
      <p:sp>
        <p:nvSpPr>
          <p:cNvPr id="11" name="Text Box 15"/>
          <p:cNvSpPr txBox="1">
            <a:spLocks noChangeArrowheads="1"/>
          </p:cNvSpPr>
          <p:nvPr/>
        </p:nvSpPr>
        <p:spPr bwMode="auto">
          <a:xfrm>
            <a:off x="609600" y="1517651"/>
            <a:ext cx="1422400" cy="461665"/>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50000"/>
              </a:spcBef>
            </a:pPr>
            <a:r>
              <a:rPr lang="en-US" dirty="0"/>
              <a:t>Proper</a:t>
            </a:r>
            <a:endParaRPr lang="en-US" dirty="0"/>
          </a:p>
        </p:txBody>
      </p:sp>
      <p:sp>
        <p:nvSpPr>
          <p:cNvPr id="12" name="Rectangle 16"/>
          <p:cNvSpPr>
            <a:spLocks noChangeArrowheads="1"/>
          </p:cNvSpPr>
          <p:nvPr/>
        </p:nvSpPr>
        <p:spPr bwMode="auto">
          <a:xfrm>
            <a:off x="2336800" y="1498600"/>
            <a:ext cx="1625600" cy="1625600"/>
          </a:xfrm>
          <a:prstGeom prst="rect">
            <a:avLst/>
          </a:prstGeom>
          <a:noFill/>
          <a:ln w="9525">
            <a:solidFill>
              <a:schemeClr val="tx1"/>
            </a:solidFill>
            <a:miter lim="800000"/>
          </a:ln>
        </p:spPr>
        <p:txBody>
          <a:bodyPr wrap="none" anchor="ctr"/>
          <a:lstStyle/>
          <a:p>
            <a:endParaRPr lang="en-US" sz="2400"/>
          </a:p>
        </p:txBody>
      </p:sp>
      <p:sp>
        <p:nvSpPr>
          <p:cNvPr id="13" name="Text Box 17"/>
          <p:cNvSpPr txBox="1">
            <a:spLocks noChangeArrowheads="1"/>
          </p:cNvSpPr>
          <p:nvPr/>
        </p:nvSpPr>
        <p:spPr bwMode="auto">
          <a:xfrm>
            <a:off x="2336800" y="1517651"/>
            <a:ext cx="1828800" cy="461665"/>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50000"/>
              </a:spcBef>
            </a:pPr>
            <a:r>
              <a:rPr lang="en-US"/>
              <a:t>Common</a:t>
            </a:r>
            <a:endParaRPr lang="en-US"/>
          </a:p>
        </p:txBody>
      </p:sp>
      <p:sp>
        <p:nvSpPr>
          <p:cNvPr id="14" name="Rectangle 18"/>
          <p:cNvSpPr>
            <a:spLocks noChangeArrowheads="1"/>
          </p:cNvSpPr>
          <p:nvPr/>
        </p:nvSpPr>
        <p:spPr bwMode="auto">
          <a:xfrm>
            <a:off x="4368800" y="3835400"/>
            <a:ext cx="1625600" cy="1625600"/>
          </a:xfrm>
          <a:prstGeom prst="rect">
            <a:avLst/>
          </a:prstGeom>
          <a:solidFill>
            <a:srgbClr val="E3FFE7"/>
          </a:solidFill>
          <a:ln w="9525">
            <a:solidFill>
              <a:schemeClr val="tx1"/>
            </a:solidFill>
            <a:miter lim="800000"/>
          </a:ln>
        </p:spPr>
        <p:txBody>
          <a:bodyPr wrap="none" anchor="ctr"/>
          <a:lstStyle/>
          <a:p>
            <a:endParaRPr lang="en-US" sz="2400"/>
          </a:p>
        </p:txBody>
      </p:sp>
      <p:sp>
        <p:nvSpPr>
          <p:cNvPr id="15" name="Text Box 19"/>
          <p:cNvSpPr txBox="1">
            <a:spLocks noChangeArrowheads="1"/>
          </p:cNvSpPr>
          <p:nvPr/>
        </p:nvSpPr>
        <p:spPr bwMode="auto">
          <a:xfrm>
            <a:off x="4368800" y="3854451"/>
            <a:ext cx="1422400" cy="461665"/>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50000"/>
              </a:spcBef>
            </a:pPr>
            <a:r>
              <a:rPr lang="en-US" dirty="0"/>
              <a:t>Auxiliary</a:t>
            </a:r>
            <a:endParaRPr lang="en-US" dirty="0"/>
          </a:p>
        </p:txBody>
      </p:sp>
      <p:sp>
        <p:nvSpPr>
          <p:cNvPr id="16" name="Rectangle 20"/>
          <p:cNvSpPr>
            <a:spLocks noChangeArrowheads="1"/>
          </p:cNvSpPr>
          <p:nvPr/>
        </p:nvSpPr>
        <p:spPr bwMode="auto">
          <a:xfrm>
            <a:off x="4368800" y="1498600"/>
            <a:ext cx="1625600" cy="1625600"/>
          </a:xfrm>
          <a:prstGeom prst="rect">
            <a:avLst/>
          </a:prstGeom>
          <a:solidFill>
            <a:srgbClr val="EAFFF5"/>
          </a:solidFill>
          <a:ln w="9525">
            <a:solidFill>
              <a:schemeClr val="tx1"/>
            </a:solidFill>
            <a:miter lim="800000"/>
          </a:ln>
        </p:spPr>
        <p:txBody>
          <a:bodyPr wrap="none" anchor="ctr"/>
          <a:lstStyle/>
          <a:p>
            <a:endParaRPr lang="en-US" sz="2400"/>
          </a:p>
        </p:txBody>
      </p:sp>
      <p:sp>
        <p:nvSpPr>
          <p:cNvPr id="17" name="Text Box 21"/>
          <p:cNvSpPr txBox="1">
            <a:spLocks noChangeArrowheads="1"/>
          </p:cNvSpPr>
          <p:nvPr/>
        </p:nvSpPr>
        <p:spPr bwMode="auto">
          <a:xfrm>
            <a:off x="4368800" y="1517652"/>
            <a:ext cx="1422400" cy="461665"/>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50000"/>
              </a:spcBef>
            </a:pPr>
            <a:r>
              <a:rPr lang="en-US"/>
              <a:t>Main</a:t>
            </a:r>
            <a:endParaRPr lang="en-US"/>
          </a:p>
        </p:txBody>
      </p:sp>
      <p:sp>
        <p:nvSpPr>
          <p:cNvPr id="18" name="Rectangle 22"/>
          <p:cNvSpPr>
            <a:spLocks noChangeArrowheads="1"/>
          </p:cNvSpPr>
          <p:nvPr/>
        </p:nvSpPr>
        <p:spPr bwMode="auto">
          <a:xfrm>
            <a:off x="6502400" y="889000"/>
            <a:ext cx="4165600" cy="609600"/>
          </a:xfrm>
          <a:prstGeom prst="rect">
            <a:avLst/>
          </a:prstGeom>
          <a:solidFill>
            <a:srgbClr val="ECF3FF"/>
          </a:solidFill>
          <a:ln w="9525">
            <a:solidFill>
              <a:schemeClr val="tx1"/>
            </a:solidFill>
            <a:miter lim="800000"/>
          </a:ln>
        </p:spPr>
        <p:txBody>
          <a:bodyPr wrap="none" anchor="ctr"/>
          <a:lstStyle/>
          <a:p>
            <a:endParaRPr lang="en-US" sz="2400"/>
          </a:p>
        </p:txBody>
      </p:sp>
      <p:sp>
        <p:nvSpPr>
          <p:cNvPr id="19" name="Text Box 23"/>
          <p:cNvSpPr txBox="1">
            <a:spLocks noChangeArrowheads="1"/>
          </p:cNvSpPr>
          <p:nvPr/>
        </p:nvSpPr>
        <p:spPr bwMode="auto">
          <a:xfrm>
            <a:off x="6502400" y="908052"/>
            <a:ext cx="2336800" cy="461665"/>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50000"/>
              </a:spcBef>
            </a:pPr>
            <a:r>
              <a:rPr lang="en-US"/>
              <a:t>Adjectives</a:t>
            </a:r>
            <a:endParaRPr lang="en-US"/>
          </a:p>
        </p:txBody>
      </p:sp>
      <p:sp>
        <p:nvSpPr>
          <p:cNvPr id="20" name="Rectangle 24"/>
          <p:cNvSpPr>
            <a:spLocks noChangeArrowheads="1"/>
          </p:cNvSpPr>
          <p:nvPr/>
        </p:nvSpPr>
        <p:spPr bwMode="auto">
          <a:xfrm>
            <a:off x="6502400" y="1600200"/>
            <a:ext cx="4165600" cy="609600"/>
          </a:xfrm>
          <a:prstGeom prst="rect">
            <a:avLst/>
          </a:prstGeom>
          <a:solidFill>
            <a:srgbClr val="ECF3FF"/>
          </a:solidFill>
          <a:ln w="9525">
            <a:solidFill>
              <a:schemeClr val="tx1"/>
            </a:solidFill>
            <a:miter lim="800000"/>
          </a:ln>
        </p:spPr>
        <p:txBody>
          <a:bodyPr wrap="none" anchor="ctr"/>
          <a:lstStyle/>
          <a:p>
            <a:endParaRPr lang="en-US" sz="2400"/>
          </a:p>
        </p:txBody>
      </p:sp>
      <p:sp>
        <p:nvSpPr>
          <p:cNvPr id="21" name="Text Box 25"/>
          <p:cNvSpPr txBox="1">
            <a:spLocks noChangeArrowheads="1"/>
          </p:cNvSpPr>
          <p:nvPr/>
        </p:nvSpPr>
        <p:spPr bwMode="auto">
          <a:xfrm>
            <a:off x="6502400" y="1619252"/>
            <a:ext cx="2336800" cy="461665"/>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50000"/>
              </a:spcBef>
            </a:pPr>
            <a:r>
              <a:rPr lang="en-US"/>
              <a:t>Adverbs</a:t>
            </a:r>
            <a:endParaRPr lang="en-US"/>
          </a:p>
        </p:txBody>
      </p:sp>
      <p:sp>
        <p:nvSpPr>
          <p:cNvPr id="22" name="Rectangle 26"/>
          <p:cNvSpPr>
            <a:spLocks noChangeArrowheads="1"/>
          </p:cNvSpPr>
          <p:nvPr/>
        </p:nvSpPr>
        <p:spPr bwMode="auto">
          <a:xfrm>
            <a:off x="6502400" y="4343400"/>
            <a:ext cx="3149600" cy="609600"/>
          </a:xfrm>
          <a:prstGeom prst="rect">
            <a:avLst/>
          </a:prstGeom>
          <a:solidFill>
            <a:srgbClr val="E3FFE7"/>
          </a:solidFill>
          <a:ln w="9525">
            <a:solidFill>
              <a:schemeClr val="tx1"/>
            </a:solidFill>
            <a:miter lim="800000"/>
          </a:ln>
        </p:spPr>
        <p:txBody>
          <a:bodyPr wrap="none" anchor="ctr"/>
          <a:lstStyle/>
          <a:p>
            <a:endParaRPr lang="en-US" sz="2400"/>
          </a:p>
        </p:txBody>
      </p:sp>
      <p:sp>
        <p:nvSpPr>
          <p:cNvPr id="23" name="Text Box 27"/>
          <p:cNvSpPr txBox="1">
            <a:spLocks noChangeArrowheads="1"/>
          </p:cNvSpPr>
          <p:nvPr/>
        </p:nvSpPr>
        <p:spPr bwMode="auto">
          <a:xfrm>
            <a:off x="6502400" y="4362451"/>
            <a:ext cx="2336800" cy="461665"/>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50000"/>
              </a:spcBef>
            </a:pPr>
            <a:r>
              <a:rPr lang="en-US"/>
              <a:t>Prepositions</a:t>
            </a:r>
            <a:endParaRPr lang="en-US"/>
          </a:p>
        </p:txBody>
      </p:sp>
      <p:sp>
        <p:nvSpPr>
          <p:cNvPr id="24" name="Rectangle 28"/>
          <p:cNvSpPr>
            <a:spLocks noChangeArrowheads="1"/>
          </p:cNvSpPr>
          <p:nvPr/>
        </p:nvSpPr>
        <p:spPr bwMode="auto">
          <a:xfrm>
            <a:off x="6502400" y="5054600"/>
            <a:ext cx="3149600" cy="609600"/>
          </a:xfrm>
          <a:prstGeom prst="rect">
            <a:avLst/>
          </a:prstGeom>
          <a:solidFill>
            <a:srgbClr val="E3FFE7"/>
          </a:solidFill>
          <a:ln w="9525">
            <a:solidFill>
              <a:schemeClr val="tx1"/>
            </a:solidFill>
            <a:miter lim="800000"/>
          </a:ln>
        </p:spPr>
        <p:txBody>
          <a:bodyPr wrap="none" anchor="ctr"/>
          <a:lstStyle/>
          <a:p>
            <a:endParaRPr lang="en-US" sz="2400"/>
          </a:p>
        </p:txBody>
      </p:sp>
      <p:sp>
        <p:nvSpPr>
          <p:cNvPr id="25" name="Text Box 29"/>
          <p:cNvSpPr txBox="1">
            <a:spLocks noChangeArrowheads="1"/>
          </p:cNvSpPr>
          <p:nvPr/>
        </p:nvSpPr>
        <p:spPr bwMode="auto">
          <a:xfrm>
            <a:off x="6502400" y="5073652"/>
            <a:ext cx="2336800" cy="461665"/>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50000"/>
              </a:spcBef>
            </a:pPr>
            <a:r>
              <a:rPr lang="en-US" dirty="0"/>
              <a:t>Particles</a:t>
            </a:r>
            <a:endParaRPr lang="en-US" dirty="0"/>
          </a:p>
        </p:txBody>
      </p:sp>
      <p:sp>
        <p:nvSpPr>
          <p:cNvPr id="26" name="Rectangle 30"/>
          <p:cNvSpPr>
            <a:spLocks noChangeArrowheads="1"/>
          </p:cNvSpPr>
          <p:nvPr/>
        </p:nvSpPr>
        <p:spPr bwMode="auto">
          <a:xfrm>
            <a:off x="609600" y="4343400"/>
            <a:ext cx="3149600" cy="609600"/>
          </a:xfrm>
          <a:prstGeom prst="rect">
            <a:avLst/>
          </a:prstGeom>
          <a:solidFill>
            <a:srgbClr val="E3FFE7"/>
          </a:solidFill>
          <a:ln w="9525">
            <a:solidFill>
              <a:schemeClr val="tx1"/>
            </a:solidFill>
            <a:miter lim="800000"/>
          </a:ln>
        </p:spPr>
        <p:txBody>
          <a:bodyPr wrap="none" anchor="ctr"/>
          <a:lstStyle/>
          <a:p>
            <a:endParaRPr lang="en-US" sz="2400"/>
          </a:p>
        </p:txBody>
      </p:sp>
      <p:sp>
        <p:nvSpPr>
          <p:cNvPr id="27" name="Text Box 31"/>
          <p:cNvSpPr txBox="1">
            <a:spLocks noChangeArrowheads="1"/>
          </p:cNvSpPr>
          <p:nvPr/>
        </p:nvSpPr>
        <p:spPr bwMode="auto">
          <a:xfrm>
            <a:off x="609600" y="4362451"/>
            <a:ext cx="2336800" cy="461665"/>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50000"/>
              </a:spcBef>
            </a:pPr>
            <a:r>
              <a:rPr lang="en-US"/>
              <a:t>Determiners</a:t>
            </a:r>
            <a:endParaRPr lang="en-US"/>
          </a:p>
        </p:txBody>
      </p:sp>
      <p:sp>
        <p:nvSpPr>
          <p:cNvPr id="28" name="Rectangle 32"/>
          <p:cNvSpPr>
            <a:spLocks noChangeArrowheads="1"/>
          </p:cNvSpPr>
          <p:nvPr/>
        </p:nvSpPr>
        <p:spPr bwMode="auto">
          <a:xfrm>
            <a:off x="609600" y="5054600"/>
            <a:ext cx="3149600" cy="609600"/>
          </a:xfrm>
          <a:prstGeom prst="rect">
            <a:avLst/>
          </a:prstGeom>
          <a:solidFill>
            <a:srgbClr val="E3FFE7"/>
          </a:solidFill>
          <a:ln w="9525">
            <a:solidFill>
              <a:schemeClr val="tx1"/>
            </a:solidFill>
            <a:miter lim="800000"/>
          </a:ln>
        </p:spPr>
        <p:txBody>
          <a:bodyPr wrap="none" anchor="ctr"/>
          <a:lstStyle/>
          <a:p>
            <a:endParaRPr lang="en-US" sz="2400"/>
          </a:p>
        </p:txBody>
      </p:sp>
      <p:sp>
        <p:nvSpPr>
          <p:cNvPr id="29" name="Text Box 33"/>
          <p:cNvSpPr txBox="1">
            <a:spLocks noChangeArrowheads="1"/>
          </p:cNvSpPr>
          <p:nvPr/>
        </p:nvSpPr>
        <p:spPr bwMode="auto">
          <a:xfrm>
            <a:off x="609600" y="5073651"/>
            <a:ext cx="2336800" cy="461665"/>
          </a:xfrm>
          <a:prstGeom prst="rect">
            <a:avLst/>
          </a:prstGeom>
          <a:solidFill>
            <a:srgbClr val="EAFFF5"/>
          </a:solid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50000"/>
              </a:spcBef>
            </a:pPr>
            <a:r>
              <a:rPr lang="en-US"/>
              <a:t>Conjunctions</a:t>
            </a:r>
            <a:endParaRPr lang="en-US"/>
          </a:p>
        </p:txBody>
      </p:sp>
      <p:sp>
        <p:nvSpPr>
          <p:cNvPr id="30" name="Rectangle 34"/>
          <p:cNvSpPr>
            <a:spLocks noChangeArrowheads="1"/>
          </p:cNvSpPr>
          <p:nvPr/>
        </p:nvSpPr>
        <p:spPr bwMode="auto">
          <a:xfrm>
            <a:off x="609600" y="5765800"/>
            <a:ext cx="3149600" cy="609600"/>
          </a:xfrm>
          <a:prstGeom prst="rect">
            <a:avLst/>
          </a:prstGeom>
          <a:solidFill>
            <a:srgbClr val="E3FFE7"/>
          </a:solidFill>
          <a:ln w="9525">
            <a:solidFill>
              <a:schemeClr val="tx1"/>
            </a:solidFill>
            <a:miter lim="800000"/>
          </a:ln>
        </p:spPr>
        <p:txBody>
          <a:bodyPr wrap="none" anchor="ctr"/>
          <a:lstStyle/>
          <a:p>
            <a:endParaRPr lang="en-US" sz="2400"/>
          </a:p>
        </p:txBody>
      </p:sp>
      <p:sp>
        <p:nvSpPr>
          <p:cNvPr id="31" name="Text Box 35"/>
          <p:cNvSpPr txBox="1">
            <a:spLocks noChangeArrowheads="1"/>
          </p:cNvSpPr>
          <p:nvPr/>
        </p:nvSpPr>
        <p:spPr bwMode="auto">
          <a:xfrm>
            <a:off x="609600" y="5784852"/>
            <a:ext cx="2336800" cy="461665"/>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50000"/>
              </a:spcBef>
            </a:pPr>
            <a:r>
              <a:rPr lang="en-US"/>
              <a:t>Pronouns</a:t>
            </a:r>
            <a:endParaRPr lang="en-US"/>
          </a:p>
        </p:txBody>
      </p:sp>
      <p:sp>
        <p:nvSpPr>
          <p:cNvPr id="32" name="Text Box 36"/>
          <p:cNvSpPr txBox="1">
            <a:spLocks noChangeArrowheads="1"/>
          </p:cNvSpPr>
          <p:nvPr/>
        </p:nvSpPr>
        <p:spPr bwMode="auto">
          <a:xfrm>
            <a:off x="9448800" y="2921000"/>
            <a:ext cx="1930400" cy="461665"/>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50000"/>
              </a:spcBef>
            </a:pPr>
            <a:r>
              <a:rPr lang="en-US" i="1" dirty="0">
                <a:solidFill>
                  <a:srgbClr val="FF3300"/>
                </a:solidFill>
              </a:rPr>
              <a:t>… more</a:t>
            </a:r>
            <a:endParaRPr lang="en-US" i="1" dirty="0">
              <a:solidFill>
                <a:srgbClr val="FF3300"/>
              </a:solidFill>
            </a:endParaRPr>
          </a:p>
        </p:txBody>
      </p:sp>
      <p:sp>
        <p:nvSpPr>
          <p:cNvPr id="33" name="Text Box 37"/>
          <p:cNvSpPr txBox="1">
            <a:spLocks noChangeArrowheads="1"/>
          </p:cNvSpPr>
          <p:nvPr/>
        </p:nvSpPr>
        <p:spPr bwMode="auto">
          <a:xfrm>
            <a:off x="9956800" y="5054601"/>
            <a:ext cx="1524000" cy="461665"/>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50000"/>
              </a:spcBef>
            </a:pPr>
            <a:r>
              <a:rPr lang="en-US" i="1" dirty="0">
                <a:solidFill>
                  <a:srgbClr val="FF3300"/>
                </a:solidFill>
              </a:rPr>
              <a:t>… more</a:t>
            </a:r>
            <a:endParaRPr lang="en-US" i="1" dirty="0">
              <a:solidFill>
                <a:srgbClr val="FF3300"/>
              </a:solidFill>
            </a:endParaRPr>
          </a:p>
        </p:txBody>
      </p:sp>
      <p:sp>
        <p:nvSpPr>
          <p:cNvPr id="34" name="Text Box 38"/>
          <p:cNvSpPr txBox="1">
            <a:spLocks noChangeArrowheads="1"/>
          </p:cNvSpPr>
          <p:nvPr/>
        </p:nvSpPr>
        <p:spPr bwMode="auto">
          <a:xfrm>
            <a:off x="711200" y="2080684"/>
            <a:ext cx="1422400" cy="814454"/>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20000"/>
              </a:spcBef>
            </a:pPr>
            <a:r>
              <a:rPr lang="en-US" sz="2135" i="1" dirty="0">
                <a:solidFill>
                  <a:schemeClr val="accent2"/>
                </a:solidFill>
              </a:rPr>
              <a:t>Janet</a:t>
            </a:r>
            <a:endParaRPr lang="en-US" sz="2135" i="1" dirty="0">
              <a:solidFill>
                <a:schemeClr val="accent2"/>
              </a:solidFill>
            </a:endParaRPr>
          </a:p>
          <a:p>
            <a:pPr eaLnBrk="1" hangingPunct="1">
              <a:spcBef>
                <a:spcPct val="20000"/>
              </a:spcBef>
            </a:pPr>
            <a:r>
              <a:rPr lang="en-US" sz="2135" i="1" dirty="0">
                <a:solidFill>
                  <a:schemeClr val="accent2"/>
                </a:solidFill>
              </a:rPr>
              <a:t>Italy</a:t>
            </a:r>
            <a:endParaRPr lang="en-US" sz="2135" i="1" dirty="0">
              <a:solidFill>
                <a:schemeClr val="accent2"/>
              </a:solidFill>
            </a:endParaRPr>
          </a:p>
        </p:txBody>
      </p:sp>
      <p:sp>
        <p:nvSpPr>
          <p:cNvPr id="35" name="Text Box 39"/>
          <p:cNvSpPr txBox="1">
            <a:spLocks noChangeArrowheads="1"/>
          </p:cNvSpPr>
          <p:nvPr/>
        </p:nvSpPr>
        <p:spPr bwMode="auto">
          <a:xfrm>
            <a:off x="2438400" y="2080685"/>
            <a:ext cx="1422400" cy="814454"/>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20000"/>
              </a:spcBef>
            </a:pPr>
            <a:r>
              <a:rPr lang="en-US" sz="2135" i="1" dirty="0">
                <a:solidFill>
                  <a:schemeClr val="accent2"/>
                </a:solidFill>
              </a:rPr>
              <a:t>cat,  cats</a:t>
            </a:r>
            <a:endParaRPr lang="en-US" sz="2135" i="1" dirty="0">
              <a:solidFill>
                <a:schemeClr val="accent2"/>
              </a:solidFill>
            </a:endParaRPr>
          </a:p>
          <a:p>
            <a:pPr eaLnBrk="1" hangingPunct="1">
              <a:spcBef>
                <a:spcPct val="20000"/>
              </a:spcBef>
            </a:pPr>
            <a:r>
              <a:rPr lang="en-US" sz="2135" i="1" dirty="0">
                <a:solidFill>
                  <a:schemeClr val="accent2"/>
                </a:solidFill>
              </a:rPr>
              <a:t>mango</a:t>
            </a:r>
            <a:endParaRPr lang="en-US" sz="2135" i="1" dirty="0">
              <a:solidFill>
                <a:schemeClr val="accent2"/>
              </a:solidFill>
            </a:endParaRPr>
          </a:p>
        </p:txBody>
      </p:sp>
      <p:sp>
        <p:nvSpPr>
          <p:cNvPr id="36" name="Text Box 40"/>
          <p:cNvSpPr txBox="1">
            <a:spLocks noChangeArrowheads="1"/>
          </p:cNvSpPr>
          <p:nvPr/>
        </p:nvSpPr>
        <p:spPr bwMode="auto">
          <a:xfrm>
            <a:off x="4470400" y="2108201"/>
            <a:ext cx="1524000" cy="814454"/>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20000"/>
              </a:spcBef>
            </a:pPr>
            <a:r>
              <a:rPr lang="en-US" sz="2135" i="1" dirty="0">
                <a:solidFill>
                  <a:schemeClr val="accent2"/>
                </a:solidFill>
              </a:rPr>
              <a:t>eat</a:t>
            </a:r>
            <a:endParaRPr lang="en-US" sz="2135" i="1" dirty="0">
              <a:solidFill>
                <a:schemeClr val="accent2"/>
              </a:solidFill>
            </a:endParaRPr>
          </a:p>
          <a:p>
            <a:pPr eaLnBrk="1" hangingPunct="1">
              <a:spcBef>
                <a:spcPct val="20000"/>
              </a:spcBef>
            </a:pPr>
            <a:r>
              <a:rPr lang="en-US" sz="2135" i="1" dirty="0">
                <a:solidFill>
                  <a:schemeClr val="accent2"/>
                </a:solidFill>
              </a:rPr>
              <a:t>went</a:t>
            </a:r>
            <a:endParaRPr lang="en-US" sz="2135" i="1" dirty="0">
              <a:solidFill>
                <a:schemeClr val="accent2"/>
              </a:solidFill>
            </a:endParaRPr>
          </a:p>
        </p:txBody>
      </p:sp>
      <p:sp>
        <p:nvSpPr>
          <p:cNvPr id="37" name="Text Box 41"/>
          <p:cNvSpPr txBox="1">
            <a:spLocks noChangeArrowheads="1"/>
          </p:cNvSpPr>
          <p:nvPr/>
        </p:nvSpPr>
        <p:spPr bwMode="auto">
          <a:xfrm>
            <a:off x="4470400" y="4417484"/>
            <a:ext cx="1524000" cy="814454"/>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20000"/>
              </a:spcBef>
            </a:pPr>
            <a:r>
              <a:rPr lang="en-US" sz="2135" i="1">
                <a:solidFill>
                  <a:schemeClr val="accent2"/>
                </a:solidFill>
              </a:rPr>
              <a:t>can</a:t>
            </a:r>
            <a:endParaRPr lang="en-US" sz="2135" i="1">
              <a:solidFill>
                <a:schemeClr val="accent2"/>
              </a:solidFill>
            </a:endParaRPr>
          </a:p>
          <a:p>
            <a:pPr eaLnBrk="1" hangingPunct="1">
              <a:spcBef>
                <a:spcPct val="20000"/>
              </a:spcBef>
            </a:pPr>
            <a:r>
              <a:rPr lang="en-US" sz="2135" i="1">
                <a:solidFill>
                  <a:schemeClr val="accent2"/>
                </a:solidFill>
              </a:rPr>
              <a:t>had</a:t>
            </a:r>
            <a:endParaRPr lang="en-US" sz="2135" i="1">
              <a:solidFill>
                <a:schemeClr val="accent2"/>
              </a:solidFill>
            </a:endParaRPr>
          </a:p>
        </p:txBody>
      </p:sp>
      <p:sp>
        <p:nvSpPr>
          <p:cNvPr id="38" name="Text Box 42"/>
          <p:cNvSpPr txBox="1">
            <a:spLocks noChangeArrowheads="1"/>
          </p:cNvSpPr>
          <p:nvPr/>
        </p:nvSpPr>
        <p:spPr bwMode="auto">
          <a:xfrm>
            <a:off x="8229600" y="948268"/>
            <a:ext cx="2641600" cy="420564"/>
          </a:xfrm>
          <a:prstGeom prst="rect">
            <a:avLst/>
          </a:prstGeom>
          <a:noFill/>
          <a:ln>
            <a:noFill/>
          </a:ln>
        </p:spPr>
        <p:txBody>
          <a:bodyPr wrap="square">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20000"/>
              </a:spcBef>
            </a:pPr>
            <a:r>
              <a:rPr lang="en-US" sz="2135" i="1" dirty="0">
                <a:solidFill>
                  <a:schemeClr val="accent2"/>
                </a:solidFill>
              </a:rPr>
              <a:t>old   green   tasty</a:t>
            </a:r>
            <a:endParaRPr lang="en-US" sz="2135" i="1" dirty="0">
              <a:solidFill>
                <a:schemeClr val="accent2"/>
              </a:solidFill>
            </a:endParaRPr>
          </a:p>
        </p:txBody>
      </p:sp>
      <p:sp>
        <p:nvSpPr>
          <p:cNvPr id="39" name="Text Box 43"/>
          <p:cNvSpPr txBox="1">
            <a:spLocks noChangeArrowheads="1"/>
          </p:cNvSpPr>
          <p:nvPr/>
        </p:nvSpPr>
        <p:spPr bwMode="auto">
          <a:xfrm>
            <a:off x="8229600" y="1659467"/>
            <a:ext cx="2438400" cy="420564"/>
          </a:xfrm>
          <a:prstGeom prst="rect">
            <a:avLst/>
          </a:prstGeom>
          <a:noFill/>
          <a:ln>
            <a:noFill/>
          </a:ln>
        </p:spPr>
        <p:txBody>
          <a:bodyPr wrap="square">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20000"/>
              </a:spcBef>
            </a:pPr>
            <a:r>
              <a:rPr lang="en-US" sz="2135" i="1" dirty="0">
                <a:solidFill>
                  <a:schemeClr val="accent2"/>
                </a:solidFill>
              </a:rPr>
              <a:t>slowly yesterday</a:t>
            </a:r>
            <a:endParaRPr lang="en-US" sz="2135" i="1" dirty="0">
              <a:solidFill>
                <a:schemeClr val="accent2"/>
              </a:solidFill>
            </a:endParaRPr>
          </a:p>
        </p:txBody>
      </p:sp>
      <p:sp>
        <p:nvSpPr>
          <p:cNvPr id="40" name="Text Box 44"/>
          <p:cNvSpPr txBox="1">
            <a:spLocks noChangeArrowheads="1"/>
          </p:cNvSpPr>
          <p:nvPr/>
        </p:nvSpPr>
        <p:spPr bwMode="auto">
          <a:xfrm>
            <a:off x="8432800" y="4402667"/>
            <a:ext cx="1524000" cy="420564"/>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20000"/>
              </a:spcBef>
            </a:pPr>
            <a:r>
              <a:rPr lang="en-US" sz="2135" i="1">
                <a:solidFill>
                  <a:schemeClr val="accent2"/>
                </a:solidFill>
              </a:rPr>
              <a:t>to with</a:t>
            </a:r>
            <a:endParaRPr lang="en-US" sz="2135" i="1">
              <a:solidFill>
                <a:schemeClr val="accent2"/>
              </a:solidFill>
            </a:endParaRPr>
          </a:p>
        </p:txBody>
      </p:sp>
      <p:sp>
        <p:nvSpPr>
          <p:cNvPr id="41" name="Text Box 45"/>
          <p:cNvSpPr txBox="1">
            <a:spLocks noChangeArrowheads="1"/>
          </p:cNvSpPr>
          <p:nvPr/>
        </p:nvSpPr>
        <p:spPr bwMode="auto">
          <a:xfrm>
            <a:off x="8432800" y="5113867"/>
            <a:ext cx="1524000" cy="420564"/>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20000"/>
              </a:spcBef>
            </a:pPr>
            <a:r>
              <a:rPr lang="en-US" sz="2135" i="1" dirty="0">
                <a:solidFill>
                  <a:schemeClr val="accent2"/>
                </a:solidFill>
              </a:rPr>
              <a:t>off   up</a:t>
            </a:r>
            <a:endParaRPr lang="en-US" sz="2135" i="1" dirty="0">
              <a:solidFill>
                <a:schemeClr val="accent2"/>
              </a:solidFill>
            </a:endParaRPr>
          </a:p>
        </p:txBody>
      </p:sp>
      <p:sp>
        <p:nvSpPr>
          <p:cNvPr id="42" name="Text Box 46"/>
          <p:cNvSpPr txBox="1">
            <a:spLocks noChangeArrowheads="1"/>
          </p:cNvSpPr>
          <p:nvPr/>
        </p:nvSpPr>
        <p:spPr bwMode="auto">
          <a:xfrm>
            <a:off x="2336800" y="4402668"/>
            <a:ext cx="1524000" cy="420564"/>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20000"/>
              </a:spcBef>
            </a:pPr>
            <a:r>
              <a:rPr lang="en-US" sz="2135" i="1" dirty="0">
                <a:solidFill>
                  <a:schemeClr val="accent2"/>
                </a:solidFill>
              </a:rPr>
              <a:t>the some</a:t>
            </a:r>
            <a:endParaRPr lang="en-US" sz="2135" i="1" dirty="0">
              <a:solidFill>
                <a:schemeClr val="accent2"/>
              </a:solidFill>
            </a:endParaRPr>
          </a:p>
        </p:txBody>
      </p:sp>
      <p:sp>
        <p:nvSpPr>
          <p:cNvPr id="43" name="Text Box 47"/>
          <p:cNvSpPr txBox="1">
            <a:spLocks noChangeArrowheads="1"/>
          </p:cNvSpPr>
          <p:nvPr/>
        </p:nvSpPr>
        <p:spPr bwMode="auto">
          <a:xfrm>
            <a:off x="2540000" y="5113867"/>
            <a:ext cx="1524000" cy="420564"/>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20000"/>
              </a:spcBef>
            </a:pPr>
            <a:r>
              <a:rPr lang="en-US" sz="2135" i="1">
                <a:solidFill>
                  <a:schemeClr val="accent2"/>
                </a:solidFill>
              </a:rPr>
              <a:t>and or</a:t>
            </a:r>
            <a:endParaRPr lang="en-US" sz="2135" i="1">
              <a:solidFill>
                <a:schemeClr val="accent2"/>
              </a:solidFill>
            </a:endParaRPr>
          </a:p>
        </p:txBody>
      </p:sp>
      <p:sp>
        <p:nvSpPr>
          <p:cNvPr id="44" name="Text Box 48"/>
          <p:cNvSpPr txBox="1">
            <a:spLocks noChangeArrowheads="1"/>
          </p:cNvSpPr>
          <p:nvPr/>
        </p:nvSpPr>
        <p:spPr bwMode="auto">
          <a:xfrm>
            <a:off x="2540000" y="5825067"/>
            <a:ext cx="1524000" cy="420564"/>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20000"/>
              </a:spcBef>
            </a:pPr>
            <a:r>
              <a:rPr lang="en-US" sz="2135" i="1" dirty="0">
                <a:solidFill>
                  <a:schemeClr val="accent2"/>
                </a:solidFill>
              </a:rPr>
              <a:t>they its</a:t>
            </a:r>
            <a:endParaRPr lang="en-US" sz="2135" i="1" dirty="0">
              <a:solidFill>
                <a:schemeClr val="accent2"/>
              </a:solidFill>
            </a:endParaRPr>
          </a:p>
        </p:txBody>
      </p:sp>
      <p:sp>
        <p:nvSpPr>
          <p:cNvPr id="45" name="Rectangle 49"/>
          <p:cNvSpPr>
            <a:spLocks noChangeArrowheads="1"/>
          </p:cNvSpPr>
          <p:nvPr/>
        </p:nvSpPr>
        <p:spPr bwMode="auto">
          <a:xfrm>
            <a:off x="6502400" y="2514600"/>
            <a:ext cx="1625600" cy="1625600"/>
          </a:xfrm>
          <a:prstGeom prst="rect">
            <a:avLst/>
          </a:prstGeom>
          <a:solidFill>
            <a:srgbClr val="EAFFF5"/>
          </a:solidFill>
          <a:ln w="9525">
            <a:solidFill>
              <a:schemeClr val="tx1"/>
            </a:solidFill>
            <a:miter lim="800000"/>
          </a:ln>
        </p:spPr>
        <p:txBody>
          <a:bodyPr wrap="none" anchor="ctr"/>
          <a:lstStyle/>
          <a:p>
            <a:endParaRPr lang="en-US" sz="2400"/>
          </a:p>
        </p:txBody>
      </p:sp>
      <p:sp>
        <p:nvSpPr>
          <p:cNvPr id="46" name="Text Box 50"/>
          <p:cNvSpPr txBox="1">
            <a:spLocks noChangeArrowheads="1"/>
          </p:cNvSpPr>
          <p:nvPr/>
        </p:nvSpPr>
        <p:spPr bwMode="auto">
          <a:xfrm>
            <a:off x="6502400" y="2533651"/>
            <a:ext cx="1524000" cy="461665"/>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50000"/>
              </a:spcBef>
            </a:pPr>
            <a:r>
              <a:rPr lang="en-US"/>
              <a:t>Numbers</a:t>
            </a:r>
            <a:endParaRPr lang="en-US"/>
          </a:p>
        </p:txBody>
      </p:sp>
      <p:sp>
        <p:nvSpPr>
          <p:cNvPr id="47" name="Text Box 51"/>
          <p:cNvSpPr txBox="1">
            <a:spLocks noChangeArrowheads="1"/>
          </p:cNvSpPr>
          <p:nvPr/>
        </p:nvSpPr>
        <p:spPr bwMode="auto">
          <a:xfrm>
            <a:off x="6604000" y="3096685"/>
            <a:ext cx="1524000" cy="814454"/>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20000"/>
              </a:spcBef>
            </a:pPr>
            <a:r>
              <a:rPr lang="en-US" sz="2135" i="1">
                <a:solidFill>
                  <a:schemeClr val="accent2"/>
                </a:solidFill>
              </a:rPr>
              <a:t>122,312</a:t>
            </a:r>
            <a:endParaRPr lang="en-US" sz="2135" i="1">
              <a:solidFill>
                <a:schemeClr val="accent2"/>
              </a:solidFill>
            </a:endParaRPr>
          </a:p>
          <a:p>
            <a:pPr eaLnBrk="1" hangingPunct="1">
              <a:spcBef>
                <a:spcPct val="20000"/>
              </a:spcBef>
            </a:pPr>
            <a:r>
              <a:rPr lang="en-US" sz="2135" i="1">
                <a:solidFill>
                  <a:schemeClr val="accent2"/>
                </a:solidFill>
              </a:rPr>
              <a:t>one</a:t>
            </a:r>
            <a:endParaRPr lang="en-US" sz="2135" i="1">
              <a:solidFill>
                <a:schemeClr val="accent2"/>
              </a:solidFill>
            </a:endParaRPr>
          </a:p>
        </p:txBody>
      </p:sp>
      <p:sp>
        <p:nvSpPr>
          <p:cNvPr id="48" name="Rectangle 28"/>
          <p:cNvSpPr>
            <a:spLocks noChangeArrowheads="1"/>
          </p:cNvSpPr>
          <p:nvPr/>
        </p:nvSpPr>
        <p:spPr bwMode="auto">
          <a:xfrm>
            <a:off x="8295861" y="2286000"/>
            <a:ext cx="3149600" cy="609600"/>
          </a:xfrm>
          <a:prstGeom prst="rect">
            <a:avLst/>
          </a:prstGeom>
          <a:solidFill>
            <a:srgbClr val="DDF0FF"/>
          </a:solidFill>
          <a:ln w="9525">
            <a:solidFill>
              <a:schemeClr val="tx1"/>
            </a:solidFill>
            <a:miter lim="800000"/>
          </a:ln>
        </p:spPr>
        <p:txBody>
          <a:bodyPr wrap="none" anchor="ctr"/>
          <a:lstStyle/>
          <a:p>
            <a:r>
              <a:rPr lang="en-US" sz="2400" dirty="0">
                <a:latin typeface="Arial" panose="020B0604020202090204"/>
                <a:cs typeface="Arial" panose="020B0604020202090204"/>
              </a:rPr>
              <a:t>Interjections</a:t>
            </a:r>
            <a:endParaRPr lang="en-US" sz="2400" dirty="0">
              <a:latin typeface="Arial" panose="020B0604020202090204"/>
              <a:cs typeface="Arial" panose="020B0604020202090204"/>
            </a:endParaRPr>
          </a:p>
        </p:txBody>
      </p:sp>
      <p:sp>
        <p:nvSpPr>
          <p:cNvPr id="49" name="Text Box 45"/>
          <p:cNvSpPr txBox="1">
            <a:spLocks noChangeArrowheads="1"/>
          </p:cNvSpPr>
          <p:nvPr/>
        </p:nvSpPr>
        <p:spPr bwMode="auto">
          <a:xfrm>
            <a:off x="10058400" y="2387600"/>
            <a:ext cx="1524000" cy="420564"/>
          </a:xfrm>
          <a:prstGeom prst="rect">
            <a:avLst/>
          </a:prstGeom>
          <a:noFill/>
          <a:ln>
            <a:noFill/>
          </a:ln>
        </p:spPr>
        <p:txBody>
          <a:bodyPr>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37931725" indent="-37474525" eaLnBrk="0" hangingPunct="0">
              <a:defRPr sz="2400">
                <a:solidFill>
                  <a:schemeClr val="tx1"/>
                </a:solidFill>
                <a:latin typeface="Arial" panose="020B0604020202090204" pitchFamily="34" charset="0"/>
                <a:ea typeface="MS PGothic" charset="0"/>
              </a:defRPr>
            </a:lvl2pPr>
            <a:lvl3pPr eaLnBrk="0" hangingPunct="0">
              <a:defRPr sz="2400">
                <a:solidFill>
                  <a:schemeClr val="tx1"/>
                </a:solidFill>
                <a:latin typeface="Arial" panose="020B0604020202090204" pitchFamily="34" charset="0"/>
                <a:ea typeface="MS PGothic" charset="0"/>
              </a:defRPr>
            </a:lvl3pPr>
            <a:lvl4pPr eaLnBrk="0" hangingPunct="0">
              <a:defRPr sz="2400">
                <a:solidFill>
                  <a:schemeClr val="tx1"/>
                </a:solidFill>
                <a:latin typeface="Arial" panose="020B0604020202090204" pitchFamily="34" charset="0"/>
                <a:ea typeface="MS PGothic" charset="0"/>
              </a:defRPr>
            </a:lvl4pPr>
            <a:lvl5pPr eaLnBrk="0" hangingPunct="0">
              <a:defRPr sz="2400">
                <a:solidFill>
                  <a:schemeClr val="tx1"/>
                </a:solidFill>
                <a:latin typeface="Arial" panose="020B0604020202090204" pitchFamily="34" charset="0"/>
                <a:ea typeface="MS PGothic" charset="0"/>
              </a:defRPr>
            </a:lvl5pPr>
            <a:lvl6pPr marL="4572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9144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1371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18288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eaLnBrk="1" hangingPunct="1">
              <a:spcBef>
                <a:spcPct val="20000"/>
              </a:spcBef>
            </a:pPr>
            <a:r>
              <a:rPr lang="en-US" sz="2135" i="1" dirty="0">
                <a:solidFill>
                  <a:schemeClr val="accent2"/>
                </a:solidFill>
              </a:rPr>
              <a:t>Ow  hello</a:t>
            </a:r>
            <a:endParaRPr lang="en-US" sz="2135" i="1" dirty="0">
              <a:solidFill>
                <a:schemeClr val="accent2"/>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dirty="0"/>
              <a:t>Part-of-Speech Tagging</a:t>
            </a:r>
            <a:endParaRPr lang="en-US" dirty="0"/>
          </a:p>
        </p:txBody>
      </p:sp>
      <p:sp>
        <p:nvSpPr>
          <p:cNvPr id="44035" name="Rectangle 3"/>
          <p:cNvSpPr>
            <a:spLocks noGrp="1" noChangeArrowheads="1"/>
          </p:cNvSpPr>
          <p:nvPr>
            <p:ph idx="1"/>
          </p:nvPr>
        </p:nvSpPr>
        <p:spPr>
          <a:xfrm>
            <a:off x="990601" y="1219201"/>
            <a:ext cx="10058401" cy="5326796"/>
          </a:xfrm>
        </p:spPr>
        <p:txBody>
          <a:bodyPr>
            <a:normAutofit/>
          </a:bodyPr>
          <a:lstStyle/>
          <a:p>
            <a:r>
              <a:rPr lang="en-US" dirty="0"/>
              <a:t>Assigning a part-of-speech to each word in a text. </a:t>
            </a:r>
            <a:endParaRPr lang="en-US" dirty="0"/>
          </a:p>
          <a:p>
            <a:r>
              <a:rPr lang="en-US" dirty="0"/>
              <a:t>Words often have more than one POS. </a:t>
            </a:r>
            <a:endParaRPr lang="en-US" dirty="0"/>
          </a:p>
          <a:p>
            <a:pPr lvl="1"/>
            <a:r>
              <a:rPr lang="en-US" b="1" dirty="0"/>
              <a:t>book</a:t>
            </a:r>
            <a:r>
              <a:rPr lang="en-US" dirty="0"/>
              <a:t>:</a:t>
            </a:r>
            <a:endParaRPr lang="en-US" dirty="0"/>
          </a:p>
          <a:p>
            <a:pPr marL="516255" indent="-344805">
              <a:buFont typeface="Arial" panose="020B0604020202090204" pitchFamily="34" charset="0"/>
              <a:buChar char="•"/>
            </a:pPr>
            <a:r>
              <a:rPr lang="en-US" dirty="0"/>
              <a:t>VERB: (</a:t>
            </a:r>
            <a:r>
              <a:rPr lang="en-US" b="1" i="1" dirty="0"/>
              <a:t>Book</a:t>
            </a:r>
            <a:r>
              <a:rPr lang="en-US" i="1" dirty="0"/>
              <a:t> that flight</a:t>
            </a:r>
            <a:r>
              <a:rPr lang="en-US" dirty="0"/>
              <a:t>) </a:t>
            </a:r>
            <a:endParaRPr lang="en-US" dirty="0"/>
          </a:p>
          <a:p>
            <a:pPr marL="516255" indent="-344805">
              <a:buFont typeface="Arial" panose="020B0604020202090204" pitchFamily="34" charset="0"/>
              <a:buChar char="•"/>
            </a:pPr>
            <a:r>
              <a:rPr lang="en-US" dirty="0"/>
              <a:t>NOUN: (</a:t>
            </a:r>
            <a:r>
              <a:rPr lang="en-US" i="1" dirty="0"/>
              <a:t>Hand me that </a:t>
            </a:r>
            <a:r>
              <a:rPr lang="en-US" b="1" i="1" dirty="0"/>
              <a:t>book</a:t>
            </a:r>
            <a:r>
              <a:rPr lang="en-US" dirty="0"/>
              <a:t>).</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Part-of-Speech Tagging</a:t>
            </a:r>
            <a:endParaRPr lang="en-US" dirty="0"/>
          </a:p>
        </p:txBody>
      </p:sp>
      <p:pic>
        <p:nvPicPr>
          <p:cNvPr id="5" name="Content Placeholder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905000" y="2209800"/>
            <a:ext cx="7392490" cy="4198204"/>
          </a:xfrm>
        </p:spPr>
      </p:pic>
      <p:sp>
        <p:nvSpPr>
          <p:cNvPr id="6" name="TextBox 5"/>
          <p:cNvSpPr txBox="1"/>
          <p:nvPr/>
        </p:nvSpPr>
        <p:spPr>
          <a:xfrm>
            <a:off x="914400" y="1422112"/>
            <a:ext cx="10271125" cy="583565"/>
          </a:xfrm>
          <a:prstGeom prst="rect">
            <a:avLst/>
          </a:prstGeom>
          <a:noFill/>
        </p:spPr>
        <p:txBody>
          <a:bodyPr wrap="none" rtlCol="0">
            <a:spAutoFit/>
          </a:bodyPr>
          <a:lstStyle/>
          <a:p>
            <a:r>
              <a:rPr lang="en-US" sz="3200" dirty="0">
                <a:latin typeface="Times New Roman Regular" panose="02020503050405090304" charset="0"/>
                <a:cs typeface="Times New Roman Regular" panose="02020503050405090304" charset="0"/>
              </a:rPr>
              <a:t>Map from sequence x</a:t>
            </a:r>
            <a:r>
              <a:rPr lang="en-US" sz="3200" baseline="-25000" dirty="0">
                <a:latin typeface="Times New Roman Regular" panose="02020503050405090304" charset="0"/>
                <a:cs typeface="Times New Roman Regular" panose="02020503050405090304" charset="0"/>
              </a:rPr>
              <a:t>1</a:t>
            </a:r>
            <a:r>
              <a:rPr lang="en-US" sz="3200" dirty="0">
                <a:latin typeface="Times New Roman Regular" panose="02020503050405090304" charset="0"/>
                <a:cs typeface="Times New Roman Regular" panose="02020503050405090304" charset="0"/>
              </a:rPr>
              <a:t>,…,</a:t>
            </a:r>
            <a:r>
              <a:rPr lang="en-US" sz="3200" dirty="0" err="1">
                <a:latin typeface="Times New Roman Regular" panose="02020503050405090304" charset="0"/>
                <a:cs typeface="Times New Roman Regular" panose="02020503050405090304" charset="0"/>
              </a:rPr>
              <a:t>x</a:t>
            </a:r>
            <a:r>
              <a:rPr lang="en-US" sz="3200" baseline="-25000" dirty="0" err="1">
                <a:latin typeface="Times New Roman Regular" panose="02020503050405090304" charset="0"/>
                <a:cs typeface="Times New Roman Regular" panose="02020503050405090304" charset="0"/>
              </a:rPr>
              <a:t>n</a:t>
            </a:r>
            <a:r>
              <a:rPr lang="en-US" sz="3200" dirty="0">
                <a:latin typeface="Times New Roman Regular" panose="02020503050405090304" charset="0"/>
                <a:cs typeface="Times New Roman Regular" panose="02020503050405090304" charset="0"/>
              </a:rPr>
              <a:t> of words to y</a:t>
            </a:r>
            <a:r>
              <a:rPr lang="en-US" sz="3200" baseline="-25000" dirty="0">
                <a:latin typeface="Times New Roman Regular" panose="02020503050405090304" charset="0"/>
                <a:cs typeface="Times New Roman Regular" panose="02020503050405090304" charset="0"/>
              </a:rPr>
              <a:t>1</a:t>
            </a:r>
            <a:r>
              <a:rPr lang="en-US" sz="3200" dirty="0">
                <a:latin typeface="Times New Roman Regular" panose="02020503050405090304" charset="0"/>
                <a:cs typeface="Times New Roman Regular" panose="02020503050405090304" charset="0"/>
              </a:rPr>
              <a:t>,…,</a:t>
            </a:r>
            <a:r>
              <a:rPr lang="en-US" sz="3200" dirty="0" err="1">
                <a:latin typeface="Times New Roman Regular" panose="02020503050405090304" charset="0"/>
                <a:cs typeface="Times New Roman Regular" panose="02020503050405090304" charset="0"/>
              </a:rPr>
              <a:t>y</a:t>
            </a:r>
            <a:r>
              <a:rPr lang="en-US" sz="3200" baseline="-25000" dirty="0" err="1">
                <a:latin typeface="Times New Roman Regular" panose="02020503050405090304" charset="0"/>
                <a:cs typeface="Times New Roman Regular" panose="02020503050405090304" charset="0"/>
              </a:rPr>
              <a:t>n</a:t>
            </a:r>
            <a:r>
              <a:rPr lang="en-US" sz="3200" dirty="0">
                <a:latin typeface="Times New Roman Regular" panose="02020503050405090304" charset="0"/>
                <a:cs typeface="Times New Roman Regular" panose="02020503050405090304" charset="0"/>
              </a:rPr>
              <a:t> of POS tags </a:t>
            </a:r>
            <a:endParaRPr lang="en-US" sz="3200" dirty="0">
              <a:latin typeface="Times New Roman Regular" panose="02020503050405090304" charset="0"/>
              <a:cs typeface="Times New Roman Regular" panose="0202050305040509030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"Universal Dependencies" </a:t>
            </a:r>
            <a:r>
              <a:rPr lang="en-US" dirty="0" err="1"/>
              <a:t>Tagset</a:t>
            </a:r>
            <a:endParaRPr lang="en-US" dirty="0"/>
          </a:p>
        </p:txBody>
      </p:sp>
      <p:pic>
        <p:nvPicPr>
          <p:cNvPr id="5" name="Content Placeholder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838200" y="1003300"/>
            <a:ext cx="9175750" cy="5184775"/>
          </a:xfrm>
        </p:spPr>
      </p:pic>
      <p:sp>
        <p:nvSpPr>
          <p:cNvPr id="6" name="TextBox 5"/>
          <p:cNvSpPr txBox="1"/>
          <p:nvPr/>
        </p:nvSpPr>
        <p:spPr>
          <a:xfrm>
            <a:off x="9296632" y="6248191"/>
            <a:ext cx="1722523" cy="369332"/>
          </a:xfrm>
          <a:prstGeom prst="rect">
            <a:avLst/>
          </a:prstGeom>
          <a:noFill/>
        </p:spPr>
        <p:txBody>
          <a:bodyPr wrap="none" rtlCol="0">
            <a:spAutoFit/>
          </a:bodyPr>
          <a:lstStyle/>
          <a:p>
            <a:r>
              <a:rPr lang="en-US" dirty="0" err="1"/>
              <a:t>Nivre</a:t>
            </a:r>
            <a:r>
              <a:rPr lang="en-US" dirty="0"/>
              <a:t> et al. 2016</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"Tagged" English sentences</a:t>
            </a:r>
            <a:endParaRPr lang="en-US" dirty="0"/>
          </a:p>
        </p:txBody>
      </p:sp>
      <p:sp>
        <p:nvSpPr>
          <p:cNvPr id="3" name="Content Placeholder 2"/>
          <p:cNvSpPr>
            <a:spLocks noGrp="1"/>
          </p:cNvSpPr>
          <p:nvPr>
            <p:ph idx="1"/>
          </p:nvPr>
        </p:nvSpPr>
        <p:spPr/>
        <p:txBody>
          <a:bodyPr/>
          <a:lstStyle/>
          <a:p>
            <a:r>
              <a:rPr lang="en-US" dirty="0"/>
              <a:t>There/</a:t>
            </a:r>
            <a:r>
              <a:rPr lang="en-US" dirty="0">
                <a:solidFill>
                  <a:srgbClr val="FF0000"/>
                </a:solidFill>
              </a:rPr>
              <a:t>PRO</a:t>
            </a:r>
            <a:r>
              <a:rPr lang="en-US" dirty="0"/>
              <a:t> were/</a:t>
            </a:r>
            <a:r>
              <a:rPr lang="en-US" dirty="0">
                <a:solidFill>
                  <a:srgbClr val="FF0000"/>
                </a:solidFill>
              </a:rPr>
              <a:t>VERB</a:t>
            </a:r>
            <a:r>
              <a:rPr lang="en-US" dirty="0"/>
              <a:t> 70/</a:t>
            </a:r>
            <a:r>
              <a:rPr lang="en-US" dirty="0">
                <a:solidFill>
                  <a:srgbClr val="FF0000"/>
                </a:solidFill>
              </a:rPr>
              <a:t>NUM</a:t>
            </a:r>
            <a:r>
              <a:rPr lang="en-US" dirty="0"/>
              <a:t> children/</a:t>
            </a:r>
            <a:r>
              <a:rPr lang="en-US" dirty="0">
                <a:solidFill>
                  <a:srgbClr val="FF0000"/>
                </a:solidFill>
              </a:rPr>
              <a:t>NOUN</a:t>
            </a:r>
            <a:r>
              <a:rPr lang="en-US" dirty="0"/>
              <a:t> there/</a:t>
            </a:r>
            <a:r>
              <a:rPr lang="en-US" dirty="0">
                <a:solidFill>
                  <a:srgbClr val="FF0000"/>
                </a:solidFill>
              </a:rPr>
              <a:t>ADV</a:t>
            </a:r>
            <a:r>
              <a:rPr lang="en-US" dirty="0"/>
              <a:t> ./</a:t>
            </a:r>
            <a:r>
              <a:rPr lang="en-US" dirty="0">
                <a:solidFill>
                  <a:srgbClr val="FF0000"/>
                </a:solidFill>
              </a:rPr>
              <a:t>PUNC</a:t>
            </a:r>
            <a:endParaRPr lang="en-US" dirty="0">
              <a:solidFill>
                <a:srgbClr val="FF0000"/>
              </a:solidFill>
            </a:endParaRPr>
          </a:p>
          <a:p>
            <a:r>
              <a:rPr lang="en-US" dirty="0"/>
              <a:t>Preliminary/</a:t>
            </a:r>
            <a:r>
              <a:rPr lang="en-US" dirty="0">
                <a:solidFill>
                  <a:srgbClr val="FF0000"/>
                </a:solidFill>
              </a:rPr>
              <a:t>ADJ</a:t>
            </a:r>
            <a:r>
              <a:rPr lang="en-US" dirty="0"/>
              <a:t> findings/</a:t>
            </a:r>
            <a:r>
              <a:rPr lang="en-US" dirty="0">
                <a:solidFill>
                  <a:srgbClr val="FF0000"/>
                </a:solidFill>
              </a:rPr>
              <a:t>NOUN</a:t>
            </a:r>
            <a:r>
              <a:rPr lang="en-US" dirty="0"/>
              <a:t> were/</a:t>
            </a:r>
            <a:r>
              <a:rPr lang="en-US" dirty="0">
                <a:solidFill>
                  <a:srgbClr val="FF0000"/>
                </a:solidFill>
              </a:rPr>
              <a:t>AUX</a:t>
            </a:r>
            <a:r>
              <a:rPr lang="en-US" dirty="0"/>
              <a:t> reported/</a:t>
            </a:r>
            <a:r>
              <a:rPr lang="en-US" dirty="0">
                <a:solidFill>
                  <a:srgbClr val="FF0000"/>
                </a:solidFill>
              </a:rPr>
              <a:t>VERB</a:t>
            </a:r>
            <a:r>
              <a:rPr lang="en-US" dirty="0"/>
              <a:t> in/</a:t>
            </a:r>
            <a:r>
              <a:rPr lang="en-US" dirty="0">
                <a:solidFill>
                  <a:srgbClr val="FF0000"/>
                </a:solidFill>
              </a:rPr>
              <a:t>ADP</a:t>
            </a:r>
            <a:r>
              <a:rPr lang="en-US" dirty="0"/>
              <a:t> today/</a:t>
            </a:r>
            <a:r>
              <a:rPr lang="en-US" dirty="0">
                <a:solidFill>
                  <a:srgbClr val="FF0000"/>
                </a:solidFill>
              </a:rPr>
              <a:t>NOUN</a:t>
            </a:r>
            <a:r>
              <a:rPr lang="en-US" dirty="0"/>
              <a:t> ’s/</a:t>
            </a:r>
            <a:r>
              <a:rPr lang="en-US" dirty="0">
                <a:solidFill>
                  <a:srgbClr val="FF0000"/>
                </a:solidFill>
              </a:rPr>
              <a:t>PART</a:t>
            </a:r>
            <a:r>
              <a:rPr lang="en-US" dirty="0"/>
              <a:t> New/</a:t>
            </a:r>
            <a:r>
              <a:rPr lang="en-US" dirty="0">
                <a:solidFill>
                  <a:srgbClr val="FF0000"/>
                </a:solidFill>
              </a:rPr>
              <a:t>PROPN</a:t>
            </a:r>
            <a:r>
              <a:rPr lang="en-US" dirty="0"/>
              <a:t> England/</a:t>
            </a:r>
            <a:r>
              <a:rPr lang="en-US" dirty="0">
                <a:solidFill>
                  <a:srgbClr val="FF0000"/>
                </a:solidFill>
              </a:rPr>
              <a:t>PROPN</a:t>
            </a:r>
            <a:r>
              <a:rPr lang="en-US" dirty="0"/>
              <a:t> Journal/</a:t>
            </a:r>
            <a:r>
              <a:rPr lang="en-US" dirty="0">
                <a:solidFill>
                  <a:srgbClr val="FF0000"/>
                </a:solidFill>
              </a:rPr>
              <a:t>PROPN</a:t>
            </a:r>
            <a:r>
              <a:rPr lang="en-US" dirty="0"/>
              <a:t> of/</a:t>
            </a:r>
            <a:r>
              <a:rPr lang="en-US" dirty="0">
                <a:solidFill>
                  <a:srgbClr val="FF0000"/>
                </a:solidFill>
              </a:rPr>
              <a:t>ADP</a:t>
            </a:r>
            <a:r>
              <a:rPr lang="en-US" dirty="0"/>
              <a:t> Medicine/</a:t>
            </a:r>
            <a:r>
              <a:rPr lang="en-US" dirty="0">
                <a:solidFill>
                  <a:srgbClr val="FF0000"/>
                </a:solidFill>
              </a:rPr>
              <a:t>PROPN</a:t>
            </a:r>
            <a:endParaRPr lang="en-US" dirty="0">
              <a:solidFill>
                <a:srgbClr val="FF0000"/>
              </a:solidFill>
            </a:endParaRPr>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1026"/>
          <p:cNvSpPr>
            <a:spLocks noGrp="1" noChangeArrowheads="1"/>
          </p:cNvSpPr>
          <p:nvPr>
            <p:ph type="title"/>
          </p:nvPr>
        </p:nvSpPr>
        <p:spPr/>
        <p:txBody>
          <a:bodyPr/>
          <a:lstStyle/>
          <a:p>
            <a:r>
              <a:rPr lang="en-US" dirty="0"/>
              <a:t>Why Part of Speech Tagging?</a:t>
            </a:r>
            <a:endParaRPr lang="en-US" dirty="0"/>
          </a:p>
        </p:txBody>
      </p:sp>
      <p:sp>
        <p:nvSpPr>
          <p:cNvPr id="542723" name="Rectangle 1027"/>
          <p:cNvSpPr>
            <a:spLocks noGrp="1" noChangeArrowheads="1"/>
          </p:cNvSpPr>
          <p:nvPr>
            <p:ph idx="1"/>
          </p:nvPr>
        </p:nvSpPr>
        <p:spPr>
          <a:xfrm>
            <a:off x="304800" y="1219200"/>
            <a:ext cx="11379200" cy="4775200"/>
          </a:xfrm>
        </p:spPr>
        <p:txBody>
          <a:bodyPr>
            <a:normAutofit/>
          </a:bodyPr>
          <a:lstStyle/>
          <a:p>
            <a:pPr lvl="1"/>
            <a:r>
              <a:rPr lang="en-US" dirty="0"/>
              <a:t>Can be useful for other NLP tasks</a:t>
            </a:r>
            <a:endParaRPr lang="en-US" dirty="0"/>
          </a:p>
          <a:p>
            <a:pPr lvl="2"/>
            <a:r>
              <a:rPr lang="en-US" dirty="0"/>
              <a:t>Parsing: POS tagging can improve syntactic parsing</a:t>
            </a:r>
            <a:endParaRPr lang="en-US" dirty="0"/>
          </a:p>
          <a:p>
            <a:pPr lvl="2"/>
            <a:r>
              <a:rPr lang="en-US" dirty="0"/>
              <a:t>MT: reordering of adjectives and nouns (say from Spanish to English)</a:t>
            </a:r>
            <a:endParaRPr lang="en-US" dirty="0"/>
          </a:p>
          <a:p>
            <a:pPr lvl="2"/>
            <a:r>
              <a:rPr lang="en-US" dirty="0"/>
              <a:t>Sentiment or affective tasks: may want to distinguish adjectives or other POS</a:t>
            </a:r>
            <a:endParaRPr lang="en-US" dirty="0"/>
          </a:p>
          <a:p>
            <a:pPr lvl="2"/>
            <a:r>
              <a:rPr lang="en-US" dirty="0"/>
              <a:t>Text-to-speech (how do we pronounce </a:t>
            </a:r>
            <a:r>
              <a:rPr lang="ja-JP" altLang="en-US"/>
              <a:t>“</a:t>
            </a:r>
            <a:r>
              <a:rPr lang="en-US" dirty="0"/>
              <a:t>lead</a:t>
            </a:r>
            <a:r>
              <a:rPr lang="ja-JP" altLang="en-US"/>
              <a:t>”</a:t>
            </a:r>
            <a:r>
              <a:rPr lang="en-US" altLang="ja-JP" dirty="0"/>
              <a:t> or "object"</a:t>
            </a:r>
            <a:r>
              <a:rPr lang="en-US" dirty="0"/>
              <a:t>?)</a:t>
            </a:r>
            <a:endParaRPr lang="en-US" dirty="0"/>
          </a:p>
          <a:p>
            <a:pPr lvl="1"/>
            <a:r>
              <a:rPr lang="en-US" dirty="0"/>
              <a:t>Or linguistic or language-analytic computational tasks</a:t>
            </a:r>
            <a:endParaRPr lang="en-US" dirty="0"/>
          </a:p>
          <a:p>
            <a:pPr lvl="2"/>
            <a:r>
              <a:rPr lang="en-US" dirty="0"/>
              <a:t>Need to control for POS when studying linguistic change like creation of new words, or meaning shift</a:t>
            </a:r>
            <a:endParaRPr lang="en-US" dirty="0"/>
          </a:p>
          <a:p>
            <a:pPr lvl="2"/>
            <a:r>
              <a:rPr lang="en-US" dirty="0"/>
              <a:t>Or control for POS in measuring meaning similarity or difference</a:t>
            </a:r>
            <a:endParaRPr lang="en-US" dirty="0"/>
          </a:p>
          <a:p>
            <a:pPr lvl="2"/>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54272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9"/>
                                          </p:stCondLst>
                                        </p:cTn>
                                        <p:tgtEl>
                                          <p:spTgt spid="54272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9"/>
                                          </p:stCondLst>
                                        </p:cTn>
                                        <p:tgtEl>
                                          <p:spTgt spid="54272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9"/>
                                          </p:stCondLst>
                                        </p:cTn>
                                        <p:tgtEl>
                                          <p:spTgt spid="54272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9"/>
                                          </p:stCondLst>
                                        </p:cTn>
                                        <p:tgtEl>
                                          <p:spTgt spid="54272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9"/>
                                          </p:stCondLst>
                                        </p:cTn>
                                        <p:tgtEl>
                                          <p:spTgt spid="54272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9"/>
                                          </p:stCondLst>
                                        </p:cTn>
                                        <p:tgtEl>
                                          <p:spTgt spid="54272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9"/>
                                          </p:stCondLst>
                                        </p:cTn>
                                        <p:tgtEl>
                                          <p:spTgt spid="5427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23" grpId="0" bldLvl="2" autoUpdateAnimBg="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en-US" dirty="0"/>
              <a:t>How difficult is POS tagging in English?</a:t>
            </a:r>
            <a:endParaRPr lang="en-US" dirty="0"/>
          </a:p>
        </p:txBody>
      </p:sp>
      <p:sp>
        <p:nvSpPr>
          <p:cNvPr id="91139" name="Rectangle 3"/>
          <p:cNvSpPr>
            <a:spLocks noGrp="1" noChangeArrowheads="1"/>
          </p:cNvSpPr>
          <p:nvPr>
            <p:ph idx="1"/>
          </p:nvPr>
        </p:nvSpPr>
        <p:spPr>
          <a:xfrm>
            <a:off x="685801" y="1142999"/>
            <a:ext cx="10058401" cy="5098197"/>
          </a:xfrm>
        </p:spPr>
        <p:txBody>
          <a:bodyPr>
            <a:normAutofit/>
          </a:bodyPr>
          <a:lstStyle/>
          <a:p>
            <a:r>
              <a:rPr lang="en-US" sz="3000" dirty="0"/>
              <a:t>Roughly 15% of word types are ambiguous</a:t>
            </a:r>
            <a:endParaRPr lang="en-US" sz="3000" dirty="0"/>
          </a:p>
          <a:p>
            <a:pPr marL="571500" indent="-571500">
              <a:spcBef>
                <a:spcPts val="600"/>
              </a:spcBef>
              <a:buFont typeface="Arial" panose="020B0604020202090204" pitchFamily="34" charset="0"/>
              <a:buChar char="•"/>
            </a:pPr>
            <a:r>
              <a:rPr lang="en-US" sz="2400" dirty="0"/>
              <a:t>Hence 85% of word types are unambiguous</a:t>
            </a:r>
            <a:endParaRPr lang="en-US" sz="2400" dirty="0"/>
          </a:p>
          <a:p>
            <a:pPr marL="571500" indent="-571500">
              <a:spcBef>
                <a:spcPts val="600"/>
              </a:spcBef>
              <a:buFont typeface="Arial" panose="020B0604020202090204" pitchFamily="34" charset="0"/>
              <a:buChar char="•"/>
            </a:pPr>
            <a:r>
              <a:rPr lang="en-US" sz="2400" i="1" dirty="0">
                <a:solidFill>
                  <a:srgbClr val="FF0000"/>
                </a:solidFill>
              </a:rPr>
              <a:t>Janet</a:t>
            </a:r>
            <a:r>
              <a:rPr lang="en-US" sz="2400" i="1" dirty="0"/>
              <a:t> </a:t>
            </a:r>
            <a:r>
              <a:rPr lang="en-US" sz="2400" dirty="0"/>
              <a:t>is always PROPN, </a:t>
            </a:r>
            <a:r>
              <a:rPr lang="en-US" sz="2400" i="1" dirty="0">
                <a:solidFill>
                  <a:srgbClr val="FF0000"/>
                </a:solidFill>
              </a:rPr>
              <a:t>hesitantly</a:t>
            </a:r>
            <a:r>
              <a:rPr lang="en-US" sz="2400" i="1" dirty="0"/>
              <a:t> </a:t>
            </a:r>
            <a:r>
              <a:rPr lang="en-US" sz="2400" dirty="0"/>
              <a:t>is always ADV </a:t>
            </a:r>
            <a:endParaRPr lang="en-US" sz="2400" dirty="0"/>
          </a:p>
          <a:p>
            <a:r>
              <a:rPr lang="en-US" sz="3000" dirty="0"/>
              <a:t>But those 15% tend to be very common. </a:t>
            </a:r>
            <a:endParaRPr lang="en-US" sz="3000" dirty="0"/>
          </a:p>
          <a:p>
            <a:r>
              <a:rPr lang="en-US" sz="3000" dirty="0"/>
              <a:t>So ~60% of word tokens are ambiguous</a:t>
            </a:r>
            <a:endParaRPr lang="en-US" sz="3000" dirty="0"/>
          </a:p>
          <a:p>
            <a:r>
              <a:rPr lang="en-US" sz="3000" dirty="0"/>
              <a:t>E.g., </a:t>
            </a:r>
            <a:r>
              <a:rPr lang="en-US" sz="3000" i="1" dirty="0">
                <a:solidFill>
                  <a:srgbClr val="FF0000"/>
                </a:solidFill>
              </a:rPr>
              <a:t>back</a:t>
            </a:r>
            <a:endParaRPr lang="en-US" sz="3000" dirty="0">
              <a:solidFill>
                <a:srgbClr val="FF0000"/>
              </a:solidFill>
            </a:endParaRPr>
          </a:p>
          <a:p>
            <a:pPr marL="528955" lvl="1" indent="0">
              <a:spcBef>
                <a:spcPts val="0"/>
              </a:spcBef>
              <a:buNone/>
            </a:pPr>
            <a:r>
              <a:rPr lang="en-US" sz="2400" dirty="0"/>
              <a:t>earnings growth took a </a:t>
            </a:r>
            <a:r>
              <a:rPr lang="en-US" sz="2400" dirty="0">
                <a:solidFill>
                  <a:srgbClr val="FF0000"/>
                </a:solidFill>
              </a:rPr>
              <a:t>back</a:t>
            </a:r>
            <a:r>
              <a:rPr lang="en-US" sz="2400" dirty="0"/>
              <a:t>/ADJ seat</a:t>
            </a:r>
            <a:endParaRPr lang="en-US" sz="2400" dirty="0"/>
          </a:p>
          <a:p>
            <a:pPr marL="528955" lvl="1" indent="0">
              <a:spcBef>
                <a:spcPts val="0"/>
              </a:spcBef>
              <a:buNone/>
            </a:pPr>
            <a:r>
              <a:rPr lang="en-US" sz="2400" dirty="0"/>
              <a:t>a small building in the </a:t>
            </a:r>
            <a:r>
              <a:rPr lang="en-US" sz="2400" dirty="0">
                <a:solidFill>
                  <a:srgbClr val="FF0000"/>
                </a:solidFill>
              </a:rPr>
              <a:t>back</a:t>
            </a:r>
            <a:r>
              <a:rPr lang="en-US" sz="2400" dirty="0"/>
              <a:t>/NOUN</a:t>
            </a:r>
            <a:endParaRPr lang="en-US" sz="2400" dirty="0"/>
          </a:p>
          <a:p>
            <a:pPr marL="528955" lvl="1" indent="0">
              <a:spcBef>
                <a:spcPts val="0"/>
              </a:spcBef>
              <a:buNone/>
            </a:pPr>
            <a:r>
              <a:rPr lang="en-US" sz="2400" dirty="0"/>
              <a:t>a clear majority of senators </a:t>
            </a:r>
            <a:r>
              <a:rPr lang="en-US" sz="2400" dirty="0">
                <a:solidFill>
                  <a:srgbClr val="FF0000"/>
                </a:solidFill>
              </a:rPr>
              <a:t>back</a:t>
            </a:r>
            <a:r>
              <a:rPr lang="en-US" sz="2400" dirty="0"/>
              <a:t>/VERB the bill </a:t>
            </a:r>
            <a:endParaRPr lang="en-US" sz="2400" dirty="0"/>
          </a:p>
          <a:p>
            <a:pPr marL="528955" lvl="1" indent="0">
              <a:spcBef>
                <a:spcPts val="0"/>
              </a:spcBef>
              <a:buNone/>
            </a:pPr>
            <a:r>
              <a:rPr lang="en-US" sz="2400" dirty="0"/>
              <a:t>enable the country to buy </a:t>
            </a:r>
            <a:r>
              <a:rPr lang="en-US" sz="2400" dirty="0">
                <a:solidFill>
                  <a:srgbClr val="FF0000"/>
                </a:solidFill>
              </a:rPr>
              <a:t>back</a:t>
            </a:r>
            <a:r>
              <a:rPr lang="en-US" sz="2400" dirty="0"/>
              <a:t>/PART debt</a:t>
            </a:r>
            <a:endParaRPr lang="en-US" sz="2400" dirty="0"/>
          </a:p>
          <a:p>
            <a:pPr marL="528955" lvl="1" indent="0">
              <a:spcBef>
                <a:spcPts val="0"/>
              </a:spcBef>
              <a:buNone/>
            </a:pPr>
            <a:r>
              <a:rPr lang="en-US" sz="2400" dirty="0"/>
              <a:t>I was twenty-one </a:t>
            </a:r>
            <a:r>
              <a:rPr lang="en-US" sz="2400" dirty="0">
                <a:solidFill>
                  <a:srgbClr val="FF0000"/>
                </a:solidFill>
              </a:rPr>
              <a:t>back</a:t>
            </a:r>
            <a:r>
              <a:rPr lang="en-US" sz="2400" dirty="0"/>
              <a:t>/ADV then </a:t>
            </a:r>
            <a:endParaRPr lang="en-US"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en-US" dirty="0"/>
              <a:t>How difficult is POS tagging in </a:t>
            </a:r>
            <a:r>
              <a:rPr lang="en-US" dirty="0"/>
              <a:t>Chinese?</a:t>
            </a:r>
            <a:endParaRPr lang="en-US" dirty="0"/>
          </a:p>
        </p:txBody>
      </p:sp>
      <p:sp>
        <p:nvSpPr>
          <p:cNvPr id="91139" name="Rectangle 3"/>
          <p:cNvSpPr>
            <a:spLocks noGrp="1" noChangeArrowheads="1"/>
          </p:cNvSpPr>
          <p:nvPr>
            <p:ph idx="1"/>
          </p:nvPr>
        </p:nvSpPr>
        <p:spPr>
          <a:xfrm>
            <a:off x="609600" y="1066800"/>
            <a:ext cx="10775950" cy="5098415"/>
          </a:xfrm>
        </p:spPr>
        <p:txBody>
          <a:bodyPr>
            <a:noAutofit/>
          </a:bodyPr>
          <a:lstStyle/>
          <a:p>
            <a:r>
              <a:rPr lang="en-US" sz="2800" dirty="0"/>
              <a:t>POS tagging (Part-of-Speech tagging) in Chinese poses a number of challenges that make it more difficult than in languages like English. Here are some key factors that contribute to the difficulty of Chinese POS tagging:</a:t>
            </a:r>
            <a:endParaRPr lang="en-US" sz="2800" dirty="0"/>
          </a:p>
          <a:p>
            <a:pPr lvl="1"/>
            <a:r>
              <a:rPr lang="en-US" sz="2400" dirty="0"/>
              <a:t>Lack of Morphological Inflections:</a:t>
            </a:r>
            <a:endParaRPr lang="en-US" sz="2400" dirty="0"/>
          </a:p>
          <a:p>
            <a:pPr lvl="2"/>
            <a:r>
              <a:rPr lang="en-US" sz="2000" dirty="0"/>
              <a:t>Chinese, unlike languages like English, lacks morphological inflections that can provide strong clues for POS tags. In English, word endings such as "-s" for plurals or "-ed" for past tense verbs can significantly help in determining a word's part of speech. However, Chinese words do not undergo such morphological changes, making it more difficult to identify their parts of speech based solely on their form.</a:t>
            </a:r>
            <a:endParaRPr lang="en-US" sz="2000" dirty="0"/>
          </a:p>
          <a:p>
            <a:pPr lvl="1"/>
            <a:r>
              <a:rPr lang="en-US" sz="2400" dirty="0"/>
              <a:t>Ambiguity and Polysemy:</a:t>
            </a:r>
            <a:endParaRPr lang="en-US" sz="2400" dirty="0"/>
          </a:p>
          <a:p>
            <a:pPr lvl="2"/>
            <a:r>
              <a:rPr lang="en-US" sz="2000" dirty="0"/>
              <a:t>Many Chinese words are ambiguous and can function as multiple parts of speech depending on the context. For example, the word "发展" can be used as a noun (development) or a verb (to develop). This requires the POS tagger to rely heavily on the context and syntactic information rather than just the word itself.</a:t>
            </a:r>
            <a:endParaRPr lang="en-US" sz="2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en-US" dirty="0"/>
              <a:t>How difficult is POS tagging in </a:t>
            </a:r>
            <a:r>
              <a:rPr lang="en-US" dirty="0"/>
              <a:t>Chinese?</a:t>
            </a:r>
            <a:endParaRPr lang="en-US" dirty="0"/>
          </a:p>
        </p:txBody>
      </p:sp>
      <p:sp>
        <p:nvSpPr>
          <p:cNvPr id="91139" name="Rectangle 3"/>
          <p:cNvSpPr>
            <a:spLocks noGrp="1" noChangeArrowheads="1"/>
          </p:cNvSpPr>
          <p:nvPr>
            <p:ph idx="1"/>
          </p:nvPr>
        </p:nvSpPr>
        <p:spPr>
          <a:xfrm>
            <a:off x="609600" y="1066800"/>
            <a:ext cx="10775950" cy="5098415"/>
          </a:xfrm>
        </p:spPr>
        <p:txBody>
          <a:bodyPr>
            <a:noAutofit/>
          </a:bodyPr>
          <a:lstStyle/>
          <a:p>
            <a:pPr lvl="1"/>
            <a:r>
              <a:rPr lang="en-US" sz="2400" dirty="0"/>
              <a:t>Training Corpus Quality and Quantity:</a:t>
            </a:r>
            <a:endParaRPr lang="en-US" sz="2400" dirty="0"/>
          </a:p>
          <a:p>
            <a:pPr lvl="2"/>
            <a:r>
              <a:rPr lang="en-US" sz="2055" dirty="0"/>
              <a:t>The availability of high-quality and large-scale annotated training corpora for Chinese POS tagging is limited. While some resources like the People's Daily corpus exist, they may not be sufficient to cover the full range of linguistic phenomena in Chinese. Additionally, the annotation quality can vary, which can affect the performance of the POS tagger.</a:t>
            </a:r>
            <a:endParaRPr lang="en-US" sz="2055" dirty="0"/>
          </a:p>
          <a:p>
            <a:pPr lvl="1"/>
            <a:r>
              <a:rPr lang="en-US" sz="2400" dirty="0"/>
              <a:t>Different Annotation Standards:</a:t>
            </a:r>
            <a:endParaRPr lang="en-US" sz="2400" dirty="0"/>
          </a:p>
          <a:p>
            <a:pPr lvl="2"/>
            <a:r>
              <a:rPr lang="en-US" sz="2055" dirty="0"/>
              <a:t>There is no universally agreed-upon POS tagging standard for Chinese, and different researchers and organizations may use different tagging schemes and sets of tags. This can make it difficult to compare and evaluate different POS tagging systems.</a:t>
            </a:r>
            <a:endParaRPr lang="en-US" sz="2055" dirty="0"/>
          </a:p>
          <a:p>
            <a:pPr marL="457200" lvl="1" indent="0">
              <a:buNone/>
            </a:pPr>
            <a:endParaRPr lang="en-US" sz="2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en-US" dirty="0"/>
              <a:t>How difficult is POS tagging in </a:t>
            </a:r>
            <a:r>
              <a:rPr lang="en-US" dirty="0"/>
              <a:t>Chinese?</a:t>
            </a:r>
            <a:endParaRPr lang="en-US" dirty="0"/>
          </a:p>
        </p:txBody>
      </p:sp>
      <p:sp>
        <p:nvSpPr>
          <p:cNvPr id="91139" name="Rectangle 3"/>
          <p:cNvSpPr>
            <a:spLocks noGrp="1" noChangeArrowheads="1"/>
          </p:cNvSpPr>
          <p:nvPr>
            <p:ph idx="1"/>
          </p:nvPr>
        </p:nvSpPr>
        <p:spPr>
          <a:xfrm>
            <a:off x="609600" y="1066800"/>
            <a:ext cx="10775950" cy="5098415"/>
          </a:xfrm>
        </p:spPr>
        <p:txBody>
          <a:bodyPr>
            <a:noAutofit/>
          </a:bodyPr>
          <a:lstStyle/>
          <a:p>
            <a:pPr lvl="1"/>
            <a:r>
              <a:rPr lang="en-US" sz="2400" dirty="0"/>
              <a:t>One-Character Words:</a:t>
            </a:r>
            <a:endParaRPr lang="en-US" sz="2400" dirty="0"/>
          </a:p>
          <a:p>
            <a:pPr lvl="2"/>
            <a:r>
              <a:rPr lang="en-US" sz="2055" dirty="0"/>
              <a:t>Chinese includes a large number of one-character words that can be difficult to tag correctly. These words often have multiple meanings and can function as different parts of speech depending on the context.</a:t>
            </a:r>
            <a:endParaRPr lang="en-US" sz="2055" dirty="0"/>
          </a:p>
          <a:p>
            <a:pPr lvl="1"/>
            <a:r>
              <a:rPr lang="en-US" sz="2400" dirty="0"/>
              <a:t>Syntactic and Semantic Complexity:</a:t>
            </a:r>
            <a:endParaRPr lang="en-US" sz="2400" dirty="0"/>
          </a:p>
          <a:p>
            <a:pPr lvl="2"/>
            <a:r>
              <a:rPr lang="en-US" sz="2055" dirty="0"/>
              <a:t>Chinese sentences can be syntactically and semantically complex, with long-distance dependencies and non-linear word orders. This requires the POS tagger to have a deep understanding of the linguistic structure of Chinese sentences in order to accurately assign tags.</a:t>
            </a:r>
            <a:endParaRPr lang="en-US" sz="2055"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dirty="0"/>
              <a:t>POS tagging performance in English</a:t>
            </a:r>
            <a:endParaRPr lang="en-US" dirty="0"/>
          </a:p>
        </p:txBody>
      </p:sp>
      <p:sp>
        <p:nvSpPr>
          <p:cNvPr id="546819" name="Rectangle 3"/>
          <p:cNvSpPr>
            <a:spLocks noGrp="1" noChangeArrowheads="1"/>
          </p:cNvSpPr>
          <p:nvPr>
            <p:ph idx="1"/>
          </p:nvPr>
        </p:nvSpPr>
        <p:spPr>
          <a:xfrm>
            <a:off x="762001" y="1143000"/>
            <a:ext cx="10058401" cy="5410200"/>
          </a:xfrm>
        </p:spPr>
        <p:txBody>
          <a:bodyPr>
            <a:normAutofit lnSpcReduction="10000"/>
          </a:bodyPr>
          <a:lstStyle/>
          <a:p>
            <a:r>
              <a:rPr lang="en-US" dirty="0"/>
              <a:t>How many tags are correct?  (Tag accuracy)</a:t>
            </a:r>
            <a:endParaRPr lang="en-US" dirty="0"/>
          </a:p>
          <a:p>
            <a:pPr lvl="1"/>
            <a:r>
              <a:rPr lang="en-US" dirty="0"/>
              <a:t>About 97%</a:t>
            </a:r>
            <a:endParaRPr lang="en-US" dirty="0"/>
          </a:p>
          <a:p>
            <a:pPr lvl="2"/>
            <a:r>
              <a:rPr lang="en-US" dirty="0"/>
              <a:t>Hasn't changed in the last 10+ years</a:t>
            </a:r>
            <a:endParaRPr lang="en-US" dirty="0"/>
          </a:p>
          <a:p>
            <a:pPr lvl="2"/>
            <a:r>
              <a:rPr lang="en-US" dirty="0"/>
              <a:t>HMMs, CRFs, BERT perform similarly .</a:t>
            </a:r>
            <a:endParaRPr lang="en-US" dirty="0"/>
          </a:p>
          <a:p>
            <a:pPr lvl="2"/>
            <a:r>
              <a:rPr lang="en-US" dirty="0"/>
              <a:t>Human accuracy about the same</a:t>
            </a:r>
            <a:endParaRPr lang="en-US" dirty="0"/>
          </a:p>
          <a:p>
            <a:r>
              <a:rPr lang="en-US" dirty="0"/>
              <a:t>But baseline is 92%!</a:t>
            </a:r>
            <a:endParaRPr lang="en-US" dirty="0"/>
          </a:p>
          <a:p>
            <a:pPr lvl="1"/>
            <a:r>
              <a:rPr lang="en-US" dirty="0"/>
              <a:t>Baseline is performance of stupidest possible method</a:t>
            </a:r>
            <a:endParaRPr lang="en-US" dirty="0"/>
          </a:p>
          <a:p>
            <a:pPr lvl="2"/>
            <a:r>
              <a:rPr lang="en-US" dirty="0"/>
              <a:t>"Most frequent class baseline" is an important baseline for many tasks</a:t>
            </a:r>
            <a:endParaRPr lang="en-US" dirty="0"/>
          </a:p>
          <a:p>
            <a:pPr lvl="3"/>
            <a:r>
              <a:rPr lang="en-US" dirty="0"/>
              <a:t>Tag every word with its most frequent tag</a:t>
            </a:r>
            <a:endParaRPr lang="en-US" dirty="0"/>
          </a:p>
          <a:p>
            <a:pPr lvl="3"/>
            <a:r>
              <a:rPr lang="en-US" dirty="0"/>
              <a:t>(and tag unknown words as nouns)</a:t>
            </a:r>
            <a:endParaRPr lang="en-US" dirty="0"/>
          </a:p>
          <a:p>
            <a:pPr lvl="1"/>
            <a:r>
              <a:rPr lang="en-US" dirty="0"/>
              <a:t>Partly easy because</a:t>
            </a:r>
            <a:endParaRPr lang="en-US" dirty="0"/>
          </a:p>
          <a:p>
            <a:pPr lvl="2"/>
            <a:r>
              <a:rPr lang="en-US" dirty="0"/>
              <a:t>Many words are unambiguous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46819">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546819">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546819">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546819">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546819">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546819">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546819">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546819">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546819">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46819">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499"/>
                                          </p:stCondLst>
                                        </p:cTn>
                                        <p:tgtEl>
                                          <p:spTgt spid="54681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6819" grpId="0" bldLvl="2" autoUpdateAnimBg="0" build="p"/>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dirty="0"/>
              <a:t>POS tagging performance in Chinese</a:t>
            </a:r>
            <a:endParaRPr lang="en-US" dirty="0"/>
          </a:p>
        </p:txBody>
      </p:sp>
      <p:sp>
        <p:nvSpPr>
          <p:cNvPr id="546819" name="Rectangle 3"/>
          <p:cNvSpPr>
            <a:spLocks noGrp="1" noChangeArrowheads="1"/>
          </p:cNvSpPr>
          <p:nvPr>
            <p:ph idx="1"/>
          </p:nvPr>
        </p:nvSpPr>
        <p:spPr>
          <a:xfrm>
            <a:off x="762001" y="1143000"/>
            <a:ext cx="10058401" cy="5410200"/>
          </a:xfrm>
        </p:spPr>
        <p:txBody>
          <a:bodyPr>
            <a:normAutofit/>
          </a:bodyPr>
          <a:lstStyle/>
          <a:p>
            <a:r>
              <a:rPr lang="en-US" sz="2400" dirty="0"/>
              <a:t>The performance of POS tagging (Part-of-Speech tagging) in Chinese has been improving steadily over the years, but it still faces challenges due to the unique linguistic characteristics of the language. Here are some key points about the current state of POS tagging performance in Chinese:</a:t>
            </a:r>
            <a:endParaRPr lang="en-US" sz="2400" dirty="0"/>
          </a:p>
          <a:p>
            <a:pPr lvl="1"/>
            <a:r>
              <a:rPr lang="en-US" sz="2100" dirty="0"/>
              <a:t>Advancements in Algorithms and Techniques:</a:t>
            </a:r>
            <a:endParaRPr lang="en-US" sz="2100" dirty="0"/>
          </a:p>
          <a:p>
            <a:pPr lvl="2"/>
            <a:r>
              <a:rPr lang="en-US" sz="1800" dirty="0"/>
              <a:t>Recent years have seen significant advancements in algorithms and techniques used for Chinese POS tagging. Deep learning models, such as neural networks, have become increasingly popular and have shown promising results in improving the accuracy of POS tagging in Chinese.</a:t>
            </a:r>
            <a:endParaRPr lang="en-US" sz="1800" dirty="0"/>
          </a:p>
          <a:p>
            <a:pPr lvl="1"/>
            <a:r>
              <a:rPr lang="en-US" sz="2100" dirty="0"/>
              <a:t>Joint Modeling with Other NLP Tasks:</a:t>
            </a:r>
            <a:endParaRPr lang="en-US" sz="2100" dirty="0"/>
          </a:p>
          <a:p>
            <a:pPr lvl="2"/>
            <a:r>
              <a:rPr lang="en-US" sz="1800" dirty="0"/>
              <a:t>Researchers have found that joint modeling of POS tagging with other natural language processing (NLP) tasks, such as dependency parsing, can help improve the performance of both tasks. This is because the two tasks share information and can benefit from each other's outputs.</a:t>
            </a:r>
            <a:endParaRPr lang="en-US" sz="1800"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dirty="0"/>
              <a:t>POS tagging performance in Chinese</a:t>
            </a:r>
            <a:endParaRPr lang="en-US" dirty="0"/>
          </a:p>
        </p:txBody>
      </p:sp>
      <p:sp>
        <p:nvSpPr>
          <p:cNvPr id="546819" name="Rectangle 3"/>
          <p:cNvSpPr>
            <a:spLocks noGrp="1" noChangeArrowheads="1"/>
          </p:cNvSpPr>
          <p:nvPr>
            <p:ph idx="1"/>
          </p:nvPr>
        </p:nvSpPr>
        <p:spPr>
          <a:xfrm>
            <a:off x="633730" y="1066800"/>
            <a:ext cx="10603865" cy="5410200"/>
          </a:xfrm>
        </p:spPr>
        <p:txBody>
          <a:bodyPr>
            <a:noAutofit/>
          </a:bodyPr>
          <a:lstStyle/>
          <a:p>
            <a:pPr lvl="1"/>
            <a:r>
              <a:rPr lang="en-US" sz="2000" dirty="0"/>
              <a:t>Availability of Training Data:</a:t>
            </a:r>
            <a:endParaRPr lang="en-US" sz="2000" dirty="0"/>
          </a:p>
          <a:p>
            <a:pPr lvl="2"/>
            <a:r>
              <a:rPr lang="en-US" sz="1800" dirty="0"/>
              <a:t>The availability of large-scale annotated training data for Chinese POS tagging has increased, which has helped improve the performance of POS taggers. However, the quality and diversity of the training data can still affect the performance of the models.</a:t>
            </a:r>
            <a:endParaRPr lang="en-US" sz="1800" dirty="0"/>
          </a:p>
          <a:p>
            <a:pPr lvl="1"/>
            <a:r>
              <a:rPr lang="en-US" sz="2000" dirty="0"/>
              <a:t>Challenges Remain:</a:t>
            </a:r>
            <a:endParaRPr lang="en-US" sz="2000" dirty="0"/>
          </a:p>
          <a:p>
            <a:pPr lvl="2"/>
            <a:r>
              <a:rPr lang="en-US" sz="1800" dirty="0"/>
              <a:t>Despite these advancements, Chinese POS tagging still faces challenges due to the language's unique characteristics, such as the lack of morphological inflections, ambiguity and polysemy of words, and syntactic and semantic complexity. These factors make it difficult for POS taggers to achieve perfect accuracy.</a:t>
            </a:r>
            <a:endParaRPr lang="en-US" sz="1800" dirty="0"/>
          </a:p>
          <a:p>
            <a:pPr lvl="1"/>
            <a:r>
              <a:rPr lang="en-US" sz="2000" dirty="0"/>
              <a:t>Performance Metrics:</a:t>
            </a:r>
            <a:endParaRPr lang="en-US" sz="2000" dirty="0"/>
          </a:p>
          <a:p>
            <a:pPr lvl="2"/>
            <a:r>
              <a:rPr lang="en-US" sz="1800" dirty="0"/>
              <a:t>The performance of Chinese POS taggers is typically evaluated using metrics such as accuracy, precision, recall, and F1 score. The specific values of these metrics can vary depending on the dataset, tagging scheme, and model used.</a:t>
            </a:r>
            <a:endParaRPr lang="en-US" sz="1800" dirty="0"/>
          </a:p>
          <a:p>
            <a:pPr lvl="1"/>
            <a:r>
              <a:rPr lang="en-US" sz="2000" dirty="0"/>
              <a:t>State-of-the-Art Performance:</a:t>
            </a:r>
            <a:endParaRPr lang="en-US" sz="2000" dirty="0"/>
          </a:p>
          <a:p>
            <a:pPr lvl="2"/>
            <a:r>
              <a:rPr lang="en-US" sz="1800" dirty="0"/>
              <a:t>The state-of-the-art performance of Chinese POS tagging systems continues to improve as researchers develop new algorithms and techniques. However, it is difficult to provide a specific number for the current state-of-the-art performance as it can vary depending on the evaluation criteria and datasets used.</a:t>
            </a:r>
            <a:endParaRPr lang="en-US" sz="1800"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Sources of information for POS tagging</a:t>
            </a:r>
            <a:endParaRPr lang="en-US" dirty="0"/>
          </a:p>
        </p:txBody>
      </p:sp>
      <p:sp>
        <p:nvSpPr>
          <p:cNvPr id="3" name="Content Placeholder 2"/>
          <p:cNvSpPr>
            <a:spLocks noGrp="1"/>
          </p:cNvSpPr>
          <p:nvPr>
            <p:ph idx="1"/>
          </p:nvPr>
        </p:nvSpPr>
        <p:spPr>
          <a:xfrm>
            <a:off x="838201" y="1066800"/>
            <a:ext cx="10058401" cy="5257800"/>
          </a:xfrm>
        </p:spPr>
        <p:txBody>
          <a:bodyPr>
            <a:normAutofit fontScale="92500" lnSpcReduction="10000"/>
          </a:bodyPr>
          <a:lstStyle/>
          <a:p>
            <a:pPr marL="382905" lvl="2" indent="0">
              <a:buNone/>
            </a:pPr>
            <a:r>
              <a:rPr lang="en-US" sz="3600" dirty="0">
                <a:latin typeface="Courier" pitchFamily="2" charset="0"/>
              </a:rPr>
              <a:t>Janet </a:t>
            </a:r>
            <a:r>
              <a:rPr lang="en-US" sz="3600" dirty="0">
                <a:solidFill>
                  <a:srgbClr val="FF0000"/>
                </a:solidFill>
                <a:latin typeface="Courier" pitchFamily="2" charset="0"/>
              </a:rPr>
              <a:t>will</a:t>
            </a:r>
            <a:r>
              <a:rPr lang="en-US" sz="3600" dirty="0">
                <a:latin typeface="Courier" pitchFamily="2" charset="0"/>
              </a:rPr>
              <a:t> back the </a:t>
            </a:r>
            <a:r>
              <a:rPr lang="en-US" sz="3600" dirty="0">
                <a:solidFill>
                  <a:srgbClr val="0000FF"/>
                </a:solidFill>
                <a:latin typeface="Courier" pitchFamily="2" charset="0"/>
              </a:rPr>
              <a:t>bill</a:t>
            </a:r>
            <a:endParaRPr lang="en-US" sz="3600" dirty="0">
              <a:solidFill>
                <a:srgbClr val="0000FF"/>
              </a:solidFill>
              <a:latin typeface="Courier" pitchFamily="2" charset="0"/>
            </a:endParaRPr>
          </a:p>
          <a:p>
            <a:pPr marL="382905" lvl="2" indent="0">
              <a:buNone/>
            </a:pPr>
            <a:r>
              <a:rPr lang="en-US" sz="3600" dirty="0">
                <a:solidFill>
                  <a:srgbClr val="FF0000"/>
                </a:solidFill>
              </a:rPr>
              <a:t>     AUX/NOUN/VERB?           </a:t>
            </a:r>
            <a:r>
              <a:rPr lang="en-US" sz="3600" dirty="0">
                <a:solidFill>
                  <a:srgbClr val="0000FF"/>
                </a:solidFill>
              </a:rPr>
              <a:t>NOUN/VERB?</a:t>
            </a:r>
            <a:endParaRPr lang="en-US" sz="3600" dirty="0">
              <a:solidFill>
                <a:srgbClr val="0000FF"/>
              </a:solidFill>
            </a:endParaRPr>
          </a:p>
          <a:p>
            <a:pPr marL="1471295" lvl="8" indent="0">
              <a:buNone/>
            </a:pPr>
            <a:endParaRPr lang="en-US" dirty="0"/>
          </a:p>
          <a:p>
            <a:r>
              <a:rPr lang="en-US" dirty="0"/>
              <a:t>Prior probabilities of word/tag</a:t>
            </a:r>
            <a:endParaRPr lang="en-US" dirty="0"/>
          </a:p>
          <a:p>
            <a:pPr lvl="2">
              <a:buFont typeface="Arial" panose="020B0604020202090204" pitchFamily="34" charset="0"/>
              <a:buChar char="•"/>
            </a:pPr>
            <a:r>
              <a:rPr lang="en-US" sz="3200" dirty="0"/>
              <a:t>"</a:t>
            </a:r>
            <a:r>
              <a:rPr lang="en-US" sz="3200" dirty="0">
                <a:solidFill>
                  <a:srgbClr val="FF0000"/>
                </a:solidFill>
              </a:rPr>
              <a:t>will</a:t>
            </a:r>
            <a:r>
              <a:rPr lang="en-US" sz="3200" dirty="0"/>
              <a:t>" is usually an AUX</a:t>
            </a:r>
            <a:endParaRPr lang="en-US" sz="3200" dirty="0"/>
          </a:p>
          <a:p>
            <a:r>
              <a:rPr lang="en-US" dirty="0"/>
              <a:t>Identity of neighboring words</a:t>
            </a:r>
            <a:endParaRPr lang="en-US" dirty="0"/>
          </a:p>
          <a:p>
            <a:pPr marL="754380" lvl="1" indent="-344805">
              <a:buFont typeface="Arial" panose="020B0604020202090204" pitchFamily="34" charset="0"/>
              <a:buChar char="•"/>
            </a:pPr>
            <a:r>
              <a:rPr lang="en-US" dirty="0"/>
              <a:t>"</a:t>
            </a:r>
            <a:r>
              <a:rPr lang="en-US" dirty="0">
                <a:solidFill>
                  <a:srgbClr val="FF0000"/>
                </a:solidFill>
              </a:rPr>
              <a:t>the</a:t>
            </a:r>
            <a:r>
              <a:rPr lang="en-US" dirty="0"/>
              <a:t>" means the next word is probably not a verb</a:t>
            </a:r>
            <a:endParaRPr lang="en-US" dirty="0"/>
          </a:p>
          <a:p>
            <a:r>
              <a:rPr lang="en-US" dirty="0"/>
              <a:t>Morphology and </a:t>
            </a:r>
            <a:r>
              <a:rPr lang="en-US" dirty="0" err="1"/>
              <a:t>wordshape</a:t>
            </a:r>
            <a:r>
              <a:rPr lang="en-US" dirty="0"/>
              <a:t>:</a:t>
            </a:r>
            <a:endParaRPr lang="en-US" dirty="0"/>
          </a:p>
          <a:p>
            <a:pPr lvl="1"/>
            <a:r>
              <a:rPr lang="en-US" dirty="0"/>
              <a:t>Prefixes			</a:t>
            </a:r>
            <a:r>
              <a:rPr lang="en-US" dirty="0">
                <a:solidFill>
                  <a:srgbClr val="FF0000"/>
                </a:solidFill>
              </a:rPr>
              <a:t>unable</a:t>
            </a:r>
            <a:r>
              <a:rPr lang="en-US" dirty="0"/>
              <a:t>: 		</a:t>
            </a:r>
            <a:r>
              <a:rPr lang="en-US" dirty="0">
                <a:solidFill>
                  <a:srgbClr val="FF0000"/>
                </a:solidFill>
              </a:rPr>
              <a:t>un-</a:t>
            </a:r>
            <a:r>
              <a:rPr lang="en-US" dirty="0"/>
              <a:t> </a:t>
            </a:r>
            <a:r>
              <a:rPr lang="en-US" dirty="0">
                <a:sym typeface="Symbol" charset="0"/>
              </a:rPr>
              <a:t> ADJ</a:t>
            </a:r>
            <a:endParaRPr lang="en-US" dirty="0"/>
          </a:p>
          <a:p>
            <a:pPr lvl="1"/>
            <a:r>
              <a:rPr lang="en-US" dirty="0"/>
              <a:t>Suffixes			</a:t>
            </a:r>
            <a:r>
              <a:rPr lang="en-US" dirty="0">
                <a:solidFill>
                  <a:srgbClr val="FF0000"/>
                </a:solidFill>
              </a:rPr>
              <a:t>importantly</a:t>
            </a:r>
            <a:r>
              <a:rPr lang="en-US" dirty="0"/>
              <a:t>: 	</a:t>
            </a:r>
            <a:r>
              <a:rPr lang="en-US" dirty="0">
                <a:solidFill>
                  <a:srgbClr val="FF0000"/>
                </a:solidFill>
              </a:rPr>
              <a:t>-</a:t>
            </a:r>
            <a:r>
              <a:rPr lang="en-US" dirty="0" err="1">
                <a:solidFill>
                  <a:srgbClr val="FF0000"/>
                </a:solidFill>
              </a:rPr>
              <a:t>ly</a:t>
            </a:r>
            <a:r>
              <a:rPr lang="en-US" dirty="0">
                <a:solidFill>
                  <a:srgbClr val="FF0000"/>
                </a:solidFill>
              </a:rPr>
              <a:t> </a:t>
            </a:r>
            <a:r>
              <a:rPr lang="en-US" dirty="0">
                <a:sym typeface="Symbol" charset="0"/>
              </a:rPr>
              <a:t> ADJ</a:t>
            </a:r>
            <a:endParaRPr lang="en-US" dirty="0"/>
          </a:p>
          <a:p>
            <a:pPr lvl="1"/>
            <a:r>
              <a:rPr lang="en-US" dirty="0"/>
              <a:t>Capitalization		</a:t>
            </a:r>
            <a:r>
              <a:rPr lang="en-US" dirty="0">
                <a:solidFill>
                  <a:srgbClr val="FF0000"/>
                </a:solidFill>
              </a:rPr>
              <a:t>Janet</a:t>
            </a:r>
            <a:r>
              <a:rPr lang="en-US" dirty="0"/>
              <a:t>: 		</a:t>
            </a:r>
            <a:r>
              <a:rPr lang="en-US" dirty="0">
                <a:solidFill>
                  <a:srgbClr val="FF0000"/>
                </a:solidFill>
              </a:rPr>
              <a:t>CAP</a:t>
            </a:r>
            <a:r>
              <a:rPr lang="en-US" dirty="0"/>
              <a:t> </a:t>
            </a:r>
            <a:r>
              <a:rPr lang="en-US" dirty="0">
                <a:sym typeface="Symbol" charset="0"/>
              </a:rPr>
              <a:t> PROPN</a:t>
            </a:r>
            <a:endParaRPr lang="en-US" dirty="0">
              <a:sym typeface="Symbol" charset="0"/>
            </a:endParaRPr>
          </a:p>
          <a:p>
            <a:pPr marL="224790" indent="-344805">
              <a:buFont typeface="Arial" panose="020B0604020202090204" pitchFamily="34" charset="0"/>
              <a:buChar char="•"/>
            </a:pPr>
            <a:endParaRPr lang="en-US" dirty="0"/>
          </a:p>
          <a:p>
            <a:pPr lvl="2"/>
            <a:endParaRPr 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159603"/>
            <a:ext cx="10637520" cy="907196"/>
          </a:xfrm>
        </p:spPr>
        <p:txBody>
          <a:bodyPr>
            <a:normAutofit/>
          </a:bodyPr>
          <a:lstStyle/>
          <a:p>
            <a:r>
              <a:rPr lang="en-US" dirty="0"/>
              <a:t>Standard algorithms for POS tagging</a:t>
            </a:r>
            <a:endParaRPr lang="en-US" dirty="0"/>
          </a:p>
        </p:txBody>
      </p:sp>
      <p:sp>
        <p:nvSpPr>
          <p:cNvPr id="3" name="Content Placeholder 2"/>
          <p:cNvSpPr>
            <a:spLocks noGrp="1"/>
          </p:cNvSpPr>
          <p:nvPr>
            <p:ph idx="1"/>
          </p:nvPr>
        </p:nvSpPr>
        <p:spPr>
          <a:xfrm>
            <a:off x="914401" y="1066800"/>
            <a:ext cx="10058401" cy="5257800"/>
          </a:xfrm>
        </p:spPr>
        <p:txBody>
          <a:bodyPr>
            <a:normAutofit/>
          </a:bodyPr>
          <a:lstStyle/>
          <a:p>
            <a:r>
              <a:rPr lang="en-US" sz="2800" dirty="0"/>
              <a:t>Supervised Machine Learning Algorithms:</a:t>
            </a:r>
            <a:endParaRPr lang="en-US" sz="2800" dirty="0"/>
          </a:p>
          <a:p>
            <a:pPr marL="1028700" lvl="1" indent="-571500">
              <a:spcBef>
                <a:spcPts val="600"/>
              </a:spcBef>
              <a:buFont typeface="Arial" panose="020B0604020202090204" pitchFamily="34" charset="0"/>
              <a:buChar char="•"/>
            </a:pPr>
            <a:r>
              <a:rPr lang="en-US" sz="2400" dirty="0"/>
              <a:t>Hidden Markov Models</a:t>
            </a:r>
            <a:endParaRPr lang="en-US" sz="2400" dirty="0"/>
          </a:p>
          <a:p>
            <a:pPr marL="1028700" lvl="1" indent="-571500">
              <a:spcBef>
                <a:spcPts val="600"/>
              </a:spcBef>
              <a:buFont typeface="Arial" panose="020B0604020202090204" pitchFamily="34" charset="0"/>
              <a:buChar char="•"/>
            </a:pPr>
            <a:r>
              <a:rPr lang="en-US" sz="2400" dirty="0"/>
              <a:t>Conditional Random Fields (CRF)/ Maximum Entropy Markov Models (MEMM)</a:t>
            </a:r>
            <a:endParaRPr lang="en-US" sz="2400" dirty="0"/>
          </a:p>
          <a:p>
            <a:pPr marL="1028700" lvl="1" indent="-571500">
              <a:spcBef>
                <a:spcPts val="600"/>
              </a:spcBef>
              <a:buFont typeface="Arial" panose="020B0604020202090204" pitchFamily="34" charset="0"/>
              <a:buChar char="•"/>
            </a:pPr>
            <a:r>
              <a:rPr lang="en-US" sz="2400" dirty="0"/>
              <a:t>Neural sequence models (RNNs or Transformers)</a:t>
            </a:r>
            <a:endParaRPr lang="en-US" sz="2400" dirty="0"/>
          </a:p>
          <a:p>
            <a:pPr marL="1028700" lvl="1" indent="-571500">
              <a:spcBef>
                <a:spcPts val="600"/>
              </a:spcBef>
              <a:buFont typeface="Arial" panose="020B0604020202090204" pitchFamily="34" charset="0"/>
              <a:buChar char="•"/>
            </a:pPr>
            <a:r>
              <a:rPr lang="en-US" sz="2400" dirty="0"/>
              <a:t>Large Language Models (like BERT), finetuned</a:t>
            </a:r>
            <a:endParaRPr lang="en-US" sz="2400" dirty="0"/>
          </a:p>
          <a:p>
            <a:r>
              <a:rPr lang="en-US" sz="2800" dirty="0"/>
              <a:t>All required a hand-labeled training set, all about equal performance (97% on English)</a:t>
            </a:r>
            <a:endParaRPr lang="en-US" sz="2800" dirty="0"/>
          </a:p>
          <a:p>
            <a:r>
              <a:rPr lang="en-US" sz="2800" dirty="0"/>
              <a:t>All make use of information sources we discussed</a:t>
            </a:r>
            <a:endParaRPr lang="en-US" sz="2800" dirty="0"/>
          </a:p>
          <a:p>
            <a:pPr marL="1028700" lvl="1" indent="-571500">
              <a:lnSpc>
                <a:spcPct val="80000"/>
              </a:lnSpc>
              <a:spcBef>
                <a:spcPts val="600"/>
              </a:spcBef>
              <a:buFont typeface="Arial" panose="020B0604020202090204" pitchFamily="34" charset="0"/>
              <a:buChar char="•"/>
            </a:pPr>
            <a:r>
              <a:rPr lang="en-US" sz="2400" dirty="0"/>
              <a:t>Via human created features: HMMs and CRFs</a:t>
            </a:r>
            <a:endParaRPr lang="en-US" sz="2400" dirty="0"/>
          </a:p>
          <a:p>
            <a:pPr marL="1028700" lvl="1" indent="-571500">
              <a:lnSpc>
                <a:spcPct val="80000"/>
              </a:lnSpc>
              <a:spcBef>
                <a:spcPts val="600"/>
              </a:spcBef>
              <a:buFont typeface="Arial" panose="020B0604020202090204" pitchFamily="34" charset="0"/>
              <a:buChar char="•"/>
            </a:pPr>
            <a:r>
              <a:rPr lang="en-US" sz="2400" dirty="0"/>
              <a:t>Via representation learning:  Neural LMs</a:t>
            </a:r>
            <a:endParaRPr lang="en-US" sz="2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rotWithShape="1">
          <a:blip r:embed="rId1">
            <a:extLst>
              <a:ext uri="{28A0092B-C50C-407E-A947-70E740481C1C}">
                <a14:useLocalDpi xmlns:a14="http://schemas.microsoft.com/office/drawing/2010/main" val="0"/>
              </a:ext>
            </a:extLst>
          </a:blip>
          <a:srcRect b="24119"/>
          <a:stretch>
            <a:fillRect/>
          </a:stretch>
        </p:blipFill>
        <p:spPr>
          <a:xfrm>
            <a:off x="0" y="1"/>
            <a:ext cx="12192000" cy="3352801"/>
          </a:xfrm>
          <a:prstGeom prst="rect">
            <a:avLst/>
          </a:prstGeom>
        </p:spPr>
      </p:pic>
      <p:pic>
        <p:nvPicPr>
          <p:cNvPr id="22" name="Picture 21"/>
          <p:cNvPicPr>
            <a:picLocks noChangeAspect="1"/>
          </p:cNvPicPr>
          <p:nvPr/>
        </p:nvPicPr>
        <p:blipFill>
          <a:blip r:embed="rId2"/>
          <a:stretch>
            <a:fillRect/>
          </a:stretch>
        </p:blipFill>
        <p:spPr>
          <a:xfrm>
            <a:off x="5595737" y="5294636"/>
            <a:ext cx="1756553" cy="375733"/>
          </a:xfrm>
          <a:prstGeom prst="rect">
            <a:avLst/>
          </a:prstGeom>
        </p:spPr>
      </p:pic>
      <p:sp>
        <p:nvSpPr>
          <p:cNvPr id="34" name="Rectangle 33"/>
          <p:cNvSpPr/>
          <p:nvPr/>
        </p:nvSpPr>
        <p:spPr>
          <a:xfrm>
            <a:off x="4315557" y="2978829"/>
            <a:ext cx="3549556" cy="859971"/>
          </a:xfrm>
          <a:prstGeom prst="rect">
            <a:avLst/>
          </a:prstGeom>
          <a:solidFill>
            <a:srgbClr val="00054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p>
        </p:txBody>
      </p:sp>
      <p:sp>
        <p:nvSpPr>
          <p:cNvPr id="18" name="Title 1"/>
          <p:cNvSpPr txBox="1"/>
          <p:nvPr/>
        </p:nvSpPr>
        <p:spPr>
          <a:xfrm>
            <a:off x="3181351" y="2831757"/>
            <a:ext cx="5829300" cy="1102519"/>
          </a:xfrm>
          <a:prstGeom prst="rect">
            <a:avLst/>
          </a:prstGeom>
        </p:spPr>
        <p:txBody>
          <a:bodyPr vert="horz" lIns="68580" tIns="34291" rIns="68580" bIns="34291"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4500" b="1" cap="all" dirty="0">
                <a:solidFill>
                  <a:schemeClr val="bg1"/>
                </a:solidFill>
                <a:latin typeface="Calibri"/>
                <a:cs typeface="Calibri"/>
              </a:rPr>
              <a:t>THANK YOU</a:t>
            </a:r>
            <a:endParaRPr lang="en-US" sz="4500" b="1" cap="all" spc="225" dirty="0">
              <a:solidFill>
                <a:schemeClr val="bg1"/>
              </a:solidFill>
              <a:latin typeface="Calibri"/>
              <a:cs typeface="Calibri"/>
            </a:endParaRPr>
          </a:p>
        </p:txBody>
      </p:sp>
      <p:sp>
        <p:nvSpPr>
          <p:cNvPr id="25" name="Subtitle 2"/>
          <p:cNvSpPr txBox="1"/>
          <p:nvPr/>
        </p:nvSpPr>
        <p:spPr>
          <a:xfrm>
            <a:off x="4509618" y="4485453"/>
            <a:ext cx="3160239" cy="711668"/>
          </a:xfrm>
          <a:prstGeom prst="rect">
            <a:avLst/>
          </a:prstGeom>
        </p:spPr>
        <p:txBody>
          <a:bodyPr vert="horz" lIns="68580" tIns="34291" rIns="68580" bIns="34291"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2025"/>
              </a:lnSpc>
              <a:spcBef>
                <a:spcPts val="0"/>
              </a:spcBef>
              <a:buNone/>
            </a:pPr>
            <a:r>
              <a:rPr lang="en-US" sz="1800" b="1" cap="all" dirty="0">
                <a:solidFill>
                  <a:srgbClr val="000044"/>
                </a:solidFill>
                <a:cs typeface="DIN-Regular"/>
              </a:rPr>
              <a:t>Visit us</a:t>
            </a:r>
            <a:endParaRPr lang="en-US" sz="1800" b="1" cap="all" dirty="0">
              <a:solidFill>
                <a:srgbClr val="000044"/>
              </a:solidFill>
              <a:cs typeface="DIN-Regular"/>
            </a:endParaRPr>
          </a:p>
        </p:txBody>
      </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0957" y="4285514"/>
            <a:ext cx="738663" cy="738663"/>
          </a:xfrm>
          <a:prstGeom prst="rect">
            <a:avLst/>
          </a:prstGeom>
        </p:spPr>
      </p:pic>
      <p:sp>
        <p:nvSpPr>
          <p:cNvPr id="29" name="Rectangle 28"/>
          <p:cNvSpPr/>
          <p:nvPr/>
        </p:nvSpPr>
        <p:spPr>
          <a:xfrm>
            <a:off x="4586575" y="4339804"/>
            <a:ext cx="216000" cy="48600"/>
          </a:xfrm>
          <a:prstGeom prst="rect">
            <a:avLst/>
          </a:prstGeom>
          <a:solidFill>
            <a:srgbClr val="BA55A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p>
        </p:txBody>
      </p:sp>
      <p:sp>
        <p:nvSpPr>
          <p:cNvPr id="33" name="Subtitle 2"/>
          <p:cNvSpPr txBox="1"/>
          <p:nvPr/>
        </p:nvSpPr>
        <p:spPr>
          <a:xfrm>
            <a:off x="7654109" y="4480010"/>
            <a:ext cx="3160239" cy="711668"/>
          </a:xfrm>
          <a:prstGeom prst="rect">
            <a:avLst/>
          </a:prstGeom>
        </p:spPr>
        <p:txBody>
          <a:bodyPr vert="horz" lIns="68580" tIns="34291" rIns="68580" bIns="34291"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2025"/>
              </a:lnSpc>
              <a:spcBef>
                <a:spcPts val="0"/>
              </a:spcBef>
              <a:buNone/>
            </a:pPr>
            <a:r>
              <a:rPr lang="en-US" sz="1800" b="1" cap="all" dirty="0">
                <a:solidFill>
                  <a:srgbClr val="000044"/>
                </a:solidFill>
                <a:cs typeface="DIN-Regular"/>
              </a:rPr>
              <a:t>FOLLOW us</a:t>
            </a:r>
            <a:endParaRPr lang="en-US" sz="1800" b="1" cap="all" dirty="0">
              <a:solidFill>
                <a:srgbClr val="000044"/>
              </a:solidFill>
              <a:cs typeface="DIN-Regular"/>
            </a:endParaRPr>
          </a:p>
        </p:txBody>
      </p:sp>
      <p:sp>
        <p:nvSpPr>
          <p:cNvPr id="35" name="Rectangle 34"/>
          <p:cNvSpPr/>
          <p:nvPr/>
        </p:nvSpPr>
        <p:spPr>
          <a:xfrm>
            <a:off x="7731065" y="4339804"/>
            <a:ext cx="216000" cy="48600"/>
          </a:xfrm>
          <a:prstGeom prst="rect">
            <a:avLst/>
          </a:prstGeom>
          <a:solidFill>
            <a:srgbClr val="BA55A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p>
        </p:txBody>
      </p:sp>
      <p:grpSp>
        <p:nvGrpSpPr>
          <p:cNvPr id="36" name="Group 35"/>
          <p:cNvGrpSpPr/>
          <p:nvPr/>
        </p:nvGrpSpPr>
        <p:grpSpPr>
          <a:xfrm>
            <a:off x="6882893" y="4285518"/>
            <a:ext cx="777811" cy="730895"/>
            <a:chOff x="7496912" y="3906329"/>
            <a:chExt cx="1093174" cy="1027237"/>
          </a:xfrm>
        </p:grpSpPr>
        <p:pic>
          <p:nvPicPr>
            <p:cNvPr id="37" name="Picture 36"/>
            <p:cNvPicPr>
              <a:picLocks noChangeAspect="1"/>
            </p:cNvPicPr>
            <p:nvPr/>
          </p:nvPicPr>
          <p:blipFill rotWithShape="1">
            <a:blip r:embed="rId4">
              <a:extLst>
                <a:ext uri="{28A0092B-C50C-407E-A947-70E740481C1C}">
                  <a14:useLocalDpi xmlns:a14="http://schemas.microsoft.com/office/drawing/2010/main" val="0"/>
                </a:ext>
              </a:extLst>
            </a:blip>
            <a:srcRect r="51558" b="75832"/>
            <a:stretch>
              <a:fillRect/>
            </a:stretch>
          </p:blipFill>
          <p:spPr>
            <a:xfrm>
              <a:off x="7496912" y="3906329"/>
              <a:ext cx="1093174" cy="531499"/>
            </a:xfrm>
            <a:prstGeom prst="rect">
              <a:avLst/>
            </a:prstGeom>
          </p:spPr>
        </p:pic>
        <p:pic>
          <p:nvPicPr>
            <p:cNvPr id="38" name="Picture 37"/>
            <p:cNvPicPr>
              <a:picLocks noChangeAspect="1"/>
            </p:cNvPicPr>
            <p:nvPr/>
          </p:nvPicPr>
          <p:blipFill rotWithShape="1">
            <a:blip r:embed="rId4">
              <a:extLst>
                <a:ext uri="{28A0092B-C50C-407E-A947-70E740481C1C}">
                  <a14:useLocalDpi xmlns:a14="http://schemas.microsoft.com/office/drawing/2010/main" val="0"/>
                </a:ext>
              </a:extLst>
            </a:blip>
            <a:srcRect l="48522" t="-22" r="27371" b="76543"/>
            <a:stretch>
              <a:fillRect/>
            </a:stretch>
          </p:blipFill>
          <p:spPr>
            <a:xfrm>
              <a:off x="7505704" y="4441198"/>
              <a:ext cx="518747" cy="492368"/>
            </a:xfrm>
            <a:prstGeom prst="rect">
              <a:avLst/>
            </a:prstGeom>
          </p:spPr>
        </p:pic>
        <p:pic>
          <p:nvPicPr>
            <p:cNvPr id="40" name="Picture 39"/>
            <p:cNvPicPr>
              <a:picLocks noChangeAspect="1"/>
            </p:cNvPicPr>
            <p:nvPr/>
          </p:nvPicPr>
          <p:blipFill rotWithShape="1">
            <a:blip r:embed="rId4">
              <a:extLst>
                <a:ext uri="{28A0092B-C50C-407E-A947-70E740481C1C}">
                  <a14:useLocalDpi xmlns:a14="http://schemas.microsoft.com/office/drawing/2010/main" val="0"/>
                </a:ext>
              </a:extLst>
            </a:blip>
            <a:srcRect l="25036" t="23779" r="51266" b="51483"/>
            <a:stretch>
              <a:fillRect/>
            </a:stretch>
          </p:blipFill>
          <p:spPr>
            <a:xfrm>
              <a:off x="8078919" y="4414820"/>
              <a:ext cx="509954" cy="518746"/>
            </a:xfrm>
            <a:prstGeom prst="rect">
              <a:avLst/>
            </a:prstGeom>
          </p:spPr>
        </p:pic>
      </p:grpSp>
      <p:sp>
        <p:nvSpPr>
          <p:cNvPr id="41" name="Subtitle 2"/>
          <p:cNvSpPr txBox="1"/>
          <p:nvPr/>
        </p:nvSpPr>
        <p:spPr>
          <a:xfrm>
            <a:off x="4513666" y="4731199"/>
            <a:ext cx="3160239" cy="711668"/>
          </a:xfrm>
          <a:prstGeom prst="rect">
            <a:avLst/>
          </a:prstGeom>
        </p:spPr>
        <p:txBody>
          <a:bodyPr vert="horz" lIns="68580" tIns="34291" rIns="68580" bIns="34291"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2025"/>
              </a:lnSpc>
              <a:spcBef>
                <a:spcPts val="0"/>
              </a:spcBef>
              <a:buNone/>
            </a:pPr>
            <a:r>
              <a:rPr lang="en-US" sz="900" b="1" cap="all" dirty="0">
                <a:solidFill>
                  <a:srgbClr val="FFFF00"/>
                </a:solidFill>
                <a:cs typeface="DIN-Regular"/>
                <a:hlinkClick r:id="rId5"/>
              </a:rPr>
              <a:t>www.xjtlu.edu.cn</a:t>
            </a:r>
            <a:endParaRPr lang="en-US" sz="825" b="1" cap="all" dirty="0">
              <a:solidFill>
                <a:srgbClr val="FFFF00"/>
              </a:solidFill>
              <a:cs typeface="DIN-Regular"/>
            </a:endParaRPr>
          </a:p>
        </p:txBody>
      </p:sp>
    </p:spTree>
  </p:cSld>
  <p:clrMapOvr>
    <a:masterClrMapping/>
  </p:clrMapOvr>
  <mc:AlternateContent xmlns:mc="http://schemas.openxmlformats.org/markup-compatibility/2006">
    <mc:Choice xmlns:p14="http://schemas.microsoft.com/office/powerpoint/2010/main" Requires="p14">
      <p:transition spd="slow" p14:dur="2000" advTm="16009"/>
    </mc:Choice>
    <mc:Fallback>
      <p:transition spd="slow" advTm="16009"/>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heme/theme1.xml><?xml version="1.0" encoding="utf-8"?>
<a:theme xmlns:a="http://schemas.openxmlformats.org/drawingml/2006/main" name="1_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灰度">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17636</Words>
  <Application>WPS 表格</Application>
  <PresentationFormat>宽屏</PresentationFormat>
  <Paragraphs>551</Paragraphs>
  <Slides>58</Slides>
  <Notes>25</Notes>
  <HiddenSlides>0</HiddenSlides>
  <MMClips>0</MMClips>
  <ScaleCrop>false</ScaleCrop>
  <HeadingPairs>
    <vt:vector size="6" baseType="variant">
      <vt:variant>
        <vt:lpstr>已用的字体</vt:lpstr>
      </vt:variant>
      <vt:variant>
        <vt:i4>37</vt:i4>
      </vt:variant>
      <vt:variant>
        <vt:lpstr>主题</vt:lpstr>
      </vt:variant>
      <vt:variant>
        <vt:i4>2</vt:i4>
      </vt:variant>
      <vt:variant>
        <vt:lpstr>幻灯片标题</vt:lpstr>
      </vt:variant>
      <vt:variant>
        <vt:i4>58</vt:i4>
      </vt:variant>
    </vt:vector>
  </HeadingPairs>
  <TitlesOfParts>
    <vt:vector size="97" baseType="lpstr">
      <vt:lpstr>Arial</vt:lpstr>
      <vt:lpstr>宋体</vt:lpstr>
      <vt:lpstr>Wingdings</vt:lpstr>
      <vt:lpstr>Calibri</vt:lpstr>
      <vt:lpstr>Helvetica Neue</vt:lpstr>
      <vt:lpstr>Times New Roman</vt:lpstr>
      <vt:lpstr>Arial</vt:lpstr>
      <vt:lpstr>Times New Roman Regular</vt:lpstr>
      <vt:lpstr>Calibri (Headings)</vt:lpstr>
      <vt:lpstr>Thonburi</vt:lpstr>
      <vt:lpstr>DIN-Regular</vt:lpstr>
      <vt:lpstr>Tahoma</vt:lpstr>
      <vt:lpstr>微软雅黑</vt:lpstr>
      <vt:lpstr>汉仪旗黑</vt:lpstr>
      <vt:lpstr>宋体</vt:lpstr>
      <vt:lpstr>Arial Unicode MS</vt:lpstr>
      <vt:lpstr>Calibri Light</vt:lpstr>
      <vt:lpstr>汉仪书宋二KW</vt:lpstr>
      <vt:lpstr>Calibri</vt:lpstr>
      <vt:lpstr>Cambria Math</vt:lpstr>
      <vt:lpstr>Kingsoft Math</vt:lpstr>
      <vt:lpstr>MS PGothic</vt:lpstr>
      <vt:lpstr>冬青黑体简体中文</vt:lpstr>
      <vt:lpstr>Lucida Sans</vt:lpstr>
      <vt:lpstr>苹方-简</vt:lpstr>
      <vt:lpstr>MS PGothic</vt:lpstr>
      <vt:lpstr>Courier</vt:lpstr>
      <vt:lpstr>Symbol</vt:lpstr>
      <vt:lpstr>DejaVu Math TeX Gyre</vt:lpstr>
      <vt:lpstr>Kingsoft Sign</vt:lpstr>
      <vt:lpstr>宋体-简</vt:lpstr>
      <vt:lpstr>MS PGothic</vt:lpstr>
      <vt:lpstr>Calibri (Headings)</vt:lpstr>
      <vt:lpstr>DIN-Regular</vt:lpstr>
      <vt:lpstr>Times New Roman Bold Italic</vt:lpstr>
      <vt:lpstr>Times New Roman Italic</vt:lpstr>
      <vt:lpstr>Times New Roman Bold</vt:lpstr>
      <vt:lpstr>1_Retrospect</vt:lpstr>
      <vt:lpstr>Default Theme</vt:lpstr>
      <vt:lpstr>Word expression</vt:lpstr>
      <vt:lpstr>Word2vec</vt:lpstr>
      <vt:lpstr>TF-IDF</vt:lpstr>
      <vt:lpstr>Sparse versus dense vectors</vt:lpstr>
      <vt:lpstr>Sparse versus dense vectors</vt:lpstr>
      <vt:lpstr>Common methods for getting short dense vectors</vt:lpstr>
      <vt:lpstr>Simple static embeddings you can download!</vt:lpstr>
      <vt:lpstr>Word2vec</vt:lpstr>
      <vt:lpstr>Word2vec</vt:lpstr>
      <vt:lpstr>Approach: predict if candidate word c is a "neighbor"</vt:lpstr>
      <vt:lpstr>Skip-Gram Training Data</vt:lpstr>
      <vt:lpstr>Skip-Gram Classifier</vt:lpstr>
      <vt:lpstr>Similarity is computed from dot product</vt:lpstr>
      <vt:lpstr>Turning dot products into probabilities</vt:lpstr>
      <vt:lpstr>How Skip-Gram Classifier computes P(+|w, c) </vt:lpstr>
      <vt:lpstr>Skip-gram classifier: summary</vt:lpstr>
      <vt:lpstr>These embeddings we'll need: a set for w, a set for c</vt:lpstr>
      <vt:lpstr>Word2vec: Learning the embeddings</vt:lpstr>
      <vt:lpstr>Skip-Gram Training data</vt:lpstr>
      <vt:lpstr>Skip-Gram Training data</vt:lpstr>
      <vt:lpstr>Skip-Gram Training data</vt:lpstr>
      <vt:lpstr>Word2vec: how to learn vectors</vt:lpstr>
      <vt:lpstr>Loss function for one w with cpos , cneg1 ...cnegk </vt:lpstr>
      <vt:lpstr>Learning the classifier</vt:lpstr>
      <vt:lpstr>Intuition of one step of gradient descent</vt:lpstr>
      <vt:lpstr>Reminder: gradient descent</vt:lpstr>
      <vt:lpstr>The derivatives of the loss function</vt:lpstr>
      <vt:lpstr>Update equation in SGD</vt:lpstr>
      <vt:lpstr>Two sets of embeddings</vt:lpstr>
      <vt:lpstr>Summary: How to learn word2vec (skip-gram) embeddings</vt:lpstr>
      <vt:lpstr>Properties of Embeddings</vt:lpstr>
      <vt:lpstr>The kinds of neighbors depend on window size</vt:lpstr>
      <vt:lpstr>Analogical relations</vt:lpstr>
      <vt:lpstr>Analogical relations via parallelogram</vt:lpstr>
      <vt:lpstr>PowerPoint 演示文稿</vt:lpstr>
      <vt:lpstr>Caveats with the parallelogram method</vt:lpstr>
      <vt:lpstr>Embeddings as a window onto historical semantics</vt:lpstr>
      <vt:lpstr>Embeddings reflect cultural bias!</vt:lpstr>
      <vt:lpstr>Historical embedding as a tool to study cultural biases</vt:lpstr>
      <vt:lpstr>Part of Speech Tagging</vt:lpstr>
      <vt:lpstr>Parts of Speech</vt:lpstr>
      <vt:lpstr>Two classes of words: Open vs. Closed</vt:lpstr>
      <vt:lpstr>PowerPoint 演示文稿</vt:lpstr>
      <vt:lpstr>Part-of-Speech Tagging</vt:lpstr>
      <vt:lpstr>Part-of-Speech Tagging</vt:lpstr>
      <vt:lpstr>"Universal Dependencies" Tagset</vt:lpstr>
      <vt:lpstr>Sample "Tagged" English sentences</vt:lpstr>
      <vt:lpstr>Why Part of Speech Tagging?</vt:lpstr>
      <vt:lpstr>How difficult is POS tagging in English?</vt:lpstr>
      <vt:lpstr>How difficult is POS tagging in English?</vt:lpstr>
      <vt:lpstr>How difficult is POS tagging in Chinese?</vt:lpstr>
      <vt:lpstr>How difficult is POS tagging in Chinese?</vt:lpstr>
      <vt:lpstr>POS tagging performance in English</vt:lpstr>
      <vt:lpstr>POS tagging performance in English</vt:lpstr>
      <vt:lpstr>POS tagging performance in Chinese</vt:lpstr>
      <vt:lpstr>Sources of information for POS tagging</vt:lpstr>
      <vt:lpstr>Standard algorithms for POS tagging</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Sequence Labeling for Part of Speech and Named ENtities</dc:title>
  <dc:creator>Dan Jurafsky</dc:creator>
  <dc:subject>Speech and Language Processing</dc:subject>
  <cp:lastModifiedBy>华康</cp:lastModifiedBy>
  <cp:revision>1953</cp:revision>
  <cp:lastPrinted>2024-09-21T01:45:13Z</cp:lastPrinted>
  <dcterms:created xsi:type="dcterms:W3CDTF">2024-09-21T01:45:13Z</dcterms:created>
  <dcterms:modified xsi:type="dcterms:W3CDTF">2024-09-21T01:45:13Z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F6F566C47C3FF662043ADD669D867ED8_42</vt:lpwstr>
  </property>
  <property fmtid="{D5CDD505-2E9C-101B-9397-08002B2CF9AE}" pid="3" name="KSOProductBuildVer">
    <vt:lpwstr>2052-6.7.1.8828</vt:lpwstr>
  </property>
</Properties>
</file>