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5"/>
  </p:notesMasterIdLst>
  <p:handoutMasterIdLst>
    <p:handoutMasterId r:id="rId28"/>
  </p:handoutMasterIdLst>
  <p:sldIdLst>
    <p:sldId id="256" r:id="rId4"/>
    <p:sldId id="1987" r:id="rId6"/>
    <p:sldId id="1956" r:id="rId7"/>
    <p:sldId id="1988" r:id="rId8"/>
    <p:sldId id="1993" r:id="rId9"/>
    <p:sldId id="1994" r:id="rId10"/>
    <p:sldId id="1995" r:id="rId11"/>
    <p:sldId id="2035" r:id="rId12"/>
    <p:sldId id="1996" r:id="rId13"/>
    <p:sldId id="2036" r:id="rId14"/>
    <p:sldId id="2046" r:id="rId15"/>
    <p:sldId id="2026" r:id="rId16"/>
    <p:sldId id="2027" r:id="rId17"/>
    <p:sldId id="2028" r:id="rId18"/>
    <p:sldId id="2047" r:id="rId19"/>
    <p:sldId id="2011" r:id="rId20"/>
    <p:sldId id="2012" r:id="rId21"/>
    <p:sldId id="2013" r:id="rId22"/>
    <p:sldId id="2014" r:id="rId23"/>
    <p:sldId id="2048" r:id="rId24"/>
    <p:sldId id="2049" r:id="rId25"/>
    <p:sldId id="2050" r:id="rId26"/>
    <p:sldId id="391" r:id="rId27"/>
  </p:sldIdLst>
  <p:sldSz cx="9144000" cy="5143500" type="screen16x9"/>
  <p:notesSz cx="6845300" cy="9396095"/>
  <p:defaultTextStyle>
    <a:defPPr>
      <a:defRPr lang="en-US"/>
    </a:defPPr>
    <a:lvl1pPr algn="l" rtl="0" fontAlgn="base">
      <a:spcBef>
        <a:spcPct val="0"/>
      </a:spcBef>
      <a:spcAft>
        <a:spcPct val="0"/>
      </a:spcAft>
      <a:defRPr sz="2400" kern="1200">
        <a:solidFill>
          <a:schemeClr val="tx1"/>
        </a:solidFill>
        <a:latin typeface="Lucida Sans" charset="0"/>
        <a:ea typeface="MS PGothic" charset="0"/>
        <a:cs typeface="MS PGothic" charset="0"/>
      </a:defRPr>
    </a:lvl1pPr>
    <a:lvl2pPr marL="457200" algn="l" rtl="0" fontAlgn="base">
      <a:spcBef>
        <a:spcPct val="0"/>
      </a:spcBef>
      <a:spcAft>
        <a:spcPct val="0"/>
      </a:spcAft>
      <a:defRPr sz="2400" kern="1200">
        <a:solidFill>
          <a:schemeClr val="tx1"/>
        </a:solidFill>
        <a:latin typeface="Lucida Sans" charset="0"/>
        <a:ea typeface="MS PGothic" charset="0"/>
        <a:cs typeface="MS PGothic" charset="0"/>
      </a:defRPr>
    </a:lvl2pPr>
    <a:lvl3pPr marL="914400" algn="l" rtl="0" fontAlgn="base">
      <a:spcBef>
        <a:spcPct val="0"/>
      </a:spcBef>
      <a:spcAft>
        <a:spcPct val="0"/>
      </a:spcAft>
      <a:defRPr sz="2400" kern="1200">
        <a:solidFill>
          <a:schemeClr val="tx1"/>
        </a:solidFill>
        <a:latin typeface="Lucida Sans" charset="0"/>
        <a:ea typeface="MS PGothic" charset="0"/>
        <a:cs typeface="MS PGothic" charset="0"/>
      </a:defRPr>
    </a:lvl3pPr>
    <a:lvl4pPr marL="1371600" algn="l" rtl="0" fontAlgn="base">
      <a:spcBef>
        <a:spcPct val="0"/>
      </a:spcBef>
      <a:spcAft>
        <a:spcPct val="0"/>
      </a:spcAft>
      <a:defRPr sz="2400" kern="1200">
        <a:solidFill>
          <a:schemeClr val="tx1"/>
        </a:solidFill>
        <a:latin typeface="Lucida Sans" charset="0"/>
        <a:ea typeface="MS PGothic" charset="0"/>
        <a:cs typeface="MS PGothic" charset="0"/>
      </a:defRPr>
    </a:lvl4pPr>
    <a:lvl5pPr marL="1828800" algn="l" rtl="0" fontAlgn="base">
      <a:spcBef>
        <a:spcPct val="0"/>
      </a:spcBef>
      <a:spcAft>
        <a:spcPct val="0"/>
      </a:spcAft>
      <a:defRPr sz="2400" kern="1200">
        <a:solidFill>
          <a:schemeClr val="tx1"/>
        </a:solidFill>
        <a:latin typeface="Lucida Sans" charset="0"/>
        <a:ea typeface="MS PGothic" charset="0"/>
        <a:cs typeface="MS PGothic" charset="0"/>
      </a:defRPr>
    </a:lvl5pPr>
    <a:lvl6pPr marL="2286000" algn="l" defTabSz="457200" rtl="0" eaLnBrk="1" latinLnBrk="0" hangingPunct="1">
      <a:defRPr sz="2400" kern="1200">
        <a:solidFill>
          <a:schemeClr val="tx1"/>
        </a:solidFill>
        <a:latin typeface="Lucida Sans" charset="0"/>
        <a:ea typeface="MS PGothic" charset="0"/>
        <a:cs typeface="MS PGothic" charset="0"/>
      </a:defRPr>
    </a:lvl6pPr>
    <a:lvl7pPr marL="2743200" algn="l" defTabSz="457200" rtl="0" eaLnBrk="1" latinLnBrk="0" hangingPunct="1">
      <a:defRPr sz="2400" kern="1200">
        <a:solidFill>
          <a:schemeClr val="tx1"/>
        </a:solidFill>
        <a:latin typeface="Lucida Sans" charset="0"/>
        <a:ea typeface="MS PGothic" charset="0"/>
        <a:cs typeface="MS PGothic" charset="0"/>
      </a:defRPr>
    </a:lvl7pPr>
    <a:lvl8pPr marL="3200400" algn="l" defTabSz="457200" rtl="0" eaLnBrk="1" latinLnBrk="0" hangingPunct="1">
      <a:defRPr sz="2400" kern="1200">
        <a:solidFill>
          <a:schemeClr val="tx1"/>
        </a:solidFill>
        <a:latin typeface="Lucida Sans" charset="0"/>
        <a:ea typeface="MS PGothic" charset="0"/>
        <a:cs typeface="MS PGothic" charset="0"/>
      </a:defRPr>
    </a:lvl8pPr>
    <a:lvl9pPr marL="3657600" algn="l" defTabSz="457200" rtl="0" eaLnBrk="1" latinLnBrk="0" hangingPunct="1">
      <a:defRPr sz="2400" kern="1200">
        <a:solidFill>
          <a:schemeClr val="tx1"/>
        </a:solidFill>
        <a:latin typeface="Lucida Sans" charset="0"/>
        <a:ea typeface="MS PGothic" charset="0"/>
        <a:cs typeface="MS PGothic" charset="0"/>
      </a:defRPr>
    </a:lvl9pPr>
  </p:defaultTextStyle>
  <p:extLst>
    <p:ext uri="{EFAFB233-063F-42B5-8137-9DF3F51BA10A}">
      <p15:sldGuideLst xmlns:p15="http://schemas.microsoft.com/office/powerpoint/2012/main">
        <p15:guide id="1" orient="horz" pos="156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200FF"/>
    <a:srgbClr val="0000CC"/>
    <a:srgbClr val="A4001D"/>
    <a:srgbClr val="000099"/>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99" autoAdjust="0"/>
    <p:restoredTop sz="95865" autoAdjust="0"/>
  </p:normalViewPr>
  <p:slideViewPr>
    <p:cSldViewPr showGuides="1">
      <p:cViewPr varScale="1">
        <p:scale>
          <a:sx n="165" d="100"/>
          <a:sy n="165" d="100"/>
        </p:scale>
        <p:origin x="144" y="38"/>
      </p:cViewPr>
      <p:guideLst>
        <p:guide orient="horz" pos="156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2224" y="-112"/>
      </p:cViewPr>
      <p:guideLst>
        <p:guide orient="horz" pos="2859"/>
        <p:guide pos="2156"/>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charset="0"/>
              </a:defRPr>
            </a:lvl1pPr>
          </a:lstStyle>
          <a:p>
            <a:fld id="{8A029216-D615-3945-A1F3-D96FC886DA62}" type="slidenum">
              <a:rPr lang="en-US"/>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ln>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3EB9031F-EB71-7642-8F3C-6FDC1408CB92}" type="slidenum">
              <a:rPr lang="en-US"/>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S PGothic" pitchFamily="-65" charset="-128"/>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Uppercase, Calibri size 60,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E74C7FEE-6B48-4643-BCFB-F13B0E13E171}" type="slidenum">
              <a:rPr lang="en-US" smtClean="0"/>
            </a:fld>
            <a:endParaRPr lang="en-US" dirty="0"/>
          </a:p>
        </p:txBody>
      </p:sp>
      <p:sp>
        <p:nvSpPr>
          <p:cNvPr id="11" name="Rectangle 10"/>
          <p:cNvSpPr/>
          <p:nvPr/>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726329"/>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rPr lang="en-US"/>
              <a:t>Click to edit Master title style</a:t>
            </a:r>
            <a:endParaRPr lang="en-US"/>
          </a:p>
        </p:txBody>
      </p:sp>
      <p:sp>
        <p:nvSpPr>
          <p:cNvPr id="57" name="Shape 57"/>
          <p:cNvSpPr>
            <a:spLocks noGrp="1"/>
          </p:cNvSpPr>
          <p:nvPr>
            <p:ph type="body" idx="1"/>
          </p:nvPr>
        </p:nvSpPr>
        <p:spPr>
          <a:prstGeom prst="rect">
            <a:avLst/>
          </a:prstGeom>
        </p:spPr>
        <p:txBody>
          <a:bodyPr/>
          <a:lstStyle>
            <a:lvl1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1pPr>
            <a:lvl2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2pPr>
            <a:lvl3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3pPr>
            <a:lvl4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4pPr>
            <a:lvl5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8" name="Shape 58"/>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Completely 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ctr">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7"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CDC23-E565-C848-9AF6-12BD09C53D9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endParaRPr lang="en-US"/>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Drag picture to placeholder or click icon to add</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2" y="1200150"/>
            <a:ext cx="7543801" cy="3429000"/>
          </a:xfrm>
        </p:spPr>
        <p:txBody>
          <a:bodyPr/>
          <a:lstStyle>
            <a:lvl1pPr marL="5715" indent="-5715">
              <a:defRPr sz="2100" baseline="0"/>
            </a:lvl1pPr>
            <a:lvl2pPr marL="303530" indent="-190500">
              <a:defRPr sz="1800" baseline="0"/>
            </a:lvl2pPr>
            <a:lvl3pPr marL="386715" indent="-171450">
              <a:defRPr sz="1500" baseline="0"/>
            </a:lvl3pPr>
            <a:lvl4pPr marL="518160" indent="-198755">
              <a:defRPr sz="1200" baseline="0"/>
            </a:lvl4pPr>
            <a:lvl5pPr marL="601345" indent="-179705">
              <a:defRPr sz="105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2.png"/><Relationship Id="rId13" Type="http://schemas.openxmlformats.org/officeDocument/2006/relationships/image" Target="../media/image1.emf"/><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90">
                <a:solidFill>
                  <a:srgbClr val="FFFFFF"/>
                </a:solidFill>
              </a:defRPr>
            </a:lvl1pPr>
          </a:lstStyle>
          <a:p>
            <a:fld id="{D07771B2-D7F7-364E-B6F3-F7FE93606BC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2407"/>
            <a:ext cx="8331200" cy="540068"/>
          </a:xfrm>
          <a:prstGeom prst="rect">
            <a:avLst/>
          </a:prstGeom>
        </p:spPr>
        <p:txBody>
          <a:bodyPr vert="horz" lIns="91440" tIns="45720" rIns="91440" bIns="45720" rtlCol="0" anchor="ctr">
            <a:noAutofit/>
          </a:bodyPr>
          <a:lstStyle/>
          <a:p>
            <a:r>
              <a:rPr lang="zh-CN" altLang="en-US"/>
              <a:t>单击此处编辑母版标题样式</a:t>
            </a:r>
            <a:endParaRPr lang="en-GB" dirty="0"/>
          </a:p>
        </p:txBody>
      </p:sp>
      <p:sp>
        <p:nvSpPr>
          <p:cNvPr id="3" name="Text Placeholder 2"/>
          <p:cNvSpPr>
            <a:spLocks noGrp="1"/>
          </p:cNvSpPr>
          <p:nvPr>
            <p:ph type="body" idx="1"/>
          </p:nvPr>
        </p:nvSpPr>
        <p:spPr>
          <a:xfrm>
            <a:off x="457200" y="902494"/>
            <a:ext cx="8229600" cy="370713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7771B2-D7F7-364E-B6F3-F7FE93606BCE}" type="slidenum">
              <a:rPr lang="en-US" smtClean="0"/>
            </a:fld>
            <a:endParaRPr lang="en-US"/>
          </a:p>
        </p:txBody>
      </p:sp>
      <p:pic>
        <p:nvPicPr>
          <p:cNvPr id="7" name="Picture 6"/>
          <p:cNvPicPr>
            <a:picLocks noChangeAspect="1"/>
          </p:cNvPicPr>
          <p:nvPr/>
        </p:nvPicPr>
        <p:blipFill>
          <a:blip r:embed="rId13">
            <a:alphaModFix amt="7000"/>
            <a:duotone>
              <a:prstClr val="black"/>
              <a:schemeClr val="accent2">
                <a:tint val="45000"/>
                <a:satMod val="400000"/>
              </a:schemeClr>
            </a:duotone>
            <a:lum bright="-20000" contrast="-40000"/>
          </a:blip>
          <a:stretch>
            <a:fillRect/>
          </a:stretch>
        </p:blipFill>
        <p:spPr>
          <a:xfrm>
            <a:off x="7383145" y="-4286"/>
            <a:ext cx="1830070" cy="5169694"/>
          </a:xfrm>
          <a:prstGeom prst="rect">
            <a:avLst/>
          </a:prstGeom>
        </p:spPr>
      </p:pic>
      <p:pic>
        <p:nvPicPr>
          <p:cNvPr id="12" name="Picture 11" descr="Shield-navy(rgb for online).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32531" y="4446764"/>
            <a:ext cx="356139" cy="333393"/>
          </a:xfrm>
          <a:prstGeom prst="rect">
            <a:avLst/>
          </a:prstGeom>
        </p:spPr>
      </p:pic>
      <p:sp>
        <p:nvSpPr>
          <p:cNvPr id="9"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342900" rtl="0" eaLnBrk="1" latinLnBrk="0" hangingPunct="1">
        <a:spcBef>
          <a:spcPct val="0"/>
        </a:spcBef>
        <a:buNone/>
        <a:defRPr sz="2700" u="none" strike="noStrike" kern="1200" cap="all" spc="0" normalizeH="0">
          <a:solidFill>
            <a:schemeClr val="tx1"/>
          </a:solidFill>
          <a:uFillTx/>
          <a:latin typeface="Times New Roman" panose="02020503050405090304" pitchFamily="18" charset="0"/>
          <a:ea typeface="+mj-ea"/>
          <a:cs typeface="+mj-cs"/>
        </a:defRPr>
      </a:lvl1pPr>
    </p:titleStyle>
    <p:body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4.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6.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8.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0.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3.xml"/><Relationship Id="rId5" Type="http://schemas.openxmlformats.org/officeDocument/2006/relationships/hyperlink" Target="http://www.xjtlu.edu.cn/en/" TargetMode="External"/><Relationship Id="rId4" Type="http://schemas.openxmlformats.org/officeDocument/2006/relationships/image" Target="../media/image6.jpeg"/><Relationship Id="rId3" Type="http://schemas.openxmlformats.org/officeDocument/2006/relationships/image" Target="../media/image5.png"/><Relationship Id="rId2" Type="http://schemas.openxmlformats.org/officeDocument/2006/relationships/image" Target="../media/image3.emf"/><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4370" y="1056005"/>
            <a:ext cx="7694930" cy="1315085"/>
          </a:xfrm>
        </p:spPr>
        <p:txBody>
          <a:bodyPr>
            <a:noAutofit/>
          </a:bodyPr>
          <a:lstStyle/>
          <a:p>
            <a:r>
              <a:rPr lang="en-US" altLang="zh-CN" sz="3200" dirty="0"/>
              <a:t>Natural Language Processing</a:t>
            </a:r>
            <a:br>
              <a:rPr lang="en-US" altLang="zh-CN" sz="3200" dirty="0"/>
            </a:br>
            <a:r>
              <a:rPr lang="en-US" altLang="zh-CN" sz="3200" dirty="0">
                <a:solidFill>
                  <a:srgbClr val="000044"/>
                </a:solidFill>
                <a:cs typeface="DIN-Regular"/>
                <a:sym typeface="+mn-ea"/>
              </a:rPr>
              <a:t>DTS305TC</a:t>
            </a:r>
            <a:endParaRPr lang="en-US" altLang="zh-CN" sz="3200" dirty="0"/>
          </a:p>
        </p:txBody>
      </p:sp>
      <p:pic>
        <p:nvPicPr>
          <p:cNvPr id="8" name="Picture 7"/>
          <p:cNvPicPr>
            <a:picLocks noChangeAspect="1"/>
          </p:cNvPicPr>
          <p:nvPr/>
        </p:nvPicPr>
        <p:blipFill>
          <a:blip r:embed="rId1"/>
          <a:stretch>
            <a:fillRect/>
          </a:stretch>
        </p:blipFill>
        <p:spPr>
          <a:xfrm>
            <a:off x="3822859" y="3635858"/>
            <a:ext cx="1733550" cy="370813"/>
          </a:xfrm>
          <a:prstGeom prst="rect">
            <a:avLst/>
          </a:prstGeom>
        </p:spPr>
      </p:pic>
      <p:sp>
        <p:nvSpPr>
          <p:cNvPr id="9" name="Subtitle 2"/>
          <p:cNvSpPr txBox="1"/>
          <p:nvPr/>
        </p:nvSpPr>
        <p:spPr>
          <a:xfrm>
            <a:off x="2815937" y="2370501"/>
            <a:ext cx="3600450" cy="810802"/>
          </a:xfrm>
          <a:prstGeom prst="rect">
            <a:avLst/>
          </a:prstGeom>
        </p:spPr>
        <p:txBody>
          <a:bodyPr vert="horz" lIns="51435" tIns="25718" rIns="51435" bIns="25718" rtlCol="0">
            <a:no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lang="en-US" altLang="zh-CN" sz="1350" cap="all" dirty="0" err="1">
                <a:solidFill>
                  <a:srgbClr val="000044"/>
                </a:solidFill>
                <a:cs typeface="DIN-Regular"/>
              </a:rPr>
              <a:t>Huakang</a:t>
            </a:r>
            <a:r>
              <a:rPr lang="zh-CN" altLang="en-US" sz="1350" cap="all" dirty="0">
                <a:solidFill>
                  <a:srgbClr val="000044"/>
                </a:solidFill>
                <a:cs typeface="DIN-Regular"/>
              </a:rPr>
              <a:t> </a:t>
            </a:r>
            <a:r>
              <a:rPr lang="en-US" altLang="zh-CN" sz="1350" cap="all" dirty="0">
                <a:solidFill>
                  <a:srgbClr val="000044"/>
                </a:solidFill>
                <a:cs typeface="DIN-Regular"/>
              </a:rPr>
              <a:t>Li</a:t>
            </a:r>
            <a:endParaRPr lang="en-US" altLang="zh-CN" sz="1350" cap="all" dirty="0">
              <a:solidFill>
                <a:srgbClr val="000044"/>
              </a:solidFill>
              <a:cs typeface="DIN-Regular"/>
            </a:endParaRPr>
          </a:p>
          <a:p>
            <a:r>
              <a:rPr lang="en-US" altLang="zh-CN" sz="1350" cap="all" dirty="0" err="1">
                <a:solidFill>
                  <a:srgbClr val="000044"/>
                </a:solidFill>
                <a:cs typeface="DIN-Regular"/>
              </a:rPr>
              <a:t>Huakang.li@xjtlu.edu.cn</a:t>
            </a:r>
            <a:endParaRPr lang="en-US" altLang="zh-CN" sz="1350" cap="all" dirty="0">
              <a:solidFill>
                <a:srgbClr val="000044"/>
              </a:solidFill>
              <a:cs typeface="DIN-Regular"/>
            </a:endParaRPr>
          </a:p>
          <a:p>
            <a:r>
              <a:rPr lang="en-US" altLang="zh-CN" sz="1350" cap="all" dirty="0">
                <a:solidFill>
                  <a:srgbClr val="000044"/>
                </a:solidFill>
                <a:cs typeface="DIN-Regular"/>
              </a:rPr>
              <a:t>School</a:t>
            </a:r>
            <a:r>
              <a:rPr lang="zh-CN" altLang="en-US" sz="1350" cap="all" dirty="0">
                <a:solidFill>
                  <a:srgbClr val="000044"/>
                </a:solidFill>
                <a:cs typeface="DIN-Regular"/>
              </a:rPr>
              <a:t> </a:t>
            </a:r>
            <a:r>
              <a:rPr lang="en-US" altLang="zh-CN" sz="1350" cap="all" dirty="0">
                <a:solidFill>
                  <a:srgbClr val="000044"/>
                </a:solidFill>
                <a:cs typeface="DIN-Regular"/>
              </a:rPr>
              <a:t>of</a:t>
            </a:r>
            <a:r>
              <a:rPr lang="zh-CN" altLang="en-US" sz="1350" cap="all" dirty="0">
                <a:solidFill>
                  <a:srgbClr val="000044"/>
                </a:solidFill>
                <a:cs typeface="DIN-Regular"/>
              </a:rPr>
              <a:t> </a:t>
            </a:r>
            <a:r>
              <a:rPr lang="en-US" altLang="zh-CN" sz="1350" cap="all" dirty="0">
                <a:solidFill>
                  <a:srgbClr val="000044"/>
                </a:solidFill>
                <a:cs typeface="DIN-Regular"/>
              </a:rPr>
              <a:t>AI</a:t>
            </a:r>
            <a:r>
              <a:rPr lang="zh-CN" altLang="en-US" sz="1350" cap="all" dirty="0">
                <a:solidFill>
                  <a:srgbClr val="000044"/>
                </a:solidFill>
                <a:cs typeface="DIN-Regular"/>
              </a:rPr>
              <a:t> </a:t>
            </a:r>
            <a:r>
              <a:rPr lang="en-US" altLang="zh-CN" sz="1350" cap="all" dirty="0">
                <a:solidFill>
                  <a:srgbClr val="000044"/>
                </a:solidFill>
                <a:cs typeface="DIN-Regular"/>
              </a:rPr>
              <a:t>and</a:t>
            </a:r>
            <a:r>
              <a:rPr lang="zh-CN" altLang="en-US" sz="1350" cap="all" dirty="0">
                <a:solidFill>
                  <a:srgbClr val="000044"/>
                </a:solidFill>
                <a:cs typeface="DIN-Regular"/>
              </a:rPr>
              <a:t> </a:t>
            </a:r>
            <a:r>
              <a:rPr lang="en-US" altLang="zh-CN" sz="1350" cap="all" dirty="0">
                <a:solidFill>
                  <a:srgbClr val="000044"/>
                </a:solidFill>
                <a:cs typeface="DIN-Regular"/>
              </a:rPr>
              <a:t>Advanced</a:t>
            </a:r>
            <a:r>
              <a:rPr lang="zh-CN" altLang="en-US" sz="1350" cap="all" dirty="0">
                <a:solidFill>
                  <a:srgbClr val="000044"/>
                </a:solidFill>
                <a:cs typeface="DIN-Regular"/>
              </a:rPr>
              <a:t> </a:t>
            </a:r>
            <a:r>
              <a:rPr lang="en-US" altLang="zh-CN" sz="1350" cap="all" dirty="0">
                <a:solidFill>
                  <a:srgbClr val="000044"/>
                </a:solidFill>
                <a:cs typeface="DIN-Regular"/>
              </a:rPr>
              <a:t>Computing</a:t>
            </a:r>
            <a:endParaRPr lang="en-US" sz="1350" cap="all" dirty="0">
              <a:solidFill>
                <a:srgbClr val="000044"/>
              </a:solidFill>
              <a:cs typeface="DIN-Regular"/>
            </a:endParaRPr>
          </a:p>
          <a:p>
            <a:endParaRPr lang="en-US" sz="1350" cap="all" dirty="0">
              <a:solidFill>
                <a:srgbClr val="000044"/>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20103"/>
    </mc:Choice>
    <mc:Fallback>
      <p:transition spd="slow" advTm="201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p:nvPr>
        </p:nvSpPr>
        <p:spPr/>
        <p:txBody>
          <a:bodyPr/>
          <a:p>
            <a:r>
              <a:rPr lang="en-US" altLang="zh-CN"/>
              <a:t>Lab 3 feature </a:t>
            </a:r>
            <a:r>
              <a:rPr lang="en-US" altLang="zh-CN"/>
              <a:t>engineering</a:t>
            </a:r>
            <a:endParaRPr lang="en-US" altLang="zh-CN"/>
          </a:p>
        </p:txBody>
      </p:sp>
      <p:sp>
        <p:nvSpPr>
          <p:cNvPr id="4" name="副标题 3"/>
          <p:cNvSpPr>
            <a:spLocks noGrp="1"/>
          </p:cNvSpPr>
          <p:nvPr>
            <p:ph type="subTitle" idx="1"/>
          </p:nvPr>
        </p:nvSpPr>
        <p:spPr/>
        <p:txBody>
          <a:bodyPr>
            <a:normAutofit fontScale="70000"/>
          </a:bodyPr>
          <a:p>
            <a:r>
              <a:rPr lang="en-US" altLang="zh-CN">
                <a:solidFill>
                  <a:schemeClr val="tx1"/>
                </a:solidFill>
              </a:rPr>
              <a:t>week 2 day 1</a:t>
            </a:r>
            <a:endParaRPr lang="en-US" altLang="zh-CN">
              <a:solidFill>
                <a:schemeClr val="tx1"/>
              </a:solidFill>
            </a:endParaRPr>
          </a:p>
          <a:p>
            <a:endParaRPr lang="en-US" altLang="zh-CN">
              <a:solidFill>
                <a:schemeClr val="tx1"/>
              </a:solidFill>
            </a:endParaRPr>
          </a:p>
          <a:p>
            <a:r>
              <a:rPr lang="en-US" altLang="zh-CN">
                <a:solidFill>
                  <a:schemeClr val="tx1"/>
                </a:solidFill>
              </a:rPr>
              <a:t>https://spotintelligence.com/2023/03/25/nlp-feature-engineering/</a:t>
            </a:r>
            <a:endParaRPr lang="en-US" altLang="zh-CN">
              <a:solidFill>
                <a:schemeClr val="tx1"/>
              </a:solidFill>
            </a:endParaRPr>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lang="en-US" dirty="0"/>
          </a:p>
        </p:txBody>
      </p:sp>
      <p:sp>
        <p:nvSpPr>
          <p:cNvPr id="3" name="Content Placeholder 2"/>
          <p:cNvSpPr>
            <a:spLocks noGrp="1"/>
          </p:cNvSpPr>
          <p:nvPr>
            <p:ph idx="1"/>
          </p:nvPr>
        </p:nvSpPr>
        <p:spPr/>
        <p:txBody>
          <a:bodyPr/>
          <a:lstStyle/>
          <a:p>
            <a:r>
              <a:rPr lang="en-US" dirty="0"/>
              <a:t>N-grams for NLP feature engineering</a:t>
            </a:r>
            <a:endParaRPr lang="en-US" dirty="0"/>
          </a:p>
          <a:p>
            <a:r>
              <a:rPr lang="en-US" dirty="0"/>
              <a:t>Word </a:t>
            </a:r>
            <a:r>
              <a:rPr lang="en-US" dirty="0"/>
              <a:t>Similarity</a:t>
            </a:r>
            <a:endParaRPr lang="en-US" dirty="0"/>
          </a:p>
          <a:p>
            <a:r>
              <a:rPr lang="en-US" dirty="0"/>
              <a:t>TF-IDF</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N-grams</a:t>
            </a:r>
            <a:endParaRPr lang="en-US" dirty="0"/>
          </a:p>
        </p:txBody>
      </p:sp>
      <p:sp>
        <p:nvSpPr>
          <p:cNvPr id="3" name="Content Placeholder 2"/>
          <p:cNvSpPr>
            <a:spLocks noGrp="1"/>
          </p:cNvSpPr>
          <p:nvPr>
            <p:ph idx="1"/>
          </p:nvPr>
        </p:nvSpPr>
        <p:spPr/>
        <p:txBody>
          <a:bodyPr/>
          <a:lstStyle/>
          <a:p>
            <a:r>
              <a:rPr lang="en-US" dirty="0"/>
              <a:t>N-grams are sequences of adjacent words of length n . N-grams can capture more context and help the model better understand the meaning of the text.</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N-grams</a:t>
            </a:r>
            <a:endParaRPr lang="en-US" dirty="0"/>
          </a:p>
        </p:txBody>
      </p:sp>
      <p:sp>
        <p:nvSpPr>
          <p:cNvPr id="3" name="Content Placeholder 2"/>
          <p:cNvSpPr>
            <a:spLocks noGrp="1"/>
          </p:cNvSpPr>
          <p:nvPr>
            <p:ph idx="1"/>
          </p:nvPr>
        </p:nvSpPr>
        <p:spPr/>
        <p:txBody>
          <a:bodyPr>
            <a:normAutofit/>
          </a:bodyPr>
          <a:lstStyle/>
          <a:p>
            <a:pPr algn="just"/>
            <a:r>
              <a:rPr lang="en-US" dirty="0"/>
              <a:t>Advantages</a:t>
            </a:r>
            <a:endParaRPr lang="en-US" dirty="0"/>
          </a:p>
          <a:p>
            <a:pPr lvl="1" algn="just"/>
            <a:r>
              <a:rPr lang="en-US" dirty="0"/>
              <a:t>N-grams can help capture the context and meaning of the text by considering the relationship between adjacent words or phrases.</a:t>
            </a:r>
            <a:endParaRPr lang="en-US" dirty="0"/>
          </a:p>
          <a:p>
            <a:pPr lvl="1" algn="just"/>
            <a:r>
              <a:rPr lang="en-US" dirty="0"/>
              <a:t>N-grams can identify patterns and relationships in the text that may not be apparent when considering individual words or phrases.</a:t>
            </a:r>
            <a:endParaRPr lang="en-US" dirty="0"/>
          </a:p>
          <a:p>
            <a:pPr lvl="1" algn="just"/>
            <a:r>
              <a:rPr lang="en-US" dirty="0"/>
              <a:t>N-grams can be used to generate predictive models that can help classify or predict text based on patterns or relationships in the data.</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N-grams</a:t>
            </a:r>
            <a:endParaRPr lang="en-US" dirty="0"/>
          </a:p>
        </p:txBody>
      </p:sp>
      <p:sp>
        <p:nvSpPr>
          <p:cNvPr id="3" name="Content Placeholder 2"/>
          <p:cNvSpPr>
            <a:spLocks noGrp="1"/>
          </p:cNvSpPr>
          <p:nvPr>
            <p:ph idx="1"/>
          </p:nvPr>
        </p:nvSpPr>
        <p:spPr/>
        <p:txBody>
          <a:bodyPr/>
          <a:lstStyle/>
          <a:p>
            <a:r>
              <a:rPr lang="en-US" dirty="0"/>
              <a:t>Disadvantages</a:t>
            </a:r>
            <a:endParaRPr lang="en-US" dirty="0"/>
          </a:p>
          <a:p>
            <a:pPr lvl="1"/>
            <a:r>
              <a:rPr lang="en-US" dirty="0"/>
              <a:t>N-grams can produce a large number of features, which can make the analysis more computationally intensive and require more memory.</a:t>
            </a:r>
            <a:endParaRPr lang="en-US" dirty="0"/>
          </a:p>
          <a:p>
            <a:pPr lvl="1"/>
            <a:r>
              <a:rPr lang="en-US" dirty="0"/>
              <a:t>N-grams may not work well for all types of text or all languages.</a:t>
            </a:r>
            <a:endParaRPr lang="en-US" dirty="0"/>
          </a:p>
          <a:p>
            <a:pPr lvl="1"/>
            <a:r>
              <a:rPr lang="en-US" dirty="0"/>
              <a:t>N-grams may not capture the full range of meanings of the text, as they are limited to adjacent words or phrases.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N-grams</a:t>
            </a:r>
            <a:endParaRPr lang="en-US" dirty="0"/>
          </a:p>
        </p:txBody>
      </p:sp>
      <p:sp>
        <p:nvSpPr>
          <p:cNvPr id="3" name="Content Placeholder 2"/>
          <p:cNvSpPr>
            <a:spLocks noGrp="1"/>
          </p:cNvSpPr>
          <p:nvPr>
            <p:ph idx="1"/>
          </p:nvPr>
        </p:nvSpPr>
        <p:spPr/>
        <p:txBody>
          <a:bodyPr/>
          <a:lstStyle/>
          <a:p>
            <a:r>
              <a:rPr lang="en-US" dirty="0"/>
              <a:t>Disadvantages</a:t>
            </a:r>
            <a:endParaRPr lang="en-US" dirty="0"/>
          </a:p>
          <a:p>
            <a:pPr lvl="1"/>
            <a:r>
              <a:rPr lang="en-US" dirty="0"/>
              <a:t>N-grams can produce a large number of features, which can make the analysis more computationally intensive and require more memory.</a:t>
            </a:r>
            <a:endParaRPr lang="en-US" dirty="0"/>
          </a:p>
          <a:p>
            <a:pPr lvl="1"/>
            <a:r>
              <a:rPr lang="en-US" dirty="0"/>
              <a:t>N-grams may not work well for all types of text or all languages.</a:t>
            </a:r>
            <a:endParaRPr lang="en-US" dirty="0"/>
          </a:p>
          <a:p>
            <a:pPr lvl="1"/>
            <a:r>
              <a:rPr lang="en-US" dirty="0"/>
              <a:t>N-grams may not capture the full range of meanings of the text, as they are limited to adjacent words or phrases.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dirty="0">
                <a:sym typeface="+mn-ea"/>
              </a:rPr>
              <a:t>N-grams</a:t>
            </a:r>
            <a:endParaRPr lang="en-US" altLang="zh-CN"/>
          </a:p>
        </p:txBody>
      </p:sp>
      <p:sp>
        <p:nvSpPr>
          <p:cNvPr id="4" name="内容占位符 3"/>
          <p:cNvSpPr>
            <a:spLocks noGrp="1"/>
          </p:cNvSpPr>
          <p:nvPr>
            <p:ph idx="1"/>
          </p:nvPr>
        </p:nvSpPr>
        <p:spPr>
          <a:xfrm>
            <a:off x="457200" y="902335"/>
            <a:ext cx="4507230" cy="3707130"/>
          </a:xfrm>
        </p:spPr>
        <p:txBody>
          <a:bodyPr/>
          <a:p>
            <a:r>
              <a:rPr lang="zh-CN" altLang="en-US"/>
              <a:t>Example</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5" name="文本框 4"/>
          <p:cNvSpPr txBox="1"/>
          <p:nvPr/>
        </p:nvSpPr>
        <p:spPr>
          <a:xfrm>
            <a:off x="533400" y="1352550"/>
            <a:ext cx="4229100" cy="2700020"/>
          </a:xfrm>
          <a:prstGeom prst="rect">
            <a:avLst/>
          </a:prstGeom>
          <a:noFill/>
        </p:spPr>
        <p:txBody>
          <a:bodyPr wrap="square" rtlCol="0" anchor="t">
            <a:noAutofit/>
          </a:bodyPr>
          <a:p>
            <a:r>
              <a:rPr lang="zh-CN" altLang="en-US" sz="1400">
                <a:latin typeface="Times New Roman Regular" panose="02020503050405090304" charset="0"/>
                <a:cs typeface="Times New Roman Regular" panose="02020503050405090304" charset="0"/>
              </a:rPr>
              <a:t>def generate_ngrams(text, n):</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tokens = text.split()</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Generate n-grams  </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ngrams = zip(*[tokens[i:] for i in range(n)])</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return [' '.join(ngram) for ngram in ngrams]</a:t>
            </a:r>
            <a:endParaRPr lang="zh-CN" altLang="en-US" sz="1400">
              <a:latin typeface="Times New Roman Regular" panose="02020503050405090304" charset="0"/>
              <a:cs typeface="Times New Roman Regular" panose="02020503050405090304" charset="0"/>
            </a:endParaRPr>
          </a:p>
          <a:p>
            <a:endParaRPr lang="zh-CN" altLang="en-US" sz="1400">
              <a:latin typeface="Times New Roman Regular" panose="02020503050405090304" charset="0"/>
              <a:cs typeface="Times New Roman Regular" panose="02020503050405090304" charset="0"/>
            </a:endParaRPr>
          </a:p>
          <a:p>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Example text</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text = "</a:t>
            </a:r>
            <a:r>
              <a:rPr lang="zh-CN" altLang="en-US" sz="1400">
                <a:latin typeface="Times New Roman Regular" panose="02020503050405090304" charset="0"/>
                <a:cs typeface="Times New Roman Regular" panose="02020503050405090304" charset="0"/>
                <a:sym typeface="+mn-ea"/>
              </a:rPr>
              <a:t>The quick brown foxes jumped over the lazy dogs</a:t>
            </a:r>
            <a:r>
              <a:rPr lang="zh-CN" altLang="en-US" sz="1400">
                <a:latin typeface="Times New Roman Regular" panose="02020503050405090304" charset="0"/>
                <a:cs typeface="Times New Roman Regular" panose="02020503050405090304" charset="0"/>
              </a:rPr>
              <a:t>"</a:t>
            </a:r>
            <a:endParaRPr lang="zh-CN" altLang="en-US" sz="1400">
              <a:latin typeface="Times New Roman Regular" panose="02020503050405090304" charset="0"/>
              <a:cs typeface="Times New Roman Regular" panose="02020503050405090304" charset="0"/>
            </a:endParaRPr>
          </a:p>
          <a:p>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bigrams = generate_ngrams(text, 2)</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print("Bigrams:", bigrams)</a:t>
            </a:r>
            <a:endParaRPr lang="zh-CN" altLang="en-US" sz="1400">
              <a:latin typeface="Times New Roman Regular" panose="02020503050405090304" charset="0"/>
              <a:cs typeface="Times New Roman Regular" panose="02020503050405090304" charset="0"/>
            </a:endParaRPr>
          </a:p>
          <a:p>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trigrams = generate_ngrams(text, 3)</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print("Trigrams:", trigrams)</a:t>
            </a:r>
            <a:endParaRPr lang="zh-CN" altLang="en-US" sz="1400">
              <a:latin typeface="Times New Roman Regular" panose="02020503050405090304" charset="0"/>
              <a:cs typeface="Times New Roman Regular" panose="02020503050405090304" charset="0"/>
            </a:endParaRPr>
          </a:p>
        </p:txBody>
      </p:sp>
      <p:sp>
        <p:nvSpPr>
          <p:cNvPr id="6" name="内容占位符 3"/>
          <p:cNvSpPr>
            <a:spLocks noGrp="1"/>
          </p:cNvSpPr>
          <p:nvPr>
            <p:custDataLst>
              <p:tags r:id="rId1"/>
            </p:custDataLst>
          </p:nvPr>
        </p:nvSpPr>
        <p:spPr>
          <a:xfrm>
            <a:off x="4495800" y="104775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7" name="文本框 6"/>
          <p:cNvSpPr txBox="1"/>
          <p:nvPr>
            <p:custDataLst>
              <p:tags r:id="rId2"/>
            </p:custDataLst>
          </p:nvPr>
        </p:nvSpPr>
        <p:spPr>
          <a:xfrm>
            <a:off x="4876800" y="1657350"/>
            <a:ext cx="4229100" cy="2700020"/>
          </a:xfrm>
          <a:prstGeom prst="rect">
            <a:avLst/>
          </a:prstGeom>
          <a:noFill/>
        </p:spPr>
        <p:txBody>
          <a:bodyPr wrap="square" rtlCol="0" anchor="t">
            <a:noAutofit/>
          </a:bodyPr>
          <a:p>
            <a:r>
              <a:rPr lang="zh-CN" altLang="en-US" sz="1800">
                <a:latin typeface="Times New Roman Regular" panose="02020503050405090304" charset="0"/>
                <a:cs typeface="Times New Roman Regular" panose="02020503050405090304" charset="0"/>
              </a:rPr>
              <a:t>Bigrams: ['The quick', 'quick brown', 'brown foxes', 'foxes jumped', 'jumped over', 'over the', 'the lazy', 'lazy dogs']</a:t>
            </a:r>
            <a:endParaRPr lang="zh-CN" altLang="en-US" sz="1800">
              <a:latin typeface="Times New Roman Regular" panose="02020503050405090304" charset="0"/>
              <a:cs typeface="Times New Roman Regular" panose="02020503050405090304" charset="0"/>
            </a:endParaRPr>
          </a:p>
          <a:p>
            <a:r>
              <a:rPr lang="zh-CN" altLang="en-US" sz="1800">
                <a:latin typeface="Times New Roman Regular" panose="02020503050405090304" charset="0"/>
                <a:cs typeface="Times New Roman Regular" panose="02020503050405090304" charset="0"/>
              </a:rPr>
              <a:t>Trigrams: ['The quick brown', 'quick brown foxes', 'brown foxes jumped', 'foxes jumped over', 'jumped over the', 'over the lazy', 'the lazy dogs']</a:t>
            </a:r>
            <a:endParaRPr lang="zh-CN" altLang="en-US" sz="1800">
              <a:latin typeface="Times New Roman Regular" panose="02020503050405090304" charset="0"/>
              <a:cs typeface="Times New Roman Regular" panose="0202050305040509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dirty="0">
                <a:sym typeface="+mn-ea"/>
              </a:rPr>
              <a:t>N-grams</a:t>
            </a:r>
            <a:endParaRPr lang="en-US" altLang="zh-CN"/>
          </a:p>
        </p:txBody>
      </p:sp>
      <p:sp>
        <p:nvSpPr>
          <p:cNvPr id="4" name="内容占位符 3"/>
          <p:cNvSpPr>
            <a:spLocks noGrp="1"/>
          </p:cNvSpPr>
          <p:nvPr>
            <p:ph idx="1"/>
          </p:nvPr>
        </p:nvSpPr>
        <p:spPr>
          <a:xfrm>
            <a:off x="457200" y="902335"/>
            <a:ext cx="4507230" cy="3707130"/>
          </a:xfrm>
        </p:spPr>
        <p:txBody>
          <a:bodyPr/>
          <a:p>
            <a:r>
              <a:rPr lang="zh-CN" altLang="en-US"/>
              <a:t>Example</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5" name="文本框 4"/>
          <p:cNvSpPr txBox="1"/>
          <p:nvPr/>
        </p:nvSpPr>
        <p:spPr>
          <a:xfrm>
            <a:off x="533400" y="1504950"/>
            <a:ext cx="4229100" cy="2700020"/>
          </a:xfrm>
          <a:prstGeom prst="rect">
            <a:avLst/>
          </a:prstGeom>
          <a:noFill/>
        </p:spPr>
        <p:txBody>
          <a:bodyPr wrap="square" rtlCol="0" anchor="t">
            <a:noAutofit/>
          </a:bodyPr>
          <a:p>
            <a:r>
              <a:rPr lang="zh-CN" altLang="en-US" sz="1800">
                <a:latin typeface="Times New Roman Regular" panose="02020503050405090304" charset="0"/>
                <a:cs typeface="Times New Roman Regular" panose="02020503050405090304" charset="0"/>
              </a:rPr>
              <a:t>import nltk </a:t>
            </a:r>
            <a:endParaRPr lang="zh-CN" altLang="en-US" sz="1800">
              <a:latin typeface="Times New Roman Regular" panose="02020503050405090304" charset="0"/>
              <a:cs typeface="Times New Roman Regular" panose="02020503050405090304" charset="0"/>
            </a:endParaRPr>
          </a:p>
          <a:p>
            <a:r>
              <a:rPr lang="zh-CN" altLang="en-US" sz="1800">
                <a:latin typeface="Times New Roman Regular" panose="02020503050405090304" charset="0"/>
                <a:cs typeface="Times New Roman Regular" panose="02020503050405090304" charset="0"/>
              </a:rPr>
              <a:t>from nltk.util import ngrams </a:t>
            </a:r>
            <a:endParaRPr lang="zh-CN" altLang="en-US" sz="1800">
              <a:latin typeface="Times New Roman Regular" panose="02020503050405090304" charset="0"/>
              <a:cs typeface="Times New Roman Regular" panose="02020503050405090304" charset="0"/>
            </a:endParaRPr>
          </a:p>
          <a:p>
            <a:endParaRPr lang="zh-CN" altLang="en-US" sz="1800">
              <a:latin typeface="Times New Roman Regular" panose="02020503050405090304" charset="0"/>
              <a:cs typeface="Times New Roman Regular" panose="02020503050405090304" charset="0"/>
            </a:endParaRPr>
          </a:p>
          <a:p>
            <a:r>
              <a:rPr lang="zh-CN" altLang="en-US" sz="1800">
                <a:latin typeface="Times New Roman Regular" panose="02020503050405090304" charset="0"/>
                <a:cs typeface="Times New Roman Regular" panose="02020503050405090304" charset="0"/>
              </a:rPr>
              <a:t>text = "The quick brown foxes jumped over the lazy dogs." </a:t>
            </a:r>
            <a:endParaRPr lang="zh-CN" altLang="en-US" sz="1800">
              <a:latin typeface="Times New Roman Regular" panose="02020503050405090304" charset="0"/>
              <a:cs typeface="Times New Roman Regular" panose="02020503050405090304" charset="0"/>
            </a:endParaRPr>
          </a:p>
          <a:p>
            <a:r>
              <a:rPr lang="zh-CN" altLang="en-US" sz="1800">
                <a:latin typeface="Times New Roman Regular" panose="02020503050405090304" charset="0"/>
                <a:cs typeface="Times New Roman Regular" panose="02020503050405090304" charset="0"/>
              </a:rPr>
              <a:t>tokens = nltk.word_tokenize(text) </a:t>
            </a:r>
            <a:endParaRPr lang="zh-CN" altLang="en-US" sz="1800">
              <a:latin typeface="Times New Roman Regular" panose="02020503050405090304" charset="0"/>
              <a:cs typeface="Times New Roman Regular" panose="02020503050405090304" charset="0"/>
            </a:endParaRPr>
          </a:p>
          <a:p>
            <a:r>
              <a:rPr lang="zh-CN" altLang="en-US" sz="1800">
                <a:latin typeface="Times New Roman Regular" panose="02020503050405090304" charset="0"/>
                <a:cs typeface="Times New Roman Regular" panose="02020503050405090304" charset="0"/>
              </a:rPr>
              <a:t>bigrams = ngrams(tokens, 2) trigrams = ngrams(tokens, 3) </a:t>
            </a:r>
            <a:endParaRPr lang="zh-CN" altLang="en-US" sz="1800">
              <a:latin typeface="Times New Roman Regular" panose="02020503050405090304" charset="0"/>
              <a:cs typeface="Times New Roman Regular" panose="02020503050405090304" charset="0"/>
            </a:endParaRPr>
          </a:p>
          <a:p>
            <a:r>
              <a:rPr lang="zh-CN" altLang="en-US" sz="1800">
                <a:latin typeface="Times New Roman Regular" panose="02020503050405090304" charset="0"/>
                <a:cs typeface="Times New Roman Regular" panose="02020503050405090304" charset="0"/>
              </a:rPr>
              <a:t>print(</a:t>
            </a:r>
            <a:r>
              <a:rPr lang="zh-CN" altLang="en-US" sz="1800">
                <a:latin typeface="Times New Roman Regular" panose="02020503050405090304" charset="0"/>
                <a:cs typeface="Times New Roman Regular" panose="02020503050405090304" charset="0"/>
                <a:sym typeface="+mn-ea"/>
              </a:rPr>
              <a:t>"Bigrams:",</a:t>
            </a:r>
            <a:r>
              <a:rPr lang="zh-CN" altLang="en-US" sz="1800">
                <a:latin typeface="Times New Roman Regular" panose="02020503050405090304" charset="0"/>
                <a:cs typeface="Times New Roman Regular" panose="02020503050405090304" charset="0"/>
              </a:rPr>
              <a:t>list(bigrams)) </a:t>
            </a:r>
            <a:endParaRPr lang="zh-CN" altLang="en-US" sz="1800">
              <a:latin typeface="Times New Roman Regular" panose="02020503050405090304" charset="0"/>
              <a:cs typeface="Times New Roman Regular" panose="02020503050405090304" charset="0"/>
            </a:endParaRPr>
          </a:p>
          <a:p>
            <a:r>
              <a:rPr lang="zh-CN" altLang="en-US" sz="1800">
                <a:latin typeface="Times New Roman Regular" panose="02020503050405090304" charset="0"/>
                <a:cs typeface="Times New Roman Regular" panose="02020503050405090304" charset="0"/>
              </a:rPr>
              <a:t>print(</a:t>
            </a:r>
            <a:r>
              <a:rPr lang="zh-CN" altLang="en-US" sz="1800">
                <a:latin typeface="Times New Roman Regular" panose="02020503050405090304" charset="0"/>
                <a:cs typeface="Times New Roman Regular" panose="02020503050405090304" charset="0"/>
                <a:sym typeface="+mn-ea"/>
              </a:rPr>
              <a:t>"Trigrams ”</a:t>
            </a:r>
            <a:r>
              <a:rPr lang="en-US" altLang="zh-CN" sz="1800">
                <a:latin typeface="Times New Roman Regular" panose="02020503050405090304" charset="0"/>
                <a:cs typeface="Times New Roman Regular" panose="02020503050405090304" charset="0"/>
                <a:sym typeface="+mn-ea"/>
              </a:rPr>
              <a:t>, </a:t>
            </a:r>
            <a:r>
              <a:rPr lang="zh-CN" altLang="en-US" sz="1800">
                <a:latin typeface="Times New Roman Regular" panose="02020503050405090304" charset="0"/>
                <a:cs typeface="Times New Roman Regular" panose="02020503050405090304" charset="0"/>
                <a:sym typeface="+mn-ea"/>
              </a:rPr>
              <a:t>(</a:t>
            </a:r>
            <a:r>
              <a:rPr lang="zh-CN" altLang="en-US" sz="1800">
                <a:latin typeface="Times New Roman Regular" panose="02020503050405090304" charset="0"/>
                <a:cs typeface="Times New Roman Regular" panose="02020503050405090304" charset="0"/>
              </a:rPr>
              <a:t>list(trigrams))</a:t>
            </a:r>
            <a:endParaRPr lang="zh-CN" altLang="en-US" sz="1800">
              <a:latin typeface="Times New Roman Regular" panose="02020503050405090304" charset="0"/>
              <a:cs typeface="Times New Roman Regular" panose="02020503050405090304" charset="0"/>
            </a:endParaRPr>
          </a:p>
        </p:txBody>
      </p:sp>
      <p:sp>
        <p:nvSpPr>
          <p:cNvPr id="6" name="内容占位符 3"/>
          <p:cNvSpPr>
            <a:spLocks noGrp="1"/>
          </p:cNvSpPr>
          <p:nvPr>
            <p:custDataLst>
              <p:tags r:id="rId1"/>
            </p:custDataLst>
          </p:nvPr>
        </p:nvSpPr>
        <p:spPr>
          <a:xfrm>
            <a:off x="4495800" y="104775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7" name="文本框 6"/>
          <p:cNvSpPr txBox="1"/>
          <p:nvPr>
            <p:custDataLst>
              <p:tags r:id="rId2"/>
            </p:custDataLst>
          </p:nvPr>
        </p:nvSpPr>
        <p:spPr>
          <a:xfrm>
            <a:off x="4876800" y="1657350"/>
            <a:ext cx="4229100" cy="2700020"/>
          </a:xfrm>
          <a:prstGeom prst="rect">
            <a:avLst/>
          </a:prstGeom>
          <a:noFill/>
        </p:spPr>
        <p:txBody>
          <a:bodyPr wrap="square" rtlCol="0" anchor="t">
            <a:noAutofit/>
          </a:bodyPr>
          <a:p>
            <a:r>
              <a:rPr lang="en-US" altLang="zh-CN" sz="1800">
                <a:latin typeface="Times New Roman Regular" panose="02020503050405090304" charset="0"/>
                <a:cs typeface="Times New Roman Regular" panose="02020503050405090304" charset="0"/>
              </a:rPr>
              <a:t>Bigram: </a:t>
            </a:r>
            <a:r>
              <a:rPr lang="zh-CN" altLang="en-US" sz="1800">
                <a:latin typeface="Times New Roman Regular" panose="02020503050405090304" charset="0"/>
                <a:cs typeface="Times New Roman Regular" panose="02020503050405090304" charset="0"/>
              </a:rPr>
              <a:t>[('The', 'quick'), ('quick', 'brown'), ('brown', 'foxes'), ('foxes', 'jumped'), ('jumped', 'over'), ('over', 'the'), ('the', 'lazy'), ('lazy', 'dogs'), ('dogs', '.')] </a:t>
            </a:r>
            <a:endParaRPr lang="zh-CN" altLang="en-US" sz="1800">
              <a:latin typeface="Times New Roman Regular" panose="02020503050405090304" charset="0"/>
              <a:cs typeface="Times New Roman Regular" panose="02020503050405090304" charset="0"/>
            </a:endParaRPr>
          </a:p>
          <a:p>
            <a:r>
              <a:rPr lang="en-US" altLang="zh-CN" sz="1800">
                <a:latin typeface="Times New Roman Regular" panose="02020503050405090304" charset="0"/>
                <a:cs typeface="Times New Roman Regular" panose="02020503050405090304" charset="0"/>
              </a:rPr>
              <a:t>Trigram: </a:t>
            </a:r>
            <a:r>
              <a:rPr lang="zh-CN" altLang="en-US" sz="1800">
                <a:latin typeface="Times New Roman Regular" panose="02020503050405090304" charset="0"/>
                <a:cs typeface="Times New Roman Regular" panose="02020503050405090304" charset="0"/>
              </a:rPr>
              <a:t>[('The', 'quick', 'brown'), ('quick', 'brown', 'foxes'), ('brown', 'foxes', 'jumped'), ('foxes', 'jumped', 'over'), ('jumped', 'over', 'the'), ('over', 'the', 'lazy'), ('the', 'lazy', 'dogs'), ('lazy', 'dogs', '.')]</a:t>
            </a:r>
            <a:endParaRPr lang="zh-CN" altLang="en-US" sz="1800">
              <a:latin typeface="Times New Roman Regular" panose="02020503050405090304" charset="0"/>
              <a:cs typeface="Times New Roman Regular" panose="0202050305040509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dirty="0">
                <a:sym typeface="+mn-ea"/>
              </a:rPr>
              <a:t>N-grams</a:t>
            </a:r>
            <a:endParaRPr lang="en-US" altLang="zh-CN"/>
          </a:p>
        </p:txBody>
      </p:sp>
      <p:sp>
        <p:nvSpPr>
          <p:cNvPr id="4" name="内容占位符 3"/>
          <p:cNvSpPr>
            <a:spLocks noGrp="1"/>
          </p:cNvSpPr>
          <p:nvPr>
            <p:ph idx="1"/>
          </p:nvPr>
        </p:nvSpPr>
        <p:spPr>
          <a:xfrm>
            <a:off x="457200" y="902335"/>
            <a:ext cx="4507230" cy="3707130"/>
          </a:xfrm>
        </p:spPr>
        <p:txBody>
          <a:bodyPr/>
          <a:p>
            <a:r>
              <a:rPr lang="zh-CN" altLang="en-US"/>
              <a:t>Example</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5" name="文本框 4"/>
          <p:cNvSpPr txBox="1"/>
          <p:nvPr/>
        </p:nvSpPr>
        <p:spPr>
          <a:xfrm>
            <a:off x="533400" y="1352550"/>
            <a:ext cx="4229100" cy="2700020"/>
          </a:xfrm>
          <a:prstGeom prst="rect">
            <a:avLst/>
          </a:prstGeom>
          <a:noFill/>
        </p:spPr>
        <p:txBody>
          <a:bodyPr wrap="square" rtlCol="0" anchor="t">
            <a:noAutofit/>
          </a:bodyPr>
          <a:p>
            <a:r>
              <a:rPr lang="zh-CN" altLang="en-US" sz="1400">
                <a:latin typeface="Times New Roman Regular" panose="02020503050405090304" charset="0"/>
                <a:cs typeface="Times New Roman Regular" panose="02020503050405090304" charset="0"/>
              </a:rPr>
              <a:t>def generate_chinese_ngrams_by_char(text, n):</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ngrams = [text[i:i + n] for i in range(len(text) - n + 1)]</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return ngrams</a:t>
            </a:r>
            <a:endParaRPr lang="zh-CN" altLang="en-US" sz="1400">
              <a:latin typeface="Times New Roman Regular" panose="02020503050405090304" charset="0"/>
              <a:cs typeface="Times New Roman Regular" panose="02020503050405090304" charset="0"/>
            </a:endParaRPr>
          </a:p>
          <a:p>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text = "欢迎大家来到西浦创业家学院（太仓）人工智能与先进计算学院(AIAC)。"</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bigrams = generate_chinese_ngrams_by_char(text, 2)</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print("Bigrams (by character):", bigrams)</a:t>
            </a:r>
            <a:endParaRPr lang="zh-CN" altLang="en-US" sz="1400">
              <a:latin typeface="Times New Roman Regular" panose="02020503050405090304" charset="0"/>
              <a:cs typeface="Times New Roman Regular" panose="02020503050405090304" charset="0"/>
            </a:endParaRPr>
          </a:p>
          <a:p>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trigrams = generate_chinese_ngrams_by_char(text, 3)</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print("Trigrams (by character):", trigrams)</a:t>
            </a:r>
            <a:endParaRPr lang="zh-CN" altLang="en-US" sz="1400">
              <a:latin typeface="Times New Roman Regular" panose="02020503050405090304" charset="0"/>
              <a:cs typeface="Times New Roman Regular" panose="02020503050405090304" charset="0"/>
            </a:endParaRPr>
          </a:p>
        </p:txBody>
      </p:sp>
      <p:sp>
        <p:nvSpPr>
          <p:cNvPr id="6" name="内容占位符 3"/>
          <p:cNvSpPr>
            <a:spLocks noGrp="1"/>
          </p:cNvSpPr>
          <p:nvPr>
            <p:custDataLst>
              <p:tags r:id="rId1"/>
            </p:custDataLst>
          </p:nvPr>
        </p:nvSpPr>
        <p:spPr>
          <a:xfrm>
            <a:off x="4495800" y="104775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7" name="文本框 6"/>
          <p:cNvSpPr txBox="1"/>
          <p:nvPr>
            <p:custDataLst>
              <p:tags r:id="rId2"/>
            </p:custDataLst>
          </p:nvPr>
        </p:nvSpPr>
        <p:spPr>
          <a:xfrm>
            <a:off x="4876800" y="1657350"/>
            <a:ext cx="4229100" cy="2700020"/>
          </a:xfrm>
          <a:prstGeom prst="rect">
            <a:avLst/>
          </a:prstGeom>
          <a:noFill/>
        </p:spPr>
        <p:txBody>
          <a:bodyPr wrap="square" rtlCol="0" anchor="t">
            <a:noAutofit/>
          </a:bodyPr>
          <a:p>
            <a:r>
              <a:rPr lang="zh-CN" altLang="en-US" sz="1200">
                <a:latin typeface="Times New Roman Regular" panose="02020503050405090304" charset="0"/>
                <a:cs typeface="Times New Roman Regular" panose="02020503050405090304" charset="0"/>
              </a:rPr>
              <a:t>Bigrams (by character): ['欢迎', '迎大', '大家', '家来', '来到', '到西', '西浦', '浦创', '创业', '业家', '家学', '学院', '院（', '（太', '太仓', '仓）', '）人', '人工', '工智', '智能', '能与', '与先', '先进', '进计', '计算', '算学', '学院', '院(', '(A', 'AI', 'IA', 'AC', 'C)', ')。']</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Trigrams (by character): ['欢迎大', '迎大家', '大家来', '家来到', '来到西', '到西浦', '西浦创', '浦创业', '创业家', '业家学', '家学院', '学院（', '院（太', '（太仓', '太仓）', '仓）人', '）人工', '人工智', '工智能', '智能与', '能与先', '与先进', '先进计', '进计算', '计算学', '算学院', '学院(', '院(A', '(AI', 'AIA', 'IAC', 'AC)', 'C)。']</a:t>
            </a:r>
            <a:endParaRPr lang="zh-CN" altLang="en-US" sz="1200">
              <a:latin typeface="Times New Roman Regular" panose="02020503050405090304" charset="0"/>
              <a:cs typeface="Times New Roman Regular" panose="0202050305040509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dirty="0">
                <a:sym typeface="+mn-ea"/>
              </a:rPr>
              <a:t>N-grams</a:t>
            </a:r>
            <a:endParaRPr lang="en-US" altLang="zh-CN"/>
          </a:p>
        </p:txBody>
      </p:sp>
      <p:sp>
        <p:nvSpPr>
          <p:cNvPr id="4" name="内容占位符 3"/>
          <p:cNvSpPr>
            <a:spLocks noGrp="1"/>
          </p:cNvSpPr>
          <p:nvPr>
            <p:ph idx="1"/>
          </p:nvPr>
        </p:nvSpPr>
        <p:spPr>
          <a:xfrm>
            <a:off x="457200" y="902335"/>
            <a:ext cx="4507230" cy="3707130"/>
          </a:xfrm>
        </p:spPr>
        <p:txBody>
          <a:bodyPr/>
          <a:p>
            <a:r>
              <a:rPr lang="zh-CN" altLang="en-US"/>
              <a:t>Example</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5" name="文本框 4"/>
          <p:cNvSpPr txBox="1"/>
          <p:nvPr/>
        </p:nvSpPr>
        <p:spPr>
          <a:xfrm>
            <a:off x="255270" y="1352550"/>
            <a:ext cx="4507230" cy="2700020"/>
          </a:xfrm>
          <a:prstGeom prst="rect">
            <a:avLst/>
          </a:prstGeom>
          <a:noFill/>
        </p:spPr>
        <p:txBody>
          <a:bodyPr wrap="square" rtlCol="0" anchor="t">
            <a:noAutofit/>
          </a:bodyPr>
          <a:p>
            <a:r>
              <a:rPr lang="zh-CN" altLang="en-US" sz="1400">
                <a:latin typeface="Times New Roman Regular" panose="02020503050405090304" charset="0"/>
                <a:cs typeface="Times New Roman Regular" panose="02020503050405090304" charset="0"/>
              </a:rPr>
              <a:t>import jieba</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def generate_chinese_ngrams(text, n):</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tokens = jieba.cut(text)</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tokens_list = list(tokens)</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ngrams = zip(*[tokens_list[i:] for i in range(n)])</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return [' '.join(ngram) for ngram in ngrams]</a:t>
            </a:r>
            <a:endParaRPr lang="zh-CN" altLang="en-US" sz="1400">
              <a:latin typeface="Times New Roman Regular" panose="02020503050405090304" charset="0"/>
              <a:cs typeface="Times New Roman Regular" panose="02020503050405090304" charset="0"/>
            </a:endParaRPr>
          </a:p>
          <a:p>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Example Chinese text</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text = "欢迎大家来到西浦创业家学院（太仓）人工智能与先进计算学院(AIAC)。"</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Generate 2-grams (bigrams)  </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bigrams = generate_chinese_ngrams(text, 2)</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print("Bigrams:", bigrams)</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Generate 3-grams (trigrams)  </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trigrams = generate_chinese_ngrams(text, 3)</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print("Trigrams:", trigrams)</a:t>
            </a:r>
            <a:endParaRPr lang="zh-CN" altLang="en-US" sz="1400">
              <a:latin typeface="Times New Roman Regular" panose="02020503050405090304" charset="0"/>
              <a:cs typeface="Times New Roman Regular" panose="02020503050405090304" charset="0"/>
            </a:endParaRPr>
          </a:p>
        </p:txBody>
      </p:sp>
      <p:sp>
        <p:nvSpPr>
          <p:cNvPr id="6" name="内容占位符 3"/>
          <p:cNvSpPr>
            <a:spLocks noGrp="1"/>
          </p:cNvSpPr>
          <p:nvPr>
            <p:custDataLst>
              <p:tags r:id="rId1"/>
            </p:custDataLst>
          </p:nvPr>
        </p:nvSpPr>
        <p:spPr>
          <a:xfrm>
            <a:off x="4495800" y="104775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7" name="文本框 6"/>
          <p:cNvSpPr txBox="1"/>
          <p:nvPr>
            <p:custDataLst>
              <p:tags r:id="rId2"/>
            </p:custDataLst>
          </p:nvPr>
        </p:nvSpPr>
        <p:spPr>
          <a:xfrm>
            <a:off x="4876800" y="1657350"/>
            <a:ext cx="4229100" cy="2700020"/>
          </a:xfrm>
          <a:prstGeom prst="rect">
            <a:avLst/>
          </a:prstGeom>
          <a:noFill/>
        </p:spPr>
        <p:txBody>
          <a:bodyPr wrap="square" rtlCol="0" anchor="t">
            <a:noAutofit/>
          </a:bodyPr>
          <a:p>
            <a:r>
              <a:rPr lang="zh-CN" altLang="en-US" sz="1200">
                <a:latin typeface="Times New Roman Regular" panose="02020503050405090304" charset="0"/>
                <a:cs typeface="Times New Roman Regular" panose="02020503050405090304" charset="0"/>
              </a:rPr>
              <a:t>Bigrams: ['欢迎 大家', '大家 来到', '来到 西浦', '西浦 创业家', '创业家 学院', '学院 （', '（ 太仓', '太仓 ）', '） 人工智能', '人工智能 与', '与 先进', '先进 计算', '计算 学院', '学院 (', '( AIAC', 'AIAC )', ') 。']</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Trigrams: ['欢迎 大家 来到', '大家 来到 西浦', '来到 西浦 创业家', '西浦 创业家 学院', '创业家 学院 （', '学院 （ 太仓', '（ 太仓 ）', '太仓 ） 人工智能', '） 人工智能 与', '人工智能 与 先进', '与 先进 计算', '先进 计算 学院', '计算 学院 (', '学院 ( AIAC', '( AIAC )', 'AIAC ) 。']</a:t>
            </a:r>
            <a:endParaRPr lang="zh-CN" altLang="en-US" sz="1200">
              <a:latin typeface="Times New Roman Regular" panose="02020503050405090304" charset="0"/>
              <a:cs typeface="Times New Roman Regular" panose="0202050305040509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word </a:t>
            </a:r>
            <a:r>
              <a:rPr lang="en-US" dirty="0">
                <a:sym typeface="+mn-ea"/>
              </a:rPr>
              <a:t>similarity</a:t>
            </a:r>
            <a:endParaRPr lang="en-US" dirty="0">
              <a:sym typeface="+mn-ea"/>
            </a:endParaRPr>
          </a:p>
        </p:txBody>
      </p:sp>
      <p:sp>
        <p:nvSpPr>
          <p:cNvPr id="3" name="Content Placeholder 2"/>
          <p:cNvSpPr>
            <a:spLocks noGrp="1"/>
          </p:cNvSpPr>
          <p:nvPr>
            <p:ph idx="1"/>
          </p:nvPr>
        </p:nvSpPr>
        <p:spPr/>
        <p:txBody>
          <a:bodyPr>
            <a:normAutofit/>
          </a:bodyPr>
          <a:lstStyle/>
          <a:p>
            <a:pPr marL="0" indent="0" algn="just">
              <a:buNone/>
            </a:pPr>
            <a:r>
              <a:rPr lang="en-US" sz="2000" dirty="0"/>
              <a:t>Cosine similarity is a measure of the similarity between two word vectors. It calculates the cosine of the angle between the vectors in a multidimensional space. The resulting value ranges from -1 to 1, with 1 indicating that the vectors are pointing in the same direction (i.e., perfectly similar) and -1 indicating that they are pointing in opposite directions (i.e., perfectly dissimilar). The processing involves normalizing the vectors to have a unit length, and then calculating the dot product of the vectors divided by the product of their lengths.</a:t>
            </a:r>
            <a:endParaRPr lang="en-US" sz="20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word similarity</a:t>
            </a:r>
            <a:endParaRPr lang="en-US" dirty="0"/>
          </a:p>
        </p:txBody>
      </p:sp>
      <p:sp>
        <p:nvSpPr>
          <p:cNvPr id="3" name="Content Placeholder 2"/>
          <p:cNvSpPr>
            <a:spLocks noGrp="1"/>
          </p:cNvSpPr>
          <p:nvPr>
            <p:ph idx="1"/>
          </p:nvPr>
        </p:nvSpPr>
        <p:spPr/>
        <p:txBody>
          <a:bodyPr/>
          <a:lstStyle/>
          <a:p>
            <a:r>
              <a:rPr lang="en-US" sz="2000" dirty="0"/>
              <a:t>Advantages</a:t>
            </a:r>
            <a:endParaRPr lang="en-US" sz="2000" dirty="0"/>
          </a:p>
          <a:p>
            <a:pPr lvl="1"/>
            <a:r>
              <a:rPr lang="en-US" sz="2000" dirty="0"/>
              <a:t>Cosine similarity focuses on the direction of word vectors, making it insensitive to their magnitude, which can vary due to factors unrelated to semantic similarity.</a:t>
            </a:r>
            <a:endParaRPr lang="en-US" sz="2000" dirty="0"/>
          </a:p>
          <a:p>
            <a:pPr lvl="1"/>
            <a:r>
              <a:rPr lang="en-US" sz="2000" dirty="0">
                <a:sym typeface="+mn-ea"/>
              </a:rPr>
              <a:t>Cosine similarity</a:t>
            </a:r>
            <a:r>
              <a:rPr lang="en-US" sz="2000" dirty="0"/>
              <a:t> provides a quantitative measure of similarity that can be easily compared across different word pairs.</a:t>
            </a:r>
            <a:endParaRPr lang="en-US" sz="2000" dirty="0"/>
          </a:p>
          <a:p>
            <a:pPr lvl="1"/>
            <a:r>
              <a:rPr lang="en-US" sz="2000" dirty="0"/>
              <a:t>Cosine similarity is computationally efficient, making it suitable for large-scale natural language processing tasks.</a:t>
            </a:r>
            <a:endParaRPr lang="en-US" sz="20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word similarity</a:t>
            </a:r>
            <a:endParaRPr lang="en-US" dirty="0"/>
          </a:p>
        </p:txBody>
      </p:sp>
      <p:sp>
        <p:nvSpPr>
          <p:cNvPr id="3" name="Content Placeholder 2"/>
          <p:cNvSpPr>
            <a:spLocks noGrp="1"/>
          </p:cNvSpPr>
          <p:nvPr>
            <p:ph idx="1"/>
          </p:nvPr>
        </p:nvSpPr>
        <p:spPr/>
        <p:txBody>
          <a:bodyPr/>
          <a:lstStyle/>
          <a:p>
            <a:r>
              <a:rPr lang="en-US" sz="1800" dirty="0"/>
              <a:t>Disadvantages</a:t>
            </a:r>
            <a:endParaRPr lang="en-US" sz="1800" dirty="0"/>
          </a:p>
          <a:p>
            <a:pPr lvl="1"/>
            <a:r>
              <a:rPr lang="en-US" sz="1800" dirty="0"/>
              <a:t>Cosine similarity assumes that all dimensions in the word vectors are equally important, which may not always be the case.</a:t>
            </a:r>
            <a:endParaRPr lang="en-US" sz="1800" dirty="0"/>
          </a:p>
          <a:p>
            <a:pPr lvl="1"/>
            <a:r>
              <a:rPr lang="en-US" sz="1800" dirty="0">
                <a:sym typeface="+mn-ea"/>
              </a:rPr>
              <a:t>Cosine similarity</a:t>
            </a:r>
            <a:r>
              <a:rPr lang="en-US" sz="1800" dirty="0"/>
              <a:t> does not consider the semantic relationships between words that are not directly compared, limiting its ability to capture complex semantic nuances.</a:t>
            </a:r>
            <a:endParaRPr lang="en-US" sz="1800" dirty="0"/>
          </a:p>
          <a:p>
            <a:pPr lvl="1"/>
            <a:r>
              <a:rPr lang="en-US" sz="1800" dirty="0"/>
              <a:t>Cosine similarity is sensitive to the choice of vector space and dimensionality reduction techniques used to represent words, which can impact the accuracy of the similarity measure.</a:t>
            </a:r>
            <a:endParaRPr lang="en-US" sz="18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dirty="0">
                <a:sym typeface="+mn-ea"/>
              </a:rPr>
              <a:t>word similarity</a:t>
            </a:r>
            <a:endParaRPr lang="en-US" altLang="zh-CN"/>
          </a:p>
        </p:txBody>
      </p:sp>
      <p:sp>
        <p:nvSpPr>
          <p:cNvPr id="4" name="内容占位符 3"/>
          <p:cNvSpPr>
            <a:spLocks noGrp="1"/>
          </p:cNvSpPr>
          <p:nvPr>
            <p:ph idx="1"/>
          </p:nvPr>
        </p:nvSpPr>
        <p:spPr>
          <a:xfrm>
            <a:off x="457200" y="902335"/>
            <a:ext cx="4507230" cy="3707130"/>
          </a:xfrm>
        </p:spPr>
        <p:txBody>
          <a:bodyPr/>
          <a:p>
            <a:r>
              <a:rPr lang="zh-CN" altLang="en-US"/>
              <a:t>Example</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5" name="文本框 4"/>
          <p:cNvSpPr txBox="1"/>
          <p:nvPr/>
        </p:nvSpPr>
        <p:spPr>
          <a:xfrm>
            <a:off x="533400" y="1504950"/>
            <a:ext cx="4229100" cy="3175635"/>
          </a:xfrm>
          <a:prstGeom prst="rect">
            <a:avLst/>
          </a:prstGeom>
          <a:noFill/>
        </p:spPr>
        <p:txBody>
          <a:bodyPr wrap="square" rtlCol="0" anchor="t">
            <a:noAutofit/>
          </a:bodyPr>
          <a:p>
            <a:r>
              <a:rPr lang="zh-CN" altLang="en-US" sz="1200">
                <a:latin typeface="Times New Roman Regular" panose="02020503050405090304" charset="0"/>
                <a:cs typeface="Times New Roman Regular" panose="02020503050405090304" charset="0"/>
              </a:rPr>
              <a:t>import numpy as np</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Example word vectors (in a real scenario, these would be generated by a model like Word2Vec)</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vec1 = np.array([2, 1, 3])</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vec2 = np.array([0, 2, 6])</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dot_product = np.dot(vec1, vec2)</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norm_vec1 = np.linalg.norm(vec1)</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norm_vec2 = np.linalg.norm(vec2)</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Calculate the cosine similarity between word "A" and word "B"  </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similarity_score = dot_product / (norm_vec1 * norm_vec2)</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print(f"Cosine similarity between word 'A' and word 'B': {similarity_score}")</a:t>
            </a:r>
            <a:endParaRPr lang="zh-CN" altLang="en-US" sz="1200">
              <a:latin typeface="Times New Roman Regular" panose="02020503050405090304" charset="0"/>
              <a:cs typeface="Times New Roman Regular" panose="02020503050405090304" charset="0"/>
            </a:endParaRPr>
          </a:p>
        </p:txBody>
      </p:sp>
      <p:sp>
        <p:nvSpPr>
          <p:cNvPr id="6" name="内容占位符 3"/>
          <p:cNvSpPr>
            <a:spLocks noGrp="1"/>
          </p:cNvSpPr>
          <p:nvPr>
            <p:custDataLst>
              <p:tags r:id="rId1"/>
            </p:custDataLst>
          </p:nvPr>
        </p:nvSpPr>
        <p:spPr>
          <a:xfrm>
            <a:off x="4495800" y="104775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7" name="文本框 6"/>
          <p:cNvSpPr txBox="1"/>
          <p:nvPr>
            <p:custDataLst>
              <p:tags r:id="rId2"/>
            </p:custDataLst>
          </p:nvPr>
        </p:nvSpPr>
        <p:spPr>
          <a:xfrm>
            <a:off x="4876800" y="1657350"/>
            <a:ext cx="4229100" cy="2700020"/>
          </a:xfrm>
          <a:prstGeom prst="rect">
            <a:avLst/>
          </a:prstGeom>
          <a:noFill/>
        </p:spPr>
        <p:txBody>
          <a:bodyPr wrap="square" rtlCol="0" anchor="t">
            <a:noAutofit/>
          </a:bodyPr>
          <a:p>
            <a:r>
              <a:rPr lang="zh-CN" altLang="en-US" sz="1600">
                <a:latin typeface="Times New Roman Regular" panose="02020503050405090304" charset="0"/>
                <a:cs typeface="Times New Roman Regular" panose="02020503050405090304" charset="0"/>
              </a:rPr>
              <a:t>Cosine similarity between word 'A' and word 'B': 0.8451542547285166</a:t>
            </a:r>
            <a:endParaRPr lang="zh-CN" altLang="en-US" sz="1600">
              <a:latin typeface="Times New Roman Regular" panose="02020503050405090304" charset="0"/>
              <a:cs typeface="Times New Roman Regular" panose="0202050305040509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TF-IDF</a:t>
            </a:r>
            <a:endParaRPr lang="en-US" dirty="0"/>
          </a:p>
        </p:txBody>
      </p:sp>
      <p:sp>
        <p:nvSpPr>
          <p:cNvPr id="3" name="Content Placeholder 2"/>
          <p:cNvSpPr>
            <a:spLocks noGrp="1"/>
          </p:cNvSpPr>
          <p:nvPr>
            <p:ph idx="1"/>
          </p:nvPr>
        </p:nvSpPr>
        <p:spPr/>
        <p:txBody>
          <a:bodyPr/>
          <a:lstStyle/>
          <a:p>
            <a:pPr marL="0" indent="0" algn="just">
              <a:buNone/>
            </a:pPr>
            <a:r>
              <a:rPr lang="en-US" dirty="0"/>
              <a:t>Term Frequency-Inverse Document Frequency (TF-IDF) is a technique that assigns weights to words based on their frequency in the document and the corpus. This can help the model identify important words or phrases in the text.</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TF-IDF</a:t>
            </a:r>
            <a:endParaRPr lang="en-US" dirty="0"/>
          </a:p>
        </p:txBody>
      </p:sp>
      <p:sp>
        <p:nvSpPr>
          <p:cNvPr id="3" name="Content Placeholder 2"/>
          <p:cNvSpPr>
            <a:spLocks noGrp="1"/>
          </p:cNvSpPr>
          <p:nvPr>
            <p:ph idx="1"/>
          </p:nvPr>
        </p:nvSpPr>
        <p:spPr/>
        <p:txBody>
          <a:bodyPr/>
          <a:lstStyle/>
          <a:p>
            <a:r>
              <a:rPr lang="en-US" dirty="0"/>
              <a:t>Advantages</a:t>
            </a:r>
            <a:endParaRPr lang="en-US" dirty="0"/>
          </a:p>
          <a:p>
            <a:pPr lvl="1"/>
            <a:r>
              <a:rPr lang="en-US" dirty="0"/>
              <a:t>TF-IDF can help identify important keywords and concepts in a document corpus.</a:t>
            </a:r>
            <a:endParaRPr lang="en-US" dirty="0"/>
          </a:p>
          <a:p>
            <a:pPr lvl="1"/>
            <a:r>
              <a:rPr lang="en-US" dirty="0"/>
              <a:t>TF-IDF can be used to measure the relevance of a document to a query or search term.</a:t>
            </a:r>
            <a:endParaRPr lang="en-US" dirty="0"/>
          </a:p>
          <a:p>
            <a:pPr lvl="1"/>
            <a:r>
              <a:rPr lang="en-US" dirty="0"/>
              <a:t>TF-IDF can be used to cluster similar documents based on the similarity of their content.</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TF-IDF</a:t>
            </a:r>
            <a:endParaRPr lang="en-US" dirty="0"/>
          </a:p>
        </p:txBody>
      </p:sp>
      <p:sp>
        <p:nvSpPr>
          <p:cNvPr id="3" name="Content Placeholder 2"/>
          <p:cNvSpPr>
            <a:spLocks noGrp="1"/>
          </p:cNvSpPr>
          <p:nvPr>
            <p:ph idx="1"/>
          </p:nvPr>
        </p:nvSpPr>
        <p:spPr/>
        <p:txBody>
          <a:bodyPr/>
          <a:lstStyle/>
          <a:p>
            <a:r>
              <a:rPr lang="en-US" dirty="0"/>
              <a:t>Disadvantages</a:t>
            </a:r>
            <a:endParaRPr lang="en-US" dirty="0"/>
          </a:p>
          <a:p>
            <a:pPr lvl="1"/>
            <a:r>
              <a:rPr lang="en-US" dirty="0"/>
              <a:t>TF-IDF may not work well for all types of text or all languages.</a:t>
            </a:r>
            <a:endParaRPr lang="en-US" dirty="0"/>
          </a:p>
          <a:p>
            <a:pPr lvl="1"/>
            <a:r>
              <a:rPr lang="en-US" dirty="0"/>
              <a:t>TF-IDF may not accurately capture the meaning of the text, as it only considers the frequency of words and does not consider the context or semantics of the words.</a:t>
            </a:r>
            <a:endParaRPr lang="en-US" dirty="0"/>
          </a:p>
          <a:p>
            <a:pPr lvl="1"/>
            <a:r>
              <a:rPr lang="en-US" dirty="0"/>
              <a:t>TF-IDF can be computationally intensive and require more memory, especially for larger datasets.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TF-IDF</a:t>
            </a:r>
            <a:endParaRPr lang="en-US" altLang="zh-CN"/>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Content Placeholder 2"/>
          <p:cNvSpPr>
            <a:spLocks noGrp="1"/>
          </p:cNvSpPr>
          <p:nvPr>
            <p:ph idx="1"/>
            <p:custDataLst>
              <p:tags r:id="rId1"/>
            </p:custDataLst>
          </p:nvPr>
        </p:nvSpPr>
        <p:spPr>
          <a:xfrm>
            <a:off x="457200" y="1581150"/>
            <a:ext cx="3816985" cy="2760980"/>
          </a:xfrm>
        </p:spPr>
        <p:txBody>
          <a:bodyPr>
            <a:normAutofit fontScale="70000"/>
          </a:bodyPr>
          <a:lstStyle/>
          <a:p>
            <a:pPr marL="0" indent="0">
              <a:buNone/>
            </a:pPr>
            <a:r>
              <a:rPr lang="en-US" sz="1600" dirty="0"/>
              <a:t>from sklearn.feature_extraction.text import TfidfVectorizer </a:t>
            </a:r>
            <a:endParaRPr lang="en-US" sz="1600" dirty="0"/>
          </a:p>
          <a:p>
            <a:pPr marL="0" indent="0">
              <a:buNone/>
            </a:pPr>
            <a:endParaRPr lang="en-US" sz="1600" dirty="0"/>
          </a:p>
          <a:p>
            <a:pPr marL="0" indent="0">
              <a:buNone/>
            </a:pPr>
            <a:r>
              <a:rPr lang="en-US" sz="1600" dirty="0"/>
              <a:t>corpus = [ "The quick brown fox jumps over the lazy dog.", </a:t>
            </a:r>
            <a:endParaRPr lang="en-US" sz="1600" dirty="0"/>
          </a:p>
          <a:p>
            <a:pPr marL="0" indent="0">
              <a:buNone/>
            </a:pPr>
            <a:r>
              <a:rPr lang="en-US" sz="1600" dirty="0"/>
              <a:t>           "The quick brown foxes jump over the lazy dogs and cats.", </a:t>
            </a:r>
            <a:endParaRPr lang="en-US" sz="1600" dirty="0"/>
          </a:p>
          <a:p>
            <a:pPr marL="0" indent="0">
              <a:buNone/>
            </a:pPr>
            <a:r>
              <a:rPr lang="en-US" sz="1600" dirty="0"/>
              <a:t>           "The lazy dogs and cats watch the quick brown foxes jump over the moon."] </a:t>
            </a:r>
            <a:endParaRPr lang="en-US" sz="1600" dirty="0"/>
          </a:p>
          <a:p>
            <a:pPr marL="0" indent="0">
              <a:buNone/>
            </a:pPr>
            <a:endParaRPr lang="en-US" sz="1600" dirty="0"/>
          </a:p>
          <a:p>
            <a:pPr marL="0" indent="0">
              <a:buNone/>
            </a:pPr>
            <a:r>
              <a:rPr lang="en-US" sz="1600" dirty="0"/>
              <a:t>tfidf_vectorizer = TfidfVectorizer() </a:t>
            </a:r>
            <a:endParaRPr lang="en-US" sz="1600" dirty="0"/>
          </a:p>
          <a:p>
            <a:pPr marL="0" indent="0">
              <a:buNone/>
            </a:pPr>
            <a:r>
              <a:rPr lang="en-US" sz="1600" dirty="0"/>
              <a:t>tfidf_matrix = tfidf_vectorizer.fit_transform(corpus) </a:t>
            </a:r>
            <a:endParaRPr lang="en-US" sz="1600" dirty="0"/>
          </a:p>
          <a:p>
            <a:pPr marL="0" indent="0">
              <a:buNone/>
            </a:pPr>
            <a:r>
              <a:rPr lang="en-US" sz="1600" dirty="0"/>
              <a:t>print(tfidf_matrix.toarray())</a:t>
            </a:r>
            <a:endParaRPr lang="en-US" sz="1600" dirty="0"/>
          </a:p>
        </p:txBody>
      </p:sp>
      <p:sp>
        <p:nvSpPr>
          <p:cNvPr id="7" name="内容占位符 3"/>
          <p:cNvSpPr>
            <a:spLocks noGrp="1"/>
          </p:cNvSpPr>
          <p:nvPr>
            <p:custDataLst>
              <p:tags r:id="rId2"/>
            </p:custDataLst>
          </p:nvPr>
        </p:nvSpPr>
        <p:spPr>
          <a:xfrm>
            <a:off x="457200" y="902335"/>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zh-CN" altLang="en-US"/>
              <a:t>Example</a:t>
            </a:r>
            <a:endParaRPr lang="zh-CN" altLang="en-US"/>
          </a:p>
        </p:txBody>
      </p:sp>
      <p:sp>
        <p:nvSpPr>
          <p:cNvPr id="8" name="内容占位符 3"/>
          <p:cNvSpPr>
            <a:spLocks noGrp="1"/>
          </p:cNvSpPr>
          <p:nvPr>
            <p:custDataLst>
              <p:tags r:id="rId3"/>
            </p:custDataLst>
          </p:nvPr>
        </p:nvSpPr>
        <p:spPr>
          <a:xfrm>
            <a:off x="4648200" y="90678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9" name="Content Placeholder 2"/>
          <p:cNvSpPr>
            <a:spLocks noGrp="1"/>
          </p:cNvSpPr>
          <p:nvPr>
            <p:custDataLst>
              <p:tags r:id="rId4"/>
            </p:custDataLst>
          </p:nvPr>
        </p:nvSpPr>
        <p:spPr>
          <a:xfrm>
            <a:off x="4724400" y="1708150"/>
            <a:ext cx="3560445" cy="2298065"/>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pPr marL="0" indent="0">
              <a:buNone/>
            </a:pPr>
            <a:r>
              <a:rPr lang="en-US" sz="1600" dirty="0"/>
              <a:t>[[0. 0. 0. 0.51785612 0. 0. 0. 0. 0. 0. 0.68091856 0.51785612 0. ] </a:t>
            </a:r>
            <a:endParaRPr lang="en-US" sz="1600" dirty="0"/>
          </a:p>
          <a:p>
            <a:pPr marL="0" indent="0">
              <a:buNone/>
            </a:pPr>
            <a:r>
              <a:rPr lang="en-US" sz="1600" dirty="0"/>
              <a:t>[0. 0. 0. 0.46519584 0. 0. 0.59817854 0. 0. 0. 0. 0.46519584 0.59817854] </a:t>
            </a:r>
            <a:endParaRPr lang="en-US" sz="1600" dirty="0"/>
          </a:p>
          <a:p>
            <a:pPr marL="0" indent="0">
              <a:buNone/>
            </a:pPr>
            <a:r>
              <a:rPr lang="en-US" sz="1600" dirty="0"/>
              <a:t>[0.33682422 0.33682422 0.33682422 0.30794004 0.33682422 0.33682422 0. 0.33682422 0.33682422 0.33682422 0. 0.30794004 0. ]]</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TF-IDF</a:t>
            </a:r>
            <a:endParaRPr lang="en-US" altLang="zh-CN"/>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Content Placeholder 2"/>
          <p:cNvSpPr>
            <a:spLocks noGrp="1"/>
          </p:cNvSpPr>
          <p:nvPr>
            <p:ph idx="1"/>
            <p:custDataLst>
              <p:tags r:id="rId1"/>
            </p:custDataLst>
          </p:nvPr>
        </p:nvSpPr>
        <p:spPr>
          <a:xfrm>
            <a:off x="304800" y="1352550"/>
            <a:ext cx="4370705" cy="3553460"/>
          </a:xfrm>
        </p:spPr>
        <p:txBody>
          <a:bodyPr>
            <a:noAutofit/>
          </a:bodyPr>
          <a:lstStyle/>
          <a:p>
            <a:pPr marL="0" indent="0">
              <a:buNone/>
            </a:pPr>
            <a:r>
              <a:rPr lang="en-US" sz="1200" dirty="0"/>
              <a:t>import jieba</a:t>
            </a:r>
            <a:endParaRPr lang="en-US" sz="1200" dirty="0"/>
          </a:p>
          <a:p>
            <a:pPr marL="0" indent="0">
              <a:buNone/>
            </a:pPr>
            <a:r>
              <a:rPr lang="en-US" sz="1200" dirty="0"/>
              <a:t>from sklearn.feature_extraction.text import TfidfVectorizer</a:t>
            </a:r>
            <a:endParaRPr lang="en-US" sz="1200" dirty="0"/>
          </a:p>
          <a:p>
            <a:pPr marL="0" indent="0">
              <a:buNone/>
            </a:pPr>
            <a:r>
              <a:rPr lang="en-US" sz="1200" dirty="0"/>
              <a:t>sentences = ["欢迎大家来到西浦创业家学院（太仓）人工智能与先进计算学院(AIAC)。",</a:t>
            </a:r>
            <a:endParaRPr lang="en-US" sz="1200" dirty="0"/>
          </a:p>
          <a:p>
            <a:pPr marL="0" indent="0">
              <a:buNone/>
            </a:pPr>
            <a:r>
              <a:rPr lang="en-US" sz="1200" dirty="0"/>
              <a:t>             "人工智能与先进计算学院，由处于人工智能和计算发展前沿的龙头企业参与创建。",</a:t>
            </a:r>
            <a:endParaRPr lang="en-US" sz="1200" dirty="0"/>
          </a:p>
          <a:p>
            <a:pPr marL="0" indent="0">
              <a:buNone/>
            </a:pPr>
            <a:r>
              <a:rPr lang="en-US" sz="1200" dirty="0"/>
              <a:t>             "学院拥有与人工智能行业技术研发紧密相关的稳健商业发展战略。"]</a:t>
            </a:r>
            <a:endParaRPr lang="en-US" sz="1200" dirty="0"/>
          </a:p>
          <a:p>
            <a:pPr marL="0" indent="0">
              <a:buNone/>
            </a:pPr>
            <a:endParaRPr lang="en-US" sz="1200" dirty="0"/>
          </a:p>
          <a:p>
            <a:pPr marL="0" indent="0">
              <a:buNone/>
            </a:pPr>
            <a:r>
              <a:rPr lang="en-US" sz="1200" dirty="0"/>
              <a:t>texts = [" ".join(jieba.cut(sentence)) for sentence in sentences]</a:t>
            </a:r>
            <a:endParaRPr lang="en-US" sz="1200" dirty="0"/>
          </a:p>
          <a:p>
            <a:pPr marL="0" indent="0">
              <a:buNone/>
            </a:pPr>
            <a:r>
              <a:rPr lang="en-US" sz="1200" dirty="0"/>
              <a:t>vectorizer = TfidfVectorizer()</a:t>
            </a:r>
            <a:endParaRPr lang="en-US" sz="1200" dirty="0"/>
          </a:p>
          <a:p>
            <a:pPr marL="0" indent="0">
              <a:buNone/>
            </a:pPr>
            <a:r>
              <a:rPr lang="en-US" sz="1200" dirty="0"/>
              <a:t>tfidf_matrix = vectorizer.fit_transform(texts)</a:t>
            </a:r>
            <a:endParaRPr lang="en-US" sz="1200" dirty="0"/>
          </a:p>
          <a:p>
            <a:pPr marL="0" indent="0">
              <a:buNone/>
            </a:pPr>
            <a:r>
              <a:rPr lang="en-US" sz="1200" dirty="0"/>
              <a:t>print("词汇表：", vectorizer.get_feature_names_out())</a:t>
            </a:r>
            <a:endParaRPr lang="en-US" sz="1200" dirty="0"/>
          </a:p>
          <a:p>
            <a:pPr marL="0" indent="0">
              <a:buNone/>
            </a:pPr>
            <a:r>
              <a:rPr lang="en-US" sz="1200" dirty="0"/>
              <a:t>for idx, sentence in enumerate(sentences):</a:t>
            </a:r>
            <a:endParaRPr lang="en-US" sz="1200" dirty="0"/>
          </a:p>
          <a:p>
            <a:pPr marL="0" indent="0">
              <a:buNone/>
            </a:pPr>
            <a:r>
              <a:rPr lang="en-US" sz="1200" dirty="0"/>
              <a:t>    print(f"句子: {sentence}")</a:t>
            </a:r>
            <a:endParaRPr lang="en-US" sz="1200" dirty="0"/>
          </a:p>
          <a:p>
            <a:pPr marL="0" indent="0">
              <a:buNone/>
            </a:pPr>
            <a:r>
              <a:rPr lang="en-US" sz="1200" dirty="0"/>
              <a:t>    print(f"TF-IDF值: {tfidf_matrix[idx].toarray()[0]}")</a:t>
            </a:r>
            <a:endParaRPr lang="en-US" sz="1200" dirty="0"/>
          </a:p>
          <a:p>
            <a:pPr marL="0" indent="0">
              <a:buNone/>
            </a:pPr>
            <a:r>
              <a:rPr lang="en-US" sz="1200" dirty="0"/>
              <a:t>    print("---")</a:t>
            </a:r>
            <a:endParaRPr lang="en-US" sz="1200" dirty="0"/>
          </a:p>
        </p:txBody>
      </p:sp>
      <p:sp>
        <p:nvSpPr>
          <p:cNvPr id="7" name="内容占位符 3"/>
          <p:cNvSpPr>
            <a:spLocks noGrp="1"/>
          </p:cNvSpPr>
          <p:nvPr>
            <p:custDataLst>
              <p:tags r:id="rId2"/>
            </p:custDataLst>
          </p:nvPr>
        </p:nvSpPr>
        <p:spPr>
          <a:xfrm>
            <a:off x="457200" y="902335"/>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zh-CN" altLang="en-US"/>
              <a:t>Example</a:t>
            </a:r>
            <a:endParaRPr lang="zh-CN" altLang="en-US"/>
          </a:p>
        </p:txBody>
      </p:sp>
      <p:sp>
        <p:nvSpPr>
          <p:cNvPr id="8" name="内容占位符 3"/>
          <p:cNvSpPr>
            <a:spLocks noGrp="1"/>
          </p:cNvSpPr>
          <p:nvPr>
            <p:custDataLst>
              <p:tags r:id="rId3"/>
            </p:custDataLst>
          </p:nvPr>
        </p:nvSpPr>
        <p:spPr>
          <a:xfrm>
            <a:off x="4648200" y="90678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9" name="Content Placeholder 2"/>
          <p:cNvSpPr>
            <a:spLocks noGrp="1"/>
          </p:cNvSpPr>
          <p:nvPr>
            <p:custDataLst>
              <p:tags r:id="rId4"/>
            </p:custDataLst>
          </p:nvPr>
        </p:nvSpPr>
        <p:spPr>
          <a:xfrm>
            <a:off x="4724400" y="1708150"/>
            <a:ext cx="4102100" cy="3197860"/>
          </a:xfrm>
          <a:prstGeom prst="rect">
            <a:avLst/>
          </a:prstGeom>
        </p:spPr>
        <p:txBody>
          <a:bodyPr vert="horz" lIns="91440" tIns="45720" rIns="91440" bIns="45720" rtlCol="0">
            <a:normAutofit fontScale="80000"/>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pPr marL="0" indent="0">
              <a:buNone/>
            </a:pPr>
            <a:r>
              <a:rPr lang="en-US" sz="1600" dirty="0"/>
              <a:t>词汇表： ['aiac' '人工智能' '先进' '创业家' '创建' '前沿' '参与' '发展' '商业' '处于' '大家' '太仓' '学院'</a:t>
            </a:r>
            <a:endParaRPr lang="en-US" sz="1600" dirty="0"/>
          </a:p>
          <a:p>
            <a:pPr marL="0" indent="0">
              <a:buNone/>
            </a:pPr>
            <a:r>
              <a:rPr lang="en-US" sz="1600" dirty="0"/>
              <a:t> '战略' '技术' '拥有' '来到' '欢迎' '相关' '研发' '稳健' '紧密' '行业' '西浦' '计算' '龙头企业']</a:t>
            </a:r>
            <a:endParaRPr lang="en-US" sz="1600" dirty="0"/>
          </a:p>
          <a:p>
            <a:pPr marL="0" indent="0">
              <a:buNone/>
            </a:pPr>
            <a:r>
              <a:rPr lang="en-US" sz="1600" dirty="0"/>
              <a:t>句子: 欢迎大家来到西浦创业家学院（太仓）人工智能与先进计算学院(AIAC)。</a:t>
            </a:r>
            <a:endParaRPr lang="en-US" sz="1600" dirty="0"/>
          </a:p>
          <a:p>
            <a:pPr marL="0" indent="0">
              <a:buNone/>
            </a:pPr>
            <a:r>
              <a:rPr lang="en-US" sz="1600" dirty="0"/>
              <a:t>TF-IDF值: [0.31780584 0.18770125 0.24169953 0.31780584 0.         0.</a:t>
            </a:r>
            <a:endParaRPr lang="en-US" sz="1600" dirty="0"/>
          </a:p>
          <a:p>
            <a:pPr marL="0" indent="0">
              <a:buNone/>
            </a:pPr>
            <a:r>
              <a:rPr lang="en-US" sz="1600" dirty="0"/>
              <a:t> 0.         0.         0.         0.         0.31780584 0.31780584</a:t>
            </a:r>
            <a:endParaRPr lang="en-US" sz="1600" dirty="0"/>
          </a:p>
          <a:p>
            <a:pPr marL="0" indent="0">
              <a:buNone/>
            </a:pPr>
            <a:r>
              <a:rPr lang="en-US" sz="1600" dirty="0"/>
              <a:t> 0.3754025  0.         0.         0.         0.31780584 0.31780584</a:t>
            </a:r>
            <a:endParaRPr lang="en-US" sz="1600" dirty="0"/>
          </a:p>
          <a:p>
            <a:pPr marL="0" indent="0">
              <a:buNone/>
            </a:pPr>
            <a:r>
              <a:rPr lang="en-US" sz="1600" dirty="0"/>
              <a:t> 0.         0.         0.         0.         0.         0.31780584</a:t>
            </a:r>
            <a:endParaRPr lang="en-US" sz="1600" dirty="0"/>
          </a:p>
          <a:p>
            <a:pPr marL="0" indent="0">
              <a:buNone/>
            </a:pPr>
            <a:r>
              <a:rPr lang="en-US" sz="1600" dirty="0"/>
              <a:t> 0.24169953 0.        ]</a:t>
            </a:r>
            <a:endParaRPr lang="en-US" sz="1600" dirty="0"/>
          </a:p>
          <a:p>
            <a:pPr marL="0" indent="0">
              <a:buNone/>
            </a:pPr>
            <a:r>
              <a:rPr lang="zh-CN" altLang="en-US" sz="1600" dirty="0"/>
              <a:t>。。。</a:t>
            </a:r>
            <a:endParaRPr lang="zh-CN" alt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sym typeface="+mn-ea"/>
              </a:rPr>
              <a:t>Exercises 1</a:t>
            </a:r>
            <a:endParaRPr lang="zh-CN" altLang="en-US"/>
          </a:p>
        </p:txBody>
      </p:sp>
      <p:sp>
        <p:nvSpPr>
          <p:cNvPr id="4" name="内容占位符 3"/>
          <p:cNvSpPr>
            <a:spLocks noGrp="1"/>
          </p:cNvSpPr>
          <p:nvPr>
            <p:ph idx="1"/>
          </p:nvPr>
        </p:nvSpPr>
        <p:spPr/>
        <p:txBody>
          <a:bodyPr/>
          <a:p>
            <a:r>
              <a:rPr lang="zh-CN" altLang="en-US"/>
              <a:t>Please use the n-gram algorithm to segment the content of the three datasets prepared last week. Print the segmentation results of 5 instances and check the quality of the segmentation results.</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sym typeface="+mn-ea"/>
              </a:rPr>
              <a:t>Exercises</a:t>
            </a:r>
            <a:r>
              <a:rPr lang="en-US" altLang="zh-CN">
                <a:sym typeface="+mn-ea"/>
              </a:rPr>
              <a:t> 2</a:t>
            </a:r>
            <a:endParaRPr lang="en-US" altLang="zh-CN">
              <a:sym typeface="+mn-ea"/>
            </a:endParaRPr>
          </a:p>
        </p:txBody>
      </p:sp>
      <p:sp>
        <p:nvSpPr>
          <p:cNvPr id="4" name="内容占位符 3"/>
          <p:cNvSpPr>
            <a:spLocks noGrp="1"/>
          </p:cNvSpPr>
          <p:nvPr>
            <p:ph idx="1"/>
          </p:nvPr>
        </p:nvSpPr>
        <p:spPr/>
        <p:txBody>
          <a:bodyPr/>
          <a:p>
            <a:r>
              <a:rPr lang="zh-CN" altLang="en-US"/>
              <a:t>Please use the TF-IDF algorithm to calculate the TF-IDF value for each word in the content of the three datasets prepared last week. Sort the IDF of each word, and sort out the 50 words with worst IDF value as stop words, and output them to the stop_word.txt dictionary.</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4119"/>
          <a:stretch>
            <a:fillRect/>
          </a:stretch>
        </p:blipFill>
        <p:spPr>
          <a:xfrm>
            <a:off x="0" y="6350"/>
            <a:ext cx="9144000" cy="2514601"/>
          </a:xfrm>
          <a:prstGeom prst="rect">
            <a:avLst/>
          </a:prstGeom>
        </p:spPr>
      </p:pic>
      <p:pic>
        <p:nvPicPr>
          <p:cNvPr id="22" name="Picture 21"/>
          <p:cNvPicPr>
            <a:picLocks noChangeAspect="1"/>
          </p:cNvPicPr>
          <p:nvPr/>
        </p:nvPicPr>
        <p:blipFill>
          <a:blip r:embed="rId2"/>
          <a:stretch>
            <a:fillRect/>
          </a:stretch>
        </p:blipFill>
        <p:spPr>
          <a:xfrm>
            <a:off x="4196802" y="3970977"/>
            <a:ext cx="1317415" cy="281800"/>
          </a:xfrm>
          <a:prstGeom prst="rect">
            <a:avLst/>
          </a:prstGeom>
        </p:spPr>
      </p:pic>
      <p:sp>
        <p:nvSpPr>
          <p:cNvPr id="34" name="Rectangle 33"/>
          <p:cNvSpPr/>
          <p:nvPr/>
        </p:nvSpPr>
        <p:spPr>
          <a:xfrm>
            <a:off x="3236667" y="2234122"/>
            <a:ext cx="2662167" cy="644978"/>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18" name="Title 1"/>
          <p:cNvSpPr txBox="1"/>
          <p:nvPr/>
        </p:nvSpPr>
        <p:spPr>
          <a:xfrm>
            <a:off x="2386013" y="2123817"/>
            <a:ext cx="4371975" cy="826889"/>
          </a:xfrm>
          <a:prstGeom prst="rect">
            <a:avLst/>
          </a:prstGeom>
        </p:spPr>
        <p:txBody>
          <a:bodyPr vert="horz" lIns="51435" tIns="25718" rIns="51435" bIns="25718"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375" b="1" cap="all" dirty="0">
                <a:solidFill>
                  <a:schemeClr val="bg1"/>
                </a:solidFill>
                <a:latin typeface="Calibri"/>
                <a:cs typeface="Calibri"/>
              </a:rPr>
              <a:t>THANK YOU</a:t>
            </a:r>
            <a:endParaRPr lang="en-US" sz="3375" b="1" cap="all" spc="169" dirty="0">
              <a:solidFill>
                <a:schemeClr val="bg1"/>
              </a:solidFill>
              <a:latin typeface="Calibri"/>
              <a:cs typeface="Calibri"/>
            </a:endParaRPr>
          </a:p>
        </p:txBody>
      </p:sp>
      <p:sp>
        <p:nvSpPr>
          <p:cNvPr id="25" name="Subtitle 2"/>
          <p:cNvSpPr txBox="1"/>
          <p:nvPr/>
        </p:nvSpPr>
        <p:spPr>
          <a:xfrm>
            <a:off x="3382213" y="336408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Visit us</a:t>
            </a:r>
            <a:endParaRPr lang="en-US" sz="1350" b="1" cap="all" dirty="0">
              <a:solidFill>
                <a:srgbClr val="000044"/>
              </a:solidFill>
              <a:cs typeface="DIN-Regular"/>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8217" y="3214135"/>
            <a:ext cx="553997" cy="553997"/>
          </a:xfrm>
          <a:prstGeom prst="rect">
            <a:avLst/>
          </a:prstGeom>
        </p:spPr>
      </p:pic>
      <p:sp>
        <p:nvSpPr>
          <p:cNvPr id="29" name="Rectangle 28"/>
          <p:cNvSpPr/>
          <p:nvPr/>
        </p:nvSpPr>
        <p:spPr>
          <a:xfrm>
            <a:off x="3439931"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3" name="Subtitle 2"/>
          <p:cNvSpPr txBox="1"/>
          <p:nvPr/>
        </p:nvSpPr>
        <p:spPr>
          <a:xfrm>
            <a:off x="5740581" y="3360007"/>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FOLLOW us</a:t>
            </a:r>
            <a:endParaRPr lang="en-US" sz="1350" b="1" cap="all" dirty="0">
              <a:solidFill>
                <a:srgbClr val="000044"/>
              </a:solidFill>
              <a:cs typeface="DIN-Regular"/>
            </a:endParaRPr>
          </a:p>
        </p:txBody>
      </p:sp>
      <p:sp>
        <p:nvSpPr>
          <p:cNvPr id="35" name="Rectangle 34"/>
          <p:cNvSpPr/>
          <p:nvPr/>
        </p:nvSpPr>
        <p:spPr>
          <a:xfrm>
            <a:off x="5798299"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grpSp>
        <p:nvGrpSpPr>
          <p:cNvPr id="36" name="Group 35"/>
          <p:cNvGrpSpPr/>
          <p:nvPr/>
        </p:nvGrpSpPr>
        <p:grpSpPr>
          <a:xfrm>
            <a:off x="5162170" y="3214138"/>
            <a:ext cx="583358" cy="548171"/>
            <a:chOff x="7496912" y="3906329"/>
            <a:chExt cx="1093174" cy="1027237"/>
          </a:xfrm>
        </p:grpSpPr>
        <p:pic>
          <p:nvPicPr>
            <p:cNvPr id="37" name="Picture 36"/>
            <p:cNvPicPr>
              <a:picLocks noChangeAspect="1"/>
            </p:cNvPicPr>
            <p:nvPr/>
          </p:nvPicPr>
          <p:blipFill rotWithShape="1">
            <a:blip r:embed="rId4">
              <a:extLst>
                <a:ext uri="{28A0092B-C50C-407E-A947-70E740481C1C}">
                  <a14:useLocalDpi xmlns:a14="http://schemas.microsoft.com/office/drawing/2010/main" val="0"/>
                </a:ext>
              </a:extLst>
            </a:blip>
            <a:srcRect r="51558" b="75832"/>
            <a:stretch>
              <a:fillRect/>
            </a:stretch>
          </p:blipFill>
          <p:spPr>
            <a:xfrm>
              <a:off x="7496912" y="3906329"/>
              <a:ext cx="1093174" cy="531499"/>
            </a:xfrm>
            <a:prstGeom prst="rect">
              <a:avLst/>
            </a:prstGeom>
          </p:spPr>
        </p:pic>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l="48522" t="-22" r="27371" b="76543"/>
            <a:stretch>
              <a:fillRect/>
            </a:stretch>
          </p:blipFill>
          <p:spPr>
            <a:xfrm>
              <a:off x="7505704" y="4441198"/>
              <a:ext cx="518747" cy="492368"/>
            </a:xfrm>
            <a:prstGeom prst="rect">
              <a:avLst/>
            </a:prstGeom>
          </p:spPr>
        </p:pic>
        <p:pic>
          <p:nvPicPr>
            <p:cNvPr id="40" name="Picture 39"/>
            <p:cNvPicPr>
              <a:picLocks noChangeAspect="1"/>
            </p:cNvPicPr>
            <p:nvPr/>
          </p:nvPicPr>
          <p:blipFill rotWithShape="1">
            <a:blip r:embed="rId4">
              <a:extLst>
                <a:ext uri="{28A0092B-C50C-407E-A947-70E740481C1C}">
                  <a14:useLocalDpi xmlns:a14="http://schemas.microsoft.com/office/drawing/2010/main" val="0"/>
                </a:ext>
              </a:extLst>
            </a:blip>
            <a:srcRect l="25036" t="23779" r="51266" b="51483"/>
            <a:stretch>
              <a:fillRect/>
            </a:stretch>
          </p:blipFill>
          <p:spPr>
            <a:xfrm>
              <a:off x="8078919" y="4414820"/>
              <a:ext cx="509954" cy="518746"/>
            </a:xfrm>
            <a:prstGeom prst="rect">
              <a:avLst/>
            </a:prstGeom>
          </p:spPr>
        </p:pic>
      </p:grpSp>
      <p:sp>
        <p:nvSpPr>
          <p:cNvPr id="41" name="Subtitle 2"/>
          <p:cNvSpPr txBox="1"/>
          <p:nvPr/>
        </p:nvSpPr>
        <p:spPr>
          <a:xfrm>
            <a:off x="3385249" y="354839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675" b="1" cap="all" dirty="0">
                <a:solidFill>
                  <a:srgbClr val="FFFF00"/>
                </a:solidFill>
                <a:cs typeface="DIN-Regular"/>
                <a:hlinkClick r:id="rId5"/>
              </a:rPr>
              <a:t>www.xjtlu.edu.cn</a:t>
            </a:r>
            <a:endParaRPr lang="en-US" sz="620" b="1" cap="all" dirty="0">
              <a:solidFill>
                <a:srgbClr val="FFFF00"/>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16009"/>
    </mc:Choice>
    <mc:Fallback>
      <p:transition spd="slow" advTm="16009"/>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9691</Words>
  <Application>WPS 表格</Application>
  <PresentationFormat>On-screen Show (16:9)</PresentationFormat>
  <Paragraphs>300</Paragraphs>
  <Slides>23</Slides>
  <Notes>2</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23</vt:i4>
      </vt:variant>
    </vt:vector>
  </HeadingPairs>
  <TitlesOfParts>
    <vt:vector size="49" baseType="lpstr">
      <vt:lpstr>Arial</vt:lpstr>
      <vt:lpstr>宋体</vt:lpstr>
      <vt:lpstr>Wingdings</vt:lpstr>
      <vt:lpstr>Lucida Sans</vt:lpstr>
      <vt:lpstr>苹方-简</vt:lpstr>
      <vt:lpstr>MS PGothic</vt:lpstr>
      <vt:lpstr>Calibri</vt:lpstr>
      <vt:lpstr>Helvetica Neue</vt:lpstr>
      <vt:lpstr>Helvetica Neue UltraLight</vt:lpstr>
      <vt:lpstr>Times New Roman</vt:lpstr>
      <vt:lpstr>Arial</vt:lpstr>
      <vt:lpstr>Times New Roman Regular</vt:lpstr>
      <vt:lpstr>MS PGothic</vt:lpstr>
      <vt:lpstr>冬青黑体简体中文</vt:lpstr>
      <vt:lpstr>Tahoma</vt:lpstr>
      <vt:lpstr>DIN-Regular</vt:lpstr>
      <vt:lpstr>Thonburi</vt:lpstr>
      <vt:lpstr>Calibri</vt:lpstr>
      <vt:lpstr>微软雅黑</vt:lpstr>
      <vt:lpstr>汉仪旗黑</vt:lpstr>
      <vt:lpstr>宋体</vt:lpstr>
      <vt:lpstr>Arial Unicode MS</vt:lpstr>
      <vt:lpstr>Calibri Light</vt:lpstr>
      <vt:lpstr>汉仪书宋二KW</vt:lpstr>
      <vt:lpstr>Retrospect</vt:lpstr>
      <vt:lpstr>Default Theme</vt:lpstr>
      <vt:lpstr>Natural Language Processing DTS305TC</vt:lpstr>
      <vt:lpstr>Lab 3 feature engineering</vt:lpstr>
      <vt:lpstr>Overview</vt:lpstr>
      <vt:lpstr>N-grams</vt:lpstr>
      <vt:lpstr>N-grams</vt:lpstr>
      <vt:lpstr>N-grams</vt:lpstr>
      <vt:lpstr>N-grams</vt:lpstr>
      <vt:lpstr>N-grams</vt:lpstr>
      <vt:lpstr>N-grams</vt:lpstr>
      <vt:lpstr>N-grams</vt:lpstr>
      <vt:lpstr>N-grams</vt:lpstr>
      <vt:lpstr>word similarity</vt:lpstr>
      <vt:lpstr>word similarity</vt:lpstr>
      <vt:lpstr>word similarity</vt:lpstr>
      <vt:lpstr>word similarity</vt:lpstr>
      <vt:lpstr>TF-IDF</vt:lpstr>
      <vt:lpstr>TF-IDF</vt:lpstr>
      <vt:lpstr>TF-IDF</vt:lpstr>
      <vt:lpstr>TF-IDF</vt:lpstr>
      <vt:lpstr>TF-IDF</vt:lpstr>
      <vt:lpstr>PowerPoint 演示文稿</vt:lpstr>
      <vt:lpstr>PowerPoint 演示文稿</vt:lpstr>
      <vt:lpstr>PowerPoint 演示文稿</vt:lpstr>
    </vt:vector>
  </TitlesOfParts>
  <Company>Stanford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华康</cp:lastModifiedBy>
  <cp:revision>474</cp:revision>
  <cp:lastPrinted>2024-09-15T09:18:49Z</cp:lastPrinted>
  <dcterms:created xsi:type="dcterms:W3CDTF">2024-09-15T09:18:49Z</dcterms:created>
  <dcterms:modified xsi:type="dcterms:W3CDTF">2024-09-15T09:18:49Z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7F674F714E0CF6726805D0666F15DC9A_42</vt:lpwstr>
  </property>
  <property fmtid="{D5CDD505-2E9C-101B-9397-08002B2CF9AE}" pid="3" name="KSOProductBuildVer">
    <vt:lpwstr>2052-6.7.1.8828</vt:lpwstr>
  </property>
</Properties>
</file>