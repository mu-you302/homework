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26"/>
  </p:handoutMasterIdLst>
  <p:sldIdLst>
    <p:sldId id="256" r:id="rId4"/>
    <p:sldId id="1987" r:id="rId6"/>
    <p:sldId id="1956" r:id="rId7"/>
    <p:sldId id="2030" r:id="rId8"/>
    <p:sldId id="2031" r:id="rId9"/>
    <p:sldId id="2032" r:id="rId10"/>
    <p:sldId id="2033" r:id="rId11"/>
    <p:sldId id="2043" r:id="rId12"/>
    <p:sldId id="1992" r:id="rId13"/>
    <p:sldId id="2015" r:id="rId14"/>
    <p:sldId id="2016" r:id="rId15"/>
    <p:sldId id="2017" r:id="rId16"/>
    <p:sldId id="2053" r:id="rId17"/>
    <p:sldId id="2022" r:id="rId18"/>
    <p:sldId id="2023" r:id="rId19"/>
    <p:sldId id="2024" r:id="rId20"/>
    <p:sldId id="2025" r:id="rId21"/>
    <p:sldId id="2054" r:id="rId22"/>
    <p:sldId id="2055" r:id="rId23"/>
    <p:sldId id="2056" r:id="rId24"/>
    <p:sldId id="391" r:id="rId25"/>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6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6.jpeg"/><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3 feature </a:t>
            </a:r>
            <a:r>
              <a:rPr lang="en-US" altLang="zh-CN"/>
              <a:t>engineering</a:t>
            </a:r>
            <a:endParaRPr lang="en-US" altLang="zh-CN"/>
          </a:p>
        </p:txBody>
      </p:sp>
      <p:sp>
        <p:nvSpPr>
          <p:cNvPr id="4" name="副标题 3"/>
          <p:cNvSpPr>
            <a:spLocks noGrp="1"/>
          </p:cNvSpPr>
          <p:nvPr>
            <p:ph type="subTitle" idx="1"/>
          </p:nvPr>
        </p:nvSpPr>
        <p:spPr/>
        <p:txBody>
          <a:bodyPr>
            <a:normAutofit fontScale="70000"/>
          </a:bodyPr>
          <a:p>
            <a:r>
              <a:rPr lang="en-US" altLang="zh-CN">
                <a:solidFill>
                  <a:schemeClr val="tx1"/>
                </a:solidFill>
              </a:rPr>
              <a:t>week 2 day 2</a:t>
            </a:r>
            <a:endParaRPr lang="en-US" altLang="zh-CN">
              <a:solidFill>
                <a:schemeClr val="tx1"/>
              </a:solidFill>
            </a:endParaRPr>
          </a:p>
          <a:p>
            <a:endParaRPr lang="en-US" altLang="zh-CN">
              <a:solidFill>
                <a:schemeClr val="tx1"/>
              </a:solidFill>
            </a:endParaRPr>
          </a:p>
          <a:p>
            <a:r>
              <a:rPr lang="en-US" altLang="zh-CN">
                <a:solidFill>
                  <a:schemeClr val="tx1"/>
                </a:solidFill>
              </a:rPr>
              <a:t>https://spotintelligence.com/2023/03/25/nlp-feature-engineering/</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sym typeface="+mn-ea"/>
              </a:rPr>
              <a:t>Named Entity Recognition (NER) for NLP feature engineering</a:t>
            </a:r>
            <a:endParaRPr lang="en-US" dirty="0"/>
          </a:p>
          <a:p>
            <a:r>
              <a:rPr lang="en-US" dirty="0"/>
              <a:t>Word Embeddings</a:t>
            </a:r>
            <a:endParaRPr lang="en-US" dirty="0"/>
          </a:p>
          <a:p>
            <a:r>
              <a:rPr lang="en-US" dirty="0">
                <a:sym typeface="+mn-ea"/>
              </a:rPr>
              <a:t>Part-of-speech (POS) tagging for NLP feature engineering</a:t>
            </a:r>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Named Entity Recognition (NER)</a:t>
            </a:r>
            <a:endParaRPr lang="en-US" dirty="0"/>
          </a:p>
        </p:txBody>
      </p:sp>
      <p:sp>
        <p:nvSpPr>
          <p:cNvPr id="3" name="Content Placeholder 2"/>
          <p:cNvSpPr>
            <a:spLocks noGrp="1"/>
          </p:cNvSpPr>
          <p:nvPr>
            <p:ph idx="1"/>
          </p:nvPr>
        </p:nvSpPr>
        <p:spPr/>
        <p:txBody>
          <a:bodyPr/>
          <a:lstStyle/>
          <a:p>
            <a:pPr marL="0" indent="0">
              <a:buNone/>
            </a:pPr>
            <a:r>
              <a:rPr lang="en-US" sz="2000" dirty="0"/>
              <a:t>NER involves identifying and categorizing named entities in text, such as people, organizations, and locations. This information can also be used to build more advanced features for the model.</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Named Entity Recognition (NER)</a:t>
            </a:r>
            <a:endParaRPr lang="en-US" dirty="0"/>
          </a:p>
        </p:txBody>
      </p:sp>
      <p:sp>
        <p:nvSpPr>
          <p:cNvPr id="3" name="Content Placeholder 2"/>
          <p:cNvSpPr>
            <a:spLocks noGrp="1"/>
          </p:cNvSpPr>
          <p:nvPr>
            <p:ph idx="1"/>
          </p:nvPr>
        </p:nvSpPr>
        <p:spPr/>
        <p:txBody>
          <a:bodyPr/>
          <a:lstStyle/>
          <a:p>
            <a:r>
              <a:rPr lang="en-US" dirty="0"/>
              <a:t>Advantages</a:t>
            </a:r>
            <a:endParaRPr lang="en-US" dirty="0"/>
          </a:p>
          <a:p>
            <a:pPr lvl="1"/>
            <a:r>
              <a:rPr lang="en-US" dirty="0"/>
              <a:t>NER can help improve the accuracy of text analysis by identifying and extracting important information from text.</a:t>
            </a:r>
            <a:endParaRPr lang="en-US" dirty="0"/>
          </a:p>
          <a:p>
            <a:pPr lvl="1"/>
            <a:r>
              <a:rPr lang="en-US" dirty="0"/>
              <a:t>NER can identify patterns and relationships between named entities in the text.</a:t>
            </a:r>
            <a:endParaRPr lang="en-US" dirty="0"/>
          </a:p>
          <a:p>
            <a:pPr lvl="1"/>
            <a:r>
              <a:rPr lang="en-US" dirty="0"/>
              <a:t>NER can be used to generate predictive models that can help classify or predict text based on the named entities.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Named Entity Recognition (NER)</a:t>
            </a:r>
            <a:endParaRPr lang="en-US" dirty="0"/>
          </a:p>
        </p:txBody>
      </p:sp>
      <p:sp>
        <p:nvSpPr>
          <p:cNvPr id="3" name="Content Placeholder 2"/>
          <p:cNvSpPr>
            <a:spLocks noGrp="1"/>
          </p:cNvSpPr>
          <p:nvPr>
            <p:ph idx="1"/>
          </p:nvPr>
        </p:nvSpPr>
        <p:spPr/>
        <p:txBody>
          <a:bodyPr/>
          <a:lstStyle/>
          <a:p>
            <a:r>
              <a:rPr lang="en-US" dirty="0"/>
              <a:t>Disadvantages</a:t>
            </a:r>
            <a:endParaRPr lang="en-US" dirty="0"/>
          </a:p>
          <a:p>
            <a:pPr lvl="1"/>
            <a:r>
              <a:rPr lang="en-US" dirty="0"/>
              <a:t>NER may not work well for all types of text or all languages.</a:t>
            </a:r>
            <a:endParaRPr lang="en-US" dirty="0"/>
          </a:p>
          <a:p>
            <a:pPr lvl="1"/>
            <a:r>
              <a:rPr lang="en-US" dirty="0"/>
              <a:t>NER may not accurately identify all named entities in the text, especially if the named entities are misspelt or ambiguous.</a:t>
            </a:r>
            <a:endParaRPr lang="en-US" dirty="0"/>
          </a:p>
          <a:p>
            <a:pPr lvl="1"/>
            <a:r>
              <a:rPr lang="en-US" dirty="0"/>
              <a:t>NER can be computationally intensive and require more memory, especially for larger datasets.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Named Entity Recognition (NER)</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457200" y="1581150"/>
            <a:ext cx="3560445" cy="2298065"/>
          </a:xfrm>
        </p:spPr>
        <p:txBody>
          <a:bodyPr>
            <a:normAutofit lnSpcReduction="10000"/>
          </a:bodyPr>
          <a:lstStyle/>
          <a:p>
            <a:pPr marL="0" indent="0">
              <a:buNone/>
            </a:pPr>
            <a:r>
              <a:rPr lang="en-US" sz="1600" dirty="0"/>
              <a:t>import nltk </a:t>
            </a:r>
            <a:endParaRPr lang="en-US" sz="1600" dirty="0"/>
          </a:p>
          <a:p>
            <a:pPr marL="0" indent="0">
              <a:buNone/>
            </a:pPr>
            <a:endParaRPr lang="en-US" sz="1600" dirty="0"/>
          </a:p>
          <a:p>
            <a:pPr marL="0" indent="0">
              <a:buNone/>
            </a:pPr>
            <a:r>
              <a:rPr lang="en-US" sz="1600" dirty="0"/>
              <a:t>text = "John Smith works at Google in New York City." </a:t>
            </a:r>
            <a:endParaRPr lang="en-US" sz="1600" dirty="0"/>
          </a:p>
          <a:p>
            <a:pPr marL="0" indent="0">
              <a:buNone/>
            </a:pPr>
            <a:r>
              <a:rPr lang="en-US" sz="1600" dirty="0"/>
              <a:t>tokens = nltk.word_tokenize(text) </a:t>
            </a:r>
            <a:endParaRPr lang="en-US" sz="1600" dirty="0"/>
          </a:p>
          <a:p>
            <a:pPr marL="0" indent="0">
              <a:buNone/>
            </a:pPr>
            <a:r>
              <a:rPr lang="en-US" sz="1600" dirty="0"/>
              <a:t>pos_tags = nltk.pos_tag(tokens) </a:t>
            </a:r>
            <a:endParaRPr lang="en-US" sz="1600" dirty="0"/>
          </a:p>
          <a:p>
            <a:pPr marL="0" indent="0">
              <a:buNone/>
            </a:pPr>
            <a:r>
              <a:rPr lang="en-US" sz="1600" dirty="0"/>
              <a:t>ner_tags = nltk.ne_chunk(pos_tags) </a:t>
            </a:r>
            <a:endParaRPr lang="en-US" sz="1600" dirty="0"/>
          </a:p>
          <a:p>
            <a:pPr marL="0" indent="0">
              <a:buNone/>
            </a:pPr>
            <a:r>
              <a:rPr lang="en-US" sz="1600" dirty="0"/>
              <a:t>print(ner_tags)</a:t>
            </a:r>
            <a:endParaRPr lang="en-US" sz="16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4724400" y="1708150"/>
            <a:ext cx="3560445" cy="2298065"/>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(S (PERSON John/NNP) (PERSON Smith/NNP) works/VBZ at/IN (ORGANIZATION Google/NNP) in/IN (GPE New/NNP York/NNP City/NNP) ./.)</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Named Entity Recognition (NER)</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228600" y="1352550"/>
            <a:ext cx="5203825" cy="3305810"/>
          </a:xfrm>
        </p:spPr>
        <p:txBody>
          <a:bodyPr>
            <a:noAutofit/>
          </a:bodyPr>
          <a:lstStyle/>
          <a:p>
            <a:pPr marL="0" indent="0">
              <a:buNone/>
            </a:pPr>
            <a:r>
              <a:rPr lang="en-US" sz="1000" dirty="0"/>
              <a:t>import jieba</a:t>
            </a:r>
            <a:endParaRPr lang="en-US" sz="1000" dirty="0"/>
          </a:p>
          <a:p>
            <a:pPr marL="0" indent="0">
              <a:buNone/>
            </a:pPr>
            <a:r>
              <a:rPr lang="en-US" sz="1000" dirty="0"/>
              <a:t>import jieba.posseg as pseg</a:t>
            </a:r>
            <a:endParaRPr lang="en-US" sz="1000" dirty="0"/>
          </a:p>
          <a:p>
            <a:pPr marL="0" indent="0">
              <a:buNone/>
            </a:pPr>
            <a:r>
              <a:rPr lang="en-US" sz="1000" dirty="0"/>
              <a:t>text = "席酉民教授，1982年在陕西机械学院（现西安理工大学）取得物理学学士学位，1984年在西安交通大学获系统工程硕士学位，1987年获中国内地（大陆）第一个管理工程博士学位，经国务院学位委员会批准1993年成为中国管理工程领域最年轻的博士生导师。"</a:t>
            </a:r>
            <a:endParaRPr lang="en-US" sz="1000" dirty="0"/>
          </a:p>
          <a:p>
            <a:pPr marL="0" indent="0">
              <a:buNone/>
            </a:pPr>
            <a:r>
              <a:rPr lang="en-US" sz="1000" dirty="0"/>
              <a:t>words = pseg.cut(text)</a:t>
            </a:r>
            <a:endParaRPr lang="en-US" sz="1000" dirty="0"/>
          </a:p>
          <a:p>
            <a:pPr marL="0" indent="0">
              <a:buNone/>
            </a:pPr>
            <a:r>
              <a:rPr lang="en-US" sz="1000" dirty="0"/>
              <a:t>def simple_ner(words):</a:t>
            </a:r>
            <a:endParaRPr lang="en-US" sz="1000" dirty="0"/>
          </a:p>
          <a:p>
            <a:pPr marL="0" indent="0">
              <a:buNone/>
            </a:pPr>
            <a:r>
              <a:rPr lang="en-US" sz="1000" dirty="0"/>
              <a:t>    entities = {}  # 用于存储实体名称和对应的类型</a:t>
            </a:r>
            <a:endParaRPr lang="en-US" sz="1000" dirty="0"/>
          </a:p>
          <a:p>
            <a:pPr marL="0" indent="0">
              <a:buNone/>
            </a:pPr>
            <a:r>
              <a:rPr lang="en-US" sz="1000" dirty="0"/>
              <a:t>    for word, flag in words:</a:t>
            </a:r>
            <a:endParaRPr lang="en-US" sz="1000" dirty="0"/>
          </a:p>
          <a:p>
            <a:pPr marL="0" indent="0">
              <a:buNone/>
            </a:pPr>
            <a:r>
              <a:rPr lang="en-US" sz="1000" dirty="0"/>
              <a:t>        if flag.startswith('nr'):  # 人名</a:t>
            </a:r>
            <a:endParaRPr lang="en-US" sz="1000" dirty="0"/>
          </a:p>
          <a:p>
            <a:pPr marL="0" indent="0">
              <a:buNone/>
            </a:pPr>
            <a:r>
              <a:rPr lang="en-US" sz="1000" dirty="0"/>
              <a:t>            entities[word] = 'PERSON'</a:t>
            </a:r>
            <a:endParaRPr lang="en-US" sz="1000" dirty="0"/>
          </a:p>
          <a:p>
            <a:pPr marL="0" indent="0">
              <a:buNone/>
            </a:pPr>
            <a:r>
              <a:rPr lang="en-US" sz="1000" dirty="0"/>
              <a:t>        elif flag.startswith('ns'):  # 地名</a:t>
            </a:r>
            <a:endParaRPr lang="en-US" sz="1000" dirty="0"/>
          </a:p>
          <a:p>
            <a:pPr marL="0" indent="0">
              <a:buNone/>
            </a:pPr>
            <a:r>
              <a:rPr lang="en-US" sz="1000" dirty="0"/>
              <a:t>            entities[word] = 'LOCATION'</a:t>
            </a:r>
            <a:endParaRPr lang="en-US" sz="1000" dirty="0"/>
          </a:p>
          <a:p>
            <a:pPr marL="0" indent="0">
              <a:buNone/>
            </a:pPr>
            <a:r>
              <a:rPr lang="en-US" sz="1000" dirty="0"/>
              <a:t>        elif flag.startswith('nt'):  # 机构团体</a:t>
            </a:r>
            <a:endParaRPr lang="en-US" sz="1000" dirty="0"/>
          </a:p>
          <a:p>
            <a:pPr marL="0" indent="0">
              <a:buNone/>
            </a:pPr>
            <a:r>
              <a:rPr lang="en-US" sz="1000" dirty="0"/>
              <a:t>            entities[word] = 'ORGANIZATION'</a:t>
            </a:r>
            <a:endParaRPr lang="en-US" sz="1000" dirty="0"/>
          </a:p>
          <a:p>
            <a:pPr marL="0" indent="0">
              <a:buNone/>
            </a:pPr>
            <a:r>
              <a:rPr lang="en-US" sz="1000" dirty="0"/>
              <a:t>    return entities</a:t>
            </a:r>
            <a:endParaRPr lang="en-US" sz="1000" dirty="0"/>
          </a:p>
          <a:p>
            <a:pPr marL="0" indent="0">
              <a:buNone/>
            </a:pPr>
            <a:r>
              <a:rPr lang="en-US" sz="1000" dirty="0"/>
              <a:t>entities = simple_ner(words)</a:t>
            </a:r>
            <a:endParaRPr lang="en-US" sz="1000" dirty="0"/>
          </a:p>
          <a:p>
            <a:pPr marL="0" indent="0">
              <a:buNone/>
            </a:pPr>
            <a:r>
              <a:rPr lang="en-US" sz="1000" dirty="0"/>
              <a:t>for entity, entity_type in entities.items():</a:t>
            </a:r>
            <a:endParaRPr lang="en-US" sz="1000" dirty="0"/>
          </a:p>
          <a:p>
            <a:pPr marL="0" indent="0">
              <a:buNone/>
            </a:pPr>
            <a:r>
              <a:rPr lang="en-US" sz="1000" dirty="0"/>
              <a:t>    print(f"Entity: {entity}, Type: {entity_type}")</a:t>
            </a:r>
            <a:endParaRPr lang="en-US" sz="10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5181600" y="2419350"/>
            <a:ext cx="3560445" cy="2298065"/>
          </a:xfrm>
          <a:prstGeom prst="rect">
            <a:avLst/>
          </a:prstGeom>
        </p:spPr>
        <p:txBody>
          <a:bodyPr vert="horz" lIns="91440" tIns="45720" rIns="91440" bIns="45720" rtlCol="0">
            <a:normAutofit fontScale="90000" lnSpcReduction="20000"/>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Entity: 席酉, Type: PERSON</a:t>
            </a:r>
            <a:endParaRPr lang="en-US" sz="1600" dirty="0"/>
          </a:p>
          <a:p>
            <a:pPr marL="0" indent="0">
              <a:buNone/>
            </a:pPr>
            <a:r>
              <a:rPr lang="en-US" sz="1600" dirty="0"/>
              <a:t>Entity: 陕西, Type: LOCATION</a:t>
            </a:r>
            <a:endParaRPr lang="en-US" sz="1600" dirty="0"/>
          </a:p>
          <a:p>
            <a:pPr marL="0" indent="0">
              <a:buNone/>
            </a:pPr>
            <a:r>
              <a:rPr lang="en-US" sz="1600" dirty="0"/>
              <a:t>Entity: 西安, Type: LOCATION</a:t>
            </a:r>
            <a:endParaRPr lang="en-US" sz="1600" dirty="0"/>
          </a:p>
          <a:p>
            <a:pPr marL="0" indent="0">
              <a:buNone/>
            </a:pPr>
            <a:r>
              <a:rPr lang="en-US" sz="1600" dirty="0"/>
              <a:t>Entity: 理工大学, Type: ORGANIZATION</a:t>
            </a:r>
            <a:endParaRPr lang="en-US" sz="1600" dirty="0"/>
          </a:p>
          <a:p>
            <a:pPr marL="0" indent="0">
              <a:buNone/>
            </a:pPr>
            <a:r>
              <a:rPr lang="en-US" sz="1600" dirty="0"/>
              <a:t>Entity: 西安交通大学, Type: ORGANIZATION</a:t>
            </a:r>
            <a:endParaRPr lang="en-US" sz="1600" dirty="0"/>
          </a:p>
          <a:p>
            <a:pPr marL="0" indent="0">
              <a:buNone/>
            </a:pPr>
            <a:r>
              <a:rPr lang="en-US" sz="1600" dirty="0"/>
              <a:t>Entity: 中国, Type: LOCATION</a:t>
            </a:r>
            <a:endParaRPr lang="en-US" sz="1600" dirty="0"/>
          </a:p>
          <a:p>
            <a:pPr marL="0" indent="0">
              <a:buNone/>
            </a:pPr>
            <a:r>
              <a:rPr lang="en-US" sz="1600" dirty="0"/>
              <a:t>Entity: 国务院学位委员会, Type: ORGANIZATION</a:t>
            </a:r>
            <a:endParaRPr lang="en-US" sz="1600" dirty="0"/>
          </a:p>
          <a:p>
            <a:pPr marL="0" indent="0">
              <a:buNone/>
            </a:pPr>
            <a:r>
              <a:rPr lang="en-US" sz="1600" dirty="0"/>
              <a:t>Entity: 博士生, Type: PERSON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Embeddings</a:t>
            </a:r>
            <a:endParaRPr lang="en-US" dirty="0"/>
          </a:p>
        </p:txBody>
      </p:sp>
      <p:sp>
        <p:nvSpPr>
          <p:cNvPr id="3" name="Content Placeholder 2"/>
          <p:cNvSpPr>
            <a:spLocks noGrp="1"/>
          </p:cNvSpPr>
          <p:nvPr>
            <p:ph idx="1"/>
          </p:nvPr>
        </p:nvSpPr>
        <p:spPr/>
        <p:txBody>
          <a:bodyPr/>
          <a:lstStyle/>
          <a:p>
            <a:r>
              <a:rPr lang="en-US" dirty="0"/>
              <a:t>N-grams for NLP feature engineering</a:t>
            </a:r>
            <a:endParaRPr lang="en-US" dirty="0"/>
          </a:p>
          <a:p>
            <a:pPr marL="0" indent="0">
              <a:buNone/>
            </a:pPr>
            <a:r>
              <a:rPr lang="en-US" dirty="0"/>
              <a:t>Word embeddings are a neural network-based technique that converts words into dense vectors that capture semantic meaning. Word embeddings can be used as input features for deep learning models.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Embeddings</a:t>
            </a:r>
            <a:endParaRPr lang="en-US" dirty="0"/>
          </a:p>
        </p:txBody>
      </p:sp>
      <p:sp>
        <p:nvSpPr>
          <p:cNvPr id="3" name="Content Placeholder 2"/>
          <p:cNvSpPr>
            <a:spLocks noGrp="1"/>
          </p:cNvSpPr>
          <p:nvPr>
            <p:ph idx="1"/>
          </p:nvPr>
        </p:nvSpPr>
        <p:spPr/>
        <p:txBody>
          <a:bodyPr/>
          <a:lstStyle/>
          <a:p>
            <a:r>
              <a:rPr lang="en-US" dirty="0"/>
              <a:t>Advantages</a:t>
            </a:r>
            <a:endParaRPr lang="en-US" dirty="0"/>
          </a:p>
          <a:p>
            <a:pPr lvl="1"/>
            <a:r>
              <a:rPr lang="en-US" dirty="0"/>
              <a:t>Word embeddings can capture the meaning and context of words, allowing for more accurate text analysis and prediction.</a:t>
            </a:r>
            <a:endParaRPr lang="en-US" dirty="0"/>
          </a:p>
          <a:p>
            <a:pPr lvl="1"/>
            <a:r>
              <a:rPr lang="en-US" dirty="0"/>
              <a:t>Word embeddings can be used to represent words in a more efficient and scalable way than traditional bag-of-words approaches.</a:t>
            </a:r>
            <a:endParaRPr lang="en-US" dirty="0"/>
          </a:p>
          <a:p>
            <a:pPr lvl="1"/>
            <a:r>
              <a:rPr lang="en-US" dirty="0"/>
              <a:t>Word embedding can be trained on large amounts of text data to capture subtle linguistic patterns and relationships.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Embeddings</a:t>
            </a:r>
            <a:endParaRPr lang="en-US" dirty="0"/>
          </a:p>
        </p:txBody>
      </p:sp>
      <p:sp>
        <p:nvSpPr>
          <p:cNvPr id="3" name="Content Placeholder 2"/>
          <p:cNvSpPr>
            <a:spLocks noGrp="1"/>
          </p:cNvSpPr>
          <p:nvPr>
            <p:ph idx="1"/>
          </p:nvPr>
        </p:nvSpPr>
        <p:spPr/>
        <p:txBody>
          <a:bodyPr>
            <a:normAutofit/>
          </a:bodyPr>
          <a:lstStyle/>
          <a:p>
            <a:r>
              <a:rPr lang="en-US" dirty="0"/>
              <a:t>Disadvantages</a:t>
            </a:r>
            <a:endParaRPr lang="en-US" dirty="0"/>
          </a:p>
          <a:p>
            <a:pPr lvl="1"/>
            <a:r>
              <a:rPr lang="en-US" dirty="0"/>
              <a:t>Word embedding may not work well for all types of text or all languages.</a:t>
            </a:r>
            <a:endParaRPr lang="en-US" dirty="0"/>
          </a:p>
          <a:p>
            <a:pPr lvl="1"/>
            <a:r>
              <a:rPr lang="en-US" dirty="0"/>
              <a:t>Word embedding may not capture all the nuances of meaning and context, as they are based on statistical patterns in the data and may not reflect the true semantic relationships between words.</a:t>
            </a:r>
            <a:endParaRPr lang="en-US" dirty="0"/>
          </a:p>
          <a:p>
            <a:pPr lvl="1"/>
            <a:r>
              <a:rPr lang="en-US" dirty="0"/>
              <a:t>Word embedding can be computationally intensive and require more memory, especially for larger datasets.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Embeddings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457200" y="1581150"/>
            <a:ext cx="3816985" cy="2760980"/>
          </a:xfrm>
        </p:spPr>
        <p:txBody>
          <a:bodyPr>
            <a:normAutofit fontScale="90000" lnSpcReduction="20000"/>
          </a:bodyPr>
          <a:lstStyle/>
          <a:p>
            <a:pPr marL="0" indent="0">
              <a:buNone/>
            </a:pPr>
            <a:r>
              <a:rPr lang="en-US" sz="1600" dirty="0"/>
              <a:t>from gensim.models import Word2Vec </a:t>
            </a:r>
            <a:endParaRPr lang="en-US" sz="1600" dirty="0"/>
          </a:p>
          <a:p>
            <a:pPr marL="0" indent="0">
              <a:buNone/>
            </a:pPr>
            <a:endParaRPr lang="en-US" sz="1600" dirty="0"/>
          </a:p>
          <a:p>
            <a:pPr marL="0" indent="0">
              <a:buNone/>
            </a:pPr>
            <a:r>
              <a:rPr lang="en-US" sz="1600" dirty="0"/>
              <a:t>sentences = [ "The quick brown fox jumps over the lazy dog".split(), </a:t>
            </a:r>
            <a:endParaRPr lang="en-US" sz="1600" dirty="0"/>
          </a:p>
          <a:p>
            <a:pPr marL="0" indent="0">
              <a:buNone/>
            </a:pPr>
            <a:r>
              <a:rPr lang="en-US" sz="1600" dirty="0"/>
              <a:t>              "The lazy dog watches the quick brown fox".split(), </a:t>
            </a:r>
            <a:endParaRPr lang="en-US" sz="1600" dirty="0"/>
          </a:p>
          <a:p>
            <a:pPr marL="0" indent="0">
              <a:buNone/>
            </a:pPr>
            <a:r>
              <a:rPr lang="en-US" sz="1600" dirty="0"/>
              <a:t>              "The quick brown cat jumps over the lazy dog".split(), </a:t>
            </a:r>
            <a:endParaRPr lang="en-US" sz="1600" dirty="0"/>
          </a:p>
          <a:p>
            <a:pPr marL="0" indent="0">
              <a:buNone/>
            </a:pPr>
            <a:r>
              <a:rPr lang="en-US" sz="1600" dirty="0"/>
              <a:t>              "The lazy dog watches the quick brown cat".split() ] </a:t>
            </a:r>
            <a:endParaRPr lang="en-US" sz="1600" dirty="0"/>
          </a:p>
          <a:p>
            <a:pPr marL="0" indent="0">
              <a:buNone/>
            </a:pPr>
            <a:endParaRPr lang="en-US" sz="1600" dirty="0"/>
          </a:p>
          <a:p>
            <a:pPr marL="0" indent="0">
              <a:buNone/>
            </a:pPr>
            <a:r>
              <a:rPr lang="en-US" sz="1600" dirty="0"/>
              <a:t>model = Word2Vec(sentences, min_count=1) </a:t>
            </a:r>
            <a:endParaRPr lang="en-US" sz="1600" dirty="0"/>
          </a:p>
          <a:p>
            <a:pPr marL="0" indent="0">
              <a:buNone/>
            </a:pPr>
            <a:r>
              <a:rPr lang="en-US" sz="1600" dirty="0"/>
              <a:t>print(model.wv['quick'])</a:t>
            </a:r>
            <a:endParaRPr lang="en-US" sz="16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4648200" y="1581150"/>
            <a:ext cx="4446270" cy="3281045"/>
          </a:xfrm>
          <a:prstGeom prst="rect">
            <a:avLst/>
          </a:prstGeom>
        </p:spPr>
        <p:txBody>
          <a:bodyPr vert="horz" lIns="91440" tIns="45720" rIns="91440" bIns="45720" rtlCol="0">
            <a:normAutofit fontScale="60000"/>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[-0.00713999  0.00124067 -0.00717751 -0.00224369  0.00371913  0.0058323</a:t>
            </a:r>
            <a:endParaRPr lang="en-US" sz="1600" dirty="0"/>
          </a:p>
          <a:p>
            <a:pPr marL="0" indent="0">
              <a:buNone/>
            </a:pPr>
            <a:r>
              <a:rPr lang="en-US" sz="1600" dirty="0"/>
              <a:t>  0.00119825  0.00210345 -0.00411091  0.00722462 -0.00630649  0.00464686</a:t>
            </a:r>
            <a:endParaRPr lang="en-US" sz="1600" dirty="0"/>
          </a:p>
          <a:p>
            <a:pPr marL="0" indent="0">
              <a:buNone/>
            </a:pPr>
            <a:r>
              <a:rPr lang="en-US" sz="1600" dirty="0"/>
              <a:t> -0.00821997  0.00203635 -0.00497711 -0.00424696 -0.00310838  0.00565393</a:t>
            </a:r>
            <a:endParaRPr lang="en-US" sz="1600" dirty="0"/>
          </a:p>
          <a:p>
            <a:pPr marL="0" indent="0">
              <a:buNone/>
            </a:pPr>
            <a:r>
              <a:rPr lang="en-US" sz="1600" dirty="0"/>
              <a:t>  0.00579869 -0.00497552  0.00077332 -0.00849516  0.00781005  0.0092573</a:t>
            </a:r>
            <a:endParaRPr lang="en-US" sz="1600" dirty="0"/>
          </a:p>
          <a:p>
            <a:pPr marL="0" indent="0">
              <a:buNone/>
            </a:pPr>
            <a:r>
              <a:rPr lang="en-US" sz="1600" dirty="0"/>
              <a:t> -0.0027417   0.00079984  0.00074592  0.00547846 -0.00860618  0.00058384</a:t>
            </a:r>
            <a:endParaRPr lang="en-US" sz="1600" dirty="0"/>
          </a:p>
          <a:p>
            <a:pPr marL="0" indent="0">
              <a:buNone/>
            </a:pPr>
            <a:r>
              <a:rPr lang="en-US" sz="1600" dirty="0"/>
              <a:t>  0.00687079  0.00223185  0.00112499 -0.00932102  0.00848135 -0.00626296</a:t>
            </a:r>
            <a:endParaRPr lang="en-US" sz="1600" dirty="0"/>
          </a:p>
          <a:p>
            <a:pPr marL="0" indent="0">
              <a:buNone/>
            </a:pPr>
            <a:r>
              <a:rPr lang="en-US" sz="1600" dirty="0"/>
              <a:t> -0.00299198  0.00349417 -0.00077261  0.00141155  0.00178289 -0.00682827</a:t>
            </a:r>
            <a:endParaRPr lang="en-US" sz="1600" dirty="0"/>
          </a:p>
          <a:p>
            <a:pPr marL="0" indent="0">
              <a:buNone/>
            </a:pPr>
            <a:r>
              <a:rPr lang="en-US" sz="1600" dirty="0"/>
              <a:t> -0.00972495  0.00903973  0.00619821 -0.00691244  0.003403    0.00020671</a:t>
            </a:r>
            <a:endParaRPr lang="en-US" sz="1600" dirty="0"/>
          </a:p>
          <a:p>
            <a:pPr marL="0" indent="0">
              <a:buNone/>
            </a:pPr>
            <a:r>
              <a:rPr lang="en-US" sz="1600" dirty="0"/>
              <a:t>  0.0047539  -0.0071193   0.00402738  0.00434795  0.00995691 -0.00447293</a:t>
            </a:r>
            <a:endParaRPr lang="en-US" sz="1600" dirty="0"/>
          </a:p>
          <a:p>
            <a:pPr marL="0" indent="0">
              <a:buNone/>
            </a:pPr>
            <a:r>
              <a:rPr lang="en-US" sz="1600" dirty="0"/>
              <a:t> -0.00138929 -0.0073184  -0.00969798 -0.00908061 -0.00102224 -0.00650399</a:t>
            </a:r>
            <a:endParaRPr lang="en-US" sz="1600" dirty="0"/>
          </a:p>
          <a:p>
            <a:pPr marL="0" indent="0">
              <a:buNone/>
            </a:pPr>
            <a:r>
              <a:rPr lang="en-US" sz="1600" dirty="0"/>
              <a:t>  0.00484942 -0.00616323  0.00252097  0.00073905 -0.00339282 -0.00097971</a:t>
            </a:r>
            <a:endParaRPr lang="en-US" sz="1600" dirty="0"/>
          </a:p>
          <a:p>
            <a:pPr marL="0" indent="0">
              <a:buNone/>
            </a:pPr>
            <a:r>
              <a:rPr lang="en-US" sz="1600" dirty="0"/>
              <a:t>  0.0099783   0.00914507 -0.00446227  0.00908205 -0.00564152  0.00593174</a:t>
            </a:r>
            <a:endParaRPr lang="en-US" sz="1600" dirty="0"/>
          </a:p>
          <a:p>
            <a:pPr marL="0" indent="0">
              <a:buNone/>
            </a:pPr>
            <a:r>
              <a:rPr lang="en-US" sz="1600" dirty="0"/>
              <a:t> -0.00309745  0.00343133  0.0030173   0.00689944 -0.00237399  0.00877479</a:t>
            </a:r>
            <a:endParaRPr lang="en-US" sz="1600" dirty="0"/>
          </a:p>
          <a:p>
            <a:pPr marL="0" indent="0">
              <a:buNone/>
            </a:pPr>
            <a:r>
              <a:rPr lang="en-US" sz="1600" dirty="0"/>
              <a:t>  0.00758977 -0.00954731 -0.00800764 -0.00763848  0.00292329 -0.00279391</a:t>
            </a:r>
            <a:endParaRPr lang="en-US" sz="1600" dirty="0"/>
          </a:p>
          <a:p>
            <a:pPr marL="0" indent="0">
              <a:buNone/>
            </a:pPr>
            <a:r>
              <a:rPr lang="en-US" sz="1600" dirty="0"/>
              <a:t> -0.0069293  -0.00812925  0.00830863  0.00199066 -0.00932756 -0.00479216</a:t>
            </a:r>
            <a:endParaRPr lang="en-US" sz="1600" dirty="0"/>
          </a:p>
          <a:p>
            <a:pPr marL="0" indent="0">
              <a:buNone/>
            </a:pPr>
            <a:r>
              <a:rPr lang="en-US" sz="1600" dirty="0"/>
              <a:t>  0.00313556 -0.00471203  0.00528107 -0.00423277  0.00264354 -0.00804616</a:t>
            </a:r>
            <a:endParaRPr lang="en-US" sz="1600" dirty="0"/>
          </a:p>
          <a:p>
            <a:pPr marL="0" indent="0">
              <a:buNone/>
            </a:pPr>
            <a:r>
              <a:rPr lang="en-US" sz="1600" dirty="0"/>
              <a:t>  0.00620921  0.00481919  0.00078833  0.00301355]</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Word Embeddings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Content Placeholder 2"/>
          <p:cNvSpPr>
            <a:spLocks noGrp="1"/>
          </p:cNvSpPr>
          <p:nvPr>
            <p:ph idx="1"/>
            <p:custDataLst>
              <p:tags r:id="rId1"/>
            </p:custDataLst>
          </p:nvPr>
        </p:nvSpPr>
        <p:spPr>
          <a:xfrm>
            <a:off x="380365" y="1428750"/>
            <a:ext cx="3893820" cy="2971800"/>
          </a:xfrm>
        </p:spPr>
        <p:txBody>
          <a:bodyPr>
            <a:noAutofit/>
          </a:bodyPr>
          <a:lstStyle/>
          <a:p>
            <a:pPr marL="0" indent="0">
              <a:buNone/>
            </a:pPr>
            <a:r>
              <a:rPr lang="en-US" sz="1200" dirty="0"/>
              <a:t>import jieba</a:t>
            </a:r>
            <a:endParaRPr lang="en-US" sz="1200" dirty="0"/>
          </a:p>
          <a:p>
            <a:pPr marL="0" indent="0">
              <a:buNone/>
            </a:pPr>
            <a:r>
              <a:rPr lang="en-US" sz="1200" dirty="0"/>
              <a:t>from gensim.models import Word2Vec</a:t>
            </a:r>
            <a:endParaRPr lang="en-US" sz="1200" dirty="0"/>
          </a:p>
          <a:p>
            <a:pPr marL="0" indent="0">
              <a:buNone/>
            </a:pPr>
            <a:r>
              <a:rPr lang="en-US" sz="1200" dirty="0"/>
              <a:t>text = "学院教学以学生为中心，通过学位课程帮助学生打下坚实的学科基础。通过行业实践让学生深入了解人工智能行业技术与创新创业精神，并确保学生为个人职业发展做好充分准备。"</a:t>
            </a:r>
            <a:endParaRPr lang="en-US" sz="1200" dirty="0"/>
          </a:p>
          <a:p>
            <a:pPr marL="0" indent="0">
              <a:buNone/>
            </a:pPr>
            <a:r>
              <a:rPr lang="en-US" sz="1200" dirty="0"/>
              <a:t>sentences = [list(jieba.cut(text))]</a:t>
            </a:r>
            <a:endParaRPr lang="en-US" sz="1200" dirty="0"/>
          </a:p>
          <a:p>
            <a:pPr marL="0" indent="0">
              <a:buNone/>
            </a:pPr>
            <a:r>
              <a:rPr lang="en-US" sz="1200" dirty="0"/>
              <a:t>model = Word2Vec(sentences, vector_size=100, window=5, min_count=1, workers=4)</a:t>
            </a:r>
            <a:endParaRPr lang="en-US" sz="1200" dirty="0"/>
          </a:p>
          <a:p>
            <a:pPr marL="0" indent="0">
              <a:buNone/>
            </a:pPr>
            <a:r>
              <a:rPr lang="en-US" sz="1200" dirty="0"/>
              <a:t>words = list(model.wv.key_to_index)</a:t>
            </a:r>
            <a:endParaRPr lang="en-US" sz="1200" dirty="0"/>
          </a:p>
          <a:p>
            <a:pPr marL="0" indent="0">
              <a:buNone/>
            </a:pPr>
            <a:r>
              <a:rPr lang="en-US" sz="1200" dirty="0"/>
              <a:t>print("学习到的词汇（部分）:", words[:10])</a:t>
            </a:r>
            <a:endParaRPr lang="en-US" sz="1200" dirty="0"/>
          </a:p>
          <a:p>
            <a:pPr marL="0" indent="0">
              <a:buNone/>
            </a:pPr>
            <a:r>
              <a:rPr lang="en-US" sz="1200" dirty="0"/>
              <a:t>word_vec = model.wv['学生']</a:t>
            </a:r>
            <a:endParaRPr lang="en-US" sz="1200" dirty="0"/>
          </a:p>
          <a:p>
            <a:pPr marL="0" indent="0">
              <a:buNone/>
            </a:pPr>
            <a:r>
              <a:rPr lang="en-US" sz="1200" dirty="0"/>
              <a:t>print("学生的词向量: ", word_vec)</a:t>
            </a:r>
            <a:endParaRPr lang="en-US" sz="1200" dirty="0"/>
          </a:p>
          <a:p>
            <a:pPr marL="0" indent="0">
              <a:buNone/>
            </a:pPr>
            <a:r>
              <a:rPr lang="en-US" sz="1200" dirty="0"/>
              <a:t>similar_words = model.wv.most_similar('学生', topn=3)</a:t>
            </a:r>
            <a:endParaRPr lang="en-US" sz="1200" dirty="0"/>
          </a:p>
          <a:p>
            <a:pPr marL="0" indent="0">
              <a:buNone/>
            </a:pPr>
            <a:r>
              <a:rPr lang="en-US" sz="1200" dirty="0"/>
              <a:t>print("与学生最相似的词:", similar_words)</a:t>
            </a:r>
            <a:endParaRPr lang="en-US" sz="1200" dirty="0"/>
          </a:p>
        </p:txBody>
      </p:sp>
      <p:sp>
        <p:nvSpPr>
          <p:cNvPr id="7" name="内容占位符 3"/>
          <p:cNvSpPr>
            <a:spLocks noGrp="1"/>
          </p:cNvSpPr>
          <p:nvPr>
            <p:custDataLst>
              <p:tags r:id="rId2"/>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8" name="内容占位符 3"/>
          <p:cNvSpPr>
            <a:spLocks noGrp="1"/>
          </p:cNvSpPr>
          <p:nvPr>
            <p:custDataLst>
              <p:tags r:id="rId3"/>
            </p:custDataLst>
          </p:nvPr>
        </p:nvSpPr>
        <p:spPr>
          <a:xfrm>
            <a:off x="4648200" y="90678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9" name="Content Placeholder 2"/>
          <p:cNvSpPr>
            <a:spLocks noGrp="1"/>
          </p:cNvSpPr>
          <p:nvPr>
            <p:custDataLst>
              <p:tags r:id="rId4"/>
            </p:custDataLst>
          </p:nvPr>
        </p:nvSpPr>
        <p:spPr>
          <a:xfrm>
            <a:off x="4648200" y="1581150"/>
            <a:ext cx="4446270" cy="3281045"/>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a:buFont typeface="Wingdings" panose="05000000000000000000" charset="0"/>
              <a:buChar char=""/>
            </a:pPr>
            <a:r>
              <a:rPr lang="en-US" sz="1600" dirty="0"/>
              <a:t>学习到的词汇（部分）: ['学生', '。', '，', '为', '通过', '行业', '以', '中心', '教学', '基础']</a:t>
            </a:r>
            <a:endParaRPr lang="en-US" sz="1600" dirty="0"/>
          </a:p>
          <a:p>
            <a:pPr>
              <a:buFont typeface="Wingdings" panose="05000000000000000000" charset="0"/>
              <a:buChar char=""/>
            </a:pPr>
            <a:r>
              <a:rPr lang="en-US" sz="1600" dirty="0"/>
              <a:t>学生的词向量:  [-5.4894300e-04  2.5857257e-04  5.0914478e-03  9.0176221e-03</a:t>
            </a:r>
            <a:endParaRPr lang="en-US" sz="1600" dirty="0"/>
          </a:p>
          <a:p>
            <a:pPr>
              <a:buFont typeface="Wingdings" panose="05000000000000000000" charset="0"/>
              <a:buChar char=""/>
            </a:pPr>
            <a:r>
              <a:rPr lang="en-US" sz="1600" dirty="0"/>
              <a:t> -9.2905164e-03 -7.1203401e-03  6.4668055e-03  8.9845601e-03...</a:t>
            </a:r>
            <a:endParaRPr lang="en-US" sz="1600" dirty="0"/>
          </a:p>
          <a:p>
            <a:pPr>
              <a:buFont typeface="Wingdings" panose="05000000000000000000" charset="0"/>
              <a:buChar char=""/>
            </a:pPr>
            <a:r>
              <a:rPr lang="en-US" sz="1600" dirty="0"/>
              <a:t>与学生最相似的词: [('学科', 0.21906515955924988), ('基础', 0.2160746157169342), ('并', 0.19603390991687775)]</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Part-of-speech (POS) tagging</a:t>
            </a:r>
            <a:endParaRPr lang="en-US" dirty="0"/>
          </a:p>
        </p:txBody>
      </p:sp>
      <p:sp>
        <p:nvSpPr>
          <p:cNvPr id="3" name="Content Placeholder 2"/>
          <p:cNvSpPr>
            <a:spLocks noGrp="1"/>
          </p:cNvSpPr>
          <p:nvPr>
            <p:ph idx="1"/>
          </p:nvPr>
        </p:nvSpPr>
        <p:spPr/>
        <p:txBody>
          <a:bodyPr/>
          <a:lstStyle/>
          <a:p>
            <a:pPr marL="0" indent="0">
              <a:buNone/>
            </a:pPr>
            <a:r>
              <a:rPr lang="en-US" sz="2000" dirty="0"/>
              <a:t>POS tagging involves labelling each word in a sentence with its corresponding part of speech, such as a noun, verb, or adjective. This information can be used to build more advanced features for the model.</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Part-of-speech (POS) tagging</a:t>
            </a:r>
            <a:endParaRPr lang="en-US" dirty="0"/>
          </a:p>
        </p:txBody>
      </p:sp>
      <p:sp>
        <p:nvSpPr>
          <p:cNvPr id="3" name="Content Placeholder 2"/>
          <p:cNvSpPr>
            <a:spLocks noGrp="1"/>
          </p:cNvSpPr>
          <p:nvPr>
            <p:ph idx="1"/>
          </p:nvPr>
        </p:nvSpPr>
        <p:spPr/>
        <p:txBody>
          <a:bodyPr/>
          <a:lstStyle/>
          <a:p>
            <a:pPr>
              <a:buFont typeface="Wingdings" panose="05000000000000000000" charset="0"/>
              <a:buChar char=""/>
            </a:pPr>
            <a:r>
              <a:rPr lang="en-US" sz="2000" dirty="0"/>
              <a:t>Advantages</a:t>
            </a:r>
            <a:endParaRPr lang="en-US" sz="2000" dirty="0"/>
          </a:p>
          <a:p>
            <a:pPr lvl="1" algn="l">
              <a:buClrTx/>
              <a:buSzTx/>
              <a:buChar char="–"/>
            </a:pPr>
            <a:r>
              <a:rPr lang="en-US" sz="2100" dirty="0"/>
              <a:t>POS tagging can help improve the accuracy of text analysis by providing information about the syntactic structure of the text.</a:t>
            </a:r>
            <a:endParaRPr lang="en-US" sz="2100" dirty="0"/>
          </a:p>
          <a:p>
            <a:pPr lvl="1" algn="l">
              <a:buClrTx/>
              <a:buSzTx/>
              <a:buChar char="–"/>
            </a:pPr>
            <a:r>
              <a:rPr lang="en-US" sz="2100" dirty="0"/>
              <a:t>POS tagging can identify patterns and relationships between different parts of speech in the text.</a:t>
            </a:r>
            <a:endParaRPr lang="en-US" sz="2100" dirty="0"/>
          </a:p>
          <a:p>
            <a:pPr lvl="1" algn="l">
              <a:buClrTx/>
              <a:buSzTx/>
              <a:buChar char="–"/>
            </a:pPr>
            <a:r>
              <a:rPr lang="en-US" sz="2100" dirty="0"/>
              <a:t>POS tagging can generate predictive models to help classify or predict text based on the part-of-speech tags.</a:t>
            </a:r>
            <a:endParaRPr lang="en-US" sz="2100" dirty="0"/>
          </a:p>
          <a:p>
            <a:pPr marL="0" indent="0">
              <a:buNone/>
            </a:pP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Part-of-speech (POS) tagging</a:t>
            </a:r>
            <a:endParaRPr lang="en-US" dirty="0"/>
          </a:p>
        </p:txBody>
      </p:sp>
      <p:sp>
        <p:nvSpPr>
          <p:cNvPr id="3" name="Content Placeholder 2"/>
          <p:cNvSpPr>
            <a:spLocks noGrp="1"/>
          </p:cNvSpPr>
          <p:nvPr>
            <p:ph idx="1"/>
          </p:nvPr>
        </p:nvSpPr>
        <p:spPr/>
        <p:txBody>
          <a:bodyPr/>
          <a:lstStyle/>
          <a:p>
            <a:pPr>
              <a:buFont typeface="Wingdings" panose="05000000000000000000" charset="0"/>
              <a:buChar char=""/>
            </a:pPr>
            <a:r>
              <a:rPr lang="en-US" sz="2000" dirty="0"/>
              <a:t>Disadvantages</a:t>
            </a:r>
            <a:endParaRPr lang="en-US" sz="2000" dirty="0"/>
          </a:p>
          <a:p>
            <a:pPr lvl="1" algn="l">
              <a:buClrTx/>
              <a:buSzTx/>
              <a:buChar char="–"/>
            </a:pPr>
            <a:r>
              <a:rPr lang="en-US" sz="2100" dirty="0"/>
              <a:t>POS tagging may not work well for all types of text or all languages.</a:t>
            </a:r>
            <a:endParaRPr lang="en-US" sz="2100" dirty="0"/>
          </a:p>
          <a:p>
            <a:pPr lvl="1" algn="l">
              <a:buClrTx/>
              <a:buSzTx/>
              <a:buChar char="–"/>
            </a:pPr>
            <a:r>
              <a:rPr lang="en-US" sz="2100" dirty="0"/>
              <a:t>POS tagging may not accurately capture the text’s intended meaning, as some words can have multiple possible part-of-speech tags depending on the context and usage.</a:t>
            </a:r>
            <a:endParaRPr lang="en-US" sz="2100" dirty="0"/>
          </a:p>
          <a:p>
            <a:pPr lvl="1" algn="l">
              <a:buClrTx/>
              <a:buSzTx/>
              <a:buChar char="–"/>
            </a:pPr>
            <a:r>
              <a:rPr lang="en-US" sz="2100" dirty="0"/>
              <a:t>POS tagging can be computationally intensive and require more memory, especially for larger datasets.</a:t>
            </a:r>
            <a:endParaRPr lang="en-US" sz="21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Part-of-speech (POS) tagging</a:t>
            </a:r>
            <a:endParaRPr lang="en-US" dirty="0"/>
          </a:p>
        </p:txBody>
      </p:sp>
      <p:sp>
        <p:nvSpPr>
          <p:cNvPr id="3" name="Content Placeholder 2"/>
          <p:cNvSpPr>
            <a:spLocks noGrp="1"/>
          </p:cNvSpPr>
          <p:nvPr>
            <p:ph idx="1"/>
          </p:nvPr>
        </p:nvSpPr>
        <p:spPr>
          <a:xfrm>
            <a:off x="457200" y="1581150"/>
            <a:ext cx="3560445" cy="2298065"/>
          </a:xfrm>
        </p:spPr>
        <p:txBody>
          <a:bodyPr/>
          <a:lstStyle/>
          <a:p>
            <a:pPr marL="0" indent="0">
              <a:buNone/>
            </a:pPr>
            <a:r>
              <a:rPr lang="en-US" sz="1600" dirty="0"/>
              <a:t>import nltk </a:t>
            </a:r>
            <a:endParaRPr lang="en-US" sz="1600" dirty="0"/>
          </a:p>
          <a:p>
            <a:pPr marL="0" indent="0">
              <a:buNone/>
            </a:pPr>
            <a:endParaRPr lang="en-US" sz="1600" dirty="0"/>
          </a:p>
          <a:p>
            <a:pPr marL="0" indent="0">
              <a:buNone/>
            </a:pPr>
            <a:r>
              <a:rPr lang="en-US" sz="1600" dirty="0"/>
              <a:t>text = "The quick brown foxes jumped over the lazy dogs." </a:t>
            </a:r>
            <a:endParaRPr lang="en-US" sz="1600" dirty="0"/>
          </a:p>
          <a:p>
            <a:pPr marL="0" indent="0">
              <a:buNone/>
            </a:pPr>
            <a:r>
              <a:rPr lang="en-US" sz="1600" dirty="0"/>
              <a:t>tokens = nltk.word_tokenize(text) </a:t>
            </a:r>
            <a:endParaRPr lang="en-US" sz="1600" dirty="0"/>
          </a:p>
          <a:p>
            <a:pPr marL="0" indent="0">
              <a:buNone/>
            </a:pPr>
            <a:r>
              <a:rPr lang="en-US" sz="1600" dirty="0"/>
              <a:t>pos_tags = nltk.pos_tag(tokens) </a:t>
            </a:r>
            <a:endParaRPr lang="en-US" sz="1600" dirty="0"/>
          </a:p>
          <a:p>
            <a:pPr marL="0" indent="0">
              <a:buNone/>
            </a:pPr>
            <a:r>
              <a:rPr lang="en-US" sz="1600" dirty="0"/>
              <a:t>print(pos_tags)</a:t>
            </a:r>
            <a:endParaRPr lang="en-US" sz="16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内容占位符 3"/>
          <p:cNvSpPr>
            <a:spLocks noGrp="1"/>
          </p:cNvSpPr>
          <p:nvPr>
            <p:custDataLst>
              <p:tags r:id="rId1"/>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7" name="内容占位符 3"/>
          <p:cNvSpPr>
            <a:spLocks noGrp="1"/>
          </p:cNvSpPr>
          <p:nvPr>
            <p:custDataLst>
              <p:tags r:id="rId2"/>
            </p:custDataLst>
          </p:nvPr>
        </p:nvSpPr>
        <p:spPr>
          <a:xfrm>
            <a:off x="4648200" y="9715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8" name="Content Placeholder 2"/>
          <p:cNvSpPr>
            <a:spLocks noGrp="1"/>
          </p:cNvSpPr>
          <p:nvPr>
            <p:custDataLst>
              <p:tags r:id="rId3"/>
            </p:custDataLst>
          </p:nvPr>
        </p:nvSpPr>
        <p:spPr>
          <a:xfrm>
            <a:off x="4724400" y="1708150"/>
            <a:ext cx="3560445" cy="2298065"/>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[('The', 'DT'), ('quick', 'JJ'), ('brown', 'NN'), ('foxes', 'NNS'), ('jumped', 'VBD'), ('over', 'IN'), ('the', 'DT'), ('lazy', 'JJ'), ('dogs', 'NNS'), ('.', '.')]</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Part-of-speech (POS) tagging</a:t>
            </a:r>
            <a:endParaRPr lang="en-US" dirty="0"/>
          </a:p>
        </p:txBody>
      </p:sp>
      <p:sp>
        <p:nvSpPr>
          <p:cNvPr id="3" name="Content Placeholder 2"/>
          <p:cNvSpPr>
            <a:spLocks noGrp="1"/>
          </p:cNvSpPr>
          <p:nvPr>
            <p:ph idx="1"/>
          </p:nvPr>
        </p:nvSpPr>
        <p:spPr>
          <a:xfrm>
            <a:off x="457200" y="1581150"/>
            <a:ext cx="3850640" cy="3243580"/>
          </a:xfrm>
        </p:spPr>
        <p:txBody>
          <a:bodyPr>
            <a:noAutofit/>
          </a:bodyPr>
          <a:lstStyle/>
          <a:p>
            <a:pPr marL="0" indent="0">
              <a:buNone/>
            </a:pPr>
            <a:r>
              <a:rPr lang="en-US" sz="1200" dirty="0"/>
              <a:t>import jieba.posseg as pseg</a:t>
            </a:r>
            <a:endParaRPr lang="en-US" sz="1200" dirty="0"/>
          </a:p>
          <a:p>
            <a:pPr marL="0" indent="0">
              <a:buNone/>
            </a:pPr>
            <a:endParaRPr lang="en-US" sz="1200" dirty="0"/>
          </a:p>
          <a:p>
            <a:pPr marL="0" indent="0">
              <a:buNone/>
            </a:pPr>
            <a:r>
              <a:rPr lang="en-US" sz="1200" dirty="0"/>
              <a:t>sentence = "学院教学以学生为中心，通过学位课程帮助学生打下坚实的学科基础。通过行业实践让学生深入了解人工智能行业技术与创新创业精神，并确保学生为个人职业发展做好充分准备。"</a:t>
            </a:r>
            <a:endParaRPr lang="en-US" sz="1200" dirty="0"/>
          </a:p>
          <a:p>
            <a:pPr marL="0" indent="0">
              <a:buNone/>
            </a:pPr>
            <a:r>
              <a:rPr lang="en-US" sz="1200" dirty="0"/>
              <a:t># 使用jieba进行分词和词性标注</a:t>
            </a:r>
            <a:endParaRPr lang="en-US" sz="1200" dirty="0"/>
          </a:p>
          <a:p>
            <a:pPr marL="0" indent="0">
              <a:buNone/>
            </a:pPr>
            <a:r>
              <a:rPr lang="en-US" sz="1200" dirty="0"/>
              <a:t>words = pseg.cut(sentence)</a:t>
            </a:r>
            <a:endParaRPr lang="en-US" sz="1200" dirty="0"/>
          </a:p>
          <a:p>
            <a:pPr marL="0" indent="0">
              <a:buNone/>
            </a:pPr>
            <a:endParaRPr lang="en-US" sz="1200" dirty="0"/>
          </a:p>
          <a:p>
            <a:pPr marL="0" indent="0">
              <a:buNone/>
            </a:pPr>
            <a:r>
              <a:rPr lang="en-US" sz="1200" dirty="0"/>
              <a:t>for word, flag in words:</a:t>
            </a:r>
            <a:endParaRPr lang="en-US" sz="1200" dirty="0"/>
          </a:p>
          <a:p>
            <a:pPr marL="0" indent="0">
              <a:buNone/>
            </a:pPr>
            <a:r>
              <a:rPr lang="en-US" sz="1200" dirty="0"/>
              <a:t>    print(f"{word}/{flag}", end=' ')</a:t>
            </a:r>
            <a:endParaRPr lang="en-US" sz="1200" dirty="0"/>
          </a:p>
          <a:p>
            <a:pPr marL="0" indent="0">
              <a:buNone/>
            </a:pPr>
            <a:endParaRPr lang="en-US" sz="1200" dirty="0"/>
          </a:p>
          <a:p>
            <a:pPr marL="0" indent="0">
              <a:buNone/>
            </a:pPr>
            <a:r>
              <a:rPr lang="en-US" sz="1200" dirty="0"/>
              <a:t># 注意：jieba的词性标注和nltk的不同，它使用自己的标记系统</a:t>
            </a:r>
            <a:endParaRPr lang="en-US" sz="12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
        <p:nvSpPr>
          <p:cNvPr id="6" name="内容占位符 3"/>
          <p:cNvSpPr>
            <a:spLocks noGrp="1"/>
          </p:cNvSpPr>
          <p:nvPr>
            <p:custDataLst>
              <p:tags r:id="rId1"/>
            </p:custDataLst>
          </p:nvPr>
        </p:nvSpPr>
        <p:spPr>
          <a:xfrm>
            <a:off x="457200" y="902335"/>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a:t>Example</a:t>
            </a:r>
            <a:endParaRPr lang="zh-CN" altLang="en-US"/>
          </a:p>
        </p:txBody>
      </p:sp>
      <p:sp>
        <p:nvSpPr>
          <p:cNvPr id="7" name="内容占位符 3"/>
          <p:cNvSpPr>
            <a:spLocks noGrp="1"/>
          </p:cNvSpPr>
          <p:nvPr>
            <p:custDataLst>
              <p:tags r:id="rId2"/>
            </p:custDataLst>
          </p:nvPr>
        </p:nvSpPr>
        <p:spPr>
          <a:xfrm>
            <a:off x="4648200" y="971550"/>
            <a:ext cx="4507230" cy="370713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Output</a:t>
            </a:r>
            <a:endParaRPr lang="en-US" altLang="zh-CN"/>
          </a:p>
        </p:txBody>
      </p:sp>
      <p:sp>
        <p:nvSpPr>
          <p:cNvPr id="8" name="Content Placeholder 2"/>
          <p:cNvSpPr>
            <a:spLocks noGrp="1"/>
          </p:cNvSpPr>
          <p:nvPr>
            <p:custDataLst>
              <p:tags r:id="rId3"/>
            </p:custDataLst>
          </p:nvPr>
        </p:nvSpPr>
        <p:spPr>
          <a:xfrm>
            <a:off x="4724400" y="1708150"/>
            <a:ext cx="3560445" cy="2298065"/>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1600" dirty="0"/>
              <a:t>学院/n 教学/n 以/p 学生/n 为/p 中心/n ，/x 通过/p 学位/n 课程/n 帮助/v 学生/n 打下/v 坚实/ad 的/uj 学科/n 基础/n 。/x 通过/p 行业/n 实践/v 让/v 学生/n 深入/v 了解/v 人工智能/n 行业/n 技术/n 与/p 创新/v 创业精神/n ，/x 并/c 确保/v 学生/n 为/p 个人/n 职业/n 发展/vn 做好/v 充分准备/n 。/x </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1</a:t>
            </a:r>
            <a:endParaRPr lang="en-US" altLang="zh-CN"/>
          </a:p>
        </p:txBody>
      </p:sp>
      <p:sp>
        <p:nvSpPr>
          <p:cNvPr id="4" name="内容占位符 3"/>
          <p:cNvSpPr>
            <a:spLocks noGrp="1"/>
          </p:cNvSpPr>
          <p:nvPr>
            <p:ph idx="1"/>
          </p:nvPr>
        </p:nvSpPr>
        <p:spPr/>
        <p:txBody>
          <a:bodyPr/>
          <a:p>
            <a:r>
              <a:rPr lang="zh-CN" altLang="en-US"/>
              <a:t>Please use </a:t>
            </a:r>
            <a:r>
              <a:rPr lang="en-US" altLang="zh-CN"/>
              <a:t>N</a:t>
            </a:r>
            <a:r>
              <a:rPr lang="zh-CN" altLang="en-US"/>
              <a:t>amed </a:t>
            </a:r>
            <a:r>
              <a:rPr lang="en-US" altLang="zh-CN"/>
              <a:t>E</a:t>
            </a:r>
            <a:r>
              <a:rPr lang="zh-CN" altLang="en-US"/>
              <a:t>ntity </a:t>
            </a:r>
            <a:r>
              <a:rPr lang="en-US" altLang="zh-CN"/>
              <a:t>R</a:t>
            </a:r>
            <a:r>
              <a:rPr lang="zh-CN" altLang="en-US"/>
              <a:t>ecognition technology to identify examples of entities present in the raw data downloaded in the first week. Analyze and compare the differences between samples with and without entities.</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2</a:t>
            </a:r>
            <a:endParaRPr lang="en-US" altLang="zh-CN"/>
          </a:p>
        </p:txBody>
      </p:sp>
      <p:sp>
        <p:nvSpPr>
          <p:cNvPr id="4" name="内容占位符 3"/>
          <p:cNvSpPr>
            <a:spLocks noGrp="1"/>
          </p:cNvSpPr>
          <p:nvPr>
            <p:ph idx="1"/>
          </p:nvPr>
        </p:nvSpPr>
        <p:spPr/>
        <p:txBody>
          <a:bodyPr/>
          <a:p>
            <a:r>
              <a:rPr lang="zh-CN" altLang="en-US">
                <a:sym typeface="+mn-ea"/>
              </a:rPr>
              <a:t>Please use word2vec technology to perform word embedding on the </a:t>
            </a:r>
            <a:r>
              <a:rPr lang="en-US" altLang="zh-CN">
                <a:sym typeface="+mn-ea"/>
              </a:rPr>
              <a:t>main</a:t>
            </a:r>
            <a:r>
              <a:rPr lang="zh-CN" altLang="en-US">
                <a:sym typeface="+mn-ea"/>
              </a:rPr>
              <a:t> content of the three datasets</a:t>
            </a:r>
            <a:r>
              <a:rPr lang="en-US" altLang="zh-CN">
                <a:sym typeface="+mn-ea"/>
              </a:rPr>
              <a:t> in first week</a:t>
            </a:r>
            <a:r>
              <a:rPr lang="zh-CN" altLang="en-US">
                <a:sym typeface="+mn-ea"/>
              </a:rPr>
              <a:t>. </a:t>
            </a:r>
            <a:endParaRPr lang="zh-CN" altLang="en-US">
              <a:sym typeface="+mn-ea"/>
            </a:endParaRPr>
          </a:p>
          <a:p>
            <a:r>
              <a:rPr lang="en-US" altLang="zh-CN">
                <a:sym typeface="+mn-ea"/>
              </a:rPr>
              <a:t>Print and check</a:t>
            </a:r>
            <a:r>
              <a:rPr lang="zh-CN" altLang="en-US">
                <a:sym typeface="+mn-ea"/>
              </a:rPr>
              <a:t> the parameters of the model and the memory usage.</a:t>
            </a:r>
            <a:endParaRPr lang="zh-CN" altLang="en-US"/>
          </a:p>
          <a:p>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8217</Words>
  <Application>WPS 表格</Application>
  <PresentationFormat>On-screen Show (16:9)</PresentationFormat>
  <Paragraphs>272</Paragraphs>
  <Slides>21</Slides>
  <Notes>2</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21</vt:i4>
      </vt:variant>
    </vt:vector>
  </HeadingPairs>
  <TitlesOfParts>
    <vt:vector size="48"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Wingdings</vt:lpstr>
      <vt:lpstr>Calibri</vt:lpstr>
      <vt:lpstr>微软雅黑</vt:lpstr>
      <vt:lpstr>汉仪旗黑</vt:lpstr>
      <vt:lpstr>宋体</vt:lpstr>
      <vt:lpstr>Arial Unicode MS</vt:lpstr>
      <vt:lpstr>Calibri Light</vt:lpstr>
      <vt:lpstr>汉仪书宋二KW</vt:lpstr>
      <vt:lpstr>Retrospect</vt:lpstr>
      <vt:lpstr>Default Theme</vt:lpstr>
      <vt:lpstr>Natural Language Processing DTS305TC</vt:lpstr>
      <vt:lpstr>Lab 3 feature engineering</vt:lpstr>
      <vt:lpstr>Overview</vt:lpstr>
      <vt:lpstr>Named Entity Recognition (NER)</vt:lpstr>
      <vt:lpstr>Named Entity Recognition (NER)</vt:lpstr>
      <vt:lpstr>Named Entity Recognition (NER)</vt:lpstr>
      <vt:lpstr>Named Entity Recognition (NER)</vt:lpstr>
      <vt:lpstr>Named Entity Recognition (NER)</vt:lpstr>
      <vt:lpstr>Word Embeddings</vt:lpstr>
      <vt:lpstr>Word Embeddings</vt:lpstr>
      <vt:lpstr>Word Embeddings</vt:lpstr>
      <vt:lpstr>Word Embeddings</vt:lpstr>
      <vt:lpstr>Word Embeddings</vt:lpstr>
      <vt:lpstr>Part-of-speech (POS) tagging</vt:lpstr>
      <vt:lpstr>Part-of-speech (POS) tagging</vt:lpstr>
      <vt:lpstr>Part-of-speech (POS) tagging</vt:lpstr>
      <vt:lpstr>Part-of-speech (POS) tagging</vt:lpstr>
      <vt:lpstr>Part-of-speech (POS) tagging</vt:lpstr>
      <vt:lpstr>PowerPoint 演示文稿</vt:lpstr>
      <vt:lpstr>Exercises 1</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467</cp:revision>
  <cp:lastPrinted>2024-09-20T08:57:22Z</cp:lastPrinted>
  <dcterms:created xsi:type="dcterms:W3CDTF">2024-09-20T08:57:22Z</dcterms:created>
  <dcterms:modified xsi:type="dcterms:W3CDTF">2024-09-20T08:57:22Z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