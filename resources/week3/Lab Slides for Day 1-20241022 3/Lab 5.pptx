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5"/>
  </p:handoutMasterIdLst>
  <p:sldIdLst>
    <p:sldId id="256" r:id="rId4"/>
    <p:sldId id="1987" r:id="rId6"/>
    <p:sldId id="1956" r:id="rId7"/>
    <p:sldId id="1988" r:id="rId8"/>
    <p:sldId id="2067" r:id="rId9"/>
    <p:sldId id="2059" r:id="rId10"/>
    <p:sldId id="2068" r:id="rId11"/>
    <p:sldId id="2060" r:id="rId12"/>
    <p:sldId id="2061" r:id="rId13"/>
    <p:sldId id="2071" r:id="rId14"/>
    <p:sldId id="2062" r:id="rId15"/>
    <p:sldId id="2063" r:id="rId16"/>
    <p:sldId id="2069" r:id="rId17"/>
    <p:sldId id="2074" r:id="rId18"/>
    <p:sldId id="2064" r:id="rId19"/>
    <p:sldId id="2072" r:id="rId20"/>
    <p:sldId id="2073" r:id="rId21"/>
    <p:sldId id="2065" r:id="rId22"/>
    <p:sldId id="2066" r:id="rId23"/>
    <p:sldId id="391" r:id="rId24"/>
  </p:sldIdLst>
  <p:sldSz cx="9144000" cy="5143500" type="screen16x9"/>
  <p:notesSz cx="6845300" cy="939609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MS PGothic" charset="0"/>
        <a:cs typeface="MS PGothic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MS PGothic" charset="0"/>
        <a:cs typeface="MS PGothic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MS PGothic" charset="0"/>
        <a:cs typeface="MS PGothic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MS PGothic" charset="0"/>
        <a:cs typeface="MS PGothic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MS PGothic" charset="0"/>
        <a:cs typeface="MS PGothic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MS PGothic" charset="0"/>
        <a:cs typeface="MS PGothic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MS PGothic" charset="0"/>
        <a:cs typeface="MS PGothic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6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200FF"/>
    <a:srgbClr val="0000CC"/>
    <a:srgbClr val="A4001D"/>
    <a:srgbClr val="000099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99" autoAdjust="0"/>
    <p:restoredTop sz="95865" autoAdjust="0"/>
  </p:normalViewPr>
  <p:slideViewPr>
    <p:cSldViewPr showGuides="1">
      <p:cViewPr varScale="1">
        <p:scale>
          <a:sx n="165" d="100"/>
          <a:sy n="165" d="100"/>
        </p:scale>
        <p:origin x="144" y="38"/>
      </p:cViewPr>
      <p:guideLst>
        <p:guide orient="horz" pos="156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8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ahoma" panose="020B060403050404020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ahoma" panose="020B060403050404020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charset="0"/>
              </a:defRPr>
            </a:lvl1pPr>
          </a:lstStyle>
          <a:p>
            <a:fld id="{8A029216-D615-3945-A1F3-D96FC886DA6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MS PGothic" pitchFamily="-65" charset="-128"/>
        <a:cs typeface="MS PGothic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MS PGothic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MS PGothic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MS PGothic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MS PGothic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English Title:</a:t>
            </a:r>
            <a:r>
              <a:rPr lang="en-US" baseline="0" dirty="0"/>
              <a:t> Uppercase, Calibri size 60, XJTLU Navy</a:t>
            </a:r>
            <a:endParaRPr lang="en-US" baseline="0" dirty="0"/>
          </a:p>
          <a:p>
            <a:r>
              <a:rPr lang="en-US" baseline="0" dirty="0"/>
              <a:t>English Subtitle: Uppercase, Calibri size 36, XJTLU Navy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</a:t>
            </a:r>
            <a:r>
              <a:rPr lang="en-US" baseline="0" dirty="0"/>
              <a:t> Uppercase, Calibri size 60, XJTLU Navy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7FEE-6B48-4643-BCFB-F13B0E13E171}" type="slidenum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rot="16200000">
            <a:off x="-2549264" y="2474314"/>
            <a:ext cx="5143502" cy="1948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 rot="16200000" flipV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7263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rot="16200000">
            <a:off x="-2556759" y="2481809"/>
            <a:ext cx="5143502" cy="1798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 rot="16200000" flipV="1">
            <a:off x="-2472584" y="2548889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3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UltraLight" panose="02000503000000020004"/>
                <a:ea typeface="Helvetica Neue UltraLight" panose="02000503000000020004"/>
                <a:cs typeface="Helvetica Neue UltraLight" panose="02000503000000020004"/>
                <a:sym typeface="Helvetica Neue UltraLight" panose="02000503000000020004"/>
              </a:defRPr>
            </a:lvl1pPr>
            <a:lvl2pPr>
              <a:defRPr>
                <a:latin typeface="Helvetica Neue UltraLight" panose="02000503000000020004"/>
                <a:ea typeface="Helvetica Neue UltraLight" panose="02000503000000020004"/>
                <a:cs typeface="Helvetica Neue UltraLight" panose="02000503000000020004"/>
                <a:sym typeface="Helvetica Neue UltraLight" panose="02000503000000020004"/>
              </a:defRPr>
            </a:lvl2pPr>
            <a:lvl3pPr>
              <a:defRPr>
                <a:latin typeface="Helvetica Neue UltraLight" panose="02000503000000020004"/>
                <a:ea typeface="Helvetica Neue UltraLight" panose="02000503000000020004"/>
                <a:cs typeface="Helvetica Neue UltraLight" panose="02000503000000020004"/>
                <a:sym typeface="Helvetica Neue UltraLight" panose="02000503000000020004"/>
              </a:defRPr>
            </a:lvl3pPr>
            <a:lvl4pPr>
              <a:defRPr>
                <a:latin typeface="Helvetica Neue UltraLight" panose="02000503000000020004"/>
                <a:ea typeface="Helvetica Neue UltraLight" panose="02000503000000020004"/>
                <a:cs typeface="Helvetica Neue UltraLight" panose="02000503000000020004"/>
                <a:sym typeface="Helvetica Neue UltraLight" panose="02000503000000020004"/>
              </a:defRPr>
            </a:lvl4pPr>
            <a:lvl5pPr>
              <a:defRPr>
                <a:latin typeface="Helvetica Neue UltraLight" panose="02000503000000020004"/>
                <a:ea typeface="Helvetica Neue UltraLight" panose="02000503000000020004"/>
                <a:cs typeface="Helvetica Neue UltraLight" panose="02000503000000020004"/>
                <a:sym typeface="Helvetica Neue UltraLight" panose="02000503000000020004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  <p:sp>
        <p:nvSpPr>
          <p:cNvPr id="7" name="Rectangle 4"/>
          <p:cNvSpPr/>
          <p:nvPr/>
        </p:nvSpPr>
        <p:spPr>
          <a:xfrm rot="10800000">
            <a:off x="0" y="5004435"/>
            <a:ext cx="9144000" cy="138589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2" y="1200150"/>
            <a:ext cx="7543801" cy="3429000"/>
          </a:xfrm>
        </p:spPr>
        <p:txBody>
          <a:bodyPr/>
          <a:lstStyle>
            <a:lvl1pPr marL="5715" indent="-5715">
              <a:defRPr sz="2100" baseline="0"/>
            </a:lvl1pPr>
            <a:lvl2pPr marL="303530" indent="-190500">
              <a:defRPr sz="1800" baseline="0"/>
            </a:lvl2pPr>
            <a:lvl3pPr marL="386715" indent="-171450">
              <a:defRPr sz="1500" baseline="0"/>
            </a:lvl3pPr>
            <a:lvl4pPr marL="518160" indent="-198755">
              <a:defRPr sz="1200" baseline="0"/>
            </a:lvl4pPr>
            <a:lvl5pPr marL="601345" indent="-179705">
              <a:defRPr sz="105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image" Target="../media/image1.emf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16200000">
            <a:off x="-2518606" y="2473636"/>
            <a:ext cx="5143502" cy="1962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 rot="16200000" flipV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384301"/>
            <a:ext cx="7543801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0">
                <a:solidFill>
                  <a:srgbClr val="FFFFFF"/>
                </a:solidFill>
              </a:defRPr>
            </a:lvl1pPr>
          </a:lstStyle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2407"/>
            <a:ext cx="8331200" cy="5400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02494"/>
            <a:ext cx="8229600" cy="3707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CDC23-E565-C848-9AF6-12BD09C53D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771B2-D7F7-364E-B6F3-F7FE93606BCE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7383145" y="-4286"/>
            <a:ext cx="1830070" cy="5169694"/>
          </a:xfrm>
          <a:prstGeom prst="rect">
            <a:avLst/>
          </a:prstGeom>
        </p:spPr>
      </p:pic>
      <p:pic>
        <p:nvPicPr>
          <p:cNvPr id="12" name="Picture 11" descr="Shield-navy(rgb for online)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531" y="4446764"/>
            <a:ext cx="356139" cy="333393"/>
          </a:xfrm>
          <a:prstGeom prst="rect">
            <a:avLst/>
          </a:prstGeom>
        </p:spPr>
      </p:pic>
      <p:sp>
        <p:nvSpPr>
          <p:cNvPr id="9" name="Rectangle 4"/>
          <p:cNvSpPr/>
          <p:nvPr/>
        </p:nvSpPr>
        <p:spPr>
          <a:xfrm rot="10800000">
            <a:off x="0" y="5004435"/>
            <a:ext cx="9144000" cy="138589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u="none" strike="noStrike" kern="1200" cap="all" spc="0" normalizeH="0">
          <a:solidFill>
            <a:schemeClr val="tx1"/>
          </a:solidFill>
          <a:uFillTx/>
          <a:latin typeface="Times New Roman" panose="02020503050405090304" pitchFamily="18" charset="0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Times New Roman Regular" panose="02020503050405090304" charset="0"/>
          <a:ea typeface="+mn-ea"/>
          <a:cs typeface="Times New Roman Regular" panose="02020503050405090304" charset="0"/>
        </a:defRPr>
      </a:lvl1pPr>
      <a:lvl2pPr marL="557530" indent="-214630" algn="l" defTabSz="342900" rtl="0" eaLnBrk="1" latinLnBrk="0" hangingPunct="1">
        <a:spcBef>
          <a:spcPct val="20000"/>
        </a:spcBef>
        <a:buFont typeface="Arial" panose="020B0604020202090204"/>
        <a:buChar char="–"/>
        <a:defRPr sz="2100" kern="1200">
          <a:solidFill>
            <a:schemeClr val="tx1"/>
          </a:solidFill>
          <a:latin typeface="Times New Roman Regular" panose="02020503050405090304" charset="0"/>
          <a:ea typeface="+mn-ea"/>
          <a:cs typeface="Times New Roman Regular" panose="02020503050405090304" charset="0"/>
        </a:defRPr>
      </a:lvl2pPr>
      <a:lvl3pPr marL="857250" indent="-171450" algn="l" defTabSz="3429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Times New Roman Regular" panose="02020503050405090304" charset="0"/>
          <a:ea typeface="+mn-ea"/>
          <a:cs typeface="Times New Roman Regular" panose="0202050305040509030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 panose="020B0604020202090204"/>
        <a:buChar char="–"/>
        <a:defRPr sz="1500" kern="1200">
          <a:solidFill>
            <a:schemeClr val="tx1"/>
          </a:solidFill>
          <a:latin typeface="Times New Roman Regular" panose="02020503050405090304" charset="0"/>
          <a:ea typeface="+mn-ea"/>
          <a:cs typeface="Times New Roman Regular" panose="02020503050405090304" charset="0"/>
        </a:defRPr>
      </a:lvl4pPr>
      <a:lvl5pPr marL="1543050" indent="-171450" algn="l" defTabSz="342900" rtl="0" eaLnBrk="1" latinLnBrk="0" hangingPunct="1">
        <a:spcBef>
          <a:spcPct val="20000"/>
        </a:spcBef>
        <a:buFont typeface="Arial" panose="020B0604020202090204"/>
        <a:buChar char="»"/>
        <a:defRPr sz="1500" kern="1200">
          <a:solidFill>
            <a:schemeClr val="tx1"/>
          </a:solidFill>
          <a:latin typeface="Times New Roman Regular" panose="02020503050405090304" charset="0"/>
          <a:ea typeface="+mn-ea"/>
          <a:cs typeface="Times New Roman Regular" panose="0202050305040509030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3.xml"/><Relationship Id="rId5" Type="http://schemas.openxmlformats.org/officeDocument/2006/relationships/hyperlink" Target="http://www.xjtlu.edu.cn/en/" TargetMode="External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370" y="1056005"/>
            <a:ext cx="7694930" cy="1315085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Natural Language Processing</a:t>
            </a:r>
            <a:br>
              <a:rPr lang="en-US" altLang="zh-CN" sz="3200" dirty="0"/>
            </a:br>
            <a:r>
              <a:rPr lang="en-US" altLang="zh-CN" sz="3200" dirty="0">
                <a:solidFill>
                  <a:srgbClr val="000044"/>
                </a:solidFill>
                <a:cs typeface="DIN-Regular"/>
                <a:sym typeface="+mn-ea"/>
              </a:rPr>
              <a:t>DTS305TC</a:t>
            </a:r>
            <a:endParaRPr lang="en-US" altLang="zh-CN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859" y="3635858"/>
            <a:ext cx="1733550" cy="370813"/>
          </a:xfrm>
          <a:prstGeom prst="rect">
            <a:avLst/>
          </a:prstGeom>
        </p:spPr>
      </p:pic>
      <p:sp>
        <p:nvSpPr>
          <p:cNvPr id="9" name="Subtitle 2"/>
          <p:cNvSpPr txBox="1"/>
          <p:nvPr/>
        </p:nvSpPr>
        <p:spPr>
          <a:xfrm>
            <a:off x="2815937" y="2370501"/>
            <a:ext cx="3600450" cy="810802"/>
          </a:xfrm>
          <a:prstGeom prst="rect">
            <a:avLst/>
          </a:prstGeom>
        </p:spPr>
        <p:txBody>
          <a:bodyPr vert="horz" lIns="51435" tIns="25718" rIns="51435" bIns="2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 panose="020B0604020202090204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 panose="020B060402020209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 panose="020B060402020209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9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9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9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9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cap="all" dirty="0" err="1">
                <a:solidFill>
                  <a:srgbClr val="000044"/>
                </a:solidFill>
                <a:cs typeface="DIN-Regular"/>
              </a:rPr>
              <a:t>Huakang</a:t>
            </a:r>
            <a:r>
              <a:rPr lang="zh-CN" altLang="en-US" sz="1350" cap="all" dirty="0">
                <a:solidFill>
                  <a:srgbClr val="000044"/>
                </a:solidFill>
                <a:cs typeface="DIN-Regular"/>
              </a:rPr>
              <a:t> </a:t>
            </a:r>
            <a:r>
              <a:rPr lang="en-US" altLang="zh-CN" sz="1350" cap="all" dirty="0">
                <a:solidFill>
                  <a:srgbClr val="000044"/>
                </a:solidFill>
                <a:cs typeface="DIN-Regular"/>
              </a:rPr>
              <a:t>Li</a:t>
            </a:r>
            <a:endParaRPr lang="en-US" altLang="zh-CN" sz="1350" cap="all" dirty="0">
              <a:solidFill>
                <a:srgbClr val="000044"/>
              </a:solidFill>
              <a:cs typeface="DIN-Regular"/>
            </a:endParaRPr>
          </a:p>
          <a:p>
            <a:r>
              <a:rPr lang="en-US" altLang="zh-CN" sz="1350" cap="all" dirty="0" err="1">
                <a:solidFill>
                  <a:srgbClr val="000044"/>
                </a:solidFill>
                <a:cs typeface="DIN-Regular"/>
              </a:rPr>
              <a:t>Huakang.li@xjtlu.edu.cn</a:t>
            </a:r>
            <a:endParaRPr lang="en-US" altLang="zh-CN" sz="1350" cap="all" dirty="0">
              <a:solidFill>
                <a:srgbClr val="000044"/>
              </a:solidFill>
              <a:cs typeface="DIN-Regular"/>
            </a:endParaRPr>
          </a:p>
          <a:p>
            <a:r>
              <a:rPr lang="en-US" altLang="zh-CN" sz="1350" cap="all" dirty="0">
                <a:solidFill>
                  <a:srgbClr val="000044"/>
                </a:solidFill>
                <a:cs typeface="DIN-Regular"/>
              </a:rPr>
              <a:t>School</a:t>
            </a:r>
            <a:r>
              <a:rPr lang="zh-CN" altLang="en-US" sz="1350" cap="all" dirty="0">
                <a:solidFill>
                  <a:srgbClr val="000044"/>
                </a:solidFill>
                <a:cs typeface="DIN-Regular"/>
              </a:rPr>
              <a:t> </a:t>
            </a:r>
            <a:r>
              <a:rPr lang="en-US" altLang="zh-CN" sz="1350" cap="all" dirty="0">
                <a:solidFill>
                  <a:srgbClr val="000044"/>
                </a:solidFill>
                <a:cs typeface="DIN-Regular"/>
              </a:rPr>
              <a:t>of</a:t>
            </a:r>
            <a:r>
              <a:rPr lang="zh-CN" altLang="en-US" sz="1350" cap="all" dirty="0">
                <a:solidFill>
                  <a:srgbClr val="000044"/>
                </a:solidFill>
                <a:cs typeface="DIN-Regular"/>
              </a:rPr>
              <a:t> </a:t>
            </a:r>
            <a:r>
              <a:rPr lang="en-US" altLang="zh-CN" sz="1350" cap="all" dirty="0">
                <a:solidFill>
                  <a:srgbClr val="000044"/>
                </a:solidFill>
                <a:cs typeface="DIN-Regular"/>
              </a:rPr>
              <a:t>AI</a:t>
            </a:r>
            <a:r>
              <a:rPr lang="zh-CN" altLang="en-US" sz="1350" cap="all" dirty="0">
                <a:solidFill>
                  <a:srgbClr val="000044"/>
                </a:solidFill>
                <a:cs typeface="DIN-Regular"/>
              </a:rPr>
              <a:t> </a:t>
            </a:r>
            <a:r>
              <a:rPr lang="en-US" altLang="zh-CN" sz="1350" cap="all" dirty="0">
                <a:solidFill>
                  <a:srgbClr val="000044"/>
                </a:solidFill>
                <a:cs typeface="DIN-Regular"/>
              </a:rPr>
              <a:t>and</a:t>
            </a:r>
            <a:r>
              <a:rPr lang="zh-CN" altLang="en-US" sz="1350" cap="all" dirty="0">
                <a:solidFill>
                  <a:srgbClr val="000044"/>
                </a:solidFill>
                <a:cs typeface="DIN-Regular"/>
              </a:rPr>
              <a:t> </a:t>
            </a:r>
            <a:r>
              <a:rPr lang="en-US" altLang="zh-CN" sz="1350" cap="all" dirty="0">
                <a:solidFill>
                  <a:srgbClr val="000044"/>
                </a:solidFill>
                <a:cs typeface="DIN-Regular"/>
              </a:rPr>
              <a:t>Advanced</a:t>
            </a:r>
            <a:r>
              <a:rPr lang="zh-CN" altLang="en-US" sz="1350" cap="all" dirty="0">
                <a:solidFill>
                  <a:srgbClr val="000044"/>
                </a:solidFill>
                <a:cs typeface="DIN-Regular"/>
              </a:rPr>
              <a:t> </a:t>
            </a:r>
            <a:r>
              <a:rPr lang="en-US" altLang="zh-CN" sz="1350" cap="all" dirty="0">
                <a:solidFill>
                  <a:srgbClr val="000044"/>
                </a:solidFill>
                <a:cs typeface="DIN-Regular"/>
              </a:rPr>
              <a:t>Computing</a:t>
            </a:r>
            <a:endParaRPr lang="en-US" sz="1350" cap="all" dirty="0">
              <a:solidFill>
                <a:srgbClr val="000044"/>
              </a:solidFill>
              <a:cs typeface="DIN-Regular"/>
            </a:endParaRPr>
          </a:p>
          <a:p>
            <a:endParaRPr lang="en-US" sz="1350" cap="all" dirty="0">
              <a:solidFill>
                <a:srgbClr val="000044"/>
              </a:solidFill>
              <a:cs typeface="DIN-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103"/>
    </mc:Choice>
    <mc:Fallback>
      <p:transition spd="slow" advTm="201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Lab 5 Document Classification</a:t>
            </a:r>
            <a:endParaRPr lang="en-US" altLang="zh-CN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1139190" y="2914650"/>
            <a:ext cx="6633210" cy="1314450"/>
          </a:xfrm>
        </p:spPr>
        <p:txBody>
          <a:bodyPr>
            <a:normAutofit fontScale="70000"/>
          </a:bodyPr>
          <a:p>
            <a:r>
              <a:rPr lang="en-US" altLang="zh-CN">
                <a:solidFill>
                  <a:schemeClr val="tx1"/>
                </a:solidFill>
              </a:rPr>
              <a:t>week 3 day 1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https://spotintelligence.com/2023/10/23/document-classification-python/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of Document Classification</a:t>
            </a:r>
            <a:endParaRPr lang="en-US" dirty="0"/>
          </a:p>
          <a:p>
            <a:r>
              <a:rPr lang="en-US" dirty="0"/>
              <a:t>Getting Started With Data Preparation</a:t>
            </a:r>
            <a:endParaRPr lang="en-US" dirty="0"/>
          </a:p>
          <a:p>
            <a:r>
              <a:rPr lang="en-US" dirty="0"/>
              <a:t>Machine Learning Models for Document Classification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Collecting a Labeled Dataset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en-US" dirty="0"/>
              <a:t>The foundation of document classification is a labelled dataset. This dataset consists of text documents associated with a predefined category or label. The process of collecting such a dataset involves the following:</a:t>
            </a:r>
            <a:endParaRPr lang="en-US" dirty="0"/>
          </a:p>
          <a:p>
            <a:pPr lvl="1"/>
            <a:r>
              <a:rPr lang="en-US" dirty="0"/>
              <a:t>Data Sourcing: Identify and gather text documents covering the topics or categories you want to classify. This might involve web scraping, data extraction from databases, or using existing datasets.</a:t>
            </a:r>
            <a:endParaRPr lang="en-US" dirty="0"/>
          </a:p>
          <a:p>
            <a:pPr lvl="1"/>
            <a:r>
              <a:rPr lang="en-US" dirty="0"/>
              <a:t>Labelling: Manually or automatically assign labels to the documents. For instance, if you have a spam email dataset, you would mark each email as “spam” or “not spam.”</a:t>
            </a:r>
            <a:endParaRPr lang="en-US" dirty="0"/>
          </a:p>
          <a:p>
            <a:pPr lvl="1"/>
            <a:r>
              <a:rPr lang="en-US" dirty="0"/>
              <a:t>Balancing: Ensure that the dataset is balanced, meaning that each category has a sufficient number of documents for training. Imbalanced datasets can lead to biased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07771B2-D7F7-364E-B6F3-F7FE93606BCE}" type="slidenum">
              <a:rPr lang="en-US" smtClean="0"/>
            </a:fld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685800" y="819150"/>
            <a:ext cx="668528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import pandas as pd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data = pd.read_csv('business_data.csv')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X = data['content']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y = data['category']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label_counts = y.value_counts()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print(label_counts)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category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tradee      1001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business     999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Name: count, dtype: int64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Data Cleaning and Preprocessing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Before feeding the data into a classification model, cleaning and preprocessing it is essential. Data cleaning and preprocessing steps typically include the following:</a:t>
            </a:r>
            <a:endParaRPr lang="en-US" sz="1800" dirty="0"/>
          </a:p>
          <a:p>
            <a:pPr lvl="1"/>
            <a:r>
              <a:rPr lang="en-US" sz="1600" dirty="0"/>
              <a:t>Text Cleaning: Remove any noise from the text data, such as HTML tags, special characters, or non-textual elements.</a:t>
            </a:r>
            <a:endParaRPr lang="en-US" sz="1600" dirty="0"/>
          </a:p>
          <a:p>
            <a:pPr lvl="1"/>
            <a:r>
              <a:rPr lang="en-US" sz="1600" dirty="0"/>
              <a:t>Lowercasing: Convert all text to lowercase to ensure consistency in text representations. This prevents the model from treating “cat” and “Cat” as different words.</a:t>
            </a:r>
            <a:endParaRPr lang="en-US" sz="1600" dirty="0"/>
          </a:p>
          <a:p>
            <a:pPr lvl="1"/>
            <a:r>
              <a:rPr lang="en-US" sz="1600" dirty="0"/>
              <a:t>Tokenization: Split the text into words or subword units. Tokenization is crucial for representing text as numerical features.</a:t>
            </a:r>
            <a:endParaRPr lang="en-US" sz="1600" dirty="0"/>
          </a:p>
          <a:p>
            <a:pPr lvl="1"/>
            <a:r>
              <a:rPr lang="en-US" sz="1600" dirty="0"/>
              <a:t>Stop Word Removal: Eliminate common words like “and,” “the,” and “in” that carry little meaning for document classification tasks.</a:t>
            </a:r>
            <a:endParaRPr lang="en-US" sz="1600" dirty="0"/>
          </a:p>
          <a:p>
            <a:pPr lvl="1"/>
            <a:r>
              <a:rPr lang="en-US" sz="1600" dirty="0"/>
              <a:t>Stemming or Lemmatization: Reduce words to their root form to ensure that different inflexions of a word are treated as the same word (e.g., “running” and “ran” to “run”).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07771B2-D7F7-364E-B6F3-F7FE93606BCE}" type="slidenum">
              <a:rPr lang="en-US" smtClean="0"/>
            </a:fld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3587115" y="518160"/>
            <a:ext cx="530796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def preprocess_text(text):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translator = str.maketrans('', '', string.punctuation)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text_no_punct = text.translate(translator)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text_lower = text_no_punct.lower()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tokens = word_tokenize(text_lower)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stop_words = set(stopwords.words('english'))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filtered_tokens = [word for word in tokens if word not in stop_words]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lemmatizer = WordNetLemmatizer()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lemmatized_tokens = [lemmatizer.lemmatize(word) for word in filtered_tokens]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preprocessed_text = ' '.join(lemmatized_tokens)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    return preprocessed_text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" y="819150"/>
            <a:ext cx="317373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import nltk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from nltk.corpus import stopwords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from nltk.stem import WordNetLemmatizer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from nltk.tokenize import word_tokenize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import string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nltk.download('stopwords')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nltk.download('wordnet')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How Can You Handle Imbalanced Datasets?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Imbalanced datasets are standard in document classification, where some categories may have many more examples than others. To address this, consider techniques such as:</a:t>
            </a:r>
            <a:endParaRPr lang="en-US" dirty="0"/>
          </a:p>
          <a:p>
            <a:pPr lvl="1"/>
            <a:r>
              <a:rPr lang="en-US" sz="1800" dirty="0"/>
              <a:t>Oversampling: Create additional copies of minority class samples to balance the dataset.</a:t>
            </a:r>
            <a:endParaRPr lang="en-US" sz="1800" dirty="0"/>
          </a:p>
          <a:p>
            <a:pPr lvl="1"/>
            <a:r>
              <a:rPr lang="en-US" sz="1800" dirty="0"/>
              <a:t>Undersampling: Reduce the number of majority class samples to balance the dataset.</a:t>
            </a:r>
            <a:endParaRPr lang="en-US" sz="1800" dirty="0"/>
          </a:p>
          <a:p>
            <a:pPr lvl="1"/>
            <a:r>
              <a:rPr lang="en-US" sz="1800" dirty="0"/>
              <a:t>Synthetic Data Generation: Use techniques like SMOTE (Synthetic Minority Over-sampling Technique) to generate synthetic examples for minority classes.</a:t>
            </a:r>
            <a:endParaRPr lang="en-US" sz="1800" dirty="0"/>
          </a:p>
          <a:p>
            <a:pPr lvl="1"/>
            <a:r>
              <a:rPr lang="en-US" sz="1800" dirty="0"/>
              <a:t>Evaluation Metrics: Use appropriate metrics like F1-score, precision-recall, or ROC-AUC, which are more robust for imbalanced datasets than accuracy.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Text Feature Extraction Techniques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data preprocessing, you need to convert the text data into numerical features that machine learning models can use. Standard text feature extraction techniques include:</a:t>
            </a:r>
            <a:endParaRPr lang="en-US" dirty="0"/>
          </a:p>
          <a:p>
            <a:pPr lvl="1"/>
            <a:r>
              <a:rPr lang="en-US" sz="1800" dirty="0"/>
              <a:t>Bag of Words (BoW): Represent each document as a vector of word frequencies. Each word is a feature, and its frequency in the document is its value.</a:t>
            </a:r>
            <a:endParaRPr lang="en-US" sz="1800" dirty="0"/>
          </a:p>
          <a:p>
            <a:pPr lvl="1"/>
            <a:r>
              <a:rPr lang="en-US" sz="1800" dirty="0"/>
              <a:t>Term Frequency-Inverse Document Frequency (TF-IDF): Weigh words based on their importance in a document relative to their significance in a corpus. It helps identify words that are discriminative for a category.	</a:t>
            </a:r>
            <a:endParaRPr lang="en-US" sz="1800" dirty="0"/>
          </a:p>
          <a:p>
            <a:pPr lvl="1"/>
            <a:r>
              <a:rPr lang="en-US" sz="1800" dirty="0"/>
              <a:t>Word Embeddings: This method utilizes pre-trained word vectors (e.g., Word2Vec, GloVe, fastText) to represent words and documents in a continuous vector space.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07771B2-D7F7-364E-B6F3-F7FE93606BCE}" type="slidenum">
              <a:rPr lang="en-US" smtClean="0"/>
            </a:fld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685800" y="666750"/>
            <a:ext cx="53079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# Vectorize the text data using TF-IDF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vectorizer = TfidfVectorizer(max_features=5000)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X_train = vectorizer.fit_transform(X_train)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X_test = vectorizer.transform(X_test)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# Encode labels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label_encoder = LabelEncoder()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y_train = label_encoder.fit_transform(y_train)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y_test = label_encoder.transform(y_test)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Machine Learning Models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en-US" dirty="0"/>
              <a:t>Machine learning models are designed to learn patterns and relationships within data, making them well-suited for document classification. Here are the key concepts to understand:</a:t>
            </a:r>
            <a:endParaRPr lang="en-US" dirty="0"/>
          </a:p>
          <a:p>
            <a:pPr lvl="1"/>
            <a:r>
              <a:rPr lang="en-US" dirty="0"/>
              <a:t>Supervised Learning: Document classification is primarily a supervised learning task. It means the model learns from labelled examples where the text document and its associated category are provided during training.</a:t>
            </a:r>
            <a:endParaRPr lang="en-US" dirty="0"/>
          </a:p>
          <a:p>
            <a:pPr lvl="1"/>
            <a:r>
              <a:rPr lang="en-US" dirty="0"/>
              <a:t>Feature Vectors: Text data must be transformed into numerical feature vectors for input for machine learning models. This is typically achieved through techniques like Bag of Words (BoW), Term Frequency-Inverse Document Frequency (TF-IDF), or word embeddings.</a:t>
            </a:r>
            <a:endParaRPr lang="en-US" dirty="0"/>
          </a:p>
          <a:p>
            <a:pPr lvl="1"/>
            <a:r>
              <a:rPr lang="en-US" dirty="0"/>
              <a:t>Classification Algorithms: Machine learning models predict the category of a document by mapping its feature vector to one of the predefined categories. Common classification algorithms include Naive Bayes, Support Vector Machines (SVM), and Random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ym typeface="+mn-ea"/>
              </a:rPr>
              <a:t>Top 4 Algorithms for Document Classification</a:t>
            </a:r>
            <a:endParaRPr lang="en-US" sz="2400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Naive Bayes:</a:t>
            </a:r>
            <a:endParaRPr lang="en-US" dirty="0"/>
          </a:p>
          <a:p>
            <a:pPr lvl="1"/>
            <a:r>
              <a:rPr lang="en-US" dirty="0"/>
              <a:t>Pros: Simple, efficient, and effective for text classification. Works well even with small datasets.</a:t>
            </a:r>
            <a:endParaRPr lang="en-US" dirty="0"/>
          </a:p>
          <a:p>
            <a:pPr lvl="1"/>
            <a:r>
              <a:rPr lang="en-US" dirty="0"/>
              <a:t>Cons: Assumes independence between features (words), which may not always hold in text data.</a:t>
            </a:r>
            <a:endParaRPr lang="en-US" dirty="0"/>
          </a:p>
          <a:p>
            <a:r>
              <a:rPr lang="en-US" dirty="0"/>
              <a:t>2. Support Vector Machines (SVM):</a:t>
            </a:r>
            <a:endParaRPr lang="en-US" dirty="0"/>
          </a:p>
          <a:p>
            <a:pPr lvl="1"/>
            <a:r>
              <a:rPr lang="en-US" dirty="0"/>
              <a:t>Pros: Effective for both linear and non-linear classification. Good at handling high-dimensional data like text.</a:t>
            </a:r>
            <a:endParaRPr lang="en-US" dirty="0"/>
          </a:p>
          <a:p>
            <a:pPr lvl="1"/>
            <a:r>
              <a:rPr lang="en-US" dirty="0"/>
              <a:t>Cons: It can be computationally expensive for large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07771B2-D7F7-364E-B6F3-F7FE93606BCE}" type="slidenum">
              <a:rPr lang="en-US" smtClean="0"/>
            </a:fld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533400" y="285750"/>
            <a:ext cx="5828665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from sklearn.naive_bayes import MultinomialNB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# Example with Naive Bayes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model = MultinomialNB()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model.fit(X_train, y_train)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from sklearn.metrics import accuracy_score, classification_report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# Make predictions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y_pred = model.predict(X_test)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# Evaluate the model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accuracy = accuracy_score(y_test, y_pred)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classification_rep = classification_report(y_test, y_pred)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print(f"Accuracy: {accuracy}")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print(f"Classification Report:\n{classification_rep}")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07771B2-D7F7-364E-B6F3-F7FE93606BCE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685800" y="1047750"/>
            <a:ext cx="596074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Times New Roman Regular" panose="02020503050405090304" charset="0"/>
                <a:cs typeface="Times New Roman Regular" panose="02020503050405090304" charset="0"/>
              </a:rPr>
              <a:t>Accuracy: 0.7575</a:t>
            </a:r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2000">
                <a:latin typeface="Times New Roman Regular" panose="02020503050405090304" charset="0"/>
                <a:cs typeface="Times New Roman Regular" panose="02020503050405090304" charset="0"/>
              </a:rPr>
              <a:t>Classification Report:</a:t>
            </a:r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2000">
                <a:latin typeface="Times New Roman Regular" panose="02020503050405090304" charset="0"/>
                <a:cs typeface="Times New Roman Regular" panose="02020503050405090304" charset="0"/>
              </a:rPr>
              <a:t>              precision    recall  f1-score   support</a:t>
            </a:r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2000">
                <a:latin typeface="Times New Roman Regular" panose="02020503050405090304" charset="0"/>
                <a:cs typeface="Times New Roman Regular" panose="02020503050405090304" charset="0"/>
              </a:rPr>
              <a:t>           0       0.78      0.72      0.75       199</a:t>
            </a:r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2000">
                <a:latin typeface="Times New Roman Regular" panose="02020503050405090304" charset="0"/>
                <a:cs typeface="Times New Roman Regular" panose="02020503050405090304" charset="0"/>
              </a:rPr>
              <a:t>           1       0.74      0.80      0.77       201</a:t>
            </a:r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2000">
                <a:latin typeface="Times New Roman Regular" panose="02020503050405090304" charset="0"/>
                <a:cs typeface="Times New Roman Regular" panose="02020503050405090304" charset="0"/>
              </a:rPr>
              <a:t>    accuracy                           0.76       400</a:t>
            </a:r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2000">
                <a:latin typeface="Times New Roman Regular" panose="02020503050405090304" charset="0"/>
                <a:cs typeface="Times New Roman Regular" panose="02020503050405090304" charset="0"/>
              </a:rPr>
              <a:t>   macro avg       0.76      0.76      0.76       400</a:t>
            </a:r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2000">
                <a:latin typeface="Times New Roman Regular" panose="02020503050405090304" charset="0"/>
                <a:cs typeface="Times New Roman Regular" panose="02020503050405090304" charset="0"/>
              </a:rPr>
              <a:t>weighted avg       0.76      0.76      0.76       400</a:t>
            </a:r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ym typeface="+mn-ea"/>
              </a:rPr>
              <a:t>Top 4 Algorithms for Document Classification</a:t>
            </a:r>
            <a:endParaRPr lang="en-US" sz="2400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3. Random Forest:</a:t>
            </a:r>
            <a:endParaRPr lang="en-US" dirty="0"/>
          </a:p>
          <a:p>
            <a:pPr lvl="1"/>
            <a:r>
              <a:rPr lang="en-US" dirty="0"/>
              <a:t>Pros: Ensemble of decision trees, providing good performance and the ability to capture complex patterns.</a:t>
            </a:r>
            <a:endParaRPr lang="en-US" dirty="0"/>
          </a:p>
          <a:p>
            <a:pPr lvl="1"/>
            <a:r>
              <a:rPr lang="en-US" dirty="0"/>
              <a:t>Cons: May overfit on small datasets if not carefully tuned.</a:t>
            </a:r>
            <a:endParaRPr lang="en-US" dirty="0"/>
          </a:p>
          <a:p>
            <a:r>
              <a:rPr lang="en-US" dirty="0"/>
              <a:t>4. Logistic Regression:</a:t>
            </a:r>
            <a:endParaRPr lang="en-US" dirty="0"/>
          </a:p>
          <a:p>
            <a:pPr lvl="1"/>
            <a:r>
              <a:rPr lang="en-US" dirty="0"/>
              <a:t>Pros: Simple and interpretable. Works well when the relationship between features and labels is approximately linear.</a:t>
            </a:r>
            <a:endParaRPr lang="en-US" dirty="0"/>
          </a:p>
          <a:p>
            <a:pPr lvl="1"/>
            <a:r>
              <a:rPr lang="en-US" dirty="0"/>
              <a:t>Cons: It may not capture complex, non-linear patterns as effectively as other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07771B2-D7F7-364E-B6F3-F7FE93606BCE}" type="slidenum">
              <a:rPr lang="en-US" smtClean="0"/>
            </a:fld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533400" y="666750"/>
            <a:ext cx="582866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from sklearn.linear_model import LogisticRegression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model = LogisticRegression(max_iter=1000)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model.fit(X_train, y_train)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from sklearn.metrics import accuracy_score, classification_report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# Make predictions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y_pred = model.predict(X_test)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# Evaluate the model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accuracy = accuracy_score(y_test, y_pred)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classification_rep = classification_report(y_test, y_pred)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print(f"Accuracy: {accuracy}")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print(f"Classification Report:\n{classification_rep}")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07771B2-D7F7-364E-B6F3-F7FE93606BCE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533400" y="1047750"/>
            <a:ext cx="632396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Accuracy: 0.7525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Classification Report: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              precision    recall  f1-score   support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           0       0.80      0.67      0.73       199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           1       0.72      0.83      0.77       201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    accuracy                           0.75       400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   macro avg       0.76      0.75      0.75       400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800">
                <a:latin typeface="Times New Roman Regular" panose="02020503050405090304" charset="0"/>
                <a:cs typeface="Times New Roman Regular" panose="02020503050405090304" charset="0"/>
              </a:rPr>
              <a:t>weighted avg       0.76      0.75      0.75       400</a:t>
            </a:r>
            <a:endParaRPr lang="zh-CN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ym typeface="+mn-ea"/>
              </a:rPr>
              <a:t>Choosing the Right Model</a:t>
            </a:r>
            <a:endParaRPr lang="en-US" sz="2400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Selecting the appropriate machine learning model for your document classification task depends on several factors:</a:t>
            </a:r>
            <a:endParaRPr lang="en-US" sz="1600" dirty="0"/>
          </a:p>
          <a:p>
            <a:pPr lvl="1"/>
            <a:r>
              <a:rPr lang="en-US" sz="1400" dirty="0"/>
              <a:t>Nature of the Data: Consider whether the relationship between features and labels is linear or non-linear. For complex patterns, ensemble models like Random Forest might be more suitable.</a:t>
            </a:r>
            <a:endParaRPr lang="en-US" sz="1400" dirty="0"/>
          </a:p>
          <a:p>
            <a:pPr lvl="1"/>
            <a:r>
              <a:rPr lang="en-US" sz="1400" dirty="0"/>
              <a:t>Size of the Dataset: Small datasets can benefit from simpler models like Naive Bayes, while larger datasets can handle more complex models like SVM or deep learning.</a:t>
            </a:r>
            <a:endParaRPr lang="en-US" sz="1400" dirty="0"/>
          </a:p>
          <a:p>
            <a:pPr lvl="1"/>
            <a:r>
              <a:rPr lang="en-US" sz="1400" dirty="0"/>
              <a:t>Computational Resources: Deep learning models can achieve state-of-the-art results but may require substantial computational resources and large amounts of data.</a:t>
            </a:r>
            <a:endParaRPr lang="en-US" sz="1400" dirty="0"/>
          </a:p>
          <a:p>
            <a:pPr lvl="1"/>
            <a:r>
              <a:rPr lang="en-US" sz="1400" dirty="0"/>
              <a:t>Interpretability: Depending on the application, the interpretability of the model may be a consideration. Naive Bayes and logistic regression models are more interpretable than deep learning models.</a:t>
            </a:r>
            <a:endParaRPr lang="en-US" sz="1400" dirty="0"/>
          </a:p>
          <a:p>
            <a:pPr lvl="1"/>
            <a:r>
              <a:rPr lang="en-US" sz="1400" dirty="0"/>
              <a:t>Experimentation: It’s often beneficial to experiment with multiple models and assess their performance using appropriate evaluation metrics. Cross-validation can help identify the best-performing model for your specific task.</a:t>
            </a:r>
            <a:endParaRPr lang="en-US" sz="1400" dirty="0"/>
          </a:p>
          <a:p>
            <a:pPr lvl="1"/>
            <a:r>
              <a:rPr lang="en-US" sz="1400" dirty="0"/>
              <a:t>Ensemble Methods: Combining multiple models, such as using an ensemble of classifiers or stacking, can improve classification accuracy.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ym typeface="+mn-ea"/>
              </a:rPr>
              <a:t>Model Evaluation and Tuning</a:t>
            </a:r>
            <a:endParaRPr lang="en-US" sz="2400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After selecting a model, the following steps involve training, evaluation, and potential hyperparameter tuning:</a:t>
            </a:r>
            <a:endParaRPr lang="en-US" sz="1600" dirty="0"/>
          </a:p>
          <a:p>
            <a:pPr lvl="1"/>
            <a:r>
              <a:rPr lang="en-US" sz="1400" dirty="0"/>
              <a:t>Training the Model: Train the selected machine learning model on the labelled dataset. Ensure you have a separate validation set for tuning hyperparameters.</a:t>
            </a:r>
            <a:endParaRPr lang="en-US" sz="1400" dirty="0"/>
          </a:p>
          <a:p>
            <a:pPr lvl="1"/>
            <a:r>
              <a:rPr lang="en-US" sz="1400" dirty="0"/>
              <a:t>Evaluation Metrics: Use appropriate evaluation metrics for document classification, such as accuracy, precision, recall, F1-score, and confusion matrices. Be cautious about overfitting to the evaluation metric.</a:t>
            </a:r>
            <a:endParaRPr lang="en-US" sz="1400" dirty="0"/>
          </a:p>
          <a:p>
            <a:pPr lvl="1"/>
            <a:r>
              <a:rPr lang="en-US" sz="1400" dirty="0"/>
              <a:t>Hyperparameter Tuning: Experiment with different settings to find the best model configuration. Techniques like grid search or random search can help with this process.</a:t>
            </a:r>
            <a:endParaRPr lang="en-US" sz="1400" dirty="0"/>
          </a:p>
          <a:p>
            <a:pPr lvl="1"/>
            <a:r>
              <a:rPr lang="en-US" sz="1400" dirty="0"/>
              <a:t>Cross-Validation: Implement cross-validation to ensure the model’s performance is consistent and to mitigate the risk of overfitting.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19"/>
          <a:stretch>
            <a:fillRect/>
          </a:stretch>
        </p:blipFill>
        <p:spPr>
          <a:xfrm>
            <a:off x="0" y="6350"/>
            <a:ext cx="9144000" cy="251460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802" y="3970977"/>
            <a:ext cx="1317415" cy="2818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236667" y="2234122"/>
            <a:ext cx="2662167" cy="644978"/>
          </a:xfrm>
          <a:prstGeom prst="rect">
            <a:avLst/>
          </a:prstGeom>
          <a:solidFill>
            <a:srgbClr val="00054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Title 1"/>
          <p:cNvSpPr txBox="1"/>
          <p:nvPr/>
        </p:nvSpPr>
        <p:spPr>
          <a:xfrm>
            <a:off x="2386013" y="2123817"/>
            <a:ext cx="4371975" cy="826889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75" b="1" cap="all" dirty="0">
                <a:solidFill>
                  <a:schemeClr val="bg1"/>
                </a:solidFill>
                <a:latin typeface="Calibri"/>
                <a:cs typeface="Calibri"/>
              </a:rPr>
              <a:t>THANK YOU</a:t>
            </a:r>
            <a:endParaRPr lang="en-US" sz="3375" b="1" cap="all" spc="169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5" name="Subtitle 2"/>
          <p:cNvSpPr txBox="1"/>
          <p:nvPr/>
        </p:nvSpPr>
        <p:spPr>
          <a:xfrm>
            <a:off x="3382213" y="3364089"/>
            <a:ext cx="2370179" cy="533751"/>
          </a:xfrm>
          <a:prstGeom prst="rect">
            <a:avLst/>
          </a:prstGeom>
        </p:spPr>
        <p:txBody>
          <a:bodyPr vert="horz" lIns="51435" tIns="25718" rIns="51435" bIns="25718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520"/>
              </a:lnSpc>
              <a:spcBef>
                <a:spcPts val="0"/>
              </a:spcBef>
              <a:buNone/>
            </a:pPr>
            <a:r>
              <a:rPr lang="en-US" sz="1350" b="1" cap="all" dirty="0">
                <a:solidFill>
                  <a:srgbClr val="000044"/>
                </a:solidFill>
                <a:cs typeface="DIN-Regular"/>
              </a:rPr>
              <a:t>Visit us</a:t>
            </a:r>
            <a:endParaRPr lang="en-US" sz="1350" b="1" cap="all" dirty="0">
              <a:solidFill>
                <a:srgbClr val="000044"/>
              </a:solidFill>
              <a:cs typeface="DIN-Regular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217" y="3214135"/>
            <a:ext cx="553997" cy="553997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439931" y="3254853"/>
            <a:ext cx="162000" cy="36450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Subtitle 2"/>
          <p:cNvSpPr txBox="1"/>
          <p:nvPr/>
        </p:nvSpPr>
        <p:spPr>
          <a:xfrm>
            <a:off x="5740581" y="3360007"/>
            <a:ext cx="2370179" cy="533751"/>
          </a:xfrm>
          <a:prstGeom prst="rect">
            <a:avLst/>
          </a:prstGeom>
        </p:spPr>
        <p:txBody>
          <a:bodyPr vert="horz" lIns="51435" tIns="25718" rIns="51435" bIns="25718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520"/>
              </a:lnSpc>
              <a:spcBef>
                <a:spcPts val="0"/>
              </a:spcBef>
              <a:buNone/>
            </a:pPr>
            <a:r>
              <a:rPr lang="en-US" sz="1350" b="1" cap="all" dirty="0">
                <a:solidFill>
                  <a:srgbClr val="000044"/>
                </a:solidFill>
                <a:cs typeface="DIN-Regular"/>
              </a:rPr>
              <a:t>FOLLOW us</a:t>
            </a:r>
            <a:endParaRPr lang="en-US" sz="1350" b="1" cap="all" dirty="0">
              <a:solidFill>
                <a:srgbClr val="000044"/>
              </a:solidFill>
              <a:cs typeface="DIN-Regular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798299" y="3254853"/>
            <a:ext cx="162000" cy="36450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36" name="Group 35"/>
          <p:cNvGrpSpPr/>
          <p:nvPr/>
        </p:nvGrpSpPr>
        <p:grpSpPr>
          <a:xfrm>
            <a:off x="5162170" y="3214138"/>
            <a:ext cx="583358" cy="548171"/>
            <a:chOff x="7496912" y="3906329"/>
            <a:chExt cx="1093174" cy="1027237"/>
          </a:xfrm>
        </p:grpSpPr>
        <p:pic>
          <p:nvPicPr>
            <p:cNvPr id="37" name="Picture 36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558" b="75832"/>
            <a:stretch>
              <a:fillRect/>
            </a:stretch>
          </p:blipFill>
          <p:spPr>
            <a:xfrm>
              <a:off x="7496912" y="3906329"/>
              <a:ext cx="1093174" cy="531499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22" t="-22" r="27371" b="76543"/>
            <a:stretch>
              <a:fillRect/>
            </a:stretch>
          </p:blipFill>
          <p:spPr>
            <a:xfrm>
              <a:off x="7505704" y="4441198"/>
              <a:ext cx="518747" cy="492368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36" t="23779" r="51266" b="51483"/>
            <a:stretch>
              <a:fillRect/>
            </a:stretch>
          </p:blipFill>
          <p:spPr>
            <a:xfrm>
              <a:off x="8078919" y="4414820"/>
              <a:ext cx="509954" cy="518746"/>
            </a:xfrm>
            <a:prstGeom prst="rect">
              <a:avLst/>
            </a:prstGeom>
          </p:spPr>
        </p:pic>
      </p:grpSp>
      <p:sp>
        <p:nvSpPr>
          <p:cNvPr id="41" name="Subtitle 2"/>
          <p:cNvSpPr txBox="1"/>
          <p:nvPr/>
        </p:nvSpPr>
        <p:spPr>
          <a:xfrm>
            <a:off x="3385249" y="3548399"/>
            <a:ext cx="2370179" cy="533751"/>
          </a:xfrm>
          <a:prstGeom prst="rect">
            <a:avLst/>
          </a:prstGeom>
        </p:spPr>
        <p:txBody>
          <a:bodyPr vert="horz" lIns="51435" tIns="25718" rIns="51435" bIns="25718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520"/>
              </a:lnSpc>
              <a:spcBef>
                <a:spcPts val="0"/>
              </a:spcBef>
              <a:buNone/>
            </a:pPr>
            <a:r>
              <a:rPr lang="en-US" sz="675" b="1" cap="all" dirty="0">
                <a:solidFill>
                  <a:srgbClr val="FFFF00"/>
                </a:solidFill>
                <a:cs typeface="DIN-Regular"/>
                <a:hlinkClick r:id="rId5"/>
              </a:rPr>
              <a:t>www.xjtlu.edu.cn</a:t>
            </a:r>
            <a:endParaRPr lang="en-US" sz="620" b="1" cap="all" dirty="0">
              <a:solidFill>
                <a:srgbClr val="FFFF00"/>
              </a:solidFill>
              <a:cs typeface="DIN-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09"/>
    </mc:Choice>
    <mc:Fallback>
      <p:transition spd="slow" advTm="16009"/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Theme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10148</Words>
  <Application>WPS 表格</Application>
  <PresentationFormat>On-screen Show (16:9)</PresentationFormat>
  <Paragraphs>235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7" baseType="lpstr">
      <vt:lpstr>Arial</vt:lpstr>
      <vt:lpstr>宋体</vt:lpstr>
      <vt:lpstr>Wingdings</vt:lpstr>
      <vt:lpstr>Lucida Sans</vt:lpstr>
      <vt:lpstr>苹方-简</vt:lpstr>
      <vt:lpstr>MS PGothic</vt:lpstr>
      <vt:lpstr>Calibri</vt:lpstr>
      <vt:lpstr>Helvetica Neue</vt:lpstr>
      <vt:lpstr>Helvetica Neue UltraLight</vt:lpstr>
      <vt:lpstr>Times New Roman</vt:lpstr>
      <vt:lpstr>Arial</vt:lpstr>
      <vt:lpstr>Times New Roman Regular</vt:lpstr>
      <vt:lpstr>MS PGothic</vt:lpstr>
      <vt:lpstr>冬青黑体简体中文</vt:lpstr>
      <vt:lpstr>Tahoma</vt:lpstr>
      <vt:lpstr>DIN-Regular</vt:lpstr>
      <vt:lpstr>Thonburi</vt:lpstr>
      <vt:lpstr>微软雅黑</vt:lpstr>
      <vt:lpstr>汉仪旗黑</vt:lpstr>
      <vt:lpstr>宋体</vt:lpstr>
      <vt:lpstr>Arial Unicode MS</vt:lpstr>
      <vt:lpstr>Calibri Light</vt:lpstr>
      <vt:lpstr>汉仪书宋二KW</vt:lpstr>
      <vt:lpstr>Calibri</vt:lpstr>
      <vt:lpstr>DIN-Regular</vt:lpstr>
      <vt:lpstr>Retrospect</vt:lpstr>
      <vt:lpstr>Default Theme</vt:lpstr>
      <vt:lpstr>Natural Language Processing DTS305TC</vt:lpstr>
      <vt:lpstr>Lab 3 feature engineering</vt:lpstr>
      <vt:lpstr>Overview</vt:lpstr>
      <vt:lpstr>N-grams</vt:lpstr>
      <vt:lpstr>PowerPoint 演示文稿</vt:lpstr>
      <vt:lpstr>Collecting a Labeled Dataset</vt:lpstr>
      <vt:lpstr>PowerPoint 演示文稿</vt:lpstr>
      <vt:lpstr>Data Cleaning and Preprocessing</vt:lpstr>
      <vt:lpstr>How Can You Handle Imbalanced Datasets?</vt:lpstr>
      <vt:lpstr>PowerPoint 演示文稿</vt:lpstr>
      <vt:lpstr>Text Feature Extraction Techniques</vt:lpstr>
      <vt:lpstr>Machine Learning Models</vt:lpstr>
      <vt:lpstr>PowerPoint 演示文稿</vt:lpstr>
      <vt:lpstr>PowerPoint 演示文稿</vt:lpstr>
      <vt:lpstr>Top 4 Algorithms for Document Classification</vt:lpstr>
      <vt:lpstr>PowerPoint 演示文稿</vt:lpstr>
      <vt:lpstr>PowerPoint 演示文稿</vt:lpstr>
      <vt:lpstr>Top 4 Algorithms for Document Classification</vt:lpstr>
      <vt:lpstr>Choosing the Right Model</vt:lpstr>
      <vt:lpstr>PowerPoint 演示文稿</vt:lpstr>
    </vt:vector>
  </TitlesOfParts>
  <Company>Stanford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华康</cp:lastModifiedBy>
  <cp:revision>494</cp:revision>
  <cp:lastPrinted>2024-09-22T12:55:44Z</cp:lastPrinted>
  <dcterms:created xsi:type="dcterms:W3CDTF">2024-09-22T12:55:44Z</dcterms:created>
  <dcterms:modified xsi:type="dcterms:W3CDTF">2024-09-22T12:55:44Z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7F674F714E0CF6726805D0666F15DC9A_42</vt:lpwstr>
  </property>
  <property fmtid="{D5CDD505-2E9C-101B-9397-08002B2CF9AE}" pid="3" name="KSOProductBuildVer">
    <vt:lpwstr>2052-6.7.1.8828</vt:lpwstr>
  </property>
</Properties>
</file>