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35"/>
  </p:handoutMasterIdLst>
  <p:sldIdLst>
    <p:sldId id="256" r:id="rId4"/>
    <p:sldId id="1987" r:id="rId6"/>
    <p:sldId id="2019" r:id="rId7"/>
    <p:sldId id="1956" r:id="rId8"/>
    <p:sldId id="2020" r:id="rId9"/>
    <p:sldId id="2021" r:id="rId10"/>
    <p:sldId id="1991" r:id="rId11"/>
    <p:sldId id="1994" r:id="rId12"/>
    <p:sldId id="2012" r:id="rId13"/>
    <p:sldId id="2013" r:id="rId14"/>
    <p:sldId id="2014" r:id="rId15"/>
    <p:sldId id="1990" r:id="rId16"/>
    <p:sldId id="1997" r:id="rId17"/>
    <p:sldId id="2026" r:id="rId18"/>
    <p:sldId id="2027" r:id="rId19"/>
    <p:sldId id="2028" r:id="rId20"/>
    <p:sldId id="2029" r:id="rId21"/>
    <p:sldId id="2024" r:id="rId22"/>
    <p:sldId id="2031" r:id="rId23"/>
    <p:sldId id="2025" r:id="rId24"/>
    <p:sldId id="2032" r:id="rId25"/>
    <p:sldId id="2033" r:id="rId26"/>
    <p:sldId id="2034" r:id="rId27"/>
    <p:sldId id="2035" r:id="rId28"/>
    <p:sldId id="2036" r:id="rId29"/>
    <p:sldId id="2038" r:id="rId30"/>
    <p:sldId id="2037" r:id="rId31"/>
    <p:sldId id="2039" r:id="rId32"/>
    <p:sldId id="2040" r:id="rId33"/>
    <p:sldId id="391" r:id="rId34"/>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66" userDrawn="1">
          <p15:clr>
            <a:srgbClr val="A4A3A4"/>
          </p15:clr>
        </p15:guide>
        <p15:guide id="2" pos="2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99" autoAdjust="0"/>
    <p:restoredTop sz="95865" autoAdjust="0"/>
  </p:normalViewPr>
  <p:slideViewPr>
    <p:cSldViewPr showGuides="1">
      <p:cViewPr varScale="1">
        <p:scale>
          <a:sx n="165" d="100"/>
          <a:sy n="165" d="100"/>
        </p:scale>
        <p:origin x="144" y="38"/>
      </p:cViewPr>
      <p:guideLst>
        <p:guide orient="horz" pos="1566"/>
        <p:guide pos="2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59"/>
        <p:guide pos="2154"/>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6.png"/><Relationship Id="rId3" Type="http://schemas.openxmlformats.org/officeDocument/2006/relationships/tags" Target="../tags/tag2.xml"/><Relationship Id="rId2" Type="http://schemas.openxmlformats.org/officeDocument/2006/relationships/image" Target="../media/image5.png"/><Relationship Id="rId1" Type="http://schemas.openxmlformats.org/officeDocument/2006/relationships/tags" Target="../tags/tag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4.xml"/><Relationship Id="rId2" Type="http://schemas.openxmlformats.org/officeDocument/2006/relationships/image" Target="../media/image7.png"/><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tags" Target="../tags/tag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png"/><Relationship Id="rId1" Type="http://schemas.openxmlformats.org/officeDocument/2006/relationships/tags" Target="../tags/tag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14.jpeg"/><Relationship Id="rId3" Type="http://schemas.openxmlformats.org/officeDocument/2006/relationships/image" Target="../media/image13.png"/><Relationship Id="rId2" Type="http://schemas.openxmlformats.org/officeDocument/2006/relationships/image" Target="../media/image3.emf"/><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en-US" altLang="zh-CN"/>
              <a:t>Lab 7 Document </a:t>
            </a:r>
            <a:r>
              <a:rPr lang="en-US" altLang="zh-CN"/>
              <a:t>clustering</a:t>
            </a:r>
            <a:endParaRPr lang="en-US" altLang="zh-CN"/>
          </a:p>
        </p:txBody>
      </p:sp>
      <p:sp>
        <p:nvSpPr>
          <p:cNvPr id="4" name="副标题 3"/>
          <p:cNvSpPr>
            <a:spLocks noGrp="1"/>
          </p:cNvSpPr>
          <p:nvPr>
            <p:ph type="subTitle" idx="1"/>
          </p:nvPr>
        </p:nvSpPr>
        <p:spPr>
          <a:xfrm>
            <a:off x="1139190" y="2914650"/>
            <a:ext cx="6633210" cy="1314450"/>
          </a:xfrm>
        </p:spPr>
        <p:txBody>
          <a:bodyPr>
            <a:normAutofit fontScale="70000"/>
          </a:bodyPr>
          <a:p>
            <a:r>
              <a:rPr lang="en-US" altLang="zh-CN">
                <a:solidFill>
                  <a:schemeClr val="tx1"/>
                </a:solidFill>
              </a:rPr>
              <a:t>week 4 day 1</a:t>
            </a:r>
            <a:endParaRPr lang="en-US" altLang="zh-CN">
              <a:solidFill>
                <a:schemeClr val="tx1"/>
              </a:solidFill>
            </a:endParaRPr>
          </a:p>
          <a:p>
            <a:endParaRPr lang="en-US" altLang="zh-CN">
              <a:solidFill>
                <a:schemeClr val="tx1"/>
              </a:solidFill>
            </a:endParaRPr>
          </a:p>
          <a:p>
            <a:r>
              <a:rPr lang="en-US" altLang="zh-CN">
                <a:solidFill>
                  <a:schemeClr val="tx1"/>
                </a:solidFill>
              </a:rPr>
              <a:t>https://spotintelligence.com/2023/10/23/document-classification-python/</a:t>
            </a:r>
            <a:endParaRPr lang="en-US" altLang="zh-CN">
              <a:solidFill>
                <a:schemeClr val="tx1"/>
              </a:solidFill>
            </a:endParaRPr>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US" dirty="0"/>
          </a:p>
        </p:txBody>
      </p:sp>
      <p:sp>
        <p:nvSpPr>
          <p:cNvPr id="3" name="Content Placeholder 2"/>
          <p:cNvSpPr>
            <a:spLocks noGrp="1"/>
          </p:cNvSpPr>
          <p:nvPr>
            <p:ph idx="1"/>
          </p:nvPr>
        </p:nvSpPr>
        <p:spPr/>
        <p:txBody>
          <a:bodyPr/>
          <a:lstStyle/>
          <a:p>
            <a:r>
              <a:rPr lang="en-US" dirty="0"/>
              <a:t>Clustering </a:t>
            </a:r>
            <a:r>
              <a:rPr lang="en-US" dirty="0"/>
              <a:t>Knowledge</a:t>
            </a:r>
            <a:endParaRPr lang="en-US" dirty="0"/>
          </a:p>
          <a:p>
            <a:r>
              <a:rPr lang="en-US" dirty="0"/>
              <a:t>Hierarchical Clustering</a:t>
            </a:r>
            <a:endParaRPr lang="en-US" dirty="0"/>
          </a:p>
          <a:p>
            <a:r>
              <a:rPr lang="en-US" dirty="0"/>
              <a:t>K-means</a:t>
            </a:r>
            <a:endParaRPr lang="en-US" dirty="0"/>
          </a:p>
          <a:p>
            <a:r>
              <a:rPr lang="en-US" dirty="0"/>
              <a:t>LDA</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are the types of clustering?</a:t>
            </a:r>
            <a:endParaRPr lang="en-US" dirty="0"/>
          </a:p>
        </p:txBody>
      </p:sp>
      <p:sp>
        <p:nvSpPr>
          <p:cNvPr id="3" name="Content Placeholder 2"/>
          <p:cNvSpPr>
            <a:spLocks noGrp="1"/>
          </p:cNvSpPr>
          <p:nvPr>
            <p:ph idx="1"/>
          </p:nvPr>
        </p:nvSpPr>
        <p:spPr>
          <a:xfrm>
            <a:off x="457200" y="743109"/>
            <a:ext cx="8229600" cy="3707130"/>
          </a:xfrm>
        </p:spPr>
        <p:txBody>
          <a:bodyPr>
            <a:noAutofit/>
          </a:bodyPr>
          <a:lstStyle/>
          <a:p>
            <a:pPr algn="just"/>
            <a:r>
              <a:rPr lang="en-US" sz="1600" b="1" dirty="0">
                <a:latin typeface="Times New Roman Bold" panose="02020503050405090304" charset="0"/>
                <a:cs typeface="Times New Roman Bold" panose="02020503050405090304" charset="0"/>
              </a:rPr>
              <a:t>Centroid-based clustering</a:t>
            </a:r>
            <a:r>
              <a:rPr lang="en-US" sz="1600" dirty="0"/>
              <a:t>: This type of clustering uses the mean or median of a cluster’s points as the cluster’s centre or centroid. K-means is the most popular centroid-based clustering algorithm.</a:t>
            </a:r>
            <a:endParaRPr lang="en-US" sz="1600" dirty="0"/>
          </a:p>
          <a:p>
            <a:pPr algn="just"/>
            <a:r>
              <a:rPr lang="en-US" sz="1600" b="1" dirty="0">
                <a:latin typeface="Times New Roman Bold" panose="02020503050405090304" charset="0"/>
                <a:cs typeface="Times New Roman Bold" panose="02020503050405090304" charset="0"/>
              </a:rPr>
              <a:t>Hierarchical clustering</a:t>
            </a:r>
            <a:r>
              <a:rPr lang="en-US" sz="1600" dirty="0"/>
              <a:t>: This type of clustering builds a hierarchy of clusters, where each cluster is a subset of the next higher-level cluster. There are two main types of hierarchical clustering: agglomerative and divisive.</a:t>
            </a:r>
            <a:endParaRPr lang="en-US" sz="1600" dirty="0"/>
          </a:p>
          <a:p>
            <a:pPr algn="just"/>
            <a:r>
              <a:rPr lang="en-US" sz="1600" b="1" dirty="0">
                <a:latin typeface="Times New Roman Bold" panose="02020503050405090304" charset="0"/>
                <a:cs typeface="Times New Roman Bold" panose="02020503050405090304" charset="0"/>
              </a:rPr>
              <a:t>Density-based clustering</a:t>
            </a:r>
            <a:r>
              <a:rPr lang="en-US" sz="1600" dirty="0"/>
              <a:t>: This type of clustering groups together points that are close to each other in the feature space. DBSCAN is the most popular density-based clustering algorithm.</a:t>
            </a:r>
            <a:endParaRPr lang="en-US" sz="1600" dirty="0"/>
          </a:p>
          <a:p>
            <a:pPr algn="just"/>
            <a:r>
              <a:rPr lang="en-US" sz="1600" b="1" dirty="0">
                <a:latin typeface="Times New Roman Bold" panose="02020503050405090304" charset="0"/>
                <a:cs typeface="Times New Roman Bold" panose="02020503050405090304" charset="0"/>
              </a:rPr>
              <a:t>Distribution-based clustering</a:t>
            </a:r>
            <a:r>
              <a:rPr lang="en-US" sz="1600" dirty="0"/>
              <a:t>: This type of clustering models the data as a mixture of probability distributions. The Gaussian Mixture Model (GMM) is the most popular distribution-based clustering algorithm.</a:t>
            </a:r>
            <a:endParaRPr lang="en-US" sz="1600" dirty="0"/>
          </a:p>
          <a:p>
            <a:pPr algn="just"/>
            <a:r>
              <a:rPr lang="en-US" sz="1600" b="1" dirty="0">
                <a:latin typeface="Times New Roman Bold" panose="02020503050405090304" charset="0"/>
                <a:cs typeface="Times New Roman Bold" panose="02020503050405090304" charset="0"/>
              </a:rPr>
              <a:t>Spectral clustering</a:t>
            </a:r>
            <a:r>
              <a:rPr lang="en-US" sz="1600" dirty="0"/>
              <a:t>: This type of clustering uses the eigenvectors of a similarity matrix to cluster the data.</a:t>
            </a:r>
            <a:endParaRPr lang="en-US" sz="1600" dirty="0"/>
          </a:p>
          <a:p>
            <a:pPr algn="just"/>
            <a:r>
              <a:rPr lang="en-US" sz="1600" b="1" dirty="0">
                <a:latin typeface="Times New Roman Bold" panose="02020503050405090304" charset="0"/>
                <a:cs typeface="Times New Roman Bold" panose="02020503050405090304" charset="0"/>
              </a:rPr>
              <a:t>Neural network-based clustering</a:t>
            </a:r>
            <a:r>
              <a:rPr lang="en-US" sz="1600" dirty="0"/>
              <a:t>: This type of clustering uses neural networks to learn the cluster structure of the data. Examples of this method are autoencoders and deep embedding clustering.</a:t>
            </a:r>
            <a:endParaRPr lang="en-US" sz="16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Applications of text clustering</a:t>
            </a:r>
            <a:endParaRPr lang="zh-CN" altLang="en-US"/>
          </a:p>
        </p:txBody>
      </p:sp>
      <p:sp>
        <p:nvSpPr>
          <p:cNvPr id="4" name="内容占位符 3"/>
          <p:cNvSpPr>
            <a:spLocks noGrp="1"/>
          </p:cNvSpPr>
          <p:nvPr>
            <p:ph idx="1"/>
          </p:nvPr>
        </p:nvSpPr>
        <p:spPr>
          <a:xfrm>
            <a:off x="457200" y="676434"/>
            <a:ext cx="8229600" cy="3707130"/>
          </a:xfrm>
        </p:spPr>
        <p:txBody>
          <a:bodyPr>
            <a:noAutofit/>
          </a:bodyPr>
          <a:p>
            <a:pPr algn="just"/>
            <a:r>
              <a:rPr lang="zh-CN" altLang="en-US" sz="1600"/>
              <a:t>Classifying text: Clustering can be used as a preprocessing step to put text documents into categories that have already been set up.</a:t>
            </a:r>
            <a:endParaRPr lang="zh-CN" altLang="en-US" sz="1600"/>
          </a:p>
          <a:p>
            <a:pPr algn="just"/>
            <a:r>
              <a:rPr lang="zh-CN" altLang="en-US" sz="1600"/>
              <a:t>Information retrieval: Clustering can be used to group similar documents together, making it easier to find relevant information.</a:t>
            </a:r>
            <a:endParaRPr lang="zh-CN" altLang="en-US" sz="1600"/>
          </a:p>
          <a:p>
            <a:pPr algn="just"/>
            <a:r>
              <a:rPr lang="zh-CN" altLang="en-US" sz="1600"/>
              <a:t>Text summarization: Clustering can be used to find the most representative or essential documents in a dataset, which can then be used to summarise the dataset’s content.</a:t>
            </a:r>
            <a:endParaRPr lang="zh-CN" altLang="en-US" sz="1600"/>
          </a:p>
          <a:p>
            <a:pPr algn="just"/>
            <a:r>
              <a:rPr lang="zh-CN" altLang="en-US" sz="1600"/>
              <a:t>Opinion mining and sentiment analysis: Clustering can group text documents expressing similar opinions or feelings.</a:t>
            </a:r>
            <a:endParaRPr lang="zh-CN" altLang="en-US" sz="1600"/>
          </a:p>
          <a:p>
            <a:pPr algn="just"/>
            <a:r>
              <a:rPr lang="zh-CN" altLang="en-US" sz="1600"/>
              <a:t>Topic modelling: Clustering can be used to find hidden topics in text documents, which can then determine how the data is organised.</a:t>
            </a:r>
            <a:endParaRPr lang="zh-CN" altLang="en-US" sz="1600"/>
          </a:p>
          <a:p>
            <a:pPr algn="just"/>
            <a:r>
              <a:rPr lang="zh-CN" altLang="en-US" sz="1600"/>
              <a:t>Language model improvement: clustering can be used to group text documents with similar topics or writing styles, which can then be used to improve language models.</a:t>
            </a:r>
            <a:endParaRPr lang="zh-CN" altLang="en-US" sz="1600"/>
          </a:p>
          <a:p>
            <a:pPr algn="just"/>
            <a:r>
              <a:rPr lang="zh-CN" altLang="en-US" sz="1600"/>
              <a:t>Marketing: Clustering can be used to group customer feedback, reviews, and survey responses to understand customer preferences, opinions, and feedback.</a:t>
            </a:r>
            <a:endParaRPr lang="zh-CN" altLang="en-US" sz="1600"/>
          </a:p>
          <a:p>
            <a:pPr algn="just"/>
            <a:r>
              <a:rPr lang="zh-CN" altLang="en-US" sz="1600"/>
              <a:t>Social Media Analysis: Clustering can be used to group social media posts, comments, and tweets, to understand the overall sentiment and opinions on a certain topic.</a:t>
            </a:r>
            <a:endParaRPr lang="zh-CN" altLang="en-US" sz="16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Challenges of text clustering</a:t>
            </a:r>
            <a:endParaRPr lang="zh-CN" altLang="en-US"/>
          </a:p>
        </p:txBody>
      </p:sp>
      <p:sp>
        <p:nvSpPr>
          <p:cNvPr id="4" name="内容占位符 3"/>
          <p:cNvSpPr>
            <a:spLocks noGrp="1"/>
          </p:cNvSpPr>
          <p:nvPr>
            <p:ph idx="1"/>
          </p:nvPr>
        </p:nvSpPr>
        <p:spPr>
          <a:xfrm>
            <a:off x="457200" y="752634"/>
            <a:ext cx="8229600" cy="3707130"/>
          </a:xfrm>
        </p:spPr>
        <p:txBody>
          <a:bodyPr>
            <a:noAutofit/>
          </a:bodyPr>
          <a:p>
            <a:r>
              <a:rPr lang="zh-CN" altLang="en-US" sz="1400"/>
              <a:t>High dimensionality: Text data is often represented as a high-dimensional sparse matrix, making it hard to use traditional clustering algorithms.</a:t>
            </a:r>
            <a:endParaRPr lang="zh-CN" altLang="en-US" sz="1400"/>
          </a:p>
          <a:p>
            <a:r>
              <a:rPr lang="zh-CN" altLang="en-US" sz="1400"/>
              <a:t>Noise and outliers: Text data can have noise like misspellings, typos, and irrelevant information, making it hard to find patterns that mean something.</a:t>
            </a:r>
            <a:endParaRPr lang="zh-CN" altLang="en-US" sz="1400"/>
          </a:p>
          <a:p>
            <a:r>
              <a:rPr lang="zh-CN" altLang="en-US" sz="1400"/>
              <a:t>Categorical data: Text data is often categorical, which means it doesn’t have a natural sense of distance or similarity.</a:t>
            </a:r>
            <a:endParaRPr lang="zh-CN" altLang="en-US" sz="1400"/>
          </a:p>
          <a:p>
            <a:r>
              <a:rPr lang="zh-CN" altLang="en-US" sz="1400"/>
              <a:t>Handling synonyms and polysemy: Words in text data often have more than one meaning, making it hard to figure out the real meaning.</a:t>
            </a:r>
            <a:endParaRPr lang="zh-CN" altLang="en-US" sz="1400"/>
          </a:p>
          <a:p>
            <a:r>
              <a:rPr lang="zh-CN" altLang="en-US" sz="1400"/>
              <a:t>Handling sparse data: Text data is often sparse, meaning many words don’t appear in most documents. This makes it hard to find patterns in the data that mean something.</a:t>
            </a:r>
            <a:endParaRPr lang="zh-CN" altLang="en-US" sz="1400"/>
          </a:p>
          <a:p>
            <a:r>
              <a:rPr lang="zh-CN" altLang="en-US" sz="1400"/>
              <a:t>Handling large datasets: Clustering large datasets can be computationally expensive and require a large amount of memory.</a:t>
            </a:r>
            <a:endParaRPr lang="zh-CN" altLang="en-US" sz="1400"/>
          </a:p>
          <a:p>
            <a:r>
              <a:rPr lang="zh-CN" altLang="en-US" sz="1400"/>
              <a:t>Handling new words: Clustering algorithms are trained on a fixed dataset, so they may not be able to handle new words in the training dataset.</a:t>
            </a:r>
            <a:endParaRPr lang="zh-CN" altLang="en-US" sz="1400"/>
          </a:p>
          <a:p>
            <a:r>
              <a:rPr lang="zh-CN" altLang="en-US" sz="1400"/>
              <a:t>Scalability: Clustering algorithms should scale well with increasing data size; otherwise, they can become impractical to use with large datasets.</a:t>
            </a:r>
            <a:endParaRPr lang="zh-CN" altLang="en-US" sz="1400"/>
          </a:p>
          <a:p>
            <a:r>
              <a:rPr lang="zh-CN" altLang="en-US" sz="1400"/>
              <a:t>Evaluation: Clustering results are hard to evaluate since there is no single correct answer for clustering and the evaluation metric depends on the application and the dataset.</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Hierarchical Clustering</a:t>
            </a:r>
            <a:endParaRPr lang="en-US" dirty="0">
              <a:sym typeface="+mn-ea"/>
            </a:endParaRPr>
          </a:p>
        </p:txBody>
      </p:sp>
      <p:sp>
        <p:nvSpPr>
          <p:cNvPr id="3" name="Content Placeholder 2"/>
          <p:cNvSpPr>
            <a:spLocks noGrp="1"/>
          </p:cNvSpPr>
          <p:nvPr>
            <p:ph idx="1"/>
          </p:nvPr>
        </p:nvSpPr>
        <p:spPr>
          <a:xfrm>
            <a:off x="457200" y="902335"/>
            <a:ext cx="4258310" cy="3707130"/>
          </a:xfrm>
        </p:spPr>
        <p:txBody>
          <a:bodyPr>
            <a:normAutofit fontScale="90000"/>
          </a:bodyPr>
          <a:lstStyle/>
          <a:p>
            <a:pPr algn="just"/>
            <a:r>
              <a:rPr lang="en-US" sz="2000" dirty="0">
                <a:solidFill>
                  <a:schemeClr val="tx1"/>
                </a:solidFill>
              </a:rPr>
              <a:t>Agglomerative clustering starts with each data point as its own cluster and then iteratively merges the closest clusters into larger clusters until only one cluster remains. The steps involved in agglomerative clustering are as follows:</a:t>
            </a:r>
            <a:endParaRPr lang="en-US" sz="2000" dirty="0">
              <a:solidFill>
                <a:schemeClr val="tx1"/>
              </a:solidFill>
            </a:endParaRPr>
          </a:p>
          <a:p>
            <a:pPr lvl="1" algn="just"/>
            <a:r>
              <a:rPr lang="en-US" sz="1750" dirty="0">
                <a:solidFill>
                  <a:schemeClr val="tx1"/>
                </a:solidFill>
              </a:rPr>
              <a:t>Begin with each data point as a separate cluster.</a:t>
            </a:r>
            <a:endParaRPr lang="en-US" sz="1750" dirty="0">
              <a:solidFill>
                <a:schemeClr val="tx1"/>
              </a:solidFill>
            </a:endParaRPr>
          </a:p>
          <a:p>
            <a:pPr lvl="1" algn="just"/>
            <a:r>
              <a:rPr lang="en-US" sz="1750" dirty="0">
                <a:solidFill>
                  <a:schemeClr val="tx1"/>
                </a:solidFill>
              </a:rPr>
              <a:t>Find the two closest clusters and merge them into a single cluster.</a:t>
            </a:r>
            <a:endParaRPr lang="en-US" sz="1750" dirty="0">
              <a:solidFill>
                <a:schemeClr val="tx1"/>
              </a:solidFill>
            </a:endParaRPr>
          </a:p>
          <a:p>
            <a:pPr lvl="1" algn="just"/>
            <a:r>
              <a:rPr lang="en-US" sz="1750" dirty="0">
                <a:solidFill>
                  <a:schemeClr val="tx1"/>
                </a:solidFill>
              </a:rPr>
              <a:t>Repeat step 2 until all data points are in one cluster, forming a hierarchy of clusters.</a:t>
            </a:r>
            <a:endParaRPr lang="en-US" sz="1750" dirty="0">
              <a:solidFill>
                <a:schemeClr val="tx1"/>
              </a:solidFill>
            </a:endParaRPr>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pic>
        <p:nvPicPr>
          <p:cNvPr id="5" name="图片 4"/>
          <p:cNvPicPr>
            <a:picLocks noChangeAspect="1"/>
          </p:cNvPicPr>
          <p:nvPr/>
        </p:nvPicPr>
        <p:blipFill>
          <a:blip r:embed="rId1"/>
          <a:stretch>
            <a:fillRect/>
          </a:stretch>
        </p:blipFill>
        <p:spPr>
          <a:xfrm>
            <a:off x="4800600" y="971550"/>
            <a:ext cx="4175760" cy="31324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How Does Hierarchical Clustering Work?</a:t>
            </a:r>
            <a:endParaRPr lang="zh-CN" altLang="en-US"/>
          </a:p>
        </p:txBody>
      </p:sp>
      <p:sp>
        <p:nvSpPr>
          <p:cNvPr id="4" name="内容占位符 3"/>
          <p:cNvSpPr>
            <a:spLocks noGrp="1"/>
          </p:cNvSpPr>
          <p:nvPr>
            <p:ph idx="1"/>
          </p:nvPr>
        </p:nvSpPr>
        <p:spPr>
          <a:xfrm>
            <a:off x="457200" y="752634"/>
            <a:ext cx="8229600" cy="3707130"/>
          </a:xfrm>
        </p:spPr>
        <p:txBody>
          <a:bodyPr>
            <a:noAutofit/>
          </a:bodyPr>
          <a:p>
            <a:pPr algn="just"/>
            <a:r>
              <a:rPr lang="zh-CN" altLang="en-US" sz="1600"/>
              <a:t>1. Initialization:</a:t>
            </a:r>
            <a:endParaRPr lang="zh-CN" altLang="en-US" sz="1600"/>
          </a:p>
          <a:p>
            <a:pPr lvl="1" algn="just"/>
            <a:r>
              <a:rPr lang="zh-CN" altLang="en-US" sz="1400"/>
              <a:t>Begin with each data point as a separate cluster. In other words, if you have ‘n’ data points, you start with ‘n’ clusters, each containing one data point.</a:t>
            </a:r>
            <a:endParaRPr lang="zh-CN" altLang="en-US" sz="1400"/>
          </a:p>
          <a:p>
            <a:pPr algn="just"/>
            <a:r>
              <a:rPr lang="zh-CN" altLang="en-US" sz="1600"/>
              <a:t>2. Distance Calculation:</a:t>
            </a:r>
            <a:endParaRPr lang="zh-CN" altLang="en-US" sz="1600"/>
          </a:p>
          <a:p>
            <a:pPr lvl="1" algn="just"/>
            <a:r>
              <a:rPr lang="zh-CN" altLang="en-US" sz="1400"/>
              <a:t>Calculate the pairwise distances or similarities between all clusters. This step requires a distance metric or similarity measure, such as Euclidean distance, Manhattan distance, or cosine similarity, depending on the nature of your data and problem.</a:t>
            </a:r>
            <a:endParaRPr lang="zh-CN" altLang="en-US" sz="1400"/>
          </a:p>
          <a:p>
            <a:pPr algn="just"/>
            <a:r>
              <a:rPr lang="zh-CN" altLang="en-US" sz="1600"/>
              <a:t>3. Merging Clusters (Agglomerative Clustering):</a:t>
            </a:r>
            <a:endParaRPr lang="zh-CN" altLang="en-US" sz="1600"/>
          </a:p>
          <a:p>
            <a:pPr lvl="1" algn="just"/>
            <a:r>
              <a:rPr lang="zh-CN" altLang="en-US" sz="1400"/>
              <a:t>Find the two closest clusters based on the distance/similarity metric. These clusters are merged into a single cluster.</a:t>
            </a:r>
            <a:endParaRPr lang="zh-CN" altLang="en-US" sz="1400"/>
          </a:p>
          <a:p>
            <a:pPr lvl="1" algn="just"/>
            <a:r>
              <a:rPr lang="zh-CN" altLang="en-US" sz="1400"/>
              <a:t>The choice of which clusters to merge can be determined by different linkage criteria, such as:</a:t>
            </a:r>
            <a:endParaRPr lang="zh-CN" altLang="en-US" sz="1400"/>
          </a:p>
          <a:p>
            <a:pPr lvl="2" algn="just"/>
            <a:r>
              <a:rPr lang="zh-CN" altLang="en-US" sz="1200"/>
              <a:t>Single Linkage: Merge clusters based on the closest pair of data points between the clusters.</a:t>
            </a:r>
            <a:endParaRPr lang="zh-CN" altLang="en-US" sz="1200"/>
          </a:p>
          <a:p>
            <a:pPr lvl="2" algn="just"/>
            <a:r>
              <a:rPr lang="zh-CN" altLang="en-US" sz="1200"/>
              <a:t>Complete Linkage: Merge clusters based on the farthest pair of data points between the clusters.</a:t>
            </a:r>
            <a:endParaRPr lang="zh-CN" altLang="en-US" sz="1200"/>
          </a:p>
          <a:p>
            <a:pPr lvl="2" algn="just"/>
            <a:r>
              <a:rPr lang="zh-CN" altLang="en-US" sz="1200"/>
              <a:t>Average Linkage: Merge clusters based on the average distance between all pairs of data points between the clusters.</a:t>
            </a:r>
            <a:endParaRPr lang="zh-CN" altLang="en-US" sz="1200"/>
          </a:p>
          <a:p>
            <a:pPr lvl="2" algn="just"/>
            <a:r>
              <a:rPr lang="zh-CN" altLang="en-US" sz="1200"/>
              <a:t>Centroid Linkage: Merge clusters based on the distance between the clusters’ centroids (mean points).</a:t>
            </a:r>
            <a:endParaRPr lang="zh-CN" altLang="en-US" sz="12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How Does Hierarchical Clustering Work?</a:t>
            </a:r>
            <a:endParaRPr lang="zh-CN" altLang="en-US"/>
          </a:p>
        </p:txBody>
      </p:sp>
      <p:sp>
        <p:nvSpPr>
          <p:cNvPr id="4" name="内容占位符 3"/>
          <p:cNvSpPr>
            <a:spLocks noGrp="1"/>
          </p:cNvSpPr>
          <p:nvPr>
            <p:ph idx="1"/>
          </p:nvPr>
        </p:nvSpPr>
        <p:spPr>
          <a:xfrm>
            <a:off x="457200" y="752634"/>
            <a:ext cx="8229600" cy="3707130"/>
          </a:xfrm>
        </p:spPr>
        <p:txBody>
          <a:bodyPr>
            <a:noAutofit/>
          </a:bodyPr>
          <a:p>
            <a:pPr algn="just"/>
            <a:r>
              <a:rPr lang="zh-CN" altLang="en-US" sz="1600"/>
              <a:t>4. Update the Distance Matrix:</a:t>
            </a:r>
            <a:endParaRPr lang="zh-CN" altLang="en-US" sz="1600"/>
          </a:p>
          <a:p>
            <a:pPr lvl="1" algn="just"/>
            <a:r>
              <a:rPr lang="zh-CN" altLang="en-US" sz="1400"/>
              <a:t>Recalculate the distances or similarities between the newly formed and the remaining clusters.</a:t>
            </a:r>
            <a:endParaRPr lang="zh-CN" altLang="en-US" sz="1400"/>
          </a:p>
          <a:p>
            <a:pPr lvl="1" algn="just"/>
            <a:r>
              <a:rPr lang="zh-CN" altLang="en-US" sz="1400"/>
              <a:t>This step reduces the number of clusters by one.</a:t>
            </a:r>
            <a:endParaRPr lang="zh-CN" altLang="en-US" sz="1400"/>
          </a:p>
          <a:p>
            <a:pPr algn="just"/>
            <a:r>
              <a:rPr lang="zh-CN" altLang="en-US" sz="1600"/>
              <a:t>5. Repeat Steps 3 and 4:</a:t>
            </a:r>
            <a:endParaRPr lang="zh-CN" altLang="en-US" sz="1600"/>
          </a:p>
          <a:p>
            <a:pPr lvl="1" algn="just"/>
            <a:r>
              <a:rPr lang="zh-CN" altLang="en-US" sz="1400"/>
              <a:t>Continue merging the closest clusters and updating the distance matrix until only one cluster remains. This process forms a hierarchy of clusters.</a:t>
            </a:r>
            <a:endParaRPr lang="zh-CN" altLang="en-US" sz="1400"/>
          </a:p>
          <a:p>
            <a:pPr algn="just"/>
            <a:r>
              <a:rPr lang="zh-CN" altLang="en-US" sz="1600"/>
              <a:t>6. Creating a Dendrogram:</a:t>
            </a:r>
            <a:endParaRPr lang="zh-CN" altLang="en-US" sz="1600"/>
          </a:p>
          <a:p>
            <a:pPr lvl="1" algn="just"/>
            <a:r>
              <a:rPr lang="zh-CN" altLang="en-US" sz="1400"/>
              <a:t>As clusters are merged, you can represent the hierarchical structure using a dendrogram. A dendrogram is a tree-like diagram visually showing clusters’ merging processes and relationships.</a:t>
            </a:r>
            <a:endParaRPr lang="zh-CN" altLang="en-US" sz="1400"/>
          </a:p>
          <a:p>
            <a:pPr algn="just"/>
            <a:r>
              <a:rPr lang="zh-CN" altLang="en-US" sz="1600"/>
              <a:t>7. Cutting the Dendrogram:</a:t>
            </a:r>
            <a:endParaRPr lang="zh-CN" altLang="en-US" sz="1600"/>
          </a:p>
          <a:p>
            <a:pPr lvl="1" algn="just"/>
            <a:r>
              <a:rPr lang="zh-CN" altLang="en-US" sz="1400"/>
              <a:t>You can cut the dendrogram at a certain level to obtain a specific number of clusters. The height at which you cut the dendrogram determines the number of clusters you get. Choosing the right level often involves domain knowledge or methods like the elbow method or silhouette analysis.</a:t>
            </a:r>
            <a:endParaRPr lang="zh-CN" altLang="en-US" sz="1400"/>
          </a:p>
          <a:p>
            <a:pPr algn="just"/>
            <a:r>
              <a:rPr lang="zh-CN" altLang="en-US" sz="1600"/>
              <a:t>8. Cluster Assignment:</a:t>
            </a:r>
            <a:endParaRPr lang="zh-CN" altLang="en-US" sz="1600"/>
          </a:p>
          <a:p>
            <a:pPr lvl="1" algn="just"/>
            <a:r>
              <a:rPr lang="zh-CN" altLang="en-US" sz="1400"/>
              <a:t>Once you’ve determined the desired number of clusters, you can assign each data point to its corresponding cluster based on the hierarchical structure you’ve created.</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Advantages</a:t>
            </a:r>
            <a:endParaRPr lang="zh-CN" altLang="en-US"/>
          </a:p>
        </p:txBody>
      </p:sp>
      <p:sp>
        <p:nvSpPr>
          <p:cNvPr id="4" name="内容占位符 3"/>
          <p:cNvSpPr>
            <a:spLocks noGrp="1"/>
          </p:cNvSpPr>
          <p:nvPr>
            <p:ph idx="1"/>
          </p:nvPr>
        </p:nvSpPr>
        <p:spPr>
          <a:xfrm>
            <a:off x="457200" y="752634"/>
            <a:ext cx="8229600" cy="3707130"/>
          </a:xfrm>
        </p:spPr>
        <p:txBody>
          <a:bodyPr>
            <a:noAutofit/>
          </a:bodyPr>
          <a:p>
            <a:pPr algn="just"/>
            <a:r>
              <a:rPr lang="zh-CN" altLang="en-US" sz="1600"/>
              <a:t>1. Hierarchy of Clusters:</a:t>
            </a:r>
            <a:endParaRPr lang="zh-CN" altLang="en-US" sz="1600"/>
          </a:p>
          <a:p>
            <a:pPr lvl="1" algn="just"/>
            <a:r>
              <a:rPr lang="zh-CN" altLang="en-US" sz="1400"/>
              <a:t>Interpretability: Hierarchical clustering visually represents the data’s structure as a dendrogram. This hierarchy allows users to explore and interpret the relationships between clusters at different levels of granularity.</a:t>
            </a:r>
            <a:endParaRPr lang="zh-CN" altLang="en-US" sz="1400"/>
          </a:p>
          <a:p>
            <a:pPr algn="just"/>
            <a:r>
              <a:rPr lang="zh-CN" altLang="en-US" sz="1600"/>
              <a:t>2. No Need for Predefined Clusters:</a:t>
            </a:r>
            <a:endParaRPr lang="zh-CN" altLang="en-US" sz="1600"/>
          </a:p>
          <a:p>
            <a:pPr lvl="1" algn="just"/>
            <a:r>
              <a:rPr lang="zh-CN" altLang="en-US" sz="1400"/>
              <a:t>Flexibility: Unlike other clustering methods requiring you to specify the number of clusters in advance, hierarchical clustering does not. It can reveal the natural grouping of data points without prior assumptions about the number of clusters.</a:t>
            </a:r>
            <a:endParaRPr lang="zh-CN" altLang="en-US" sz="1400"/>
          </a:p>
          <a:p>
            <a:pPr algn="just"/>
            <a:r>
              <a:rPr lang="zh-CN" altLang="en-US" sz="1600"/>
              <a:t>3. Handling Various Cluster Shapes:</a:t>
            </a:r>
            <a:endParaRPr lang="zh-CN" altLang="en-US" sz="1600"/>
          </a:p>
          <a:p>
            <a:pPr lvl="1" algn="just"/>
            <a:r>
              <a:rPr lang="zh-CN" altLang="en-US" sz="1400"/>
              <a:t>Robustness: Hierarchical clustering can handle clusters of different shapes and sizes, including irregularly shaped clusters or clusters with varying densities.</a:t>
            </a:r>
            <a:endParaRPr lang="zh-CN" altLang="en-US" sz="1400"/>
          </a:p>
          <a:p>
            <a:pPr algn="just"/>
            <a:r>
              <a:rPr lang="zh-CN" altLang="en-US" sz="1600"/>
              <a:t>4. Agglomerative and Divisive Approaches:</a:t>
            </a:r>
            <a:endParaRPr lang="zh-CN" altLang="en-US" sz="1600"/>
          </a:p>
          <a:p>
            <a:pPr lvl="1" algn="just"/>
            <a:r>
              <a:rPr lang="zh-CN" altLang="en-US" sz="1400"/>
              <a:t>Versatility: Hierarchical clustering offers agglomerative and divisive approaches, allowing users to choose the best method for their data and objectives.</a:t>
            </a:r>
            <a:endParaRPr lang="zh-CN" altLang="en-US" sz="1400"/>
          </a:p>
          <a:p>
            <a:pPr algn="just"/>
            <a:r>
              <a:rPr lang="zh-CN" altLang="en-US" sz="1600"/>
              <a:t>5. Outlier Detection:</a:t>
            </a:r>
            <a:endParaRPr lang="zh-CN" altLang="en-US" sz="1600"/>
          </a:p>
          <a:p>
            <a:pPr lvl="1" algn="just"/>
            <a:r>
              <a:rPr lang="zh-CN" altLang="en-US" sz="1400"/>
              <a:t>Anomaly Identification: It can be used for outlier detection by isolating data points that do not fit well into any cluster.</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Limitations</a:t>
            </a:r>
            <a:endParaRPr lang="zh-CN" altLang="en-US"/>
          </a:p>
        </p:txBody>
      </p:sp>
      <p:sp>
        <p:nvSpPr>
          <p:cNvPr id="4" name="内容占位符 3"/>
          <p:cNvSpPr>
            <a:spLocks noGrp="1"/>
          </p:cNvSpPr>
          <p:nvPr>
            <p:ph idx="1"/>
          </p:nvPr>
        </p:nvSpPr>
        <p:spPr>
          <a:xfrm>
            <a:off x="457200" y="752634"/>
            <a:ext cx="8229600" cy="3707130"/>
          </a:xfrm>
        </p:spPr>
        <p:txBody>
          <a:bodyPr>
            <a:noAutofit/>
          </a:bodyPr>
          <a:p>
            <a:pPr algn="just"/>
            <a:r>
              <a:rPr lang="zh-CN" altLang="en-US" sz="1400"/>
              <a:t>1. Computational Complexity:</a:t>
            </a:r>
            <a:endParaRPr lang="zh-CN" altLang="en-US" sz="1400"/>
          </a:p>
          <a:p>
            <a:pPr lvl="1" algn="just"/>
            <a:r>
              <a:rPr lang="zh-CN" altLang="en-US" sz="1200"/>
              <a:t>Scalability: Hierarchical clustering can be computationally expensive, especially for large datasets, because it requires the calculation of distances between all data points and clusters at each step.</a:t>
            </a:r>
            <a:endParaRPr lang="zh-CN" altLang="en-US" sz="1200"/>
          </a:p>
          <a:p>
            <a:pPr algn="just"/>
            <a:r>
              <a:rPr lang="zh-CN" altLang="en-US" sz="1400"/>
              <a:t>2. Sensitivity to Noise:</a:t>
            </a:r>
            <a:endParaRPr lang="zh-CN" altLang="en-US" sz="1400"/>
          </a:p>
          <a:p>
            <a:pPr lvl="1" algn="just"/>
            <a:r>
              <a:rPr lang="zh-CN" altLang="en-US" sz="1200"/>
              <a:t>Noise Sensitivity: Hierarchical clustering is sensitive to noise and outliers, which can lead to suboptimal cluster assignments if not correctly addressed.</a:t>
            </a:r>
            <a:endParaRPr lang="zh-CN" altLang="en-US" sz="1200"/>
          </a:p>
          <a:p>
            <a:pPr algn="just"/>
            <a:r>
              <a:rPr lang="zh-CN" altLang="en-US" sz="1400"/>
              <a:t>3. Lack of Reversibility:</a:t>
            </a:r>
            <a:endParaRPr lang="zh-CN" altLang="en-US" sz="1400"/>
          </a:p>
          <a:p>
            <a:pPr lvl="1" algn="just"/>
            <a:r>
              <a:rPr lang="zh-CN" altLang="en-US" sz="1200"/>
              <a:t>Irreversibility: Once clusters are merged in agglomerative hierarchical clustering, they cannot be split apart in the same analysis. Divisive hierarchical clustering, on the other hand, allows splitting clusters but is less commonly used.</a:t>
            </a:r>
            <a:endParaRPr lang="zh-CN" altLang="en-US" sz="1200"/>
          </a:p>
          <a:p>
            <a:pPr algn="just"/>
            <a:r>
              <a:rPr lang="zh-CN" altLang="en-US" sz="1400"/>
              <a:t>4. Subjectivity in Dendrogram Cutting:</a:t>
            </a:r>
            <a:endParaRPr lang="zh-CN" altLang="en-US" sz="1400"/>
          </a:p>
          <a:p>
            <a:pPr lvl="1" algn="just"/>
            <a:r>
              <a:rPr lang="zh-CN" altLang="en-US" sz="1225"/>
              <a:t>Dendrogram Cutting: Determining the optimal number of clusters by cutting the dendrogram can be subjective and may depend on domain knowledge or arbitrary thresholds. It can result in different clusterings based on how the dendrogram is cut.</a:t>
            </a:r>
            <a:endParaRPr lang="zh-CN" altLang="en-US" sz="1225"/>
          </a:p>
          <a:p>
            <a:pPr algn="just"/>
            <a:r>
              <a:rPr lang="zh-CN" altLang="en-US" sz="1400"/>
              <a:t>5. Memory Usage:</a:t>
            </a:r>
            <a:endParaRPr lang="zh-CN" altLang="en-US" sz="1400"/>
          </a:p>
          <a:p>
            <a:pPr lvl="1" algn="just"/>
            <a:r>
              <a:rPr lang="zh-CN" altLang="en-US" sz="1200"/>
              <a:t>Large Memory Footprint: When working with large datasets, hierarchical clustering can consume significant memory due to the storage of distance matrices and dendrograms.</a:t>
            </a:r>
            <a:endParaRPr lang="zh-CN" altLang="en-US" sz="1200"/>
          </a:p>
          <a:p>
            <a:pPr algn="just"/>
            <a:r>
              <a:rPr lang="zh-CN" altLang="en-US" sz="1400"/>
              <a:t>6. Lack of Global Optimality:</a:t>
            </a:r>
            <a:endParaRPr lang="zh-CN" altLang="en-US" sz="1400"/>
          </a:p>
          <a:p>
            <a:pPr lvl="1" algn="just"/>
            <a:r>
              <a:rPr lang="zh-CN" altLang="en-US" sz="1200"/>
              <a:t>Lack of Global Optimum: The hierarchical merging process is a greedy algorithm that may not always lead to the globally optimal clustering solution. It depends on the choice of distance metric, linkage criteria, and starting conditions.</a:t>
            </a:r>
            <a:endParaRPr lang="zh-CN" altLang="en-US" sz="12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286131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import numpy as np</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scipy.cluster.hierarchy as sch</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matplotlib.pyplot as plt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np.random.seed(0)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data = np.random.randn(20, 2)</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print(data)</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scipy.spatial import distance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distance_matrix = distance.pdist(data, metric='euclidean')</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linkage_matrix = sch.linkage(distance_matrix, method='ward')</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dendrogram = sch.dendrogram(linkage_matrix)</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plt.xlabel('Data Points')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plt.ylabel('Distance')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plt.title('Dendrogram')</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plt.show()</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2091690"/>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from scipy.cluster.hierarchy import fcluster</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Set the threshold for cutting the dendrogram</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threshold = 2</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Assign each data point to a cluster based on the threshold</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clusters = fcluster(linkage_matrix, threshold, criterion='distance')</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plt.scatter(data[:, 0], data[:, 1], c=clusters, cmap='viridis')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plt.xlabel('Feature 1')</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plt.ylabel('Feature 2')</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plt.title('Hierarchical Clustering Results')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plt.show()</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5" name="文本框 4"/>
          <p:cNvSpPr txBox="1"/>
          <p:nvPr/>
        </p:nvSpPr>
        <p:spPr>
          <a:xfrm>
            <a:off x="228600" y="285750"/>
            <a:ext cx="2568575" cy="4399915"/>
          </a:xfrm>
          <a:prstGeom prst="rect">
            <a:avLst/>
          </a:prstGeom>
          <a:noFill/>
        </p:spPr>
        <p:txBody>
          <a:bodyPr wrap="square" rtlCol="0" anchor="t">
            <a:spAutoFit/>
          </a:bodyPr>
          <a:p>
            <a:r>
              <a:rPr lang="zh-CN" altLang="en-US" sz="1400">
                <a:latin typeface="Times New Roman Regular" panose="02020503050405090304" charset="0"/>
                <a:cs typeface="Times New Roman Regular" panose="02020503050405090304" charset="0"/>
              </a:rPr>
              <a:t>[ 1.76405235  0.40015721]</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[ 0.97873798  2.2408932 ]</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[ 1.86755799 -0.97727788]</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[ 0.95008842 -0.15135721]</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[-0.10321885  0.4105985 ]</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[ 0.14404357  1.45427351]</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[ 0.76103773  0.12167502]</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[ 0.44386323  0.33367433]</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[ 1.49407907 -0.20515826]</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[ 0.3130677  -0.85409574]</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[-2.55298982  0.6536186 ]</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[ 0.8644362  -0.74216502]</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[ 2.26975462 -1.45436567]</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[ 0.04575852 -0.18718385]</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[ 1.53277921  1.46935877]</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[ 0.15494743  0.37816252]</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[-0.88778575 -1.98079647]</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[-0.34791215  0.15634897]</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[ 1.23029068  1.20237985]</a:t>
            </a:r>
            <a:endParaRPr lang="zh-CN" altLang="en-US" sz="1400">
              <a:latin typeface="Times New Roman Regular" panose="02020503050405090304" charset="0"/>
              <a:cs typeface="Times New Roman Regular" panose="02020503050405090304" charset="0"/>
            </a:endParaRPr>
          </a:p>
          <a:p>
            <a:r>
              <a:rPr lang="zh-CN" altLang="en-US" sz="1400">
                <a:latin typeface="Times New Roman Regular" panose="02020503050405090304" charset="0"/>
                <a:cs typeface="Times New Roman Regular" panose="02020503050405090304" charset="0"/>
              </a:rPr>
              <a:t> [-0.38732682 -0.30230275]</a:t>
            </a:r>
            <a:endParaRPr lang="zh-CN" altLang="en-US" sz="1400">
              <a:latin typeface="Times New Roman Regular" panose="02020503050405090304" charset="0"/>
              <a:cs typeface="Times New Roman Regular" panose="02020503050405090304" charset="0"/>
            </a:endParaRPr>
          </a:p>
        </p:txBody>
      </p:sp>
      <p:pic>
        <p:nvPicPr>
          <p:cNvPr id="8" name="图片 7"/>
          <p:cNvPicPr>
            <a:picLocks noChangeAspect="1"/>
          </p:cNvPicPr>
          <p:nvPr>
            <p:custDataLst>
              <p:tags r:id="rId1"/>
            </p:custDataLst>
          </p:nvPr>
        </p:nvPicPr>
        <p:blipFill>
          <a:blip r:embed="rId2"/>
          <a:stretch>
            <a:fillRect/>
          </a:stretch>
        </p:blipFill>
        <p:spPr>
          <a:xfrm>
            <a:off x="2667000" y="285750"/>
            <a:ext cx="3350260" cy="2847975"/>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4876800" y="1581150"/>
            <a:ext cx="3775710" cy="32099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4399915"/>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import pandas as pd</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sklearn.feature_extraction.text import TfidfVectorizer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sklearn.cluster import AgglomerativeClustering</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classification_report, confusion_matrix</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sklearn.preprocessing import LabelEncoder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matplotlib.pyplot as plt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scipy.cluster.hierarchy import dendrogram, linkage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silhouette_score, calinski_harabasz_score, davies_bouldin_score</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file_path = 'business_data.csv' </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df = pd.read_csv(file_path)</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vectorizer = TfidfVectorizer(stop_words='english')</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 = vectorizer.fit_transform(df['content'])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solidFill>
                  <a:srgbClr val="FF0000"/>
                </a:solidFill>
                <a:latin typeface="Times New Roman Regular" panose="02020503050405090304" charset="0"/>
                <a:ea typeface="微软雅黑" charset="0"/>
                <a:cs typeface="Times New Roman Regular" panose="02020503050405090304" charset="0"/>
              </a:rPr>
              <a:t>agg_clustering = AgglomerativeClustering(n_clusters=2, linkage='ward', metric='euclidean')</a:t>
            </a:r>
            <a:endParaRPr lang="zh-CN" altLang="en-US" sz="1000">
              <a:solidFill>
                <a:srgbClr val="FF0000"/>
              </a:solidFill>
              <a:latin typeface="Times New Roman Regular" panose="02020503050405090304" charset="0"/>
              <a:ea typeface="微软雅黑" charset="0"/>
              <a:cs typeface="Times New Roman Regular" panose="02020503050405090304" charset="0"/>
            </a:endParaRPr>
          </a:p>
          <a:p>
            <a:r>
              <a:rPr lang="zh-CN" altLang="en-US" sz="1000">
                <a:solidFill>
                  <a:srgbClr val="FF0000"/>
                </a:solidFill>
                <a:latin typeface="Times New Roman Regular" panose="02020503050405090304" charset="0"/>
                <a:ea typeface="微软雅黑" charset="0"/>
                <a:cs typeface="Times New Roman Regular" panose="02020503050405090304" charset="0"/>
              </a:rPr>
              <a:t>df['cluster'] = agg_clustering.fit_predict(X.toarray())</a:t>
            </a:r>
            <a:endParaRPr lang="zh-CN" altLang="en-US" sz="1000">
              <a:solidFill>
                <a:srgbClr val="FF0000"/>
              </a:solidFill>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le = LabelEncoder()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df['category_encoded'] = le.fit_transform(df['category'])</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report = classification_report(df['category_encoded'], df['cluster'], output_dict=True)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accuracy = report['accuracy']</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recall = report['macro avg']['recall']</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f1 = report['macro avg']['f1-score']</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3322955"/>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print(f"Accuracy: {accuracy:.4f}")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print(f"Recall: {recall:.4f}")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print(f"F1-Score: {f1:.4f}")</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conf_matrix = confusion_matrix(df['category_encoded'], df['cluster'])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print("Confusion Matrix:")</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print(conf_matrix)</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silhouette_avg = silhouette_score(X.toarray(), df['cluster'])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calinski_harabasz = calinski_harabasz_score(X.toarray(), df['cluster'])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davies_bouldin = davies_bouldin_score(X.toarray(), df['cluster'])</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print(f"Silhouette Coefficient: {silhouette_avg:.4f}")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print(f"Calinski-Harabasz Index: {calinski_harabasz:.4f}")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print(f"Davies-Bouldin Index: {davies_bouldin:.4f}")</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linked = linkage(X.toarray(), method='ward')</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plt.figure(figsize=(10, 7))</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dendrogram(linked, orientation='top', distance_sort='descending', show_leaf_counts=True)</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plt.title('Hierarchical Clustering Dendrogram')</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plt.show()</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457200" y="361950"/>
            <a:ext cx="4110990" cy="1383665"/>
          </a:xfrm>
          <a:prstGeom prst="rect">
            <a:avLst/>
          </a:prstGeom>
          <a:noFill/>
        </p:spPr>
        <p:txBody>
          <a:bodyPr wrap="square" rtlCol="0" anchor="t">
            <a:spAutoFit/>
          </a:bodyPr>
          <a:p>
            <a:r>
              <a:rPr lang="zh-CN" altLang="en-US" sz="1400">
                <a:latin typeface="Times New Roman Regular" panose="02020503050405090304" charset="0"/>
                <a:ea typeface="微软雅黑" charset="0"/>
                <a:cs typeface="Times New Roman Regular" panose="02020503050405090304" charset="0"/>
              </a:rPr>
              <a:t>Accuracy: 0.4805</a:t>
            </a:r>
            <a:endParaRPr lang="zh-CN" altLang="en-US" sz="1400">
              <a:latin typeface="Times New Roman Regular" panose="02020503050405090304" charset="0"/>
              <a:ea typeface="微软雅黑" charset="0"/>
              <a:cs typeface="Times New Roman Regular" panose="02020503050405090304" charset="0"/>
            </a:endParaRPr>
          </a:p>
          <a:p>
            <a:r>
              <a:rPr lang="zh-CN" altLang="en-US" sz="1400">
                <a:latin typeface="Times New Roman Regular" panose="02020503050405090304" charset="0"/>
                <a:ea typeface="微软雅黑" charset="0"/>
                <a:cs typeface="Times New Roman Regular" panose="02020503050405090304" charset="0"/>
              </a:rPr>
              <a:t>Recall: 0.4809</a:t>
            </a:r>
            <a:endParaRPr lang="zh-CN" altLang="en-US" sz="1400">
              <a:latin typeface="Times New Roman Regular" panose="02020503050405090304" charset="0"/>
              <a:ea typeface="微软雅黑" charset="0"/>
              <a:cs typeface="Times New Roman Regular" panose="02020503050405090304" charset="0"/>
            </a:endParaRPr>
          </a:p>
          <a:p>
            <a:r>
              <a:rPr lang="zh-CN" altLang="en-US" sz="1400">
                <a:latin typeface="Times New Roman Regular" panose="02020503050405090304" charset="0"/>
                <a:ea typeface="微软雅黑" charset="0"/>
                <a:cs typeface="Times New Roman Regular" panose="02020503050405090304" charset="0"/>
              </a:rPr>
              <a:t>F1-Score: 0.3818</a:t>
            </a:r>
            <a:endParaRPr lang="zh-CN" altLang="en-US" sz="1400">
              <a:latin typeface="Times New Roman Regular" panose="02020503050405090304" charset="0"/>
              <a:ea typeface="微软雅黑" charset="0"/>
              <a:cs typeface="Times New Roman Regular" panose="02020503050405090304" charset="0"/>
            </a:endParaRPr>
          </a:p>
          <a:p>
            <a:r>
              <a:rPr lang="zh-CN" altLang="en-US" sz="1400">
                <a:latin typeface="Times New Roman Regular" panose="02020503050405090304" charset="0"/>
                <a:ea typeface="微软雅黑" charset="0"/>
                <a:cs typeface="Times New Roman Regular" panose="02020503050405090304" charset="0"/>
              </a:rPr>
              <a:t>Confusion Matrix:</a:t>
            </a:r>
            <a:endParaRPr lang="zh-CN" altLang="en-US" sz="1400">
              <a:latin typeface="Times New Roman Regular" panose="02020503050405090304" charset="0"/>
              <a:ea typeface="微软雅黑" charset="0"/>
              <a:cs typeface="Times New Roman Regular" panose="02020503050405090304" charset="0"/>
            </a:endParaRPr>
          </a:p>
          <a:p>
            <a:r>
              <a:rPr lang="zh-CN" altLang="en-US" sz="1400">
                <a:latin typeface="Times New Roman Regular" panose="02020503050405090304" charset="0"/>
                <a:ea typeface="微软雅黑" charset="0"/>
                <a:cs typeface="Times New Roman Regular" panose="02020503050405090304" charset="0"/>
              </a:rPr>
              <a:t>[[880 119]</a:t>
            </a:r>
            <a:endParaRPr lang="zh-CN" altLang="en-US" sz="1400">
              <a:latin typeface="Times New Roman Regular" panose="02020503050405090304" charset="0"/>
              <a:ea typeface="微软雅黑" charset="0"/>
              <a:cs typeface="Times New Roman Regular" panose="02020503050405090304" charset="0"/>
            </a:endParaRPr>
          </a:p>
          <a:p>
            <a:r>
              <a:rPr lang="zh-CN" altLang="en-US" sz="1400">
                <a:latin typeface="Times New Roman Regular" panose="02020503050405090304" charset="0"/>
                <a:ea typeface="微软雅黑" charset="0"/>
                <a:cs typeface="Times New Roman Regular" panose="02020503050405090304" charset="0"/>
              </a:rPr>
              <a:t> [920  81]]</a:t>
            </a:r>
            <a:endParaRPr lang="zh-CN" altLang="en-US" sz="14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61645" y="1885950"/>
            <a:ext cx="3138170" cy="737235"/>
          </a:xfrm>
          <a:prstGeom prst="rect">
            <a:avLst/>
          </a:prstGeom>
          <a:noFill/>
        </p:spPr>
        <p:txBody>
          <a:bodyPr wrap="square" rtlCol="0" anchor="t">
            <a:spAutoFit/>
          </a:bodyPr>
          <a:p>
            <a:r>
              <a:rPr lang="zh-CN" altLang="en-US" sz="1400">
                <a:latin typeface="Times New Roman Regular" panose="02020503050405090304" charset="0"/>
                <a:cs typeface="Times New Roman Regular" panose="02020503050405090304" charset="0"/>
                <a:sym typeface="+mn-ea"/>
              </a:rPr>
              <a:t>Silhouette Coefficient: 0.0088</a:t>
            </a:r>
            <a:endParaRPr lang="zh-CN" altLang="en-US" sz="1400">
              <a:latin typeface="Times New Roman Regular" panose="02020503050405090304" charset="0"/>
              <a:cs typeface="Times New Roman Regular" panose="02020503050405090304" charset="0"/>
              <a:sym typeface="+mn-ea"/>
            </a:endParaRPr>
          </a:p>
          <a:p>
            <a:r>
              <a:rPr lang="zh-CN" altLang="en-US" sz="1400">
                <a:latin typeface="Times New Roman Regular" panose="02020503050405090304" charset="0"/>
                <a:cs typeface="Times New Roman Regular" panose="02020503050405090304" charset="0"/>
                <a:sym typeface="+mn-ea"/>
              </a:rPr>
              <a:t>Calinski-Harabasz Index: 39.2041</a:t>
            </a:r>
            <a:endParaRPr lang="zh-CN" altLang="en-US" sz="1400">
              <a:latin typeface="Times New Roman Regular" panose="02020503050405090304" charset="0"/>
              <a:cs typeface="Times New Roman Regular" panose="02020503050405090304" charset="0"/>
              <a:sym typeface="+mn-ea"/>
            </a:endParaRPr>
          </a:p>
          <a:p>
            <a:r>
              <a:rPr lang="zh-CN" altLang="en-US" sz="1400">
                <a:latin typeface="Times New Roman Regular" panose="02020503050405090304" charset="0"/>
                <a:cs typeface="Times New Roman Regular" panose="02020503050405090304" charset="0"/>
                <a:sym typeface="+mn-ea"/>
              </a:rPr>
              <a:t>Davies-Bouldin Index: 4.0673</a:t>
            </a:r>
            <a:endParaRPr lang="zh-CN" altLang="en-US" sz="1400">
              <a:latin typeface="Times New Roman Regular" panose="02020503050405090304" charset="0"/>
              <a:cs typeface="Times New Roman Regular" panose="02020503050405090304"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4648200" y="285750"/>
            <a:ext cx="4212590" cy="3219450"/>
          </a:xfrm>
          <a:prstGeom prst="rect">
            <a:avLst/>
          </a:prstGeom>
        </p:spPr>
      </p:pic>
      <p:sp>
        <p:nvSpPr>
          <p:cNvPr id="4" name="文本框 3"/>
          <p:cNvSpPr txBox="1"/>
          <p:nvPr>
            <p:custDataLst>
              <p:tags r:id="rId3"/>
            </p:custDataLst>
          </p:nvPr>
        </p:nvSpPr>
        <p:spPr>
          <a:xfrm>
            <a:off x="228600" y="3562350"/>
            <a:ext cx="4572000" cy="1322070"/>
          </a:xfrm>
          <a:prstGeom prst="rect">
            <a:avLst/>
          </a:prstGeom>
          <a:solidFill>
            <a:srgbClr val="92D050"/>
          </a:solid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              precision    recall  f1-score   support</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business       0.80      0.63      0.71       199</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tradee       0.70      0.84      0.76       201</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accuracy                           0.74       400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macro avg       0.75      0.74      0.73       400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weighted avg       0.75      0.74      0.73       400</a:t>
            </a:r>
            <a:endParaRPr lang="zh-CN" altLang="en-US" sz="1000">
              <a:latin typeface="Times New Roman Regular" panose="02020503050405090304" charset="0"/>
              <a:cs typeface="Times New Roman Regular" panose="02020503050405090304" charset="0"/>
              <a:sym typeface="+mn-ea"/>
            </a:endParaRPr>
          </a:p>
        </p:txBody>
      </p:sp>
      <p:sp>
        <p:nvSpPr>
          <p:cNvPr id="5" name="文本框 4"/>
          <p:cNvSpPr txBox="1"/>
          <p:nvPr/>
        </p:nvSpPr>
        <p:spPr>
          <a:xfrm>
            <a:off x="228600" y="2952750"/>
            <a:ext cx="4572000" cy="553085"/>
          </a:xfrm>
          <a:prstGeom prst="rect">
            <a:avLst/>
          </a:prstGeom>
          <a:solidFill>
            <a:srgbClr val="92D050"/>
          </a:solid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model = tf.keras.Model(inputs, outputs)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model.compile(optimizer='adam', loss='sparse_categorical_crossentropy', metrics=['accuracy'])</a:t>
            </a:r>
            <a:endParaRPr lang="zh-CN" altLang="en-US" sz="1000">
              <a:latin typeface="Times New Roman Regular" panose="02020503050405090304" charset="0"/>
              <a:cs typeface="Times New Roman Regular" panose="02020503050405090304" charset="0"/>
              <a:sym typeface="+mn-ea"/>
            </a:endParaRPr>
          </a:p>
        </p:txBody>
      </p:sp>
      <p:sp>
        <p:nvSpPr>
          <p:cNvPr id="8" name="文本框 7"/>
          <p:cNvSpPr txBox="1"/>
          <p:nvPr/>
        </p:nvSpPr>
        <p:spPr>
          <a:xfrm>
            <a:off x="4953000" y="3716020"/>
            <a:ext cx="3352165" cy="1168400"/>
          </a:xfrm>
          <a:prstGeom prst="rect">
            <a:avLst/>
          </a:prstGeom>
          <a:noFill/>
        </p:spPr>
        <p:txBody>
          <a:bodyPr wrap="square" rtlCol="0" anchor="t">
            <a:spAutoFit/>
          </a:bodyPr>
          <a:p>
            <a:r>
              <a:rPr lang="zh-CN" altLang="en-US" sz="1400">
                <a:solidFill>
                  <a:srgbClr val="FF0000"/>
                </a:solidFill>
                <a:latin typeface="Times New Roman Regular" panose="02020503050405090304" charset="0"/>
                <a:cs typeface="Times New Roman Regular" panose="02020503050405090304" charset="0"/>
              </a:rPr>
              <a:t>Clustering algorithm: performs better in vector space representation of sample </a:t>
            </a:r>
            <a:r>
              <a:rPr lang="en-US" altLang="zh-CN" sz="1400">
                <a:solidFill>
                  <a:srgbClr val="FF0000"/>
                </a:solidFill>
                <a:latin typeface="Times New Roman Regular" panose="02020503050405090304" charset="0"/>
                <a:cs typeface="Times New Roman Regular" panose="02020503050405090304" charset="0"/>
              </a:rPr>
              <a:t>contents</a:t>
            </a:r>
            <a:endParaRPr lang="zh-CN" altLang="en-US" sz="1400">
              <a:solidFill>
                <a:srgbClr val="FF0000"/>
              </a:solidFill>
              <a:latin typeface="Times New Roman Regular" panose="02020503050405090304" charset="0"/>
              <a:cs typeface="Times New Roman Regular" panose="02020503050405090304" charset="0"/>
            </a:endParaRPr>
          </a:p>
          <a:p>
            <a:r>
              <a:rPr lang="zh-CN" altLang="en-US" sz="1400">
                <a:solidFill>
                  <a:srgbClr val="FF0000"/>
                </a:solidFill>
                <a:latin typeface="Times New Roman Regular" panose="02020503050405090304" charset="0"/>
                <a:cs typeface="Times New Roman Regular" panose="02020503050405090304" charset="0"/>
              </a:rPr>
              <a:t>Classification algorithm: performs better in fitting sample labels</a:t>
            </a:r>
            <a:endParaRPr lang="zh-CN" altLang="en-US" sz="1400">
              <a:solidFill>
                <a:srgbClr val="FF0000"/>
              </a:solidFill>
              <a:latin typeface="Times New Roman Regular" panose="02020503050405090304" charset="0"/>
              <a:cs typeface="Times New Roman Regular" panose="0202050305040509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2400">
                <a:latin typeface="Times New Roman Regular" panose="02020503050405090304" charset="0"/>
                <a:cs typeface="Times New Roman Regular" panose="02020503050405090304" charset="0"/>
              </a:rPr>
              <a:t>The KMeans algorithm explained step-by-step</a:t>
            </a:r>
            <a:endParaRPr lang="zh-CN" altLang="en-US" sz="2400">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309"/>
            <a:ext cx="8229600" cy="3707130"/>
          </a:xfrm>
        </p:spPr>
        <p:txBody>
          <a:bodyPr>
            <a:noAutofit/>
          </a:bodyPr>
          <a:p>
            <a:pPr algn="just"/>
            <a:r>
              <a:rPr lang="zh-CN" altLang="en-US" sz="1600"/>
              <a:t>1. Initialization:</a:t>
            </a:r>
            <a:endParaRPr lang="zh-CN" altLang="en-US" sz="1600"/>
          </a:p>
          <a:p>
            <a:pPr lvl="1" algn="just"/>
            <a:r>
              <a:rPr lang="zh-CN" altLang="en-US" sz="1400"/>
              <a:t>Choose the number of clusters, K.</a:t>
            </a:r>
            <a:endParaRPr lang="zh-CN" altLang="en-US" sz="1400"/>
          </a:p>
          <a:p>
            <a:pPr lvl="1" algn="just"/>
            <a:r>
              <a:rPr lang="zh-CN" altLang="en-US" sz="1400"/>
              <a:t>Initialize K cluster centroids. This can be done by randomly selecting K data points from the dataset.</a:t>
            </a:r>
            <a:endParaRPr lang="zh-CN" altLang="en-US" sz="1400"/>
          </a:p>
          <a:p>
            <a:pPr algn="just"/>
            <a:r>
              <a:rPr lang="zh-CN" altLang="en-US" sz="1600"/>
              <a:t>2. Assignment:</a:t>
            </a:r>
            <a:endParaRPr lang="zh-CN" altLang="en-US" sz="1600"/>
          </a:p>
          <a:p>
            <a:pPr lvl="1" algn="just"/>
            <a:r>
              <a:rPr lang="zh-CN" altLang="en-US" sz="1400"/>
              <a:t>For each data point in the dataset, calculate the distance (usually Euclidean distance) to each K centroid.</a:t>
            </a:r>
            <a:endParaRPr lang="zh-CN" altLang="en-US" sz="1400"/>
          </a:p>
          <a:p>
            <a:pPr lvl="1" algn="just"/>
            <a:r>
              <a:rPr lang="zh-CN" altLang="en-US" sz="1400"/>
              <a:t>Assign the data point to the cluster corresponding to the nearest centroid.</a:t>
            </a:r>
            <a:endParaRPr lang="zh-CN" altLang="en-US" sz="1400"/>
          </a:p>
          <a:p>
            <a:pPr algn="just"/>
            <a:r>
              <a:rPr lang="zh-CN" altLang="en-US" sz="1600"/>
              <a:t>3. Update Centroids:</a:t>
            </a:r>
            <a:endParaRPr lang="zh-CN" altLang="en-US" sz="1600"/>
          </a:p>
          <a:p>
            <a:pPr lvl="1" algn="just"/>
            <a:r>
              <a:rPr lang="zh-CN" altLang="en-US" sz="1400"/>
              <a:t>After all data points are assigned to clusters, calculate the mean of all data points in each cluster. This mean becomes the new centroid for that cluster.</a:t>
            </a:r>
            <a:endParaRPr lang="zh-CN" altLang="en-US" sz="1400"/>
          </a:p>
          <a:p>
            <a:pPr algn="just"/>
            <a:r>
              <a:rPr lang="zh-CN" altLang="en-US" sz="1600"/>
              <a:t>4. Re-Assignment:</a:t>
            </a:r>
            <a:endParaRPr lang="zh-CN" altLang="en-US" sz="1600"/>
          </a:p>
          <a:p>
            <a:pPr lvl="1" algn="just"/>
            <a:r>
              <a:rPr lang="zh-CN" altLang="en-US" sz="1400"/>
              <a:t>Repeat the assignment step using the updated centroids. Data points are reassigned to clusters based on the new centroids.</a:t>
            </a:r>
            <a:endParaRPr lang="zh-CN" altLang="en-US" sz="1400"/>
          </a:p>
          <a:p>
            <a:pPr algn="just"/>
            <a:r>
              <a:rPr lang="zh-CN" altLang="en-US" sz="1600"/>
              <a:t>5. Iteration:</a:t>
            </a:r>
            <a:r>
              <a:rPr lang="en-US" altLang="zh-CN" sz="1600"/>
              <a:t>	</a:t>
            </a:r>
            <a:endParaRPr lang="zh-CN" altLang="en-US" sz="1600"/>
          </a:p>
          <a:p>
            <a:pPr lvl="1" algn="just"/>
            <a:r>
              <a:rPr lang="zh-CN" altLang="en-US" sz="1400"/>
              <a:t>Repeat the Update Centroids, and Re-Assignment steps iteratively until a stopping criterion is met. This criterion can be a maximum number of iterations or a slight change in centroids between iterations.</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2400">
                <a:latin typeface="Times New Roman Regular" panose="02020503050405090304" charset="0"/>
                <a:cs typeface="Times New Roman Regular" panose="02020503050405090304" charset="0"/>
              </a:rPr>
              <a:t>The KMeans algorithm explained step-by-step</a:t>
            </a:r>
            <a:endParaRPr lang="zh-CN" altLang="en-US" sz="2400">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355600" y="819150"/>
            <a:ext cx="8331200" cy="4018280"/>
          </a:xfrm>
        </p:spPr>
        <p:txBody>
          <a:bodyPr>
            <a:noAutofit/>
          </a:bodyPr>
          <a:p>
            <a:pPr algn="just"/>
            <a:r>
              <a:rPr lang="zh-CN" altLang="en-US" sz="1400"/>
              <a:t>6. Convergence:</a:t>
            </a:r>
            <a:endParaRPr lang="zh-CN" altLang="en-US" sz="1400"/>
          </a:p>
          <a:p>
            <a:pPr lvl="1" algn="just"/>
            <a:r>
              <a:rPr lang="zh-CN" altLang="en-US" sz="1200"/>
              <a:t>The algorithm converges when the centroids no longer change significantly between iterations, and the assignments become stable.</a:t>
            </a:r>
            <a:endParaRPr lang="zh-CN" altLang="en-US" sz="1200"/>
          </a:p>
          <a:p>
            <a:pPr algn="just"/>
            <a:r>
              <a:rPr lang="zh-CN" altLang="en-US" sz="1400"/>
              <a:t>7. Final Result:</a:t>
            </a:r>
            <a:endParaRPr lang="zh-CN" altLang="en-US" sz="1400"/>
          </a:p>
          <a:p>
            <a:pPr lvl="1" algn="just"/>
            <a:r>
              <a:rPr lang="zh-CN" altLang="en-US" sz="1200"/>
              <a:t>Once the algorithm converges, the data points are effectively partitioned into K clusters based on their proximity to the centroids.</a:t>
            </a:r>
            <a:endParaRPr lang="zh-CN" altLang="en-US" sz="1200"/>
          </a:p>
          <a:p>
            <a:pPr algn="just"/>
            <a:r>
              <a:rPr lang="zh-CN" altLang="en-US" sz="1400"/>
              <a:t>8. Choosing Optimal K:</a:t>
            </a:r>
            <a:endParaRPr lang="zh-CN" altLang="en-US" sz="1400"/>
          </a:p>
          <a:p>
            <a:pPr lvl="1" algn="just"/>
            <a:r>
              <a:rPr lang="zh-CN" altLang="en-US" sz="1200"/>
              <a:t>Determining the optimal number of clusters, K can be a challenge. One common approach is the “elbow method,” where you plot the sum of squared distances (inertia) for different values of K and look for an “elbow point” where the rate of decrease in inertia slows down.</a:t>
            </a:r>
            <a:endParaRPr lang="zh-CN" altLang="en-US" sz="1200"/>
          </a:p>
          <a:p>
            <a:pPr algn="just"/>
            <a:r>
              <a:rPr lang="zh-CN" altLang="en-US" sz="1400"/>
              <a:t>9. Centroid Initialization Strategies:</a:t>
            </a:r>
            <a:endParaRPr lang="zh-CN" altLang="en-US" sz="1400"/>
          </a:p>
          <a:p>
            <a:pPr lvl="1" algn="just"/>
            <a:r>
              <a:rPr lang="zh-CN" altLang="en-US" sz="1200"/>
              <a:t>While random initialization is common, it can lead to suboptimal solutions. KMeans++ is a popular initialization technique that distributes initial centroids more evenly across the data points, improving convergence speed and quality of results.</a:t>
            </a:r>
            <a:endParaRPr lang="zh-CN" altLang="en-US" sz="1200"/>
          </a:p>
          <a:p>
            <a:pPr algn="just"/>
            <a:r>
              <a:rPr lang="zh-CN" altLang="en-US" sz="1400"/>
              <a:t>10. Handling Convergence to Local Optima:</a:t>
            </a:r>
            <a:endParaRPr lang="zh-CN" altLang="en-US" sz="1400"/>
          </a:p>
          <a:p>
            <a:pPr lvl="1" algn="just"/>
            <a:r>
              <a:rPr lang="zh-CN" altLang="en-US" sz="1200"/>
              <a:t>To mitigate convergence to local optima, you can run the KMeans algorithm multiple times with different initializations and select the best result based on some criterion, such as the lowest sum of squared distances.</a:t>
            </a:r>
            <a:endParaRPr lang="zh-CN" altLang="en-US" sz="12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3702050"/>
          </a:xfrm>
          <a:prstGeom prst="rect">
            <a:avLst/>
          </a:prstGeom>
          <a:noFill/>
        </p:spPr>
        <p:txBody>
          <a:bodyPr wrap="square" rtlCol="0" anchor="t">
            <a:noAutofit/>
          </a:bodyPr>
          <a:p>
            <a:r>
              <a:rPr lang="zh-CN" altLang="en-US" sz="1200">
                <a:latin typeface="Times New Roman Regular" panose="02020503050405090304" charset="0"/>
                <a:ea typeface="微软雅黑" charset="0"/>
                <a:cs typeface="Times New Roman Regular" panose="02020503050405090304" charset="0"/>
              </a:rPr>
              <a:t>import numpy as np</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from sklearn.cluster import KMeans</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import matplotlib.pyplot as plt</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 Generate sample data</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np.random.seed(0)</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X = np.array([[1, 2], [5, 8], [1.5, 1.8], [8, 8], [1, 0.6], [9, 11]])</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 Define the number of clusters (K)</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num_clusters = 2</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 Initialize KMeans model</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kmeans = KMeans(n_clusters=num_clusters)</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 Fit the model to the data</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kmeans.fit(X)</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 Get cluster assignments and centroids</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cluster_assignments = kmeans.labels_</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centroids = kmeans.cluster_centers_</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116840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sym typeface="+mn-ea"/>
              </a:rPr>
              <a:t># Plot the data and cluster centroids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plt.scatter(X[:, 0], X[:, 1], c=cluster_assignments, cmap='rainbow')</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plt.scatter(centroids[:, 0], centroids[:, 1], marker='X', s=200, c='black')</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plt.xlabel('Feature 1')</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plt.ylabel('Feature 2')</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plt.title('KMeans Clustering')</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plt.show()</a:t>
            </a:r>
            <a:endParaRPr lang="zh-CN" altLang="en-US" sz="1000">
              <a:latin typeface="Times New Roman Regular" panose="02020503050405090304" charset="0"/>
              <a:cs typeface="Times New Roman Regular" panose="02020503050405090304" charset="0"/>
              <a:sym typeface="+mn-ea"/>
            </a:endParaRPr>
          </a:p>
        </p:txBody>
      </p:sp>
      <p:pic>
        <p:nvPicPr>
          <p:cNvPr id="5" name="内容占位符 4"/>
          <p:cNvPicPr>
            <a:picLocks noChangeAspect="1"/>
          </p:cNvPicPr>
          <p:nvPr>
            <p:ph idx="1"/>
            <p:custDataLst>
              <p:tags r:id="rId1"/>
            </p:custDataLst>
          </p:nvPr>
        </p:nvPicPr>
        <p:blipFill>
          <a:blip r:embed="rId2"/>
          <a:stretch>
            <a:fillRect/>
          </a:stretch>
        </p:blipFill>
        <p:spPr>
          <a:xfrm>
            <a:off x="4495800" y="1595755"/>
            <a:ext cx="3715385" cy="31584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0" y="57150"/>
            <a:ext cx="4110990" cy="3702050"/>
          </a:xfrm>
          <a:prstGeom prst="rect">
            <a:avLst/>
          </a:prstGeom>
          <a:noFill/>
        </p:spPr>
        <p:txBody>
          <a:bodyPr wrap="square" rtlCol="0" anchor="t">
            <a:noAutofit/>
          </a:bodyPr>
          <a:p>
            <a:r>
              <a:rPr lang="zh-CN" altLang="en-US" sz="1000">
                <a:latin typeface="Times New Roman Regular" panose="02020503050405090304" charset="0"/>
                <a:ea typeface="微软雅黑" charset="0"/>
                <a:cs typeface="Times New Roman Regular" panose="02020503050405090304" charset="0"/>
              </a:rPr>
              <a:t>import pandas as pd</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sklearn.feature_extraction.text import TfidfVectorizer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sklearn.cluster import KMeans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sklearn.model_selection import train_test_split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classification_report, confusion_matrix</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silhouette_score, calinski_harabasz_score, davies_bouldin_score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sklearn.preprocessing import LabelEncoder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matplotlib.pyplot as plt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file_path = 'business_data.csv'  df = pd.read_csv(file_path)</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vectorizer = TfidfVectorizer(stop_words='english')</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 = vectorizer.fit_transform(df['content'])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X_dense = X.toarray()</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X_train, X_test, y_train, y_test = train_test_split(X_dense, df['category'], test_size=0.2, random_state=42)</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kmeans = KMeans(n_clusters=2, random_state=42)</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kmeans.fit(X_train)</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y_train_clustered = kmeans.labels_</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y_test_pred = kmeans.predict(X_test)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le = LabelEncoder()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y_test_encoded = le.fit_transform(y_test)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report = classification_report(y_test_encoded, y_test_pred, output_dict=True)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accuracy = report['accuracy']</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recall = report['macro avg']['recall']</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f1 = report['macro avg']['f1-score']</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10990" y="57150"/>
            <a:ext cx="4892040" cy="4888230"/>
          </a:xfrm>
          <a:prstGeom prst="rect">
            <a:avLst/>
          </a:prstGeom>
          <a:noFill/>
        </p:spPr>
        <p:txBody>
          <a:bodyPr wrap="square" rtlCol="0" anchor="t">
            <a:noAutofit/>
          </a:bodyPr>
          <a:p>
            <a:r>
              <a:rPr lang="zh-CN" altLang="en-US" sz="1000">
                <a:latin typeface="Times New Roman Regular" panose="02020503050405090304" charset="0"/>
                <a:cs typeface="Times New Roman Regular" panose="02020503050405090304" charset="0"/>
                <a:sym typeface="+mn-ea"/>
              </a:rPr>
              <a:t>print(f"Accuracy: {accuracy:.4f}")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print(f"Recall: {recall:.4f}")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print(f"F1-Score: {f1:.4f}")</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conf_matrix = confusion_matrix(y_test_encoded, y_test_pred)</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print("Confusion Matrix:")</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print(conf_matrix)</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silhouette_avg = silhouette_score(X_train, y_train_clustered)</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calinski_harabasz = calinski_harabasz_score(X_train, y_train_clustered)</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davies_bouldin = davies_bouldin_score(X_train, y_train_clustered)</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print(f"Silhouette Coefficient: {silhouette_avg:.4f}")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print(f"Calinski-Harabasz Index: {calinski_harabasz:.4f}")</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print(f"Davies-Bouldin Index: {davies_bouldin:.4f}")</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cluster_centers = kmeans.cluster_centers_</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from sklearn.decomposition import PCA</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pca = PCA(n_components=2)</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X_train_2d = pca.fit_transform(X_train)</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centers_2d = pca.transform(cluster_centers)</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plt.figure(figsize=(8, 6))</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plt.scatter(X_train_2d[:, 0], X_train_2d[:, 1], c=y_train_clustered, s=50, cmap='viridis', alpha=0.5)</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plt.scatter(centers_2d[:, 0], centers_2d[:, 1], c='red', s=200, marker='x')</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plt.title('KMeans Clustering with Cluster Centers')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plt.xlabel('PCA Component 1')</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plt.ylabel('PCA Component 2')</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plt.show()</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3702050"/>
          </a:xfrm>
          <a:prstGeom prst="rect">
            <a:avLst/>
          </a:prstGeom>
          <a:noFill/>
        </p:spPr>
        <p:txBody>
          <a:bodyPr wrap="square" rtlCol="0" anchor="t">
            <a:noAutofit/>
          </a:bodyPr>
          <a:p>
            <a:r>
              <a:rPr lang="zh-CN" altLang="en-US" sz="1600">
                <a:latin typeface="Times New Roman Regular" panose="02020503050405090304" charset="0"/>
                <a:ea typeface="微软雅黑" charset="0"/>
                <a:cs typeface="Times New Roman Regular" panose="02020503050405090304" charset="0"/>
              </a:rPr>
              <a:t>Accuracy: 0.6250</a:t>
            </a:r>
            <a:endParaRPr lang="zh-CN" altLang="en-US" sz="1600">
              <a:latin typeface="Times New Roman Regular" panose="02020503050405090304" charset="0"/>
              <a:ea typeface="微软雅黑" charset="0"/>
              <a:cs typeface="Times New Roman Regular" panose="02020503050405090304" charset="0"/>
            </a:endParaRPr>
          </a:p>
          <a:p>
            <a:r>
              <a:rPr lang="zh-CN" altLang="en-US" sz="1600">
                <a:latin typeface="Times New Roman Regular" panose="02020503050405090304" charset="0"/>
                <a:ea typeface="微软雅黑" charset="0"/>
                <a:cs typeface="Times New Roman Regular" panose="02020503050405090304" charset="0"/>
              </a:rPr>
              <a:t>Recall: 0.6263</a:t>
            </a:r>
            <a:endParaRPr lang="zh-CN" altLang="en-US" sz="1600">
              <a:latin typeface="Times New Roman Regular" panose="02020503050405090304" charset="0"/>
              <a:ea typeface="微软雅黑" charset="0"/>
              <a:cs typeface="Times New Roman Regular" panose="02020503050405090304" charset="0"/>
            </a:endParaRPr>
          </a:p>
          <a:p>
            <a:r>
              <a:rPr lang="zh-CN" altLang="en-US" sz="1600">
                <a:latin typeface="Times New Roman Regular" panose="02020503050405090304" charset="0"/>
                <a:ea typeface="微软雅黑" charset="0"/>
                <a:cs typeface="Times New Roman Regular" panose="02020503050405090304" charset="0"/>
              </a:rPr>
              <a:t>F1-Score: 0.5967</a:t>
            </a:r>
            <a:endParaRPr lang="zh-CN" altLang="en-US" sz="1600">
              <a:latin typeface="Times New Roman Regular" panose="02020503050405090304" charset="0"/>
              <a:ea typeface="微软雅黑" charset="0"/>
              <a:cs typeface="Times New Roman Regular" panose="02020503050405090304" charset="0"/>
            </a:endParaRPr>
          </a:p>
          <a:p>
            <a:r>
              <a:rPr lang="zh-CN" altLang="en-US" sz="1600">
                <a:latin typeface="Times New Roman Regular" panose="02020503050405090304" charset="0"/>
                <a:ea typeface="微软雅黑" charset="0"/>
                <a:cs typeface="Times New Roman Regular" panose="02020503050405090304" charset="0"/>
              </a:rPr>
              <a:t>Confusion Matrix:</a:t>
            </a:r>
            <a:endParaRPr lang="zh-CN" altLang="en-US" sz="1600">
              <a:latin typeface="Times New Roman Regular" panose="02020503050405090304" charset="0"/>
              <a:ea typeface="微软雅黑" charset="0"/>
              <a:cs typeface="Times New Roman Regular" panose="02020503050405090304" charset="0"/>
            </a:endParaRPr>
          </a:p>
          <a:p>
            <a:r>
              <a:rPr lang="zh-CN" altLang="en-US" sz="1600">
                <a:latin typeface="Times New Roman Regular" panose="02020503050405090304" charset="0"/>
                <a:ea typeface="微软雅黑" charset="0"/>
                <a:cs typeface="Times New Roman Regular" panose="02020503050405090304" charset="0"/>
              </a:rPr>
              <a:t>[[178  21]</a:t>
            </a:r>
            <a:endParaRPr lang="zh-CN" altLang="en-US" sz="1600">
              <a:latin typeface="Times New Roman Regular" panose="02020503050405090304" charset="0"/>
              <a:ea typeface="微软雅黑" charset="0"/>
              <a:cs typeface="Times New Roman Regular" panose="02020503050405090304" charset="0"/>
            </a:endParaRPr>
          </a:p>
          <a:p>
            <a:r>
              <a:rPr lang="zh-CN" altLang="en-US" sz="1600">
                <a:latin typeface="Times New Roman Regular" panose="02020503050405090304" charset="0"/>
                <a:ea typeface="微软雅黑" charset="0"/>
                <a:cs typeface="Times New Roman Regular" panose="02020503050405090304" charset="0"/>
              </a:rPr>
              <a:t> [129  72]]</a:t>
            </a:r>
            <a:endParaRPr lang="zh-CN" altLang="en-US" sz="16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304800" y="2266950"/>
            <a:ext cx="4801235" cy="737235"/>
          </a:xfrm>
          <a:prstGeom prst="rect">
            <a:avLst/>
          </a:prstGeom>
          <a:noFill/>
        </p:spPr>
        <p:txBody>
          <a:bodyPr wrap="square" rtlCol="0" anchor="t">
            <a:spAutoFit/>
          </a:bodyPr>
          <a:p>
            <a:r>
              <a:rPr lang="zh-CN" altLang="en-US" sz="1400">
                <a:latin typeface="Times New Roman Regular" panose="02020503050405090304" charset="0"/>
                <a:cs typeface="Times New Roman Regular" panose="02020503050405090304" charset="0"/>
                <a:sym typeface="+mn-ea"/>
              </a:rPr>
              <a:t>Silhouette Coefficient: 0.0083</a:t>
            </a:r>
            <a:endParaRPr lang="zh-CN" altLang="en-US" sz="1400">
              <a:latin typeface="Times New Roman Regular" panose="02020503050405090304" charset="0"/>
              <a:cs typeface="Times New Roman Regular" panose="02020503050405090304" charset="0"/>
              <a:sym typeface="+mn-ea"/>
            </a:endParaRPr>
          </a:p>
          <a:p>
            <a:r>
              <a:rPr lang="zh-CN" altLang="en-US" sz="1400">
                <a:latin typeface="Times New Roman Regular" panose="02020503050405090304" charset="0"/>
                <a:cs typeface="Times New Roman Regular" panose="02020503050405090304" charset="0"/>
                <a:sym typeface="+mn-ea"/>
              </a:rPr>
              <a:t>Calinski-Harabasz Index: 17.4184</a:t>
            </a:r>
            <a:endParaRPr lang="zh-CN" altLang="en-US" sz="1400">
              <a:latin typeface="Times New Roman Regular" panose="02020503050405090304" charset="0"/>
              <a:cs typeface="Times New Roman Regular" panose="02020503050405090304" charset="0"/>
              <a:sym typeface="+mn-ea"/>
            </a:endParaRPr>
          </a:p>
          <a:p>
            <a:r>
              <a:rPr lang="zh-CN" altLang="en-US" sz="1400">
                <a:latin typeface="Times New Roman Regular" panose="02020503050405090304" charset="0"/>
                <a:cs typeface="Times New Roman Regular" panose="02020503050405090304" charset="0"/>
                <a:sym typeface="+mn-ea"/>
              </a:rPr>
              <a:t>Davies-Bouldin Index: 8.4197</a:t>
            </a:r>
            <a:endParaRPr lang="zh-CN" altLang="en-US" sz="1400">
              <a:latin typeface="Times New Roman Regular" panose="02020503050405090304" charset="0"/>
              <a:cs typeface="Times New Roman Regular" panose="02020503050405090304"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3505200" y="285750"/>
            <a:ext cx="5167630" cy="42894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sz="2000">
                <a:latin typeface="Times New Roman Regular" panose="02020503050405090304" charset="0"/>
                <a:cs typeface="Times New Roman Regular" panose="02020503050405090304" charset="0"/>
              </a:rPr>
              <a:t>Comparison between various clustering algorithms</a:t>
            </a:r>
            <a:endParaRPr lang="zh-CN" altLang="en-US" sz="2000">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p:txBody>
          <a:bodyPr/>
          <a:p>
            <a:r>
              <a:rPr lang="zh-CN" altLang="en-US" sz="2000"/>
              <a:t>K-means and Hierarchical Clustering are classic clustering methods that are suitable for simple scenarios.</a:t>
            </a:r>
            <a:endParaRPr lang="zh-CN" altLang="en-US" sz="2000"/>
          </a:p>
          <a:p>
            <a:r>
              <a:rPr lang="zh-CN" altLang="en-US" sz="2000"/>
              <a:t>DBSCAN and </a:t>
            </a:r>
            <a:r>
              <a:rPr lang="zh-CN" altLang="en-US" sz="2000">
                <a:solidFill>
                  <a:srgbClr val="FF0000"/>
                </a:solidFill>
              </a:rPr>
              <a:t>Mean Shift</a:t>
            </a:r>
            <a:r>
              <a:rPr lang="zh-CN" altLang="en-US" sz="2000"/>
              <a:t> are suitable for handling scenes with high noise or irregular cluster shapes.</a:t>
            </a:r>
            <a:endParaRPr lang="zh-CN" altLang="en-US" sz="2000"/>
          </a:p>
          <a:p>
            <a:r>
              <a:rPr lang="zh-CN" altLang="en-US" sz="2000"/>
              <a:t>GMM can be used for tasks that require soft clustering or have high requirements for cluster shape.</a:t>
            </a:r>
            <a:endParaRPr lang="zh-CN" altLang="en-US" sz="2000"/>
          </a:p>
          <a:p>
            <a:r>
              <a:rPr lang="zh-CN" altLang="en-US" sz="2000"/>
              <a:t>Spectral Clustering and Agglomerative Clustering perform well in data with complex geometric structures.</a:t>
            </a:r>
            <a:endParaRPr lang="zh-CN" altLang="en-US" sz="20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Mean Shift</a:t>
            </a:r>
            <a:endParaRPr lang="zh-CN" altLang="en-US"/>
          </a:p>
        </p:txBody>
      </p:sp>
      <p:sp>
        <p:nvSpPr>
          <p:cNvPr id="4" name="内容占位符 3"/>
          <p:cNvSpPr>
            <a:spLocks noGrp="1"/>
          </p:cNvSpPr>
          <p:nvPr>
            <p:ph idx="1"/>
          </p:nvPr>
        </p:nvSpPr>
        <p:spPr>
          <a:xfrm>
            <a:off x="457200" y="762000"/>
            <a:ext cx="8229600" cy="3847465"/>
          </a:xfrm>
        </p:spPr>
        <p:txBody>
          <a:bodyPr>
            <a:noAutofit/>
          </a:bodyPr>
          <a:p>
            <a:r>
              <a:rPr lang="zh-CN" altLang="en-US" sz="1800"/>
              <a:t> Mean Shift is a density based clustering algorithm that does not require a pre-set number of clusters. It defines clusters by identifying high-density regions (patterns) in the dataset.</a:t>
            </a:r>
            <a:endParaRPr lang="zh-CN" altLang="en-US" sz="1800"/>
          </a:p>
          <a:p>
            <a:r>
              <a:rPr lang="zh-CN" altLang="en-US" sz="1800"/>
              <a:t>Applicable scenarios: Suitable for situations with unknown number of clusters and complex cluster shapes.</a:t>
            </a:r>
            <a:endParaRPr lang="zh-CN" altLang="en-US" sz="1800"/>
          </a:p>
          <a:p>
            <a:r>
              <a:rPr lang="zh-CN" altLang="en-US" sz="1800"/>
              <a:t>advantage:</a:t>
            </a:r>
            <a:endParaRPr lang="zh-CN" altLang="en-US" sz="1800"/>
          </a:p>
          <a:p>
            <a:pPr lvl="1"/>
            <a:r>
              <a:rPr lang="zh-CN" altLang="en-US" sz="1600"/>
              <a:t>There is no need to specify the number of clusters in advance.</a:t>
            </a:r>
            <a:endParaRPr lang="zh-CN" altLang="en-US" sz="1600"/>
          </a:p>
          <a:p>
            <a:pPr lvl="1"/>
            <a:r>
              <a:rPr lang="zh-CN" altLang="en-US" sz="1600"/>
              <a:t>Can adapt to non spherical clusters.</a:t>
            </a:r>
            <a:endParaRPr lang="zh-CN" altLang="en-US" sz="1600"/>
          </a:p>
          <a:p>
            <a:r>
              <a:rPr lang="zh-CN" altLang="en-US" sz="1800"/>
              <a:t>Disadvantages:</a:t>
            </a:r>
            <a:endParaRPr lang="zh-CN" altLang="en-US" sz="1800"/>
          </a:p>
          <a:p>
            <a:pPr lvl="1"/>
            <a:r>
              <a:rPr lang="zh-CN" altLang="en-US" sz="1600"/>
              <a:t>Sensitive to the scale of data, normalization of data is usually required.</a:t>
            </a:r>
            <a:endParaRPr lang="zh-CN" altLang="en-US" sz="1600"/>
          </a:p>
          <a:p>
            <a:pPr lvl="1"/>
            <a:r>
              <a:rPr lang="zh-CN" altLang="en-US" sz="1600"/>
              <a:t>The computational complexity is relatively high.</a:t>
            </a:r>
            <a:endParaRPr lang="zh-CN" altLang="en-US" sz="1600"/>
          </a:p>
          <a:p>
            <a:r>
              <a:rPr lang="zh-CN" altLang="en-US" sz="1800"/>
              <a:t>Application in NLP: Clustering can be used for text embedding representation, exploring different clustering structures when there is no clear number of clusters.</a:t>
            </a:r>
            <a:endParaRPr lang="zh-CN" altLang="en-US" sz="18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255270" y="212090"/>
            <a:ext cx="8533130" cy="540385"/>
          </a:xfrm>
        </p:spPr>
        <p:txBody>
          <a:bodyPr/>
          <a:p>
            <a:r>
              <a:rPr lang="zh-CN" altLang="en-US" sz="2400">
                <a:latin typeface="Times New Roman Regular" panose="02020503050405090304" charset="0"/>
                <a:cs typeface="Times New Roman Regular" panose="02020503050405090304" charset="0"/>
              </a:rPr>
              <a:t>The </a:t>
            </a:r>
            <a:r>
              <a:rPr lang="en-US" altLang="zh-CN" sz="2400">
                <a:latin typeface="Times New Roman Regular" panose="02020503050405090304" charset="0"/>
                <a:cs typeface="Times New Roman Regular" panose="02020503050405090304" charset="0"/>
              </a:rPr>
              <a:t>mean shift</a:t>
            </a:r>
            <a:r>
              <a:rPr lang="zh-CN" altLang="en-US" sz="2400">
                <a:latin typeface="Times New Roman Regular" panose="02020503050405090304" charset="0"/>
                <a:cs typeface="Times New Roman Regular" panose="02020503050405090304" charset="0"/>
              </a:rPr>
              <a:t> algorithm explained step-by-step</a:t>
            </a:r>
            <a:endParaRPr lang="zh-CN" altLang="en-US" sz="2400">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309"/>
            <a:ext cx="8229600" cy="3707130"/>
          </a:xfrm>
        </p:spPr>
        <p:txBody>
          <a:bodyPr>
            <a:noAutofit/>
          </a:bodyPr>
          <a:p>
            <a:pPr algn="just"/>
            <a:r>
              <a:rPr lang="zh-CN" altLang="en-US" sz="1600"/>
              <a:t>1. Data preparation and preprocessing</a:t>
            </a:r>
            <a:endParaRPr lang="zh-CN" altLang="en-US" sz="1600"/>
          </a:p>
          <a:p>
            <a:pPr lvl="1" algn="just"/>
            <a:r>
              <a:rPr lang="zh-CN" altLang="en-US" sz="1400"/>
              <a:t>The data needs to be appropriately preprocessed, especially when using distance metrics, which may require normalization or standardization of the data.</a:t>
            </a:r>
            <a:endParaRPr lang="zh-CN" altLang="en-US" sz="1400"/>
          </a:p>
          <a:p>
            <a:pPr algn="just"/>
            <a:r>
              <a:rPr lang="zh-CN" altLang="en-US" sz="1600"/>
              <a:t>2. Select the bandwidth parameter (bandwidth)</a:t>
            </a:r>
            <a:endParaRPr lang="zh-CN" altLang="en-US" sz="1600"/>
          </a:p>
          <a:p>
            <a:pPr lvl="1" algn="just"/>
            <a:r>
              <a:rPr lang="zh-CN" altLang="en-US" sz="1400"/>
              <a:t>Bandwidth is a key parameter that determines the search range, defining the range of the kernel function centered around each point. The larger the bandwidth, the larger the search area; The smaller the bandwidth, the more clusters there may be.</a:t>
            </a:r>
            <a:endParaRPr lang="zh-CN" altLang="en-US" sz="1400"/>
          </a:p>
          <a:p>
            <a:pPr algn="just"/>
            <a:r>
              <a:rPr lang="zh-CN" altLang="en-US" sz="1600"/>
              <a:t>3. Kernel Density Estimation</a:t>
            </a:r>
            <a:endParaRPr lang="zh-CN" altLang="en-US" sz="1600"/>
          </a:p>
          <a:p>
            <a:pPr lvl="1" algn="just"/>
            <a:r>
              <a:rPr lang="zh-CN" altLang="en-US" sz="1400"/>
              <a:t>Mean Shift uses kernel density estimation to identify density peaks around each data point. The commonly used kernel function is the Gaussian kernel function, which calculates the weighted average position of each data point to its neighboring data points.</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a:xfrm>
            <a:off x="255270" y="212090"/>
            <a:ext cx="8533130" cy="540385"/>
          </a:xfrm>
        </p:spPr>
        <p:txBody>
          <a:bodyPr/>
          <a:p>
            <a:r>
              <a:rPr lang="zh-CN" altLang="en-US" sz="2400">
                <a:latin typeface="Times New Roman Regular" panose="02020503050405090304" charset="0"/>
                <a:cs typeface="Times New Roman Regular" panose="02020503050405090304" charset="0"/>
              </a:rPr>
              <a:t>The </a:t>
            </a:r>
            <a:r>
              <a:rPr lang="en-US" altLang="zh-CN" sz="2400">
                <a:latin typeface="Times New Roman Regular" panose="02020503050405090304" charset="0"/>
                <a:cs typeface="Times New Roman Regular" panose="02020503050405090304" charset="0"/>
              </a:rPr>
              <a:t>mean shift</a:t>
            </a:r>
            <a:r>
              <a:rPr lang="zh-CN" altLang="en-US" sz="2400">
                <a:latin typeface="Times New Roman Regular" panose="02020503050405090304" charset="0"/>
                <a:cs typeface="Times New Roman Regular" panose="02020503050405090304" charset="0"/>
              </a:rPr>
              <a:t> algorithm explained step-by-step</a:t>
            </a:r>
            <a:endParaRPr lang="zh-CN" altLang="en-US" sz="2400">
              <a:latin typeface="Times New Roman Regular" panose="02020503050405090304" charset="0"/>
              <a:cs typeface="Times New Roman Regular" panose="02020503050405090304" charset="0"/>
            </a:endParaRPr>
          </a:p>
        </p:txBody>
      </p:sp>
      <p:sp>
        <p:nvSpPr>
          <p:cNvPr id="4" name="内容占位符 3"/>
          <p:cNvSpPr>
            <a:spLocks noGrp="1"/>
          </p:cNvSpPr>
          <p:nvPr>
            <p:ph idx="1"/>
          </p:nvPr>
        </p:nvSpPr>
        <p:spPr>
          <a:xfrm>
            <a:off x="457200" y="819309"/>
            <a:ext cx="8229600" cy="3707130"/>
          </a:xfrm>
        </p:spPr>
        <p:txBody>
          <a:bodyPr>
            <a:noAutofit/>
          </a:bodyPr>
          <a:p>
            <a:pPr algn="just"/>
            <a:r>
              <a:rPr lang="zh-CN" altLang="en-US" sz="1600"/>
              <a:t>4. Mean Shift</a:t>
            </a:r>
            <a:endParaRPr lang="zh-CN" altLang="en-US" sz="1600"/>
          </a:p>
          <a:p>
            <a:pPr lvl="1" algn="just"/>
            <a:r>
              <a:rPr lang="zh-CN" altLang="en-US" sz="1400"/>
              <a:t>Calculate the weighted average of all neighboring points within a given bandwidth range for each point, and move the point to the position of the average.</a:t>
            </a:r>
            <a:endParaRPr lang="zh-CN" altLang="en-US" sz="1400"/>
          </a:p>
          <a:p>
            <a:pPr lvl="1" algn="just"/>
            <a:r>
              <a:rPr lang="zh-CN" altLang="en-US" sz="1400"/>
              <a:t>Repeat this process continuously until all points converge at the local density peak.</a:t>
            </a:r>
            <a:endParaRPr lang="zh-CN" altLang="en-US" sz="1400"/>
          </a:p>
          <a:p>
            <a:pPr algn="just"/>
            <a:r>
              <a:rPr lang="zh-CN" altLang="en-US" sz="1600"/>
              <a:t>5. Determination of cluster center</a:t>
            </a:r>
            <a:endParaRPr lang="zh-CN" altLang="en-US" sz="1600"/>
          </a:p>
          <a:p>
            <a:pPr lvl="1" algn="just"/>
            <a:r>
              <a:rPr lang="zh-CN" altLang="en-US" sz="1400"/>
              <a:t>After all data points converge, data with similar convergence points will be grouped into the same cluster, and the mean position of these points is the center of the cluster.</a:t>
            </a:r>
            <a:endParaRPr lang="zh-CN" altLang="en-US" sz="1400"/>
          </a:p>
          <a:p>
            <a:pPr algn="just"/>
            <a:r>
              <a:rPr lang="zh-CN" altLang="en-US" sz="1600"/>
              <a:t>6. Cluster allocation</a:t>
            </a:r>
            <a:endParaRPr lang="zh-CN" altLang="en-US" sz="1600"/>
          </a:p>
          <a:p>
            <a:pPr lvl="1" algn="just"/>
            <a:r>
              <a:rPr lang="zh-CN" altLang="en-US" sz="1400"/>
              <a:t>Assign cluster labels to each point, where clusters are determined by the final positions of points with similar densities.</a:t>
            </a:r>
            <a:endParaRPr lang="zh-CN" altLang="en-US" sz="1400"/>
          </a:p>
          <a:p>
            <a:pPr algn="just"/>
            <a:r>
              <a:rPr lang="zh-CN" altLang="en-US" sz="1600"/>
              <a:t>7. Evaluate clustering results</a:t>
            </a:r>
            <a:endParaRPr lang="zh-CN" altLang="en-US" sz="1600"/>
          </a:p>
          <a:p>
            <a:pPr lvl="1" algn="just"/>
            <a:r>
              <a:rPr lang="zh-CN" altLang="en-US" sz="1400"/>
              <a:t>The evaluation of clustering results can be measured using standard clustering evaluation indicators such as silhouette coefficient, Calinski Harabasz index, Davies Bouldin index, etc.</a:t>
            </a:r>
            <a:endParaRPr lang="zh-CN" altLang="en-US" sz="1400"/>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3702050"/>
          </a:xfrm>
          <a:prstGeom prst="rect">
            <a:avLst/>
          </a:prstGeom>
          <a:noFill/>
        </p:spPr>
        <p:txBody>
          <a:bodyPr wrap="square" rtlCol="0" anchor="t">
            <a:noAutofit/>
          </a:bodyPr>
          <a:p>
            <a:r>
              <a:rPr lang="zh-CN" altLang="en-US" sz="1200">
                <a:latin typeface="Times New Roman Regular" panose="02020503050405090304" charset="0"/>
                <a:ea typeface="微软雅黑" charset="0"/>
                <a:cs typeface="Times New Roman Regular" panose="02020503050405090304" charset="0"/>
              </a:rPr>
              <a:t>import numpy as np</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import pandas as pd</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from sklearn.cluster import MeanShift, estimate_bandwidth</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from sklearn.datasets import make_blobs</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from sklearn.metrics import silhouette_score, calinski_harabasz_score, davies_bouldin_score</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import matplotlib.pyplot as plt</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centers = [[1, 1], [5, 5], [3, 10]]</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X, _ = make_blobs(n_samples=500, centers=centers, cluster_std=0.8)</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bandwidth = estimate_bandwidth(X, quantile=0.2, n_samples=500)</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mean_shift = MeanShift(bandwidth=bandwidth, bin_seeding=True)</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mean_shift.fit(X)</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labels = mean_shift.labels_</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cluster_centers = mean_shift.cluster_centers_</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n_clusters = len(np.unique(labels))</a:t>
            </a:r>
            <a:endParaRPr lang="zh-CN" altLang="en-US" sz="1200">
              <a:latin typeface="Times New Roman Regular" panose="02020503050405090304" charset="0"/>
              <a:ea typeface="微软雅黑" charset="0"/>
              <a:cs typeface="Times New Roman Regular" panose="02020503050405090304" charset="0"/>
            </a:endParaRPr>
          </a:p>
          <a:p>
            <a:r>
              <a:rPr lang="zh-CN" altLang="en-US" sz="1200">
                <a:latin typeface="Times New Roman Regular" panose="02020503050405090304" charset="0"/>
                <a:ea typeface="微软雅黑" charset="0"/>
                <a:cs typeface="Times New Roman Regular" panose="02020503050405090304" charset="0"/>
              </a:rPr>
              <a:t>print(f'Estimated number of clusters: {n_clusters}')</a:t>
            </a:r>
            <a:endParaRPr lang="zh-CN" altLang="en-US" sz="1200">
              <a:latin typeface="Times New Roman Regular" panose="02020503050405090304" charset="0"/>
              <a:ea typeface="微软雅黑" charset="0"/>
              <a:cs typeface="Times New Roman Regular" panose="02020503050405090304" charset="0"/>
            </a:endParaRPr>
          </a:p>
          <a:p>
            <a:endParaRPr lang="zh-CN" altLang="en-US" sz="12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193802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sym typeface="+mn-ea"/>
              </a:rPr>
              <a:t>silhouette_avg = silhouette_score(X, labels)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calinski_harabasz = calinski_harabasz_score(X, labels)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davies_bouldin = davies_bouldin_score(X, labels)</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print(f"Silhouette Coefficient: {silhouette_avg:.4f}")</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print(f"Calinski-Harabasz Index: {calinski_harabasz:.4f}")</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print(f"Davies-Bouldin Index: {davies_bouldin:.4f}")</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plt.scatter(X[:, 0], X[:, 1], c=labels, s=50, cmap='viridis')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plt.scatter(cluster_centers[:, 0], cluster_centers[:, 1], c='red', s=200, marker='x')</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plt.title('Mean Shift Clustering')</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sym typeface="+mn-ea"/>
              </a:rPr>
              <a:t>plt.show()</a:t>
            </a:r>
            <a:endParaRPr lang="zh-CN" altLang="en-US" sz="1000">
              <a:latin typeface="Times New Roman Regular" panose="02020503050405090304" charset="0"/>
              <a:cs typeface="Times New Roman Regular" panose="02020503050405090304" charset="0"/>
              <a:sym typeface="+mn-ea"/>
            </a:endParaRPr>
          </a:p>
        </p:txBody>
      </p:sp>
      <p:pic>
        <p:nvPicPr>
          <p:cNvPr id="3" name="图片 2"/>
          <p:cNvPicPr>
            <a:picLocks noChangeAspect="1"/>
          </p:cNvPicPr>
          <p:nvPr>
            <p:custDataLst>
              <p:tags r:id="rId1"/>
            </p:custDataLst>
          </p:nvPr>
        </p:nvPicPr>
        <p:blipFill>
          <a:blip r:embed="rId2"/>
          <a:stretch>
            <a:fillRect/>
          </a:stretch>
        </p:blipFill>
        <p:spPr>
          <a:xfrm>
            <a:off x="3733800" y="2419350"/>
            <a:ext cx="2927985" cy="2489200"/>
          </a:xfrm>
          <a:prstGeom prst="rect">
            <a:avLst/>
          </a:prstGeom>
        </p:spPr>
      </p:pic>
      <p:sp>
        <p:nvSpPr>
          <p:cNvPr id="4" name="文本框 3"/>
          <p:cNvSpPr txBox="1"/>
          <p:nvPr/>
        </p:nvSpPr>
        <p:spPr>
          <a:xfrm>
            <a:off x="6661785" y="2800350"/>
            <a:ext cx="2352040" cy="1014730"/>
          </a:xfrm>
          <a:prstGeom prst="rect">
            <a:avLst/>
          </a:prstGeom>
          <a:noFill/>
        </p:spPr>
        <p:txBody>
          <a:bodyPr wrap="square" rtlCol="0" anchor="t">
            <a:spAutoFit/>
          </a:bodyPr>
          <a:p>
            <a:r>
              <a:rPr lang="zh-CN" altLang="en-US" sz="1200">
                <a:latin typeface="Times New Roman Regular" panose="02020503050405090304" charset="0"/>
                <a:cs typeface="Times New Roman Regular" panose="02020503050405090304" charset="0"/>
              </a:rPr>
              <a:t>Estimated number of clusters: 3</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Silhouette Coefficient: 0.7359</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Calinski-Harabasz Index: 3323.0318</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Davies-Bouldin Index: 0.3636</a:t>
            </a:r>
            <a:endParaRPr lang="zh-CN" altLang="en-US" sz="1200">
              <a:latin typeface="Times New Roman Regular" panose="02020503050405090304" charset="0"/>
              <a:cs typeface="Times New Roman Regular" panose="0202050305040509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4481830"/>
          </a:xfrm>
          <a:prstGeom prst="rect">
            <a:avLst/>
          </a:prstGeom>
          <a:noFill/>
        </p:spPr>
        <p:txBody>
          <a:bodyPr wrap="square" rtlCol="0" anchor="t">
            <a:noAutofit/>
          </a:bodyPr>
          <a:p>
            <a:r>
              <a:rPr lang="zh-CN" altLang="en-US" sz="1000">
                <a:latin typeface="Times New Roman Regular" panose="02020503050405090304" charset="0"/>
                <a:ea typeface="微软雅黑" charset="0"/>
                <a:cs typeface="Times New Roman Regular" panose="02020503050405090304" charset="0"/>
              </a:rPr>
              <a:t>import pandas as pd</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sklearn.feature_extraction.text import TfidfVectorizer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sklearn.cluster import MeanShift, estimate_bandwidth</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classification_report, confusion_matrix</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silhouette_score, calinski_harabasz_score, davies_bouldin_score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sklearn.preprocessing import LabelEncoder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matplotlib.pyplot as plt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df = pd.read_csv(file_path)</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vectorizer = TfidfVectorizer(stop_words='english')</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 = vectorizer.fit_transform(df['content'])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X_array = X.toarray()</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mean_shift = MeanShift(bandwidth=0.6, bin_seeding=True)</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mean_shift.fit(X_array)</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df['cluster'] = mean_shift.labels_</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le = LabelEncoder()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df['category_encoded'] = le.fit_transform(df['category'])</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n_clusters = len(set(mean_shift.labels_))</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print(f"Estimated number of clusters: {n_clusters}")</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3910330" y="179705"/>
            <a:ext cx="5081270" cy="486156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sym typeface="+mn-ea"/>
              </a:rPr>
              <a:t>if n_clusters &gt; 1:</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report = classification_report(df['category_encoded'], df['cluster'], output_dict=True)</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accuracy = report['accuracy']</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recall = report['macro avg']['recall']</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f1 = report['macro avg']['f1-score']</a:t>
            </a:r>
            <a:endParaRPr lang="zh-CN" altLang="en-US" sz="1000">
              <a:latin typeface="Times New Roman Regular" panose="02020503050405090304" charset="0"/>
              <a:ea typeface="微软雅黑" charset="0"/>
              <a:cs typeface="Times New Roman Regular" panose="02020503050405090304" charset="0"/>
              <a:sym typeface="+mn-ea"/>
            </a:endParaRPr>
          </a:p>
          <a:p>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print(f"Accuracy: {accuracy:.4f}")</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print(f"Recall: {recall:.4f}")</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print(f"F1-Score: {f1:.4f}")</a:t>
            </a:r>
            <a:endParaRPr lang="zh-CN" altLang="en-US" sz="1000">
              <a:latin typeface="Times New Roman Regular" panose="02020503050405090304" charset="0"/>
              <a:ea typeface="微软雅黑" charset="0"/>
              <a:cs typeface="Times New Roman Regular" panose="02020503050405090304" charset="0"/>
              <a:sym typeface="+mn-ea"/>
            </a:endParaRPr>
          </a:p>
          <a:p>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conf_matrix = confusion_matrix(df['category_encoded'], df['cluster'])</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print("Confusion Matrix:")</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print(conf_matrix)</a:t>
            </a:r>
            <a:endParaRPr lang="zh-CN" altLang="en-US" sz="1000">
              <a:latin typeface="Times New Roman Regular" panose="02020503050405090304" charset="0"/>
              <a:ea typeface="微软雅黑" charset="0"/>
              <a:cs typeface="Times New Roman Regular" panose="02020503050405090304" charset="0"/>
              <a:sym typeface="+mn-ea"/>
            </a:endParaRPr>
          </a:p>
          <a:p>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silhouette_avg = silhouette_score(X_array, df['cluster'])</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calinski_harabasz = calinski_harabasz_score(X_array, df['cluster'])</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davies_bouldin = davies_bouldin_score(X_array, df['cluster'])</a:t>
            </a:r>
            <a:endParaRPr lang="zh-CN" altLang="en-US" sz="1000">
              <a:latin typeface="Times New Roman Regular" panose="02020503050405090304" charset="0"/>
              <a:ea typeface="微软雅黑" charset="0"/>
              <a:cs typeface="Times New Roman Regular" panose="02020503050405090304" charset="0"/>
              <a:sym typeface="+mn-ea"/>
            </a:endParaRPr>
          </a:p>
          <a:p>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print(f"Silhouette Coefficient: {silhouette_avg:.4f}")</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print(f"Calinski-Harabasz Index: {calinski_harabasz:.4f}")</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print(f"Davies-Bouldin Index: {davies_bouldin:.4f}")</a:t>
            </a:r>
            <a:endParaRPr lang="zh-CN" altLang="en-US" sz="1000">
              <a:latin typeface="Times New Roman Regular" panose="02020503050405090304" charset="0"/>
              <a:ea typeface="微软雅黑" charset="0"/>
              <a:cs typeface="Times New Roman Regular" panose="02020503050405090304" charset="0"/>
              <a:sym typeface="+mn-ea"/>
            </a:endParaRPr>
          </a:p>
          <a:p>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cluster_centers = mean_shift.cluster_centers_</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plt.scatter(X_array[:, 0], X_array[:, 1], c=df['cluster'], s=50, cmap='viridis')</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plt.scatter(cluster_centers[:, 0], cluster_centers[:, 1], c='red', s=200, marker='x')</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plt.title('Mean Shift Clustering')</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plt.show()</a:t>
            </a:r>
            <a:endParaRPr lang="zh-CN" altLang="en-US" sz="1000">
              <a:latin typeface="Times New Roman Regular" panose="02020503050405090304" charset="0"/>
              <a:ea typeface="微软雅黑" charset="0"/>
              <a:cs typeface="Times New Roman Regular" panose="02020503050405090304" charset="0"/>
              <a:sym typeface="+mn-ea"/>
            </a:endParaRPr>
          </a:p>
          <a:p>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else:</a:t>
            </a:r>
            <a:endParaRPr lang="zh-CN" altLang="en-US" sz="1000">
              <a:latin typeface="Times New Roman Regular" panose="02020503050405090304" charset="0"/>
              <a:ea typeface="微软雅黑" charset="0"/>
              <a:cs typeface="Times New Roman Regular" panose="02020503050405090304" charset="0"/>
              <a:sym typeface="+mn-ea"/>
            </a:endParaRPr>
          </a:p>
          <a:p>
            <a:r>
              <a:rPr lang="zh-CN" altLang="en-US" sz="1000">
                <a:latin typeface="Times New Roman Regular" panose="02020503050405090304" charset="0"/>
                <a:ea typeface="微软雅黑" charset="0"/>
                <a:cs typeface="Times New Roman Regular" panose="02020503050405090304" charset="0"/>
                <a:sym typeface="+mn-ea"/>
              </a:rPr>
              <a:t>    print("Only one cluster found, evaluation metrics cannot be calculated. Consider adjusting the bandwidth or quantile parameters.")</a:t>
            </a:r>
            <a:endParaRPr lang="zh-CN" altLang="en-US" sz="1000">
              <a:latin typeface="Times New Roman Regular" panose="02020503050405090304" charset="0"/>
              <a:ea typeface="微软雅黑" charset="0"/>
              <a:cs typeface="Times New Roman Regular" panose="02020503050405090304"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内容占位符 4"/>
          <p:cNvPicPr>
            <a:picLocks noChangeAspect="1"/>
          </p:cNvPicPr>
          <p:nvPr>
            <p:ph idx="1"/>
            <p:custDataLst>
              <p:tags r:id="rId1"/>
            </p:custDataLst>
          </p:nvPr>
        </p:nvPicPr>
        <p:blipFill>
          <a:blip r:embed="rId2"/>
          <a:stretch>
            <a:fillRect/>
          </a:stretch>
        </p:blipFill>
        <p:spPr>
          <a:xfrm>
            <a:off x="4572000" y="469900"/>
            <a:ext cx="4361180" cy="3707130"/>
          </a:xfrm>
          <a:prstGeom prst="rect">
            <a:avLst/>
          </a:prstGeom>
        </p:spPr>
      </p:pic>
      <p:sp>
        <p:nvSpPr>
          <p:cNvPr id="4" name="灯片编号占位符 3"/>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457200" y="438150"/>
            <a:ext cx="4572000" cy="1938020"/>
          </a:xfrm>
          <a:prstGeom prst="rect">
            <a:avLst/>
          </a:prstGeom>
          <a:noFill/>
        </p:spPr>
        <p:txBody>
          <a:bodyPr wrap="square" rtlCol="0" anchor="t">
            <a:spAutoFit/>
          </a:bodyPr>
          <a:p>
            <a:r>
              <a:rPr lang="zh-CN" altLang="en-US" sz="1200">
                <a:latin typeface="Times New Roman Regular" panose="02020503050405090304" charset="0"/>
                <a:cs typeface="Times New Roman Regular" panose="02020503050405090304" charset="0"/>
              </a:rPr>
              <a:t>Accuracy: 0.1795</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Recall: 0.0599</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F1-Score: 0.0796</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Confusion Matrix:</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[[290  67 313 189 124  16]</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[338  69 270 188 130   6]</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  0   0   0   0   0   0]</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  0   0   0   0   0   0]</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  0   0   0   0   0   0]</a:t>
            </a:r>
            <a:endParaRPr lang="zh-CN" altLang="en-US" sz="1200">
              <a:latin typeface="Times New Roman Regular" panose="02020503050405090304" charset="0"/>
              <a:cs typeface="Times New Roman Regular" panose="02020503050405090304" charset="0"/>
            </a:endParaRPr>
          </a:p>
          <a:p>
            <a:r>
              <a:rPr lang="zh-CN" altLang="en-US" sz="1200">
                <a:latin typeface="Times New Roman Regular" panose="02020503050405090304" charset="0"/>
                <a:cs typeface="Times New Roman Regular" panose="02020503050405090304" charset="0"/>
              </a:rPr>
              <a:t> [  0   0   0   0   0   0]]</a:t>
            </a:r>
            <a:endParaRPr lang="zh-CN" altLang="en-US" sz="1200">
              <a:latin typeface="Times New Roman Regular" panose="02020503050405090304" charset="0"/>
              <a:cs typeface="Times New Roman Regular" panose="02020503050405090304" charset="0"/>
            </a:endParaRPr>
          </a:p>
        </p:txBody>
      </p:sp>
      <p:sp>
        <p:nvSpPr>
          <p:cNvPr id="7" name="文本框 6"/>
          <p:cNvSpPr txBox="1"/>
          <p:nvPr/>
        </p:nvSpPr>
        <p:spPr>
          <a:xfrm>
            <a:off x="533400" y="2571750"/>
            <a:ext cx="4572000" cy="737235"/>
          </a:xfrm>
          <a:prstGeom prst="rect">
            <a:avLst/>
          </a:prstGeom>
          <a:noFill/>
        </p:spPr>
        <p:txBody>
          <a:bodyPr wrap="square" rtlCol="0" anchor="t">
            <a:spAutoFit/>
          </a:bodyPr>
          <a:p>
            <a:r>
              <a:rPr lang="zh-CN" altLang="en-US" sz="1400"/>
              <a:t>Silhouette Coefficient: 0.0055</a:t>
            </a:r>
            <a:endParaRPr lang="zh-CN" altLang="en-US" sz="1400"/>
          </a:p>
          <a:p>
            <a:r>
              <a:rPr lang="zh-CN" altLang="en-US" sz="1400"/>
              <a:t>Calinski-Harabasz Index: 6.8706</a:t>
            </a:r>
            <a:endParaRPr lang="zh-CN" altLang="en-US" sz="1400"/>
          </a:p>
          <a:p>
            <a:r>
              <a:rPr lang="zh-CN" altLang="en-US" sz="1400"/>
              <a:t>Davies-Bouldin Index: 10.6080</a:t>
            </a:r>
            <a:endParaRPr lang="zh-CN" alt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Exercises 1</a:t>
            </a:r>
            <a:endParaRPr lang="en-US" altLang="zh-CN"/>
          </a:p>
        </p:txBody>
      </p:sp>
      <p:sp>
        <p:nvSpPr>
          <p:cNvPr id="3" name="内容占位符 2"/>
          <p:cNvSpPr>
            <a:spLocks noGrp="1"/>
          </p:cNvSpPr>
          <p:nvPr>
            <p:ph idx="1"/>
          </p:nvPr>
        </p:nvSpPr>
        <p:spPr/>
        <p:txBody>
          <a:bodyPr/>
          <a:p>
            <a:r>
              <a:rPr lang="zh-CN" altLang="en-US" sz="2000"/>
              <a:t>Please use the k-means algorithm to cluster the dataset you prepared in the first week. The target category number can be set as the default category number of the current dataset or other </a:t>
            </a:r>
            <a:r>
              <a:rPr lang="en-US" altLang="zh-CN" sz="2000"/>
              <a:t>number</a:t>
            </a:r>
            <a:r>
              <a:rPr lang="zh-CN" altLang="en-US" sz="2000"/>
              <a:t>. </a:t>
            </a:r>
            <a:endParaRPr lang="zh-CN" altLang="en-US" sz="2000"/>
          </a:p>
          <a:p>
            <a:r>
              <a:rPr lang="en-US" altLang="zh-CN" sz="2000"/>
              <a:t>Consider whether</a:t>
            </a:r>
            <a:r>
              <a:rPr lang="zh-CN" altLang="en-US" sz="2000"/>
              <a:t> the category cluster obtained by the clustering algorithm consistent </a:t>
            </a:r>
            <a:r>
              <a:rPr lang="en-US" altLang="zh-CN" sz="2000"/>
              <a:t>is</a:t>
            </a:r>
            <a:r>
              <a:rPr lang="zh-CN" altLang="en-US" sz="2000"/>
              <a:t> the original label system?</a:t>
            </a:r>
            <a:endParaRPr lang="zh-CN" altLang="en-US" sz="2000"/>
          </a:p>
        </p:txBody>
      </p:sp>
      <p:sp>
        <p:nvSpPr>
          <p:cNvPr id="4" name="灯片编号占位符 3"/>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Exercises 2</a:t>
            </a:r>
            <a:endParaRPr lang="en-US" altLang="zh-CN"/>
          </a:p>
        </p:txBody>
      </p:sp>
      <p:sp>
        <p:nvSpPr>
          <p:cNvPr id="3" name="内容占位符 2"/>
          <p:cNvSpPr>
            <a:spLocks noGrp="1"/>
          </p:cNvSpPr>
          <p:nvPr>
            <p:ph idx="1"/>
          </p:nvPr>
        </p:nvSpPr>
        <p:spPr/>
        <p:txBody>
          <a:bodyPr/>
          <a:p>
            <a:pPr algn="just"/>
            <a:r>
              <a:rPr lang="zh-CN" altLang="en-US" sz="2000"/>
              <a:t>Please use the mean shift algorithm to cluster 80% of the samples in the dataset you prepared in the first week. By various preprocessing and adjusting bandwidth parameters, the final number of </a:t>
            </a:r>
            <a:r>
              <a:rPr lang="en-US" altLang="zh-CN" sz="2000"/>
              <a:t>categories</a:t>
            </a:r>
            <a:r>
              <a:rPr lang="zh-CN" altLang="en-US" sz="2000"/>
              <a:t> </a:t>
            </a:r>
            <a:r>
              <a:rPr lang="en-US" altLang="zh-CN" sz="2000"/>
              <a:t>need be</a:t>
            </a:r>
            <a:r>
              <a:rPr lang="zh-CN" altLang="en-US" sz="2000"/>
              <a:t> made consistent with the original number of </a:t>
            </a:r>
            <a:r>
              <a:rPr lang="en-US" altLang="zh-CN" sz="2000"/>
              <a:t>categories</a:t>
            </a:r>
            <a:r>
              <a:rPr lang="zh-CN" altLang="en-US" sz="2000"/>
              <a:t>.</a:t>
            </a:r>
            <a:endParaRPr lang="zh-CN" altLang="en-US" sz="2000"/>
          </a:p>
          <a:p>
            <a:pPr algn="just"/>
            <a:r>
              <a:rPr lang="zh-CN" altLang="en-US" sz="2000"/>
              <a:t>Use clustering models to predict categories for the remaining 20% of </a:t>
            </a:r>
            <a:r>
              <a:rPr lang="en-US" altLang="zh-CN" sz="2000"/>
              <a:t>sample </a:t>
            </a:r>
            <a:r>
              <a:rPr lang="zh-CN" altLang="en-US" sz="2000"/>
              <a:t>data. </a:t>
            </a:r>
            <a:r>
              <a:rPr lang="en-US" altLang="zh-CN" sz="2000"/>
              <a:t>Consider whether</a:t>
            </a:r>
            <a:r>
              <a:rPr lang="zh-CN" altLang="en-US" sz="2000"/>
              <a:t> the clustering model perform</a:t>
            </a:r>
            <a:r>
              <a:rPr lang="en-US" altLang="zh-CN" sz="2000"/>
              <a:t>s</a:t>
            </a:r>
            <a:r>
              <a:rPr lang="zh-CN" altLang="en-US" sz="2000"/>
              <a:t> better than the classification model when the number of categories is </a:t>
            </a:r>
            <a:r>
              <a:rPr lang="en-US" altLang="zh-CN" sz="2000"/>
              <a:t>same</a:t>
            </a:r>
            <a:r>
              <a:rPr lang="zh-CN" altLang="en-US" sz="2000"/>
              <a:t>?</a:t>
            </a:r>
            <a:endParaRPr lang="zh-CN" altLang="en-US" sz="2000"/>
          </a:p>
        </p:txBody>
      </p:sp>
      <p:sp>
        <p:nvSpPr>
          <p:cNvPr id="4" name="灯片编号占位符 3"/>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25445</Words>
  <Application>WPS 表格</Application>
  <PresentationFormat>On-screen Show (16:9)</PresentationFormat>
  <Paragraphs>599</Paragraphs>
  <Slides>30</Slides>
  <Notes>2</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30</vt:i4>
      </vt:variant>
    </vt:vector>
  </HeadingPairs>
  <TitlesOfParts>
    <vt:vector size="59"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微软雅黑</vt:lpstr>
      <vt:lpstr>汉仪旗黑</vt:lpstr>
      <vt:lpstr>Calibri</vt:lpstr>
      <vt:lpstr>微软雅黑</vt:lpstr>
      <vt:lpstr>宋体</vt:lpstr>
      <vt:lpstr>Arial Unicode MS</vt:lpstr>
      <vt:lpstr>Calibri Light</vt:lpstr>
      <vt:lpstr>汉仪书宋二KW</vt:lpstr>
      <vt:lpstr>Times New Roman Bold</vt:lpstr>
      <vt:lpstr>DIN-Regular</vt:lpstr>
      <vt:lpstr>Retrospect</vt:lpstr>
      <vt:lpstr>Default Theme</vt:lpstr>
      <vt:lpstr>Natural Language Processing DTS305TC</vt:lpstr>
      <vt:lpstr>Lab 7 Document clustering</vt:lpstr>
      <vt:lpstr>Overview</vt:lpstr>
      <vt:lpstr>Overview</vt:lpstr>
      <vt:lpstr>PowerPoint 演示文稿</vt:lpstr>
      <vt:lpstr>PowerPoint 演示文稿</vt:lpstr>
      <vt:lpstr>Hierarchical Clustering</vt:lpstr>
      <vt:lpstr>How Does Hierarchical Clustering Work?</vt:lpstr>
      <vt:lpstr>How Does Hierarchical Clustering Work?</vt:lpstr>
      <vt:lpstr>Advantages</vt:lpstr>
      <vt:lpstr>Limitations</vt:lpstr>
      <vt:lpstr>PowerPoint 演示文稿</vt:lpstr>
      <vt:lpstr>PowerPoint 演示文稿</vt:lpstr>
      <vt:lpstr>PowerPoint 演示文稿</vt:lpstr>
      <vt:lpstr>PowerPoint 演示文稿</vt:lpstr>
      <vt:lpstr>PowerPoint 演示文稿</vt:lpstr>
      <vt:lpstr>The KMeans algorithm explained step-by-step</vt:lpstr>
      <vt:lpstr>PowerPoint 演示文稿</vt:lpstr>
      <vt:lpstr>PowerPoint 演示文稿</vt:lpstr>
      <vt:lpstr>PowerPoint 演示文稿</vt:lpstr>
      <vt:lpstr>PowerPoint 演示文稿</vt:lpstr>
      <vt:lpstr>PowerPoint 演示文稿</vt:lpstr>
      <vt:lpstr>The KMeans algorithm explained step-by-step</vt:lpstr>
      <vt:lpstr>The mean shift algorithm explained step-by-step</vt:lpstr>
      <vt:lpstr>PowerPoint 演示文稿</vt:lpstr>
      <vt:lpstr>PowerPoint 演示文稿</vt:lpstr>
      <vt:lpstr>PowerPoint 演示文稿</vt:lpstr>
      <vt:lpstr>PowerPoint 演示文稿</vt:lpstr>
      <vt:lpstr>Exercises 1</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577</cp:revision>
  <cp:lastPrinted>2024-10-06T04:52:30Z</cp:lastPrinted>
  <dcterms:created xsi:type="dcterms:W3CDTF">2024-10-06T04:52:30Z</dcterms:created>
  <dcterms:modified xsi:type="dcterms:W3CDTF">2024-10-06T04:52:30Z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