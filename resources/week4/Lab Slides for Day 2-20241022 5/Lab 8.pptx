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5"/>
  </p:notesMasterIdLst>
  <p:handoutMasterIdLst>
    <p:handoutMasterId r:id="rId24"/>
  </p:handoutMasterIdLst>
  <p:sldIdLst>
    <p:sldId id="256" r:id="rId4"/>
    <p:sldId id="1987" r:id="rId6"/>
    <p:sldId id="1956" r:id="rId7"/>
    <p:sldId id="1988" r:id="rId8"/>
    <p:sldId id="2083" r:id="rId9"/>
    <p:sldId id="2084" r:id="rId10"/>
    <p:sldId id="2085" r:id="rId11"/>
    <p:sldId id="2086" r:id="rId12"/>
    <p:sldId id="2087" r:id="rId13"/>
    <p:sldId id="2088" r:id="rId14"/>
    <p:sldId id="2091" r:id="rId15"/>
    <p:sldId id="2089" r:id="rId16"/>
    <p:sldId id="2090" r:id="rId17"/>
    <p:sldId id="2093" r:id="rId18"/>
    <p:sldId id="2094" r:id="rId19"/>
    <p:sldId id="2092" r:id="rId20"/>
    <p:sldId id="2095" r:id="rId21"/>
    <p:sldId id="2096" r:id="rId22"/>
    <p:sldId id="391" r:id="rId23"/>
  </p:sldIdLst>
  <p:sldSz cx="9144000" cy="5143500" type="screen16x9"/>
  <p:notesSz cx="6845300" cy="9396095"/>
  <p:defaultTextStyle>
    <a:defPPr>
      <a:defRPr lang="en-US"/>
    </a:defPPr>
    <a:lvl1pPr algn="l" rtl="0" fontAlgn="base">
      <a:spcBef>
        <a:spcPct val="0"/>
      </a:spcBef>
      <a:spcAft>
        <a:spcPct val="0"/>
      </a:spcAft>
      <a:defRPr sz="2400" kern="1200">
        <a:solidFill>
          <a:schemeClr val="tx1"/>
        </a:solidFill>
        <a:latin typeface="Lucida Sans" charset="0"/>
        <a:ea typeface="MS PGothic" charset="0"/>
        <a:cs typeface="MS PGothic" charset="0"/>
      </a:defRPr>
    </a:lvl1pPr>
    <a:lvl2pPr marL="457200" algn="l" rtl="0" fontAlgn="base">
      <a:spcBef>
        <a:spcPct val="0"/>
      </a:spcBef>
      <a:spcAft>
        <a:spcPct val="0"/>
      </a:spcAft>
      <a:defRPr sz="2400" kern="1200">
        <a:solidFill>
          <a:schemeClr val="tx1"/>
        </a:solidFill>
        <a:latin typeface="Lucida Sans" charset="0"/>
        <a:ea typeface="MS PGothic" charset="0"/>
        <a:cs typeface="MS PGothic" charset="0"/>
      </a:defRPr>
    </a:lvl2pPr>
    <a:lvl3pPr marL="914400" algn="l" rtl="0" fontAlgn="base">
      <a:spcBef>
        <a:spcPct val="0"/>
      </a:spcBef>
      <a:spcAft>
        <a:spcPct val="0"/>
      </a:spcAft>
      <a:defRPr sz="2400" kern="1200">
        <a:solidFill>
          <a:schemeClr val="tx1"/>
        </a:solidFill>
        <a:latin typeface="Lucida Sans" charset="0"/>
        <a:ea typeface="MS PGothic" charset="0"/>
        <a:cs typeface="MS PGothic" charset="0"/>
      </a:defRPr>
    </a:lvl3pPr>
    <a:lvl4pPr marL="1371600" algn="l" rtl="0" fontAlgn="base">
      <a:spcBef>
        <a:spcPct val="0"/>
      </a:spcBef>
      <a:spcAft>
        <a:spcPct val="0"/>
      </a:spcAft>
      <a:defRPr sz="2400" kern="1200">
        <a:solidFill>
          <a:schemeClr val="tx1"/>
        </a:solidFill>
        <a:latin typeface="Lucida Sans" charset="0"/>
        <a:ea typeface="MS PGothic" charset="0"/>
        <a:cs typeface="MS PGothic" charset="0"/>
      </a:defRPr>
    </a:lvl4pPr>
    <a:lvl5pPr marL="1828800" algn="l" rtl="0" fontAlgn="base">
      <a:spcBef>
        <a:spcPct val="0"/>
      </a:spcBef>
      <a:spcAft>
        <a:spcPct val="0"/>
      </a:spcAft>
      <a:defRPr sz="2400" kern="1200">
        <a:solidFill>
          <a:schemeClr val="tx1"/>
        </a:solidFill>
        <a:latin typeface="Lucida Sans" charset="0"/>
        <a:ea typeface="MS PGothic" charset="0"/>
        <a:cs typeface="MS PGothic" charset="0"/>
      </a:defRPr>
    </a:lvl5pPr>
    <a:lvl6pPr marL="2286000" algn="l" defTabSz="457200" rtl="0" eaLnBrk="1" latinLnBrk="0" hangingPunct="1">
      <a:defRPr sz="2400" kern="1200">
        <a:solidFill>
          <a:schemeClr val="tx1"/>
        </a:solidFill>
        <a:latin typeface="Lucida Sans" charset="0"/>
        <a:ea typeface="MS PGothic" charset="0"/>
        <a:cs typeface="MS PGothic" charset="0"/>
      </a:defRPr>
    </a:lvl6pPr>
    <a:lvl7pPr marL="2743200" algn="l" defTabSz="457200" rtl="0" eaLnBrk="1" latinLnBrk="0" hangingPunct="1">
      <a:defRPr sz="2400" kern="1200">
        <a:solidFill>
          <a:schemeClr val="tx1"/>
        </a:solidFill>
        <a:latin typeface="Lucida Sans" charset="0"/>
        <a:ea typeface="MS PGothic" charset="0"/>
        <a:cs typeface="MS PGothic" charset="0"/>
      </a:defRPr>
    </a:lvl7pPr>
    <a:lvl8pPr marL="3200400" algn="l" defTabSz="457200" rtl="0" eaLnBrk="1" latinLnBrk="0" hangingPunct="1">
      <a:defRPr sz="2400" kern="1200">
        <a:solidFill>
          <a:schemeClr val="tx1"/>
        </a:solidFill>
        <a:latin typeface="Lucida Sans" charset="0"/>
        <a:ea typeface="MS PGothic" charset="0"/>
        <a:cs typeface="MS PGothic" charset="0"/>
      </a:defRPr>
    </a:lvl8pPr>
    <a:lvl9pPr marL="3657600" algn="l" defTabSz="457200" rtl="0" eaLnBrk="1" latinLnBrk="0" hangingPunct="1">
      <a:defRPr sz="2400" kern="1200">
        <a:solidFill>
          <a:schemeClr val="tx1"/>
        </a:solidFill>
        <a:latin typeface="Lucida Sans" charset="0"/>
        <a:ea typeface="MS PGothic" charset="0"/>
        <a:cs typeface="MS PGothic" charset="0"/>
      </a:defRPr>
    </a:lvl9pPr>
  </p:defaultTextStyle>
  <p:extLst>
    <p:ext uri="{EFAFB233-063F-42B5-8137-9DF3F51BA10A}">
      <p15:sldGuideLst xmlns:p15="http://schemas.microsoft.com/office/powerpoint/2012/main">
        <p15:guide id="1" orient="horz" pos="157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200FF"/>
    <a:srgbClr val="0000CC"/>
    <a:srgbClr val="A4001D"/>
    <a:srgbClr val="000099"/>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99" autoAdjust="0"/>
    <p:restoredTop sz="95865" autoAdjust="0"/>
  </p:normalViewPr>
  <p:slideViewPr>
    <p:cSldViewPr showGuides="1">
      <p:cViewPr varScale="1">
        <p:scale>
          <a:sx n="165" d="100"/>
          <a:sy n="165" d="100"/>
        </p:scale>
        <p:origin x="144" y="38"/>
      </p:cViewPr>
      <p:guideLst>
        <p:guide orient="horz" pos="157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872"/>
        <p:guide pos="2156"/>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charset="0"/>
              </a:defRPr>
            </a:lvl1pPr>
          </a:lstStyle>
          <a:p>
            <a:fld id="{8A029216-D615-3945-A1F3-D96FC886DA62}"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ln>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3EB9031F-EB71-7642-8F3C-6FDC1408CB92}"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S PGothic" pitchFamily="-65" charset="-128"/>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74C7FEE-6B48-4643-BCFB-F13B0E13E171}" type="slidenum">
              <a:rPr lang="en-US" smtClean="0"/>
            </a:fld>
            <a:endParaRPr lang="en-US" dirty="0"/>
          </a:p>
        </p:txBody>
      </p:sp>
      <p:sp>
        <p:nvSpPr>
          <p:cNvPr id="11" name="Rectangle 10"/>
          <p:cNvSpPr/>
          <p:nvPr/>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726329"/>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rPr lang="en-US"/>
              <a:t>Click to edit Master title style</a:t>
            </a:r>
            <a:endParaRPr lang="en-US"/>
          </a:p>
        </p:txBody>
      </p:sp>
      <p:sp>
        <p:nvSpPr>
          <p:cNvPr id="57" name="Shape 57"/>
          <p:cNvSpPr>
            <a:spLocks noGrp="1"/>
          </p:cNvSpPr>
          <p:nvPr>
            <p:ph type="body" idx="1"/>
          </p:nvPr>
        </p:nvSpPr>
        <p:spPr>
          <a:prstGeom prst="rect">
            <a:avLst/>
          </a:prstGeom>
        </p:spPr>
        <p:txBody>
          <a:bodyPr/>
          <a:lstStyle>
            <a:lvl1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1pPr>
            <a:lvl2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2pPr>
            <a:lvl3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3pPr>
            <a:lvl4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4pPr>
            <a:lvl5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8" name="Shape 58"/>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Completely 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Drag picture to placeholder or click icon to add</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2" y="1200150"/>
            <a:ext cx="7543801" cy="3429000"/>
          </a:xfrm>
        </p:spPr>
        <p:txBody>
          <a:bodyPr/>
          <a:lstStyle>
            <a:lvl1pPr marL="5715" indent="-5715">
              <a:defRPr sz="2100" baseline="0"/>
            </a:lvl1pPr>
            <a:lvl2pPr marL="303530" indent="-190500">
              <a:defRPr sz="1800" baseline="0"/>
            </a:lvl2pPr>
            <a:lvl3pPr marL="386715" indent="-171450">
              <a:defRPr sz="1500" baseline="0"/>
            </a:lvl3pPr>
            <a:lvl4pPr marL="518160" indent="-198755">
              <a:defRPr sz="1200" baseline="0"/>
            </a:lvl4pPr>
            <a:lvl5pPr marL="601345" indent="-179705">
              <a:defRPr sz="105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9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2407"/>
            <a:ext cx="8331200" cy="540068"/>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457200" y="902494"/>
            <a:ext cx="8229600" cy="370713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7383145" y="-4286"/>
            <a:ext cx="1830070" cy="5169694"/>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2531" y="4446764"/>
            <a:ext cx="356139" cy="333393"/>
          </a:xfrm>
          <a:prstGeom prst="rect">
            <a:avLst/>
          </a:prstGeom>
        </p:spPr>
      </p:pic>
      <p:sp>
        <p:nvSpPr>
          <p:cNvPr id="9"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pitchFamily="18" charset="0"/>
          <a:ea typeface="+mj-ea"/>
          <a:cs typeface="+mj-cs"/>
        </a:defRPr>
      </a:lvl1pPr>
    </p:titleStyle>
    <p:body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tags" Target="../tags/tag5.xml"/><Relationship Id="rId4" Type="http://schemas.openxmlformats.org/officeDocument/2006/relationships/image" Target="../media/image6.png"/><Relationship Id="rId3" Type="http://schemas.openxmlformats.org/officeDocument/2006/relationships/tags" Target="../tags/tag4.xml"/><Relationship Id="rId2" Type="http://schemas.openxmlformats.org/officeDocument/2006/relationships/image" Target="../media/image5.png"/><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3.xml"/><Relationship Id="rId5" Type="http://schemas.openxmlformats.org/officeDocument/2006/relationships/hyperlink" Target="http://www.xjtlu.edu.cn/en/" TargetMode="External"/><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3.emf"/><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370" y="1056005"/>
            <a:ext cx="7694930" cy="1315085"/>
          </a:xfrm>
        </p:spPr>
        <p:txBody>
          <a:bodyPr>
            <a:noAutofit/>
          </a:bodyPr>
          <a:lstStyle/>
          <a:p>
            <a:r>
              <a:rPr lang="en-US" altLang="zh-CN" sz="3200" dirty="0"/>
              <a:t>Natural Language Processing</a:t>
            </a:r>
            <a:br>
              <a:rPr lang="en-US" altLang="zh-CN" sz="3200" dirty="0"/>
            </a:br>
            <a:r>
              <a:rPr lang="en-US" altLang="zh-CN" sz="3200" dirty="0">
                <a:solidFill>
                  <a:srgbClr val="000044"/>
                </a:solidFill>
                <a:cs typeface="DIN-Regular"/>
                <a:sym typeface="+mn-ea"/>
              </a:rPr>
              <a:t>DTS305TC</a:t>
            </a:r>
            <a:endParaRPr lang="en-US" altLang="zh-CN" sz="3200" dirty="0"/>
          </a:p>
        </p:txBody>
      </p:sp>
      <p:pic>
        <p:nvPicPr>
          <p:cNvPr id="8" name="Picture 7"/>
          <p:cNvPicPr>
            <a:picLocks noChangeAspect="1"/>
          </p:cNvPicPr>
          <p:nvPr/>
        </p:nvPicPr>
        <p:blipFill>
          <a:blip r:embed="rId1"/>
          <a:stretch>
            <a:fillRect/>
          </a:stretch>
        </p:blipFill>
        <p:spPr>
          <a:xfrm>
            <a:off x="3822859" y="3635858"/>
            <a:ext cx="1733550" cy="370813"/>
          </a:xfrm>
          <a:prstGeom prst="rect">
            <a:avLst/>
          </a:prstGeom>
        </p:spPr>
      </p:pic>
      <p:sp>
        <p:nvSpPr>
          <p:cNvPr id="9" name="Subtitle 2"/>
          <p:cNvSpPr txBox="1"/>
          <p:nvPr/>
        </p:nvSpPr>
        <p:spPr>
          <a:xfrm>
            <a:off x="2815937" y="2370501"/>
            <a:ext cx="3600450" cy="810802"/>
          </a:xfrm>
          <a:prstGeom prst="rect">
            <a:avLst/>
          </a:prstGeom>
        </p:spPr>
        <p:txBody>
          <a:bodyPr vert="horz" lIns="51435" tIns="25718" rIns="51435" bIns="25718"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350" cap="all" dirty="0" err="1">
                <a:solidFill>
                  <a:srgbClr val="000044"/>
                </a:solidFill>
                <a:cs typeface="DIN-Regular"/>
              </a:rPr>
              <a:t>Huakang</a:t>
            </a:r>
            <a:r>
              <a:rPr lang="zh-CN" altLang="en-US" sz="1350" cap="all" dirty="0">
                <a:solidFill>
                  <a:srgbClr val="000044"/>
                </a:solidFill>
                <a:cs typeface="DIN-Regular"/>
              </a:rPr>
              <a:t> </a:t>
            </a:r>
            <a:r>
              <a:rPr lang="en-US" altLang="zh-CN" sz="1350" cap="all" dirty="0">
                <a:solidFill>
                  <a:srgbClr val="000044"/>
                </a:solidFill>
                <a:cs typeface="DIN-Regular"/>
              </a:rPr>
              <a:t>Li</a:t>
            </a:r>
            <a:endParaRPr lang="en-US" altLang="zh-CN" sz="1350" cap="all" dirty="0">
              <a:solidFill>
                <a:srgbClr val="000044"/>
              </a:solidFill>
              <a:cs typeface="DIN-Regular"/>
            </a:endParaRPr>
          </a:p>
          <a:p>
            <a:r>
              <a:rPr lang="en-US" altLang="zh-CN" sz="1350" cap="all" dirty="0" err="1">
                <a:solidFill>
                  <a:srgbClr val="000044"/>
                </a:solidFill>
                <a:cs typeface="DIN-Regular"/>
              </a:rPr>
              <a:t>Huakang.li@xjtlu.edu.cn</a:t>
            </a:r>
            <a:endParaRPr lang="en-US" altLang="zh-CN" sz="1350" cap="all" dirty="0">
              <a:solidFill>
                <a:srgbClr val="000044"/>
              </a:solidFill>
              <a:cs typeface="DIN-Regular"/>
            </a:endParaRPr>
          </a:p>
          <a:p>
            <a:r>
              <a:rPr lang="en-US" altLang="zh-CN" sz="1350" cap="all" dirty="0">
                <a:solidFill>
                  <a:srgbClr val="000044"/>
                </a:solidFill>
                <a:cs typeface="DIN-Regular"/>
              </a:rPr>
              <a:t>School</a:t>
            </a:r>
            <a:r>
              <a:rPr lang="zh-CN" altLang="en-US" sz="1350" cap="all" dirty="0">
                <a:solidFill>
                  <a:srgbClr val="000044"/>
                </a:solidFill>
                <a:cs typeface="DIN-Regular"/>
              </a:rPr>
              <a:t> </a:t>
            </a:r>
            <a:r>
              <a:rPr lang="en-US" altLang="zh-CN" sz="1350" cap="all" dirty="0">
                <a:solidFill>
                  <a:srgbClr val="000044"/>
                </a:solidFill>
                <a:cs typeface="DIN-Regular"/>
              </a:rPr>
              <a:t>of</a:t>
            </a:r>
            <a:r>
              <a:rPr lang="zh-CN" altLang="en-US" sz="1350" cap="all" dirty="0">
                <a:solidFill>
                  <a:srgbClr val="000044"/>
                </a:solidFill>
                <a:cs typeface="DIN-Regular"/>
              </a:rPr>
              <a:t> </a:t>
            </a:r>
            <a:r>
              <a:rPr lang="en-US" altLang="zh-CN" sz="1350" cap="all" dirty="0">
                <a:solidFill>
                  <a:srgbClr val="000044"/>
                </a:solidFill>
                <a:cs typeface="DIN-Regular"/>
              </a:rPr>
              <a:t>AI</a:t>
            </a:r>
            <a:r>
              <a:rPr lang="zh-CN" altLang="en-US" sz="1350" cap="all" dirty="0">
                <a:solidFill>
                  <a:srgbClr val="000044"/>
                </a:solidFill>
                <a:cs typeface="DIN-Regular"/>
              </a:rPr>
              <a:t> </a:t>
            </a:r>
            <a:r>
              <a:rPr lang="en-US" altLang="zh-CN" sz="1350" cap="all" dirty="0">
                <a:solidFill>
                  <a:srgbClr val="000044"/>
                </a:solidFill>
                <a:cs typeface="DIN-Regular"/>
              </a:rPr>
              <a:t>and</a:t>
            </a:r>
            <a:r>
              <a:rPr lang="zh-CN" altLang="en-US" sz="1350" cap="all" dirty="0">
                <a:solidFill>
                  <a:srgbClr val="000044"/>
                </a:solidFill>
                <a:cs typeface="DIN-Regular"/>
              </a:rPr>
              <a:t> </a:t>
            </a:r>
            <a:r>
              <a:rPr lang="en-US" altLang="zh-CN" sz="1350" cap="all" dirty="0">
                <a:solidFill>
                  <a:srgbClr val="000044"/>
                </a:solidFill>
                <a:cs typeface="DIN-Regular"/>
              </a:rPr>
              <a:t>Advanced</a:t>
            </a:r>
            <a:r>
              <a:rPr lang="zh-CN" altLang="en-US" sz="1350" cap="all" dirty="0">
                <a:solidFill>
                  <a:srgbClr val="000044"/>
                </a:solidFill>
                <a:cs typeface="DIN-Regular"/>
              </a:rPr>
              <a:t> </a:t>
            </a:r>
            <a:r>
              <a:rPr lang="en-US" altLang="zh-CN" sz="1350" cap="all" dirty="0">
                <a:solidFill>
                  <a:srgbClr val="000044"/>
                </a:solidFill>
                <a:cs typeface="DIN-Regular"/>
              </a:rPr>
              <a:t>Computing</a:t>
            </a:r>
            <a:endParaRPr lang="en-US" sz="1350" cap="all" dirty="0">
              <a:solidFill>
                <a:srgbClr val="000044"/>
              </a:solidFill>
              <a:cs typeface="DIN-Regular"/>
            </a:endParaRPr>
          </a:p>
          <a:p>
            <a:endParaRPr lang="en-US" sz="135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p:nvPr>
        </p:nvSpPr>
        <p:spPr/>
        <p:txBody>
          <a:bodyPr/>
          <a:p>
            <a:r>
              <a:rPr lang="en-US" altLang="zh-CN"/>
              <a:t>Lab 5 Document </a:t>
            </a:r>
            <a:r>
              <a:rPr lang="en-US" altLang="zh-CN"/>
              <a:t>Retrieval</a:t>
            </a:r>
            <a:endParaRPr lang="en-US" altLang="zh-CN"/>
          </a:p>
        </p:txBody>
      </p:sp>
      <p:sp>
        <p:nvSpPr>
          <p:cNvPr id="4" name="副标题 3"/>
          <p:cNvSpPr>
            <a:spLocks noGrp="1"/>
          </p:cNvSpPr>
          <p:nvPr>
            <p:ph type="subTitle" idx="1"/>
          </p:nvPr>
        </p:nvSpPr>
        <p:spPr>
          <a:xfrm>
            <a:off x="1139190" y="2914650"/>
            <a:ext cx="6633210" cy="1314450"/>
          </a:xfrm>
        </p:spPr>
        <p:txBody>
          <a:bodyPr>
            <a:normAutofit fontScale="80000"/>
          </a:bodyPr>
          <a:p>
            <a:r>
              <a:rPr lang="en-US" altLang="zh-CN">
                <a:solidFill>
                  <a:schemeClr val="tx1"/>
                </a:solidFill>
              </a:rPr>
              <a:t>week 4 day 2</a:t>
            </a:r>
            <a:endParaRPr lang="en-US" altLang="zh-CN">
              <a:solidFill>
                <a:schemeClr val="tx1"/>
              </a:solidFill>
            </a:endParaRPr>
          </a:p>
          <a:p>
            <a:endParaRPr lang="en-US" altLang="zh-CN">
              <a:solidFill>
                <a:schemeClr val="tx1"/>
              </a:solidFill>
            </a:endParaRPr>
          </a:p>
          <a:p>
            <a:r>
              <a:rPr lang="en-US" altLang="zh-CN">
                <a:solidFill>
                  <a:schemeClr val="tx1"/>
                </a:solidFill>
              </a:rPr>
              <a:t>https://spotintelligence.com/2023/10/18/document-retrieval/</a:t>
            </a:r>
            <a:endParaRPr lang="en-US" altLang="zh-CN">
              <a:solidFill>
                <a:schemeClr val="tx1"/>
              </a:solidFill>
            </a:endParaRPr>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US" dirty="0"/>
          </a:p>
        </p:txBody>
      </p:sp>
      <p:sp>
        <p:nvSpPr>
          <p:cNvPr id="3" name="Content Placeholder 2"/>
          <p:cNvSpPr>
            <a:spLocks noGrp="1"/>
          </p:cNvSpPr>
          <p:nvPr>
            <p:ph idx="1"/>
          </p:nvPr>
        </p:nvSpPr>
        <p:spPr/>
        <p:txBody>
          <a:bodyPr/>
          <a:lstStyle/>
          <a:p>
            <a:r>
              <a:rPr lang="en-US" dirty="0">
                <a:sym typeface="+mn-ea"/>
              </a:rPr>
              <a:t>Key concepts</a:t>
            </a:r>
            <a:endParaRPr lang="en-US" dirty="0">
              <a:sym typeface="+mn-ea"/>
            </a:endParaRPr>
          </a:p>
          <a:p>
            <a:r>
              <a:rPr lang="zh-CN" altLang="en-US">
                <a:sym typeface="+mn-ea"/>
              </a:rPr>
              <a:t>Document Retrieval Systems</a:t>
            </a:r>
            <a:endParaRPr lang="zh-CN" altLang="en-US"/>
          </a:p>
          <a:p>
            <a:r>
              <a:rPr lang="en-US" altLang="zh-CN">
                <a:sym typeface="+mn-ea"/>
              </a:rPr>
              <a:t>S</a:t>
            </a:r>
            <a:r>
              <a:rPr lang="zh-CN" altLang="en-US">
                <a:sym typeface="+mn-ea"/>
              </a:rPr>
              <a:t>imple </a:t>
            </a:r>
            <a:r>
              <a:rPr lang="en-US" altLang="zh-CN">
                <a:sym typeface="+mn-ea"/>
              </a:rPr>
              <a:t>I</a:t>
            </a:r>
            <a:r>
              <a:rPr lang="zh-CN" altLang="en-US">
                <a:sym typeface="+mn-ea"/>
              </a:rPr>
              <a:t>nput </a:t>
            </a:r>
            <a:r>
              <a:rPr lang="en-US" altLang="zh-CN">
                <a:sym typeface="+mn-ea"/>
              </a:rPr>
              <a:t>I</a:t>
            </a:r>
            <a:r>
              <a:rPr lang="zh-CN" altLang="en-US">
                <a:sym typeface="+mn-ea"/>
              </a:rPr>
              <a:t>nterface</a:t>
            </a:r>
            <a:r>
              <a:rPr lang="en-US" altLang="zh-CN">
                <a:sym typeface="+mn-ea"/>
              </a:rPr>
              <a:t> Sample</a:t>
            </a:r>
            <a:endParaRPr lang="en-US" altLang="zh-CN">
              <a:sym typeface="+mn-ea"/>
            </a:endParaRPr>
          </a:p>
          <a:p>
            <a:pPr algn="l">
              <a:buClrTx/>
              <a:buSzTx/>
            </a:pPr>
            <a:r>
              <a:rPr lang="en-US" altLang="zh-CN">
                <a:sym typeface="+mn-ea"/>
              </a:rPr>
              <a:t>Pycharm Sample</a:t>
            </a:r>
            <a:endParaRPr lang="en-US" altLang="zh-CN">
              <a:sym typeface="+mn-ea"/>
            </a:endParaRPr>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185" y="212090"/>
            <a:ext cx="8578215" cy="540385"/>
          </a:xfrm>
        </p:spPr>
        <p:txBody>
          <a:bodyPr/>
          <a:lstStyle/>
          <a:p>
            <a:r>
              <a:rPr lang="en-US" dirty="0">
                <a:sym typeface="+mn-ea"/>
              </a:rPr>
              <a:t>Key concepts and components of document retrieval</a:t>
            </a:r>
            <a:endParaRPr lang="en-US" dirty="0">
              <a:sym typeface="+mn-ea"/>
            </a:endParaRPr>
          </a:p>
        </p:txBody>
      </p:sp>
      <p:sp>
        <p:nvSpPr>
          <p:cNvPr id="3" name="Content Placeholder 2"/>
          <p:cNvSpPr>
            <a:spLocks noGrp="1"/>
          </p:cNvSpPr>
          <p:nvPr>
            <p:ph idx="1"/>
          </p:nvPr>
        </p:nvSpPr>
        <p:spPr/>
        <p:txBody>
          <a:bodyPr>
            <a:noAutofit/>
          </a:bodyPr>
          <a:lstStyle/>
          <a:p>
            <a:pPr algn="just"/>
            <a:r>
              <a:rPr lang="en-US" sz="1600" b="1" dirty="0">
                <a:latin typeface="Times New Roman Bold" panose="02020503050405090304" charset="0"/>
                <a:cs typeface="Times New Roman Bold" panose="02020503050405090304" charset="0"/>
              </a:rPr>
              <a:t>Document Collection</a:t>
            </a:r>
            <a:r>
              <a:rPr lang="en-US" sz="1600" dirty="0"/>
              <a:t>: This document is stored in a database or repository. Records can be of various types, including text documents, web pages, images, videos, and more.</a:t>
            </a:r>
            <a:endParaRPr lang="en-US" sz="1600" dirty="0"/>
          </a:p>
          <a:p>
            <a:pPr algn="just"/>
            <a:r>
              <a:rPr lang="en-US" sz="1600" b="1" dirty="0">
                <a:latin typeface="Times New Roman Bold" panose="02020503050405090304" charset="0"/>
                <a:cs typeface="Times New Roman Bold" panose="02020503050405090304" charset="0"/>
              </a:rPr>
              <a:t>Query</a:t>
            </a:r>
            <a:r>
              <a:rPr lang="en-US" sz="1600" dirty="0"/>
              <a:t>: A query is a request for information from the document collection. It’s typically a set of keywords, phrases, or questions a user submits to retrieve relevant documents.</a:t>
            </a:r>
            <a:endParaRPr lang="en-US" sz="1600" dirty="0"/>
          </a:p>
          <a:p>
            <a:pPr algn="just"/>
            <a:r>
              <a:rPr lang="en-US" sz="1600" b="1" dirty="0">
                <a:latin typeface="Times New Roman Bold" panose="02020503050405090304" charset="0"/>
                <a:cs typeface="Times New Roman Bold" panose="02020503050405090304" charset="0"/>
              </a:rPr>
              <a:t>Indexing</a:t>
            </a:r>
            <a:r>
              <a:rPr lang="en-US" sz="1600" dirty="0"/>
              <a:t>: To efficiently retrieve documents, an indexing mechanism is used. Indexing involves creating a data structure that maps terms (words or phrases) to the documents where they occur. Standard indexing techniques include inverted indexing, which lists terms with pointers to their locations in documents.</a:t>
            </a:r>
            <a:endParaRPr lang="en-US" sz="1600" dirty="0"/>
          </a:p>
          <a:p>
            <a:pPr algn="just"/>
            <a:r>
              <a:rPr lang="en-US" sz="1600" b="1" dirty="0">
                <a:latin typeface="Times New Roman Bold" panose="02020503050405090304" charset="0"/>
                <a:cs typeface="Times New Roman Bold" panose="02020503050405090304" charset="0"/>
              </a:rPr>
              <a:t>Ranking</a:t>
            </a:r>
            <a:r>
              <a:rPr lang="en-US" sz="1600" dirty="0"/>
              <a:t>: Once the relevant documents are identified based on the query and index, a ranking algorithm is used to order them by their relevance to the question. Common ranking algorithms include TF-IDF (Term Frequency-Inverse Document Frequency), BM25, and PageRank (for web search).</a:t>
            </a:r>
            <a:endParaRPr lang="en-US" sz="1600" dirty="0"/>
          </a:p>
          <a:p>
            <a:pPr algn="just"/>
            <a:r>
              <a:rPr lang="en-US" sz="1600" b="1" dirty="0">
                <a:latin typeface="Times New Roman Bold" panose="02020503050405090304" charset="0"/>
                <a:cs typeface="Times New Roman Bold" panose="02020503050405090304" charset="0"/>
              </a:rPr>
              <a:t>Retrieval Models</a:t>
            </a:r>
            <a:r>
              <a:rPr lang="en-US" sz="1600" dirty="0"/>
              <a:t>: Different retrieval models, such as Boolean retrieval, vector space models, and probabilistic models, are used to determine which documents are relevant to a given query. These models use various mathematical techniques to assess relevance.</a:t>
            </a:r>
            <a:endParaRPr lang="en-US" sz="16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185" y="212090"/>
            <a:ext cx="8578215" cy="540385"/>
          </a:xfrm>
        </p:spPr>
        <p:txBody>
          <a:bodyPr/>
          <a:lstStyle/>
          <a:p>
            <a:r>
              <a:rPr lang="en-US" dirty="0">
                <a:sym typeface="+mn-ea"/>
              </a:rPr>
              <a:t>Key concepts and components of document retrieval</a:t>
            </a:r>
            <a:endParaRPr lang="en-US" dirty="0">
              <a:sym typeface="+mn-ea"/>
            </a:endParaRPr>
          </a:p>
        </p:txBody>
      </p:sp>
      <p:sp>
        <p:nvSpPr>
          <p:cNvPr id="3" name="Content Placeholder 2"/>
          <p:cNvSpPr>
            <a:spLocks noGrp="1"/>
          </p:cNvSpPr>
          <p:nvPr>
            <p:ph idx="1"/>
          </p:nvPr>
        </p:nvSpPr>
        <p:spPr/>
        <p:txBody>
          <a:bodyPr>
            <a:noAutofit/>
          </a:bodyPr>
          <a:lstStyle/>
          <a:p>
            <a:pPr algn="just"/>
            <a:r>
              <a:rPr lang="en-US" sz="1600" b="1" dirty="0">
                <a:latin typeface="Times New Roman Bold" panose="02020503050405090304" charset="0"/>
                <a:cs typeface="Times New Roman Bold" panose="02020503050405090304" charset="0"/>
              </a:rPr>
              <a:t>Scoring</a:t>
            </a:r>
            <a:r>
              <a:rPr lang="en-US" sz="1600" dirty="0"/>
              <a:t>: Documents are scored based on their relevance to the query. Scoring can be found on the frequency of query terms in the documents, their importance, and other factors depending on the retrieval model.</a:t>
            </a:r>
            <a:endParaRPr lang="en-US" sz="1600" dirty="0"/>
          </a:p>
          <a:p>
            <a:pPr algn="just"/>
            <a:r>
              <a:rPr lang="en-US" sz="1600" b="1" dirty="0">
                <a:latin typeface="Times New Roman Bold" panose="02020503050405090304" charset="0"/>
                <a:cs typeface="Times New Roman Bold" panose="02020503050405090304" charset="0"/>
              </a:rPr>
              <a:t>User Interface</a:t>
            </a:r>
            <a:r>
              <a:rPr lang="en-US" sz="1600" dirty="0"/>
              <a:t>: In most applications, a user interface allows users to enter queries and see the retrieved documents. Search engines and document management systems provide user-friendly interfaces for this purpose.</a:t>
            </a:r>
            <a:endParaRPr lang="en-US" sz="1600" dirty="0"/>
          </a:p>
          <a:p>
            <a:pPr algn="just"/>
            <a:r>
              <a:rPr lang="en-US" sz="1600" b="1" dirty="0">
                <a:latin typeface="Times New Roman Bold" panose="02020503050405090304" charset="0"/>
                <a:cs typeface="Times New Roman Bold" panose="02020503050405090304" charset="0"/>
              </a:rPr>
              <a:t>Feedback</a:t>
            </a:r>
            <a:r>
              <a:rPr lang="en-US" sz="1600" dirty="0"/>
              <a:t>: Some retrieval systems incorporate feedback from users to improve retrieval results. Relevance feedback involves users indicating which documents are relevant or irrelevant, and the system adjusts its retrieval model accordingly.</a:t>
            </a:r>
            <a:endParaRPr lang="en-US" sz="1600" dirty="0"/>
          </a:p>
          <a:p>
            <a:pPr algn="just"/>
            <a:r>
              <a:rPr lang="en-US" sz="1600" b="1" dirty="0">
                <a:latin typeface="Times New Roman Bold" panose="02020503050405090304" charset="0"/>
                <a:cs typeface="Times New Roman Bold" panose="02020503050405090304" charset="0"/>
              </a:rPr>
              <a:t>Relevance Evaluation</a:t>
            </a:r>
            <a:r>
              <a:rPr lang="en-US" sz="1600" dirty="0"/>
              <a:t>: Document retrieval systems use metrics like precision, recall, F1 score, and Mean Average Precision (MAP) to assess how well they return relevant documents for a given query.</a:t>
            </a:r>
            <a:endParaRPr lang="en-US" sz="1600" dirty="0"/>
          </a:p>
          <a:p>
            <a:pPr algn="just"/>
            <a:r>
              <a:rPr lang="en-US" sz="1600" b="1" dirty="0">
                <a:latin typeface="Times New Roman Bold" panose="02020503050405090304" charset="0"/>
                <a:cs typeface="Times New Roman Bold" panose="02020503050405090304" charset="0"/>
              </a:rPr>
              <a:t>Performance Optimization</a:t>
            </a:r>
            <a:r>
              <a:rPr lang="en-US" sz="1600" dirty="0"/>
              <a:t>: Techniques like caching, distributed indexing, and parallel processing are often used to optimize the performance of document retrieval systems, especially in large-scale applications.</a:t>
            </a:r>
            <a:endParaRPr lang="en-US" sz="16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4182110" y="1885950"/>
            <a:ext cx="4961890" cy="2790825"/>
          </a:xfrm>
          <a:prstGeom prst="rect">
            <a:avLst/>
          </a:prstGeom>
        </p:spPr>
      </p:pic>
      <p:sp>
        <p:nvSpPr>
          <p:cNvPr id="3" name="标题 2"/>
          <p:cNvSpPr>
            <a:spLocks noGrp="1"/>
          </p:cNvSpPr>
          <p:nvPr>
            <p:ph type="title"/>
          </p:nvPr>
        </p:nvSpPr>
        <p:spPr/>
        <p:txBody>
          <a:bodyPr/>
          <a:p>
            <a:r>
              <a:rPr lang="zh-CN" altLang="en-US"/>
              <a:t>Document Retrieval Systems</a:t>
            </a:r>
            <a:endParaRPr lang="zh-CN" altLang="en-US"/>
          </a:p>
        </p:txBody>
      </p:sp>
      <p:sp>
        <p:nvSpPr>
          <p:cNvPr id="4" name="内容占位符 3"/>
          <p:cNvSpPr>
            <a:spLocks noGrp="1"/>
          </p:cNvSpPr>
          <p:nvPr>
            <p:ph idx="1"/>
          </p:nvPr>
        </p:nvSpPr>
        <p:spPr>
          <a:xfrm>
            <a:off x="457200" y="902335"/>
            <a:ext cx="8255000" cy="4041140"/>
          </a:xfrm>
        </p:spPr>
        <p:txBody>
          <a:bodyPr/>
          <a:p>
            <a:pPr algn="just"/>
            <a:r>
              <a:rPr lang="zh-CN" altLang="en-US" sz="1400"/>
              <a:t>Query Processing: The retrieval process starts with the user’s query, a request for specific information. This query is typically entered into a search bar, which can be a single keyword, a phrase, or a complex question. The first step is to process the query to make it suitable for matching with documents in the collection.</a:t>
            </a:r>
            <a:endParaRPr lang="zh-CN" altLang="en-US" sz="1400"/>
          </a:p>
          <a:p>
            <a:pPr algn="just"/>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内容占位符 3"/>
          <p:cNvSpPr>
            <a:spLocks noGrp="1"/>
          </p:cNvSpPr>
          <p:nvPr>
            <p:custDataLst>
              <p:tags r:id="rId2"/>
            </p:custDataLst>
          </p:nvPr>
        </p:nvSpPr>
        <p:spPr>
          <a:xfrm>
            <a:off x="533400" y="1581150"/>
            <a:ext cx="4211955" cy="404114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algn="just"/>
            <a:r>
              <a:rPr lang="zh-CN" altLang="en-US" sz="1400"/>
              <a:t>Preprocessing and Tokenization: The query is preprocessed, which includes actions such as removing stop words (common words like “and,” “the,” and “in” that don’t add much meaning), stemming (reducing words to their base form), and tokenization (splitting the query into individual words or terms). This standardizes the query and prepares it for matching with documents.</a:t>
            </a:r>
            <a:endParaRPr lang="zh-CN" altLang="en-US" sz="1400"/>
          </a:p>
          <a:p>
            <a:pPr algn="just"/>
            <a:r>
              <a:rPr lang="zh-CN" altLang="en-US" sz="1400"/>
              <a:t>Indexing: Indexing plays a vital role in document retrieval. A document index is a data structure that maps terms to the documents they appear in. The index allows quick and efficient retrieval of documents containing the terms in the user’s query. Various indexing techniques, such as inverted indexing, are used to create this mapping.</a:t>
            </a:r>
            <a:endParaRPr lang="zh-CN"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Document Retrieval Systems</a:t>
            </a:r>
            <a:endParaRPr lang="zh-CN" altLang="en-US"/>
          </a:p>
        </p:txBody>
      </p:sp>
      <p:sp>
        <p:nvSpPr>
          <p:cNvPr id="4" name="内容占位符 3"/>
          <p:cNvSpPr>
            <a:spLocks noGrp="1"/>
          </p:cNvSpPr>
          <p:nvPr>
            <p:ph idx="1"/>
          </p:nvPr>
        </p:nvSpPr>
        <p:spPr>
          <a:xfrm>
            <a:off x="457200" y="902335"/>
            <a:ext cx="8255000" cy="4041140"/>
          </a:xfrm>
        </p:spPr>
        <p:txBody>
          <a:bodyPr/>
          <a:p>
            <a:pPr algn="just"/>
            <a:r>
              <a:rPr lang="zh-CN" altLang="en-US" sz="1400" b="1">
                <a:latin typeface="Times New Roman Bold" panose="02020503050405090304" charset="0"/>
                <a:cs typeface="Times New Roman Bold" panose="02020503050405090304" charset="0"/>
              </a:rPr>
              <a:t>Matching and Retrieval</a:t>
            </a:r>
            <a:r>
              <a:rPr lang="zh-CN" altLang="en-US" sz="1400"/>
              <a:t>: Once the query is processed and the index is ready, the retrieval process matches the query terms with the indexed documents. As discussed in the previous section, retrieval models come into play here. Each record in the collection is scored based on its relevance to the query.</a:t>
            </a:r>
            <a:endParaRPr lang="zh-CN" altLang="en-US" sz="1400"/>
          </a:p>
          <a:p>
            <a:pPr algn="just"/>
            <a:r>
              <a:rPr lang="zh-CN" altLang="en-US" sz="1400" b="1">
                <a:latin typeface="Times New Roman Bold" panose="02020503050405090304" charset="0"/>
                <a:cs typeface="Times New Roman Bold" panose="02020503050405090304" charset="0"/>
              </a:rPr>
              <a:t>Ranking</a:t>
            </a:r>
            <a:r>
              <a:rPr lang="zh-CN" altLang="en-US" sz="1400"/>
              <a:t>: After the matching phase, documents are ranked based on relevance scores. Documents that are more relevant to the query receive higher rankings. Standard ranking algorithms include TF-IDF, BM25, or machine learning-based models. The top-ranked documents are usually presented to the user.</a:t>
            </a:r>
            <a:endParaRPr lang="zh-CN" altLang="en-US" sz="1400"/>
          </a:p>
          <a:p>
            <a:pPr algn="just"/>
            <a:r>
              <a:rPr lang="zh-CN" altLang="en-US" sz="1400" b="1">
                <a:latin typeface="Times New Roman Bold" panose="02020503050405090304" charset="0"/>
                <a:cs typeface="Times New Roman Bold" panose="02020503050405090304" charset="0"/>
              </a:rPr>
              <a:t>Presentation to the User</a:t>
            </a:r>
            <a:r>
              <a:rPr lang="zh-CN" altLang="en-US" sz="1400"/>
              <a:t>: The ranked list of documents is presented to the user, typically in search results. The user interface may display document titles, snippets, and other metadata to help users quickly assess the relevance of each outcome.</a:t>
            </a:r>
            <a:endParaRPr lang="zh-CN" altLang="en-US" sz="1400"/>
          </a:p>
          <a:p>
            <a:pPr algn="just"/>
            <a:r>
              <a:rPr lang="zh-CN" altLang="en-US" sz="1400" b="1">
                <a:latin typeface="Times New Roman Bold" panose="02020503050405090304" charset="0"/>
                <a:cs typeface="Times New Roman Bold" panose="02020503050405090304" charset="0"/>
              </a:rPr>
              <a:t>User Interaction and Feedback</a:t>
            </a:r>
            <a:r>
              <a:rPr lang="zh-CN" altLang="en-US" sz="1400"/>
              <a:t>: Users interact with the presented results by clicking on documents or adjusting their queries. This interaction can provide valuable feedback to improve the retrieval system. Many search engines and applications use this feedback to refine the ranking and relevance of documents continuously.</a:t>
            </a:r>
            <a:endParaRPr lang="zh-CN" altLang="en-US" sz="1400"/>
          </a:p>
          <a:p>
            <a:pPr algn="just"/>
            <a:r>
              <a:rPr lang="zh-CN" altLang="en-US" sz="1400" b="1">
                <a:latin typeface="Times New Roman Bold" panose="02020503050405090304" charset="0"/>
                <a:cs typeface="Times New Roman Bold" panose="02020503050405090304" charset="0"/>
              </a:rPr>
              <a:t>Caching and Optimization</a:t>
            </a:r>
            <a:r>
              <a:rPr lang="zh-CN" altLang="en-US" sz="1400"/>
              <a:t>: To ensure fast response times, retrieval systems may use caching strategies to store frequently accessed documents or results. Additionally, various optimization techniques, like distributed indexing and parallel processing, are employed to enhance the performance of the retrieval process.</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How to build a document retrieval system in Python</a:t>
            </a:r>
            <a:endParaRPr lang="zh-CN" altLang="en-US"/>
          </a:p>
        </p:txBody>
      </p:sp>
      <p:sp>
        <p:nvSpPr>
          <p:cNvPr id="4" name="内容占位符 3"/>
          <p:cNvSpPr>
            <a:spLocks noGrp="1"/>
          </p:cNvSpPr>
          <p:nvPr>
            <p:ph idx="1"/>
          </p:nvPr>
        </p:nvSpPr>
        <p:spPr/>
        <p:txBody>
          <a:bodyPr/>
          <a:p>
            <a:r>
              <a:rPr lang="zh-CN" altLang="en-US" sz="1600"/>
              <a:t>1. Data Collection and Preprocessing:</a:t>
            </a:r>
            <a:endParaRPr lang="zh-CN" altLang="en-US" sz="1600"/>
          </a:p>
          <a:p>
            <a:pPr lvl="1"/>
            <a:r>
              <a:rPr lang="zh-CN" altLang="en-US" sz="1400"/>
              <a:t>Gather the documents you want to include in your retrieval system. For simplicity, you can start with a small collection of text documents. Organize your data into a structured format (e.g., a list of dictionaries) with document IDs and text content.</a:t>
            </a:r>
            <a:endParaRPr lang="zh-CN" altLang="en-US" sz="1400"/>
          </a:p>
          <a:p>
            <a:pPr lvl="1"/>
            <a:r>
              <a:rPr lang="zh-CN" altLang="en-US" sz="1400"/>
              <a:t>Preprocess your documents by tokenizing the text, removing stop words, and performing stemming or lemmatization if needed. You can use libraries like NLTK or spaCy for text processing.</a:t>
            </a:r>
            <a:endParaRPr lang="zh-CN" altLang="en-US" sz="1400"/>
          </a:p>
          <a:p>
            <a:pPr lvl="0"/>
            <a:r>
              <a:rPr lang="zh-CN" altLang="en-US" sz="1600"/>
              <a:t>2. Indexing:</a:t>
            </a:r>
            <a:endParaRPr lang="zh-CN" altLang="en-US" sz="1600"/>
          </a:p>
          <a:p>
            <a:pPr lvl="1"/>
            <a:r>
              <a:rPr lang="zh-CN" altLang="en-US" sz="1400"/>
              <a:t>Create an inverted index to map terms to their document IDs. This index will allow for efficient retrieval of documents during searches. You can use Python dictionaries or custom data structures for this purpose.</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nvSpPr>
        <p:spPr>
          <a:xfrm>
            <a:off x="2057400" y="3257550"/>
            <a:ext cx="4572000" cy="1753235"/>
          </a:xfrm>
          <a:prstGeom prst="rect">
            <a:avLst/>
          </a:prstGeom>
          <a:noFill/>
        </p:spPr>
        <p:txBody>
          <a:bodyPr wrap="square" rtlCol="0" anchor="t">
            <a:spAutoFit/>
          </a:bodyPr>
          <a:p>
            <a:r>
              <a:rPr lang="zh-CN" altLang="en-US" sz="1200">
                <a:latin typeface="Times New Roman Regular" panose="02020503050405090304" charset="0"/>
                <a:cs typeface="Times New Roman Regular" panose="02020503050405090304" charset="0"/>
              </a:rPr>
              <a:t>inverted_index = {}  # Initialize an empty inverted index</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Populate the inverted index</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for doc_id, document_text in documents:</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terms = preprocess(document_text)</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for term in terms:</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if term not in inverted_index:</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inverted_index[term] = set()</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inverted_index[term].add(doc_id)</a:t>
            </a:r>
            <a:endParaRPr lang="zh-CN" altLang="en-US" sz="1200">
              <a:latin typeface="Times New Roman Regular" panose="02020503050405090304" charset="0"/>
              <a:cs typeface="Times New Roman Regular" panose="0202050305040509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How to build a document retrieval system in Python</a:t>
            </a:r>
            <a:endParaRPr lang="zh-CN" altLang="en-US"/>
          </a:p>
        </p:txBody>
      </p:sp>
      <p:sp>
        <p:nvSpPr>
          <p:cNvPr id="4" name="内容占位符 3"/>
          <p:cNvSpPr>
            <a:spLocks noGrp="1"/>
          </p:cNvSpPr>
          <p:nvPr>
            <p:ph idx="1"/>
          </p:nvPr>
        </p:nvSpPr>
        <p:spPr/>
        <p:txBody>
          <a:bodyPr>
            <a:noAutofit/>
          </a:bodyPr>
          <a:p>
            <a:r>
              <a:rPr lang="zh-CN" altLang="en-US" sz="1600"/>
              <a:t>3. Retrieval Model:</a:t>
            </a:r>
            <a:endParaRPr lang="zh-CN" altLang="en-US" sz="1600"/>
          </a:p>
          <a:p>
            <a:pPr lvl="1"/>
            <a:r>
              <a:rPr lang="zh-CN" altLang="en-US" sz="1400"/>
              <a:t>Choose a retrieval model that suits your needs. For simplicity, you can start with a basic vector space model. Calculate document and query vectors using techniques like TF-IDF and cosine similarity.</a:t>
            </a:r>
            <a:endParaRPr lang="zh-CN" altLang="en-US" sz="1400"/>
          </a:p>
          <a:p>
            <a:r>
              <a:rPr lang="zh-CN" altLang="en-US" sz="1600"/>
              <a:t>4. Query Processing:</a:t>
            </a:r>
            <a:endParaRPr lang="zh-CN" altLang="en-US" sz="1600"/>
          </a:p>
          <a:p>
            <a:pPr lvl="1"/>
            <a:r>
              <a:rPr lang="zh-CN" altLang="en-US" sz="1400"/>
              <a:t>Implement a simple query processing function that tokenizes and preprocesses user queries. This function should return a list of relevant document IDs based on the query.</a:t>
            </a:r>
            <a:endParaRPr lang="zh-CN" altLang="en-US" sz="1400"/>
          </a:p>
          <a:p>
            <a:pPr lvl="1"/>
            <a:endParaRPr lang="zh-CN" altLang="en-US" sz="1400"/>
          </a:p>
          <a:p>
            <a:pPr lvl="1"/>
            <a:endParaRPr lang="zh-CN" altLang="en-US" sz="1400"/>
          </a:p>
          <a:p>
            <a:pPr lvl="1"/>
            <a:endParaRPr lang="zh-CN" altLang="en-US" sz="1400"/>
          </a:p>
          <a:p>
            <a:pPr lvl="1"/>
            <a:endParaRPr lang="zh-CN" altLang="en-US" sz="1400"/>
          </a:p>
          <a:p>
            <a:pPr lvl="1"/>
            <a:endParaRPr lang="zh-CN" altLang="en-US" sz="1400"/>
          </a:p>
          <a:p>
            <a:pPr lvl="1"/>
            <a:endParaRPr lang="zh-CN" altLang="en-US" sz="1400"/>
          </a:p>
          <a:p>
            <a:pPr lvl="1"/>
            <a:endParaRPr lang="zh-CN" altLang="en-US" sz="1400"/>
          </a:p>
          <a:p>
            <a:pPr lvl="0"/>
            <a:r>
              <a:rPr lang="zh-CN" altLang="en-US" sz="1600"/>
              <a:t>5. Scoring and Ranking:</a:t>
            </a:r>
            <a:endParaRPr lang="zh-CN" altLang="en-US" sz="1600"/>
          </a:p>
          <a:p>
            <a:pPr lvl="1"/>
            <a:r>
              <a:rPr lang="zh-CN" altLang="en-US" sz="1400"/>
              <a:t>Calculate relevance scores for the documents in the result set using your chosen retrieval model. You can sort the records by their relevance scores to rank them.</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nvSpPr>
        <p:spPr>
          <a:xfrm>
            <a:off x="1282700" y="2571750"/>
            <a:ext cx="4572000" cy="1599565"/>
          </a:xfrm>
          <a:prstGeom prst="rect">
            <a:avLst/>
          </a:prstGeom>
          <a:noFill/>
        </p:spPr>
        <p:txBody>
          <a:bodyPr wrap="square" rtlCol="0" anchor="t">
            <a:spAutoFit/>
          </a:bodyPr>
          <a:p>
            <a:r>
              <a:rPr lang="zh-CN" altLang="en-US" sz="1400">
                <a:latin typeface="Times New Roman Regular" panose="02020503050405090304" charset="0"/>
                <a:cs typeface="Times New Roman Regular" panose="02020503050405090304" charset="0"/>
              </a:rPr>
              <a:t>def process_query(query):</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query_terms = preprocess(query)</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relevant_docs = set()</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for term in query_terms:</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if term in inverted_index:</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relevant_docs.update(inverted_index[term])</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return list(relevant_docs)</a:t>
            </a:r>
            <a:endParaRPr lang="zh-CN" altLang="en-US" sz="1400">
              <a:latin typeface="Times New Roman Regular" panose="02020503050405090304" charset="0"/>
              <a:cs typeface="Times New Roman Regular" panose="0202050305040509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How to build a document retrieval system in Python</a:t>
            </a:r>
            <a:endParaRPr lang="zh-CN" altLang="en-US"/>
          </a:p>
        </p:txBody>
      </p:sp>
      <p:sp>
        <p:nvSpPr>
          <p:cNvPr id="4" name="内容占位符 3"/>
          <p:cNvSpPr>
            <a:spLocks noGrp="1"/>
          </p:cNvSpPr>
          <p:nvPr>
            <p:ph idx="1"/>
          </p:nvPr>
        </p:nvSpPr>
        <p:spPr/>
        <p:txBody>
          <a:bodyPr>
            <a:normAutofit/>
          </a:bodyPr>
          <a:p>
            <a:r>
              <a:rPr lang="zh-CN" altLang="en-US" sz="1600"/>
              <a:t>6. User Interface:</a:t>
            </a:r>
            <a:endParaRPr lang="zh-CN" altLang="en-US" sz="1600"/>
          </a:p>
          <a:p>
            <a:pPr lvl="1"/>
            <a:r>
              <a:rPr lang="zh-CN" altLang="en-US" sz="1400"/>
              <a:t>For a simple command-line interface, prompt the user to enter a query, process the query, and display the ranked list of documents. For more advanced interfaces, you can use libraries like Flask or Django to create a web-based user interface.</a:t>
            </a:r>
            <a:endParaRPr lang="zh-CN" altLang="en-US" sz="1600"/>
          </a:p>
          <a:p>
            <a:r>
              <a:rPr lang="zh-CN" altLang="en-US" sz="1600"/>
              <a:t>7. Testing and Evaluation:</a:t>
            </a:r>
            <a:endParaRPr lang="zh-CN" altLang="en-US" sz="1600"/>
          </a:p>
          <a:p>
            <a:pPr lvl="1"/>
            <a:r>
              <a:rPr lang="zh-CN" altLang="en-US" sz="1400"/>
              <a:t>Test your retrieval system with various queries to ensure it returns relevant results. Use evaluation metrics like precision and recall to assess the system’s performance.</a:t>
            </a:r>
            <a:endParaRPr lang="zh-CN" altLang="en-US" sz="1600"/>
          </a:p>
          <a:p>
            <a:r>
              <a:rPr lang="zh-CN" altLang="en-US" sz="1600"/>
              <a:t>8. Optimization and Scaling:</a:t>
            </a:r>
            <a:endParaRPr lang="zh-CN" altLang="en-US" sz="1600"/>
          </a:p>
          <a:p>
            <a:pPr lvl="1"/>
            <a:r>
              <a:rPr lang="zh-CN" altLang="en-US" sz="1400"/>
              <a:t>As your document collection grows, you may need to optimize your retrieval system for performance and scalability. Techniques like distributed indexing and caching can be employed.</a:t>
            </a:r>
            <a:endParaRPr lang="zh-CN" altLang="en-US" sz="1600"/>
          </a:p>
          <a:p>
            <a:r>
              <a:rPr lang="zh-CN" altLang="en-US" sz="1600"/>
              <a:t>9. Continuous Improvement:</a:t>
            </a:r>
            <a:endParaRPr lang="zh-CN" altLang="en-US" sz="1600"/>
          </a:p>
          <a:p>
            <a:pPr lvl="1"/>
            <a:r>
              <a:rPr lang="zh-CN" altLang="en-US" sz="1400"/>
              <a:t>Gather user feedback and usage data to refine your retrieval system and enhance its relevance.</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demo 1</a:t>
            </a:r>
            <a:endParaRPr lang="en-US" altLang="zh-CN"/>
          </a:p>
        </p:txBody>
      </p:sp>
      <p:sp>
        <p:nvSpPr>
          <p:cNvPr id="4" name="内容占位符 3"/>
          <p:cNvSpPr>
            <a:spLocks noGrp="1"/>
          </p:cNvSpPr>
          <p:nvPr>
            <p:ph idx="1"/>
          </p:nvPr>
        </p:nvSpPr>
        <p:spPr/>
        <p:txBody>
          <a:bodyPr/>
          <a:p>
            <a:r>
              <a:rPr lang="zh-CN" altLang="en-US" sz="2000"/>
              <a:t>The following is a Python demo of a document retrieval system. </a:t>
            </a:r>
            <a:endParaRPr lang="zh-CN" altLang="en-US" sz="2000"/>
          </a:p>
          <a:p>
            <a:r>
              <a:rPr lang="zh-CN" altLang="en-US" sz="2000"/>
              <a:t>The system has a simple input interface, and the backend reads the content column of a CSV file as the body of the retrieval. </a:t>
            </a:r>
            <a:endParaRPr lang="zh-CN" altLang="en-US" sz="2000"/>
          </a:p>
          <a:p>
            <a:r>
              <a:rPr lang="zh-CN" altLang="en-US" sz="2000"/>
              <a:t>Users can search by entering English keywords or sentences through the interface, and the system will provide the top 10 sorted content contents, and mark the hit keywords and overall search scores on the display page. </a:t>
            </a:r>
            <a:endParaRPr lang="zh-CN" altLang="en-US" sz="2000"/>
          </a:p>
          <a:p>
            <a:r>
              <a:rPr lang="zh-CN" altLang="en-US" sz="2000"/>
              <a:t>During the display process, the headings column serves as the name for each document.</a:t>
            </a:r>
            <a:endParaRPr lang="zh-CN" altLang="en-US" sz="20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nvSpPr>
        <p:spPr>
          <a:xfrm>
            <a:off x="381000" y="285750"/>
            <a:ext cx="4572000" cy="3784600"/>
          </a:xfrm>
          <a:prstGeom prst="rect">
            <a:avLst/>
          </a:prstGeom>
          <a:noFill/>
        </p:spPr>
        <p:txBody>
          <a:bodyPr wrap="square" rtlCol="0" anchor="t">
            <a:spAutoFit/>
          </a:bodyPr>
          <a:p>
            <a:r>
              <a:rPr lang="zh-CN" altLang="en-US" sz="1200">
                <a:latin typeface="Times New Roman Regular" panose="02020503050405090304" charset="0"/>
                <a:cs typeface="Times New Roman Regular" panose="02020503050405090304" charset="0"/>
              </a:rPr>
              <a:t>import streamlit as st</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import pandas as pd</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from sklearn.feature_extraction.text import TfidfVectorizer</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from sklearn.metrics.pairwise import cosine_similarity</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import numpy as np</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import re</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rPr>
              <a:t># read csv file, with the </a:t>
            </a:r>
            <a:r>
              <a:rPr lang="zh-CN" altLang="en-US" sz="1200">
                <a:latin typeface="Times New Roman Regular" panose="02020503050405090304" charset="0"/>
                <a:cs typeface="Times New Roman Regular" panose="02020503050405090304" charset="0"/>
              </a:rPr>
              <a:t>‘</a:t>
            </a:r>
            <a:r>
              <a:rPr lang="en-US" altLang="zh-CN" sz="1200">
                <a:latin typeface="Times New Roman Regular" panose="02020503050405090304" charset="0"/>
                <a:cs typeface="Times New Roman Regular" panose="02020503050405090304" charset="0"/>
              </a:rPr>
              <a:t>content</a:t>
            </a:r>
            <a:r>
              <a:rPr lang="zh-CN" altLang="en-US" sz="1200">
                <a:latin typeface="Times New Roman Regular" panose="02020503050405090304" charset="0"/>
                <a:cs typeface="Times New Roman Regular" panose="02020503050405090304" charset="0"/>
              </a:rPr>
              <a:t>’</a:t>
            </a:r>
            <a:r>
              <a:rPr lang="en-US" altLang="zh-CN" sz="1200">
                <a:latin typeface="Times New Roman Regular" panose="02020503050405090304" charset="0"/>
                <a:cs typeface="Times New Roman Regular" panose="02020503050405090304" charset="0"/>
              </a:rPr>
              <a:t> and </a:t>
            </a:r>
            <a:r>
              <a:rPr lang="zh-CN" altLang="en-US" sz="1200">
                <a:latin typeface="Times New Roman Regular" panose="02020503050405090304" charset="0"/>
                <a:cs typeface="Times New Roman Regular" panose="02020503050405090304" charset="0"/>
              </a:rPr>
              <a:t>‘</a:t>
            </a:r>
            <a:r>
              <a:rPr lang="en-US" altLang="zh-CN" sz="1200">
                <a:latin typeface="Times New Roman Regular" panose="02020503050405090304" charset="0"/>
                <a:cs typeface="Times New Roman Regular" panose="02020503050405090304" charset="0"/>
              </a:rPr>
              <a:t>headlines</a:t>
            </a:r>
            <a:r>
              <a:rPr lang="zh-CN" altLang="en-US" sz="1200">
                <a:latin typeface="Times New Roman Regular" panose="02020503050405090304" charset="0"/>
                <a:cs typeface="Times New Roman Regular" panose="02020503050405090304" charset="0"/>
              </a:rPr>
              <a:t>’</a:t>
            </a:r>
            <a:r>
              <a:rPr lang="en-US" altLang="zh-CN" sz="1200">
                <a:latin typeface="Times New Roman Regular" panose="02020503050405090304" charset="0"/>
                <a:cs typeface="Times New Roman Regular" panose="02020503050405090304" charset="0"/>
              </a:rPr>
              <a:t> </a:t>
            </a:r>
            <a:r>
              <a:rPr lang="en-US" altLang="zh-CN" sz="1200">
                <a:latin typeface="Times New Roman Regular" panose="02020503050405090304" charset="0"/>
                <a:cs typeface="Times New Roman Regular" panose="02020503050405090304" charset="0"/>
              </a:rPr>
              <a:t>column </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file_path = 'business_data.csv' </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df = pd.read_csv(file_path)</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rPr>
              <a:t># calculate the TF-IDF</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vectorizer = TfidfVectorizer(stop_words='english')</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X = vectorizer.fit_transform(df['content'])</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rPr>
              <a:t># set Streamlit page title</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st.title("Document Retrieval System")</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rPr>
              <a:t># user query keywords or sentence</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user_input = st.text_input("Enter your search query (English):")</a:t>
            </a:r>
            <a:endParaRPr lang="zh-CN" altLang="en-US" sz="1200">
              <a:latin typeface="Times New Roman Regular" panose="02020503050405090304" charset="0"/>
              <a:cs typeface="Times New Roman Regular" panose="02020503050405090304" charset="0"/>
            </a:endParaRPr>
          </a:p>
        </p:txBody>
      </p:sp>
      <p:sp>
        <p:nvSpPr>
          <p:cNvPr id="7" name="文本框 6"/>
          <p:cNvSpPr txBox="1"/>
          <p:nvPr>
            <p:custDataLst>
              <p:tags r:id="rId1"/>
            </p:custDataLst>
          </p:nvPr>
        </p:nvSpPr>
        <p:spPr>
          <a:xfrm>
            <a:off x="4495800" y="285750"/>
            <a:ext cx="4572000" cy="4707890"/>
          </a:xfrm>
          <a:prstGeom prst="rect">
            <a:avLst/>
          </a:prstGeom>
          <a:noFill/>
        </p:spPr>
        <p:txBody>
          <a:bodyPr wrap="square" rtlCol="0" anchor="t">
            <a:spAutoFit/>
          </a:bodyPr>
          <a:p>
            <a:r>
              <a:rPr lang="zh-CN" altLang="en-US" sz="1200">
                <a:latin typeface="Times New Roman Regular" panose="02020503050405090304" charset="0"/>
                <a:cs typeface="Times New Roman Regular" panose="02020503050405090304" charset="0"/>
              </a:rPr>
              <a:t>if user_input:</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a:t>
            </a:r>
            <a:r>
              <a:rPr lang="en-US" altLang="zh-CN" sz="1200">
                <a:latin typeface="Times New Roman Regular" panose="02020503050405090304" charset="0"/>
                <a:cs typeface="Times New Roman Regular" panose="02020503050405090304" charset="0"/>
              </a:rPr>
              <a:t>  # vectorize user input</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query_vec = vectorizer.transform([user_input])</a:t>
            </a:r>
            <a:endParaRPr lang="zh-CN" altLang="en-US"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rPr>
              <a:t>   # calculate the cosine value between input and document</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similarity_scores = cosine_similarity(query_vec, X).flatten()</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rPr>
              <a:t>   # sort top 10 documents</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top_n_indices = np.argsort(similarity_scores)[::-1][:10]</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rPr>
              <a:t>   # display 10 documents</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st.subheader("Top 10 Retrieved Documents:")</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for idx in top_n_indices:</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content = df['content'].iloc[idx]</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headline = df['headlines'].iloc[idx]  # headlines</a:t>
            </a:r>
            <a:r>
              <a:rPr lang="en-US" altLang="zh-CN" sz="1200">
                <a:latin typeface="Times New Roman Regular" panose="02020503050405090304" charset="0"/>
                <a:cs typeface="Times New Roman Regular" panose="02020503050405090304" charset="0"/>
              </a:rPr>
              <a:t> as document name</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score = similarity_scores[idx]</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rPr>
              <a:t>       # highlight keywords</a:t>
            </a:r>
            <a:endParaRPr lang="en-US" altLang="zh-CN"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highlighted_content = re.sub(rf"(?i)({user_input})", r'**\1**', content)</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st.markdown(f"**Headline: {headline}**") </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st.markdown(f"**Relevance Score:** {score:.4f}")</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st.markdown(highlighted_content)</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st.markdown("---")</a:t>
            </a:r>
            <a:endParaRPr lang="zh-CN" altLang="en-US" sz="1200">
              <a:latin typeface="Times New Roman Regular" panose="02020503050405090304" charset="0"/>
              <a:cs typeface="Times New Roman Regular" panose="0202050305040509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pic>
        <p:nvPicPr>
          <p:cNvPr id="5" name="图片 4"/>
          <p:cNvPicPr>
            <a:picLocks noChangeAspect="1"/>
          </p:cNvPicPr>
          <p:nvPr>
            <p:custDataLst>
              <p:tags r:id="rId1"/>
            </p:custDataLst>
          </p:nvPr>
        </p:nvPicPr>
        <p:blipFill>
          <a:blip r:embed="rId2"/>
          <a:stretch>
            <a:fillRect/>
          </a:stretch>
        </p:blipFill>
        <p:spPr>
          <a:xfrm>
            <a:off x="228600" y="361950"/>
            <a:ext cx="4001770" cy="1007110"/>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4387850" y="438150"/>
            <a:ext cx="4493895" cy="4254500"/>
          </a:xfrm>
          <a:prstGeom prst="rect">
            <a:avLst/>
          </a:prstGeom>
        </p:spPr>
      </p:pic>
      <p:pic>
        <p:nvPicPr>
          <p:cNvPr id="7" name="图片 6"/>
          <p:cNvPicPr>
            <a:picLocks noChangeAspect="1"/>
          </p:cNvPicPr>
          <p:nvPr>
            <p:custDataLst>
              <p:tags r:id="rId5"/>
            </p:custDataLst>
          </p:nvPr>
        </p:nvPicPr>
        <p:blipFill>
          <a:blip r:embed="rId6"/>
          <a:stretch>
            <a:fillRect/>
          </a:stretch>
        </p:blipFill>
        <p:spPr>
          <a:xfrm>
            <a:off x="327660" y="1504950"/>
            <a:ext cx="3803015" cy="30130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demo 2</a:t>
            </a:r>
            <a:endParaRPr lang="en-US" altLang="zh-CN"/>
          </a:p>
        </p:txBody>
      </p:sp>
      <p:sp>
        <p:nvSpPr>
          <p:cNvPr id="4" name="内容占位符 3"/>
          <p:cNvSpPr>
            <a:spLocks noGrp="1"/>
          </p:cNvSpPr>
          <p:nvPr>
            <p:ph idx="1"/>
          </p:nvPr>
        </p:nvSpPr>
        <p:spPr/>
        <p:txBody>
          <a:bodyPr/>
          <a:p>
            <a:r>
              <a:rPr lang="zh-CN" altLang="en-US"/>
              <a:t>Create a demo of a document retrieval system using pycharm. </a:t>
            </a:r>
            <a:endParaRPr lang="zh-CN" altLang="en-US"/>
          </a:p>
          <a:p>
            <a:pPr lvl="1"/>
            <a:r>
              <a:rPr lang="zh-CN" altLang="en-US"/>
              <a:t>Users can directly input search content in the PyCharm runtime environment. </a:t>
            </a:r>
            <a:endParaRPr lang="zh-CN" altLang="en-US"/>
          </a:p>
          <a:p>
            <a:pPr lvl="1"/>
            <a:r>
              <a:rPr lang="zh-CN" altLang="en-US"/>
              <a:t>The backend reads the contents of the headings and content columns in a CSV file as the body of the retrieval. </a:t>
            </a:r>
            <a:endParaRPr lang="zh-CN" altLang="en-US"/>
          </a:p>
          <a:p>
            <a:pPr lvl="1"/>
            <a:r>
              <a:rPr lang="zh-CN" altLang="en-US"/>
              <a:t>The weight of the headline as a document title is twice that of the content body. </a:t>
            </a:r>
            <a:endParaRPr lang="zh-CN" altLang="en-US"/>
          </a:p>
          <a:p>
            <a:pPr lvl="1"/>
            <a:r>
              <a:rPr lang="zh-CN" altLang="en-US"/>
              <a:t>The system provides the top 10 sorted contents and uses the headline as the title of the document.</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custDataLst>
              <p:tags r:id="rId1"/>
            </p:custDataLst>
          </p:nvPr>
        </p:nvSpPr>
        <p:spPr>
          <a:xfrm>
            <a:off x="381000" y="285750"/>
            <a:ext cx="4572000" cy="4523105"/>
          </a:xfrm>
          <a:prstGeom prst="rect">
            <a:avLst/>
          </a:prstGeom>
          <a:noFill/>
        </p:spPr>
        <p:txBody>
          <a:bodyPr wrap="square" rtlCol="0" anchor="t">
            <a:spAutoFit/>
          </a:bodyPr>
          <a:p>
            <a:r>
              <a:rPr lang="zh-CN" altLang="en-US" sz="1200">
                <a:latin typeface="Times New Roman Regular" panose="02020503050405090304" charset="0"/>
                <a:cs typeface="Times New Roman Regular" panose="02020503050405090304" charset="0"/>
              </a:rPr>
              <a:t>import pandas as pd</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from sklearn.feature_extraction.text import TfidfVectorizer</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from sklearn.metrics.pairwise import cosine_similarity</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import numpy as np</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import re</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file_path = 'business_data.csv'  </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df = pd.read_csv(file_path)</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title_weight = 2</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content_weight = 1</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combined_text = df['headlines'] + " " + df['content']</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vectorizer = TfidfVectorizer(stop_words='english')</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X_combined = vectorizer.fit_transform(combined_text)</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user_input = input("Enter your search query (English): ")</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query_vec = vectorizer.transform([user_input])</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similarity_scores = cosine_similarity(query_vec, X_combined).flatten()</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top_n_indices = np.argsort(similarity_scores)[::-1][:10]</a:t>
            </a:r>
            <a:endParaRPr lang="zh-CN" altLang="en-US" sz="1200">
              <a:latin typeface="Times New Roman Regular" panose="02020503050405090304" charset="0"/>
              <a:cs typeface="Times New Roman Regular" panose="02020503050405090304" charset="0"/>
            </a:endParaRPr>
          </a:p>
        </p:txBody>
      </p:sp>
      <p:sp>
        <p:nvSpPr>
          <p:cNvPr id="6" name="文本框 5"/>
          <p:cNvSpPr txBox="1"/>
          <p:nvPr>
            <p:custDataLst>
              <p:tags r:id="rId2"/>
            </p:custDataLst>
          </p:nvPr>
        </p:nvSpPr>
        <p:spPr>
          <a:xfrm>
            <a:off x="4419600" y="285750"/>
            <a:ext cx="4572000" cy="2676525"/>
          </a:xfrm>
          <a:prstGeom prst="rect">
            <a:avLst/>
          </a:prstGeom>
          <a:noFill/>
        </p:spPr>
        <p:txBody>
          <a:bodyPr wrap="square" rtlCol="0" anchor="t">
            <a:spAutoFit/>
          </a:bodyPr>
          <a:p>
            <a:r>
              <a:rPr lang="zh-CN" altLang="en-US" sz="1200">
                <a:latin typeface="Times New Roman Regular" panose="02020503050405090304" charset="0"/>
                <a:cs typeface="Times New Roman Regular" panose="02020503050405090304" charset="0"/>
              </a:rPr>
              <a:t>print("\nTop 10 Retrieved Documents:\n")</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for idx in top_n_indices:</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content = df['content'].iloc[idx]</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headline = df['headlines'].iloc[idx] </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score = similarity_scores[idx]</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highlighted_content = re.sub(rf"(?i)({user_input})", r'**\1**', content)</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print(f"Headline: {headline}")</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print(f"Relevance Score: {score:.4f}")</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print(f"Content: {highlighted_content}")</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print("---")</a:t>
            </a:r>
            <a:endParaRPr lang="zh-CN" altLang="en-US" sz="1200">
              <a:latin typeface="Times New Roman Regular" panose="02020503050405090304" charset="0"/>
              <a:cs typeface="Times New Roman Regular" panose="0202050305040509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pic>
        <p:nvPicPr>
          <p:cNvPr id="5" name="图片 4"/>
          <p:cNvPicPr>
            <a:picLocks noChangeAspect="1"/>
          </p:cNvPicPr>
          <p:nvPr>
            <p:custDataLst>
              <p:tags r:id="rId1"/>
            </p:custDataLst>
          </p:nvPr>
        </p:nvPicPr>
        <p:blipFill>
          <a:blip r:embed="rId2"/>
          <a:stretch>
            <a:fillRect/>
          </a:stretch>
        </p:blipFill>
        <p:spPr>
          <a:xfrm>
            <a:off x="314960" y="209550"/>
            <a:ext cx="7414895" cy="235394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Exercises 1</a:t>
            </a:r>
            <a:endParaRPr lang="en-US" altLang="zh-CN"/>
          </a:p>
        </p:txBody>
      </p:sp>
      <p:sp>
        <p:nvSpPr>
          <p:cNvPr id="4" name="内容占位符 3"/>
          <p:cNvSpPr>
            <a:spLocks noGrp="1"/>
          </p:cNvSpPr>
          <p:nvPr>
            <p:ph idx="1"/>
          </p:nvPr>
        </p:nvSpPr>
        <p:spPr/>
        <p:txBody>
          <a:bodyPr/>
          <a:p>
            <a:r>
              <a:rPr lang="zh-CN" altLang="en-US"/>
              <a:t>Please use Python to implement an information retrieval system. </a:t>
            </a:r>
            <a:endParaRPr lang="zh-CN" altLang="en-US"/>
          </a:p>
          <a:p>
            <a:pPr lvl="1"/>
            <a:r>
              <a:rPr lang="zh-CN" altLang="en-US"/>
              <a:t>The system can read all files in a folder as the search scope. </a:t>
            </a:r>
            <a:endParaRPr lang="zh-CN" altLang="en-US"/>
          </a:p>
          <a:p>
            <a:pPr lvl="1"/>
            <a:r>
              <a:rPr lang="zh-CN" altLang="en-US"/>
              <a:t>Users input search keywords through the interface. </a:t>
            </a:r>
            <a:endParaRPr lang="zh-CN" altLang="en-US"/>
          </a:p>
          <a:p>
            <a:pPr lvl="1"/>
            <a:r>
              <a:rPr lang="zh-CN" altLang="en-US"/>
              <a:t>The system provides the top 10 as search results and displays paragraphs that match the file name and keywords instead of the full text.</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Exercises 2</a:t>
            </a:r>
            <a:endParaRPr lang="en-US" altLang="zh-CN"/>
          </a:p>
        </p:txBody>
      </p:sp>
      <p:sp>
        <p:nvSpPr>
          <p:cNvPr id="4" name="内容占位符 3"/>
          <p:cNvSpPr>
            <a:spLocks noGrp="1"/>
          </p:cNvSpPr>
          <p:nvPr>
            <p:ph idx="1"/>
          </p:nvPr>
        </p:nvSpPr>
        <p:spPr/>
        <p:txBody>
          <a:bodyPr/>
          <a:p>
            <a:r>
              <a:rPr lang="zh-CN" altLang="en-US"/>
              <a:t>Please use Python to implement an information retrieval system. </a:t>
            </a:r>
            <a:endParaRPr lang="zh-CN" altLang="en-US"/>
          </a:p>
          <a:p>
            <a:pPr lvl="1"/>
            <a:r>
              <a:rPr lang="zh-CN" altLang="en-US"/>
              <a:t>The system is capable of reading a CSV file and using the content and title columns as the search body. </a:t>
            </a:r>
            <a:endParaRPr lang="zh-CN" altLang="en-US"/>
          </a:p>
          <a:p>
            <a:pPr lvl="1"/>
            <a:r>
              <a:rPr lang="zh-CN" altLang="en-US"/>
              <a:t>Prioritize matching titles during the retrieval process. </a:t>
            </a:r>
            <a:endParaRPr lang="zh-CN" altLang="en-US"/>
          </a:p>
          <a:p>
            <a:pPr lvl="1"/>
            <a:r>
              <a:rPr lang="zh-CN" altLang="en-US"/>
              <a:t>The search results only need to provide relevant sentences, titles, and matching degrees that match.</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6350"/>
            <a:ext cx="9144000" cy="2514601"/>
          </a:xfrm>
          <a:prstGeom prst="rect">
            <a:avLst/>
          </a:prstGeom>
        </p:spPr>
      </p:pic>
      <p:pic>
        <p:nvPicPr>
          <p:cNvPr id="22" name="Picture 21"/>
          <p:cNvPicPr>
            <a:picLocks noChangeAspect="1"/>
          </p:cNvPicPr>
          <p:nvPr/>
        </p:nvPicPr>
        <p:blipFill>
          <a:blip r:embed="rId2"/>
          <a:stretch>
            <a:fillRect/>
          </a:stretch>
        </p:blipFill>
        <p:spPr>
          <a:xfrm>
            <a:off x="4196802" y="3970977"/>
            <a:ext cx="1317415" cy="281800"/>
          </a:xfrm>
          <a:prstGeom prst="rect">
            <a:avLst/>
          </a:prstGeom>
        </p:spPr>
      </p:pic>
      <p:sp>
        <p:nvSpPr>
          <p:cNvPr id="34" name="Rectangle 33"/>
          <p:cNvSpPr/>
          <p:nvPr/>
        </p:nvSpPr>
        <p:spPr>
          <a:xfrm>
            <a:off x="3236667" y="2234122"/>
            <a:ext cx="2662167" cy="644978"/>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18" name="Title 1"/>
          <p:cNvSpPr txBox="1"/>
          <p:nvPr/>
        </p:nvSpPr>
        <p:spPr>
          <a:xfrm>
            <a:off x="2386013" y="2123817"/>
            <a:ext cx="4371975" cy="826889"/>
          </a:xfrm>
          <a:prstGeom prst="rect">
            <a:avLst/>
          </a:prstGeom>
        </p:spPr>
        <p:txBody>
          <a:bodyPr vert="horz" lIns="51435" tIns="25718" rIns="51435" bIns="25718"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375" b="1" cap="all" dirty="0">
                <a:solidFill>
                  <a:schemeClr val="bg1"/>
                </a:solidFill>
                <a:latin typeface="Calibri"/>
                <a:cs typeface="Calibri"/>
              </a:rPr>
              <a:t>THANK YOU</a:t>
            </a:r>
            <a:endParaRPr lang="en-US" sz="3375" b="1" cap="all" spc="169" dirty="0">
              <a:solidFill>
                <a:schemeClr val="bg1"/>
              </a:solidFill>
              <a:latin typeface="Calibri"/>
              <a:cs typeface="Calibri"/>
            </a:endParaRPr>
          </a:p>
        </p:txBody>
      </p:sp>
      <p:sp>
        <p:nvSpPr>
          <p:cNvPr id="25" name="Subtitle 2"/>
          <p:cNvSpPr txBox="1"/>
          <p:nvPr/>
        </p:nvSpPr>
        <p:spPr>
          <a:xfrm>
            <a:off x="3382213" y="336408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Visit us</a:t>
            </a:r>
            <a:endParaRPr lang="en-US" sz="135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8217" y="3214135"/>
            <a:ext cx="553997" cy="553997"/>
          </a:xfrm>
          <a:prstGeom prst="rect">
            <a:avLst/>
          </a:prstGeom>
        </p:spPr>
      </p:pic>
      <p:sp>
        <p:nvSpPr>
          <p:cNvPr id="29" name="Rectangle 28"/>
          <p:cNvSpPr/>
          <p:nvPr/>
        </p:nvSpPr>
        <p:spPr>
          <a:xfrm>
            <a:off x="3439931"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3" name="Subtitle 2"/>
          <p:cNvSpPr txBox="1"/>
          <p:nvPr/>
        </p:nvSpPr>
        <p:spPr>
          <a:xfrm>
            <a:off x="5740581" y="3360007"/>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FOLLOW us</a:t>
            </a:r>
            <a:endParaRPr lang="en-US" sz="1350" b="1" cap="all" dirty="0">
              <a:solidFill>
                <a:srgbClr val="000044"/>
              </a:solidFill>
              <a:cs typeface="DIN-Regular"/>
            </a:endParaRPr>
          </a:p>
        </p:txBody>
      </p:sp>
      <p:sp>
        <p:nvSpPr>
          <p:cNvPr id="35" name="Rectangle 34"/>
          <p:cNvSpPr/>
          <p:nvPr/>
        </p:nvSpPr>
        <p:spPr>
          <a:xfrm>
            <a:off x="5798299"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grpSp>
        <p:nvGrpSpPr>
          <p:cNvPr id="36" name="Group 35"/>
          <p:cNvGrpSpPr/>
          <p:nvPr/>
        </p:nvGrpSpPr>
        <p:grpSpPr>
          <a:xfrm>
            <a:off x="5162170" y="3214138"/>
            <a:ext cx="583358" cy="548171"/>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3385249" y="354839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675" b="1" cap="all" dirty="0">
                <a:solidFill>
                  <a:srgbClr val="FFFF00"/>
                </a:solidFill>
                <a:cs typeface="DIN-Regular"/>
                <a:hlinkClick r:id="rId5"/>
              </a:rPr>
              <a:t>www.xjtlu.edu.cn</a:t>
            </a:r>
            <a:endParaRPr lang="en-US" sz="620"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12058</Words>
  <Application>WPS 表格</Application>
  <PresentationFormat>On-screen Show (16:9)</PresentationFormat>
  <Paragraphs>261</Paragraphs>
  <Slides>19</Slides>
  <Notes>2</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19</vt:i4>
      </vt:variant>
    </vt:vector>
  </HeadingPairs>
  <TitlesOfParts>
    <vt:vector size="46" baseType="lpstr">
      <vt:lpstr>Arial</vt:lpstr>
      <vt:lpstr>宋体</vt:lpstr>
      <vt:lpstr>Wingdings</vt:lpstr>
      <vt:lpstr>Lucida Sans</vt:lpstr>
      <vt:lpstr>苹方-简</vt:lpstr>
      <vt:lpstr>MS PGothic</vt:lpstr>
      <vt:lpstr>Calibri</vt:lpstr>
      <vt:lpstr>Helvetica Neue</vt:lpstr>
      <vt:lpstr>Helvetica Neue UltraLight</vt:lpstr>
      <vt:lpstr>Times New Roman</vt:lpstr>
      <vt:lpstr>Arial</vt:lpstr>
      <vt:lpstr>Times New Roman Regular</vt:lpstr>
      <vt:lpstr>MS PGothic</vt:lpstr>
      <vt:lpstr>冬青黑体简体中文</vt:lpstr>
      <vt:lpstr>Tahoma</vt:lpstr>
      <vt:lpstr>DIN-Regular</vt:lpstr>
      <vt:lpstr>Thonburi</vt:lpstr>
      <vt:lpstr>Times New Roman Bold</vt:lpstr>
      <vt:lpstr>Calibri</vt:lpstr>
      <vt:lpstr>微软雅黑</vt:lpstr>
      <vt:lpstr>汉仪旗黑</vt:lpstr>
      <vt:lpstr>宋体</vt:lpstr>
      <vt:lpstr>Arial Unicode MS</vt:lpstr>
      <vt:lpstr>Calibri Light</vt:lpstr>
      <vt:lpstr>汉仪书宋二KW</vt:lpstr>
      <vt:lpstr>Retrospect</vt:lpstr>
      <vt:lpstr>Default Theme</vt:lpstr>
      <vt:lpstr>Natural Language Processing DTS305TC</vt:lpstr>
      <vt:lpstr>Lab 5 Document Retrieval</vt:lpstr>
      <vt:lpstr>Overview</vt:lpstr>
      <vt:lpstr>Key concepts and components of document retrieval</vt:lpstr>
      <vt:lpstr>Key concepts and components of document retrieval</vt:lpstr>
      <vt:lpstr>Document Retrieval Systems</vt:lpstr>
      <vt:lpstr>Document Retrieval Systems</vt:lpstr>
      <vt:lpstr>How to build a document retrieval system in Python</vt:lpstr>
      <vt:lpstr>How to build a document retrieval system in Python</vt:lpstr>
      <vt:lpstr>How to build a document retrieval system in Python</vt:lpstr>
      <vt:lpstr>demo 1</vt:lpstr>
      <vt:lpstr>PowerPoint 演示文稿</vt:lpstr>
      <vt:lpstr>PowerPoint 演示文稿</vt:lpstr>
      <vt:lpstr>demo 2</vt:lpstr>
      <vt:lpstr>PowerPoint 演示文稿</vt:lpstr>
      <vt:lpstr>PowerPoint 演示文稿</vt:lpstr>
      <vt:lpstr>Exercises 1</vt:lpstr>
      <vt:lpstr>Exercises 2</vt:lpstr>
      <vt:lpstr>PowerPoint 演示文稿</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华康</cp:lastModifiedBy>
  <cp:revision>524</cp:revision>
  <cp:lastPrinted>2024-10-08T14:32:39Z</cp:lastPrinted>
  <dcterms:created xsi:type="dcterms:W3CDTF">2024-10-08T14:32:39Z</dcterms:created>
  <dcterms:modified xsi:type="dcterms:W3CDTF">2024-10-08T14:32:39Z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7F674F714E0CF6726805D0666F15DC9A_42</vt:lpwstr>
  </property>
  <property fmtid="{D5CDD505-2E9C-101B-9397-08002B2CF9AE}" pid="3" name="KSOProductBuildVer">
    <vt:lpwstr>2052-6.7.1.8828</vt:lpwstr>
  </property>
</Properties>
</file>